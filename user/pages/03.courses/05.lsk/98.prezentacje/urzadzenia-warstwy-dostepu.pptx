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prowadzenie" id="{d556faf7-9031-d311-1928-be5cfa6c4565}">
          <p14:sldIdLst>
            <p14:sldId id="256"/>
            <p14:sldId id="257"/>
            <p14:sldId id="258"/>
            <p14:sldId id="259"/>
          </p14:sldIdLst>
        </p14:section>
        <p14:section name="Koncentratory i domena kolizyjna" id="{67ab2b22-ff68-d683-1255-bb1c625f9869}">
          <p14:sldIdLst>
            <p14:sldId id="260"/>
            <p14:sldId id="261"/>
            <p14:sldId id="262"/>
            <p14:sldId id="263"/>
          </p14:sldIdLst>
        </p14:section>
        <p14:section name="Mosty" id="{576c5ef2-003a-a8fc-2185-9c166b18b84e}">
          <p14:sldIdLst>
            <p14:sldId id="264"/>
            <p14:sldId id="265"/>
            <p14:sldId id="266"/>
          </p14:sldIdLst>
        </p14:section>
        <p14:section name="Przełączniki" id="{5cc136f9-a09d-bdc9-7323-b62ab9f708dd}">
          <p14:sldIdLst>
            <p14:sldId id="267"/>
            <p14:sldId id="268"/>
            <p14:sldId id="269"/>
            <p14:sldId id="270"/>
            <p14:sldId id="271"/>
          </p14:sldIdLst>
        </p14:section>
        <p14:section name="Domena rozgłoszeniowa i segmentacja" id="{bf36ad49-5ec7-11be-bc1e-f3a7a672812e}">
          <p14:sldIdLst>
            <p14:sldId id="272"/>
            <p14:sldId id="273"/>
            <p14:sldId id="274"/>
          </p14:sldIdLst>
        </p14:section>
        <p14:section name="Podsumowanie" id="{a0fb53af-f378-002b-d5d7-3554435518e1}">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Dzień dobry wszystkim. Dzisiaj porozmawiamy o czymś, co na co dzień jest niemal niewidoczne, a bez czego żadna sieć lokalna by nie działała. Chodzi o urządzenia, które stoją pomiędzy komputerami a resztą sieci. Mówię o koncentratorach, mostach i przełącznikach. Przejdziemy razem drogę od najprostszego urządzenia, które nic nie rozumie z tego, co przez nie przepływa, aż do nowoczesnego przełącznika, który potrafi podejmować świadome decyzje. Po drodze poznamy dwa pojęcia, które na początku bardzo często się mylą: domenę kolizyjną i domenę rozgłoszeniową. Obiecuję, że pod koniec będą dla nas całkiem oczywiste. Mamy około trzydziestu minut, więc zaczynajmy. Jeśli macie pytania w trakcie, śmiało przerywajcie. To temat, który najlepiej wchodzi do głowy, kiedy można go zderzyć z własnym doświadczeniem, a przecież każdy z nas codziennie siedzi w jakiejś sieci lokalnej: w domu, w pracy, na uczelni.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Zanim zaczniemy, krótka mapa tego, co nas czeka. Mamy sześć bloków. Najpierw ustawimy sobie kontekst: gdzie w sieci stoją urządzenia warstwy dostępu i co to znaczy, że urządzenie pracuje w danej warstwie modelu OSI. Potem przyjrzymy się koncentratorom, czyli najprostszym i najmniej mądrym. W trzecim bloku zajmiemy się domeną kolizyjną, bo to ona tłumaczy, dlaczego koncentratory przegrały. Następnie mosty, czyli pierwsze urządzenia, które zaczęły czytać adresy. Piąty blok to przełączniki, dzisiejszy standard. I na koniec domena rozgłoszeniowa oraz segmentacja sieci, czyli to, jak z tego wszystkiego świadomie zbudować dobrą sieć. Jeśli ktoś na którymś etapie się zgubi, niech wróci myślą do jednego pytania, które będzie nam towarzyszyło cały czas: co dane urządzenie wie o ramce, którą właśnie dostało? A tak z praktycznej perspektywy: po tym wykładzie powinniście umieć odpowiedzieć na trzy konkretne pytania. Po pierwsze, gdzie postawić przełącznik, a gdzie router. Po drugie, kiedy sięgnąć po VLAN. I po trzecie, dlaczego akurat te urządzenia pojawiają się w każdym schemacie sieci. Brzmi ambitnie, ale to naprawdę jest do ogarnięcia.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Zacznijmy od spojrzenia z lotu ptaka. Projektanci sieci kampusowych, a ten model spopularyzowało między innymi Cisco, dzielą sieć na trzy warstwy. Na dole mamy warstwę dostępu. To jest miejsce, w którym fizycznie podłączamy komputery, drukarki, telefony IP i punkty dostępowe Wi-Fi. Tutaj stoją przełączniki dostępowe, tutaj zapada pierwsza decyzja, do jakiego VLAN-u trafi dane urządzenie, i tutaj włączamy podstawowe zabezpieczenia portów. Wyżej jest warstwa dystrybucji. Ona zbiera ruch z wielu przełączników dostępowych, robi routing między VLAN-ami i egzekwuje politykę bezpieczeństwa. A na samej górze jest rdzeń, czyli szybka autostrada, której zadaniem jest przerzucać ogromne ilości ruchu możliwie szybko, bez zbędnego filtrowania. Dzisiaj skupimy się na dolnej warstwie. Nas interesuje przede wszystkim to, jak duży fragment sieci widzi pojedynczą ramkę. Czy trafia ona do jednego adresata, czy do wszystkich naraz. To rozróżnienie, unicast kontra broadcast, będzie osią całego wykładu. Warto też zauważyć, że w małej sieci, na przykład domowej albo w małym biurze, te trzy warstwy często zlewają się w jedno urządzenie. Jeden przełącznik pełni wtedy rolę dostępu, dystrybucji i rdzenia naraz. W dużym kampusie każda warstwa to osobny sprzęt z osobnymi zadaniami. Model jest więc raczej sposobem myślenia niż sztywnym przepisem.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Teraz klucz do całej prezentacji. Jeśli miałbym zostawić Państwu tylko jeden slajd, byłby to ten. Różnica między koncentratorem, przełącznikiem i routerem sprowadza się do tego, w której warstwie modelu OSI urządzenie czyta informacje, zanim zdecyduje, co zrobić z sygnałem. Repeater i koncentrator pracują w warstwie pierwszej, fizycznej. One nie czytają niczego. Widzą bity, wzmacniają je i przekazują dalej. Most i przełącznik pracują w warstwie drugiej. Potrafią odczytać nagłówek ramki, a konkretnie adres MAC docelowy, i na jego podstawie podejmują decyzję. Dodam, że niektóre przełączniki, tak zwane przełączniki warstwy trzeciej, sięgają jeszcze wyżej i potrafią patrzeć na adresy IP. No i router, który działa w warstwie trzeciej, kieruje się adresem IP i tablicą routingu, a przekazuje pakiety. Zauważcie Państwo prawidłowość: im wyżej urządzenie patrzy, tym więcej inteligentnych decyzji może podjąć. Płaci za to większą złożonością i nieco większym opóźnieniem. I właśnie ta drabinka da nam za chwilę odpowiedź na pytanie, kto dzieli jakie domeny. Mała uwaga do tego porównania. Kiedy mówię, że urządzenie czyta daną warstwę, mam na myśli, że rozumie jej nagłówek i na jego podstawie podejmuje decyzję. Przełącznik warstwy trzeciej łączy oba światy w jednym pudełku. Zapamiętajcie więc tę tabelę nie jako sztywny podział, ale jako zasadę: pytamy zawsze, co jest podstawą decyzji urządzenia.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Zacznijmy od koncentratora, po angielsku huba. Najprościej mówiąc, to jest wieloportowy wzmacniacz sygnału, czyli repeater z wieloma gniazdami. Hub nie czyta nagłówków, nie zna adresów MAC i nie podejmuje żadnych decyzji. Robi jedną rzecz: sygnał, który dotrze do któregokolwiek portu, regeneruje, czyli wzmacnia i odświeża kształt impulsów, a następnie wysyła na wszystkie pozostałe porty jednocześnie. Spójrzcie na diagram. Komputer A chce wysłać ramkę do komputera B. Hub nie wie, kto jest kto, więc ramka ląduje u wszystkich. Komputery C i D też ją usłyszą, a odrzucą ją dopiero ich karty sieciowe, po porównaniu adresu docelowego z własnym. Ale łącze przez cały ten czas jest dla wszystkich zajęte. I tu ciekawostka: fizycznie hub wygląda jak gwiazda, bo kable idą do centralnego punktu, ale logicznie zachowuje się jak magistrala. Tak, jakby wszystkie komputery były podpięte do jednego wspólnego kabla koncentrycznego, jak w pierwszych instalacjach Ethernetu, 10BASE5 i 10BASE2. Czyli wygląda nowocześnie, a działa jak muzeum. Spróbujcie sobie wyobrazić salę wykładową, w której wszyscy rozmawiają przez jeden megafon. Gdy mówi jedna osoba, wszyscy słyszą, a gdy dwie naraz, nikt nic nie rozumie. Dokładnie tak działa hub. Dlatego tak łatwo tu o chaos, a pasmo łącza zamienia się w kolejkę do megafonu.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Brak inteligencji ma swoją cenę, i to całkiem wysoką. Pierwsza konsekwencja: medium jest współdzielone. W danej chwili tylko jedno urządzenie może nadawać bez kolizji, a wszystkie porty huba tworzą jedną domenę kolizyjną. Druga: praca wyłącznie w trybie half-duplex. Urządzenia muszą nasłuchiwać przed nadawaniem, więc nadawanie i odbiór wykluczają się nawzajem. Trzecia: żadnego filtrowania. Ramka idzie wszędzie, nawet tam, gdzie nikt jej nie potrzebuje. Czwarta: pasmo się dzieli. Jeśli hub ma sto megabitów, a podłączonych jest dziesięć komputerów, to statystycznie każdy dostaje ułamek tej wartości, a im więcej urządzeń, tym więcej rywalizacji i kolizji. Piąta: reguła 5-4-3 w Ethernecie 10 megabitów, czyli maksymalnie pięć segmentów, cztery huby lub repeatery i tylko trzy segmenty z komputerami. Wynika to z limitów czasowych CSMA/CD. A skoro tak, to dlaczego huby zniknęły? Odpowiedź jest banalnie prosta: przełączniki zrobiły się tańsze niż walka z wydajnością sieci opartej na hubach, a oferowały wielokrotnie więcej. Dziś hub to eksponat edukacyjny albo narzędzie diagnostyczne, na przykład network tap, gdzie właśnie powielanie sygnału wszędzie jest zaletą. Warto dodać zaletę, która dziś brzmi egzotycznie: huby były niezwykle proste w diagnostyce. Skoro cały ruch widać na każdym porcie, wystarczyło podłączyć analizator i widzieliśmy wszystko. Dziś osiągamy to specjalnymi funkcjami przełączników, na przykład kopiowaniem ruchu z portu na port, ale to już temat na inne zajęcia.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Pora zdefiniować pojęcie, które ciągle wracało: domenę kolizyjną. To obszar sieci, w którym jednoczesna transmisja dwóch urządzeń powoduje zakłócenie sygnałów, czyli kolizję. Innymi słowy, to grupa urządzeń dzieląca jedno medium na tyle blisko, że ich sygnały mogą się fizycznie zderzyć. Z domeną kolizyjną ściśle wiąże się mechanizm CSMA/CD, stosowany w klasycznym Ethernecie half-duplex. Zobaczmy jego kroki. Pierwszy: stacja nasłuchuje, czy medium jest wolne. Drugi: jeśli jest, zaczyna nadawać. Trzeci: czasem dwie stacje wystartują prawie jednocześnie i wtedy dochodzi do kolizji, którą obie wykrywają. Czwarty: obie przerywają i wysyłają krótki sygnał zagłuszający, nazywany JAM, żeby wszyscy w domenie wiedzieli, że coś poszło nie tak. Piąty: każda czeka losowy czas, to jest algorytm backoff, i próbuje ponownie. Losowość jest tu kluczowa, bo gdyby obie czekały tyle samo, kolidowałyby w nieskończoność. Pamiętajmy, że kolizja nie jest awarią, to zwyczajny element życia we współdzielonym medium. Problem zaczyna się wtedy, gdy jest ich za dużo. Dla porządku dodam, że kolizja dotyczy tylko warstwy fizycznej i tylko medium współdzielonego. W sieci z kablem koncentrycznym wszystkie stacje na jednym kablu to jedna domena. W sieci z hubem dokładnie tak samo. Dopiero urządzenia warstwy drugiej, o których zaraz opowiem, przerywają ten łańcuch i dzielą sieć na osobne domeny kolizyjne.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Dlaczego rozmiar domeny kolizyjnej ma takie znaczenie? Im więcej stacji dzieli medium, tym częściej dwie z nich zaczną nadawać niemal jednocześnie. Rośnie więc liczba kolizji. Czas i pasmo tracone na wykrywanie kolizji, sygnał JAM i oczekiwanie w backoffie nie służą do przesyłania danych. Przy dużym obciążeniu efektywne wykorzystanie łącza half-duplex może spaść nawet do trzydziestu, czterdziestu procent nominalnej przepływności. Do tego dochodzi opóźnienie, bo po każdej kolizji algorytm wykładniczy wydłuża czas oczekiwania. Teraz dobra wiadomość. W sieci z przełącznikiem każdy komputer ma własne, dedykowane łącze, a nadawanie i odbiór odbywają się na osobnych parach przewodów. To jest full-duplex i w nim kolizje są fizycznie niemożliwe. Nie ma wspólnego medium, na którym mogłyby się wydarzyć, więc CSMA/CD zostaje wyłączone. Formalnie każdy port przełącznika to nadal malutka, dwuelementowa domena kolizyjna, ale skoro nic się w niej nie może zderzyć, to pojęcie traci znaczenie praktyczne. Na dole slajdu widzicie, kto dzieli domenę kolizyjną: hub nie, most i przełącznik tak, router również. Jest jeszcze jedna praktyczna metoda sprawdzania granic domeny kolizyjnej. Zadajcie sobie pytanie: gdyby dwa urządzenia w tym obszarze nadały jednocześnie, czy ich sygnały zderzyłyby się fizycznie? Jeśli tak, to są w jednej domenie. Proste, a działa w każdej topologii, nawet takiej, której wcześniej nie widzieliście.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Wyobraźmy sobie lata osiemdziesiąte. Sieci rosną, wszyscy siedzą na wspólnym kablu albo na hubach, i administratorzy uderzają w ścianę: im większa jedna domena kolizyjna, tym więcej kolizji i tym gorsza wydajność. Potrzebne było urządzenie, które nie przekazuje wszystkiego bez namysłu. Takim urządzeniem jest most, bridge. Pracuje w warstwie drugiej, czyta adres MAC źródłowy i docelowy każdej ramki, buduje tablicę adresów widzianych na swoich portach i na tej podstawie decyduje: przekazać ramkę do drugiego segmentu czy odrzucić, bo odbiorca jest po tej samej stronie, z której ramka przyszła. Spójrzcie na diagram. Po lewej segment A, po prawej segment B. Rozmowa dwóch komputerów w segmencie A nie obciąża segmentu B. Most dzieli więc domenę kolizyjną: mamy dwie osobne. Ale uwaga, i to jest bardzo ważne: most nie dzieli domeny rozgłoszeniowej. Ramka broadcast jest przekazywana do wszystkich segmentów, bo z definicji jest adresowana do wszystkich. Zapamiętajmy to, bo za chwilę się przyda. Zwróćmy uwagę na korzyść, którą most dawał administratorom. Można było wziąć dwie przeciążone sieci, połączyć je mostem i nagle każda z nich zaczynała oddychać, bo rozmowy lokalne przestawały przeszkadzać drugiej stronie. Nikt nie musiał zmieniać adresacji ani konfigurować komputerów. To był prawdziwy skok jakościowy.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Jak most to robi? Używa algorytmu mostkowania przezroczystego, opisanego w standardzie IEEE 802.1D. Przezroczystego, bo urządzenia końcowe nie muszą nawet wiedzieć, że most istnieje, a administrator nie wpisuje nic ręcznie. Algorytm opiera się na czterech mechanizmach. Pierwszy to uczenie się. Każda ramka, która wchodzi na port, zdradza mostowi dwie rzeczy: adres źródłowy MAC i port, na którym się pojawił. Most zapisuje parę adres i port w tablicy. Po jakimś czasie zna położenie każdego aktywnego urządzenia. Drugi to przekazywanie i filtrowanie. Most patrzy na adres docelowy: jeśli jest znany i leży na innym porcie, wysyła ramkę tylko tam. A jeśli jest znany i leży na tym samym porcie, z którego ramka przyszła, odrzuca ją, bo nadawca i odbiorca są w jednym segmencie. Trzeci to starzenie. Każdy wpis ma znacznik czasu i jeśli przez domyślnie trzysta sekund nie widać ramki od danego adresu, wpis znika. Dzięki temu sieć sama dostosowuje się do przepięć i odłączeń. Czwarty to zalewanie, czyli flooding. Gdy adres docelowy jest nieznany, most wysyła ramkę na wszystkie porty poza tym, z którego przyszła. To jedyny sposób, żeby mieć pewność, że ramka dotrze. Tak samo traktowane są broadcast i multicast. Zwróćcie uwagę na sprytny szczegół w uczeniu się. Most uczy się wyłącznie z adresów źródłowych, nigdy z docelowych. To logiczne, bo tylko nadawca, który właśnie coś wysłał, zdradza swoją lokalizację. Adres docelowy to tylko informacja, że ktoś gdzieś tam jest. Stąd zalewanie, gdy ten ktoś nie ma jeszcze wpisu w tablicy.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Mosty mają jednak słaby punkt: pętle. Załóżmy, że dla redundancji połączymy trzy przełączniki w trójkąt. Jeśli któreś łącze padnie, ruch pójdzie inną drogą. Brzmi rozsądnie, prawda? Niestety, jeśli wpuścimy w taką pętlę ramkę broadcast, każdy przełącznik skopiuje ją na wszystkie porty, a ta kopia wróci okrężną drogą do kolejnego, który znowu ją skopiuje. Ramki w warstwie drugiej nie mają licznika życia, więc krążą w nieskończoność, a ruch rośnie wykładniczo, aż sieć całkowicie się zapcha. To jest burza rozgłoszeniowa, broadcast storm. Lekarstwem jest protokół STP, Spanning Tree Protocol, także z rodziny IEEE 802.1D. Wykrywa pętle i logicznie blokuje nadmiarowe łącza. Łącza w stanie blokowania nie przenoszą ruchu użytkownika, ale czekają w rezerwie. Powstaje drzewo rozpinające bez pętli. A gdy aktywne łącze padnie, STP przelicza topologię i uruchamia zapasowe. Następcy, czyli RSTP i MSTP, robią to szybciej. To temat na osobny wykład, tutaj chcę tylko, żebyście zapamiętali, że nie wolno łączyć przełączników w pętle bez takiego zabezpieczenia. Dodam jeszcze, że to jeden z najczęstszych powodów awarii w prawdziwych sieciach. Wystarczy, że ktoś w biurze podepnie dwa kable od jednego niezarządzalnego przełącznika do drugiego, i cała sieć potrafi stanąć w kilka sekund. Dlatego STP włączone na przełącznikach to nie fanaberia, tylko podstawowe bezpieczeństwo.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Czy most i przełącznik to to samo? Koncepcyjnie tak. Przełącznik jest bezpośrednim, sprzętowo zoptymalizowanym następcą mostu i realizuje dokładnie ten sam algorytm: uczenie się, przekazywanie i filtrowanie, starzenie i zalewanie. Różnice są trzy. Po pierwsze implementacja. Klasyczny most był urządzeniem programowym, decyzje podejmował procesor ogólnego przeznaczenia. Przełącznik robi to w wyspecjalizowanych układach ASIC, więc może obsługiwać dziesiątki, a nawet setki portów z pełną prędkością jednocześnie. Mówimy wtedy o przełączaniu non-blocking, kiedy macierz przełączająca, switching fabric, ma przepustowość wystarczającą dla ruchu na wszystkich portach naraz. Po drugie liczba portów: most miał ich zwykle dwa do czterech, przełącznik kilkanaście do kilkudziesięciu, a każdy port to w praktyce osobny mostkowany segment. Po trzecie terminologia: od końca lat dziewięćdziesiątych w Ethernecie praktycznie wyłącznie mówimy przełącznik, choć w dokumentach IEEE nadal pojawiają się bridges. Można więc śmiało powiedzieć: każdy przełącznik Ethernet to wieloportowy most. Dlaczego to rozróżnienie w ogóle jeszcze funkcjonuje? Bo pomaga zrozumieć ewolucję. Gdy w dokumentach czy na egzaminie pojawia się most, wiecie, że chodzi o ten sam algorytm, który dziś jest wbudowany w każdy przełącznik. Ta wiedza przenosi się więc wprost na współczesny sprzęt.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Sercem przełącznika jest tablica adresów MAC, nazywana też tablicą CAM, od Content-Addressable Memory. To rodzaj pamięci sprzętowej, w której klucz, czyli adres MAC, od razu zwraca wynik, czyli numer portu, w czasie stałym, niezależnie od liczby wpisów. To właśnie pozwala zachować prędkość liniową nawet przy tysiącach adresów. Spójrzcie na przykładową tablicę: każdy wpis to adres MAC, port, identyfikator VLAN i znacznik czasu do starzenia. Po prawej widzimy, co przełącznik robi z przychodzącą ramką. Najpierw się uczy: zapisuje adres źródłowy i port. Potem sprawdza adres docelowy. Jeżeli jest znany i leży na innym porcie, przekazuje ramkę tylko tam. Jeśli leży na tym samym porcie, filtruje, czyli odrzuca. Jeśli jest nieznany albo to broadcast, zalewa wszystkie porty poza źródłowym. Wyobraźcie sobie moment, w którym przełącznik zostaje włączony. Początkowo tablica jest pusta, więc zalewa prawie wszystko. Po kilkudziesięciu sekundach większość ruchu jest już kierowana precyzyjnie. Ta samouczność jest piękna w swojej prostocie, ale ma też ciemną stronę: istnieją ataki polegające na zatruwaniu tablicy CAM. O tym przy innej okazji. Warto pamiętać, że tablica CAM ma skończoną pojemność. Jeśli atakujący zasypie przełącznik tysiącami fałszywych adresów, tablica się zapełni, a przełącznik zacznie zalewać ruch jak hub. Dlatego w sieciach firmowych ogranicza się liczbę adresów MAC na porcie. To jedno z podstawowych zabezpieczeń portów, o którym wspominałem przy warstwie dostępu.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Kiedy przełącznik zaczyna wysyłać ramkę dalej? Tu są trzy filozofie, a wybór to kompromis między opóźnieniem a niezawodnością. Pierwsza: store-and-forward. Przełącznik odbiera całą ramkę do bufora, liczy sumę kontrolną FCS i dopiero gdy ramka jest bezbłędna, zaczyna ją wysyłać. Najbezpieczniej, bo uszkodzone ramki nigdy nie opuszczają przełącznika, ale opóźnienie jest największe i rośnie z długością ramki. W praktyce to mikrosekundy, więc dziś ta metoda dominuje. Jest też jedyną, która pozwala łączyć porty o różnych prędkościach, na przykład gigabit z setką. Druga: cut-through. Przełącznik zaczyna wysyłać zaraz po odczytaniu adresu docelowego, czyli po około czternastu bajtach. Opóźnienie jest minimalne i stałe, ale rośnie ryzyko, że przekaże uszkodzoną ramkę. Błąd wykryje dopiero karta odbiorcy, a ramka zdąży już zająć pasmo. Trzecia: fragment-free, rozwiązanie pośrednie. Przełącznik czeka na pierwsze sześćdziesiąt cztery bajty. To nie jest przypadkowa liczba, to minimalny rozmiar poprawnej ramki Ethernet. Kolizje w half-duplex tworzą fragmenty krótsze niż 64 bajty, więc ta metoda je odfiltruje. Wiele nowoczesnych przełączników działa adaptacyjnie: w trybie cut-through, dopóki błędów jest mało, i przełącza się na store-and-forward, gdy ich przybywa. Gdybym miał wybrać jedną z trzech metod do sieci biurowej, wybrałbym store-and-forward. Mikrosekundy opóźnienia nikomu nie przeszkadzają, a ochrona przed uszkodzonymi ramkami jest realna. Cut-through ma sens tam, gdzie liczy się każda mikrosekunda, na przykład w centrach danych. Pasek na slajdzie jest oczywiście poglądowy, nie w skali.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Nowoczesny przełącznik pracuje niemal wyłącznie w full-duplex na łączach punkt–punkt. Ale skąd dwa końce kabla wiedzą, jak mają pracować? Z autonegocjacji, opisanej w standardzie IEEE 802.3, klauzula 28. Obie strony wymieniają informacje o swoich możliwościach, czyli o obsługiwanych prędkościach i trybach dupleksu, i wybierają najlepszy wspólny wariant. Wszystko dzieje się automatycznie, bez udziału człowieka. I tu czyha klasyczna pułapka administratorów: duplex mismatch. Jeśli ktoś na sztywno ustawi prędkość i duplex tylko po jednej stronie, ta strona przestaje uczestniczyć w negocjacji. Druga strona, nie dostając odpowiedzi, wybiera bezpieczny half-duplex, a pierwsza dalej pracuje w full-duplex. Efekt? Jedna strona nadaje i odbiera jednocześnie, a druga interpretuje to jako kolizję. Pojawiają się błędy CRC, rosną liczniki kolizji, a sieć działa, ale jakby ktoś ją hamował ręcznie. Praktyczna wskazówka: w Linuksie sprawdzamy licznik collisions w statystykach interfejsu. W sieci full-duplex powinien być zerowy. Jeśli rośnie, pierwsze podejrzenie to właśnie niezgodność dupleksu. Zasada jest prosta: albo ustawiamy ręcznie obie strony, albo zostawiamy autonegocjację po obu. Dlatego w praktyce ręczne ustawianie duplexu to ostateczność, na przykład dla starego sprzętu, który nie obsługuje autonegocjacji. W nowoczesnej sieci zostawiamy automat po obu stronach i problem znika. A jeśli już musimy ustawiać ręcznie, robimy to symetrycznie i zapisujemy w dokumentacji.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Jakie przełączniki spotkamy? Można je sklasyfikować na kilka sposobów. Pod względem zarządzalności: niezarządzalne, typu plug-and-play, które znamy z domów, i zarządzalne, w których konfigurujemy VLAN-y, STP, QoS i SNMP. Pod względem warstwy: L2, które patrzą tylko na adresy MAC, i L3, multilayer, które dodatkowo potrafią routować. Pod względem budowy: o stałej liczbie portów albo modularne, z wymiennymi kartami liniowymi, spotykane w centrach danych. Do tego przeznaczenie, czyli dostępowe, dystrybucyjne i rdzeniowe, oraz zasilanie PoE, które pozwala zasilać kamery, telefony i punkty Wi-Fi tym samym kablem. A zalety względem huba? Mikrosegmentacja, czyli każdy port jako osobna domena kolizyjna. Pełne wykorzystanie przepustowości na każdym porcie jednocześnie. Spójrzcie na liczbę po prawej: przełącznik 24-portowy gigabitowy w full-duplex ma w teorii 48 gigabitów łącznej przepustowości, oczywiście o ile macierz jest non-blocking. Dalej filtrowanie ruchu, lepsze bezpieczeństwo, bo unicast nie jest widoczny na innych portach, choć to nie jest pełna ochrona, oraz zaawansowane mechanizmy: QoS, agregacja łączy, zabezpieczenia portów i uwierzytelnianie 802.1X. Przy wyborze przełącznika do konkretnej sieci warto zapytać o trzy rzeczy. Czy potrzebuję zarządzalności, czyli VLAN-ów i monitoringu. Czy potrzebuję routingu na przełączniku. I czy będę zasilał urządzenia przez PoE, bo wtedy liczy się też budżet mocy przełącznika. Dopiero potem patrzymy na liczbę portów i cenę.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Przechodzimy do drugiej połowy tematu: domeny rozgłoszeniowej. To obszar sieci, do którego dociera ramka wysłana na adres FF:FF:FF:FF:FF:FF przez którekolwiek urządzenie w tym obszarze. I zasada, którą warto zapisać złotymi zgłoskami: most i przełącznik dzielą domeny kolizyjne, ale nie dzielą domeny rozgłoszeniowej. Tylko router, albo VLAN-y z routingiem między nimi, dzieli domenę rozgłoszeniową. Dlaczego? Bo w warstwie drugiej nie ma żadnego mechanizmu, który mógłby filtrować broadcast. Adres złożony z samych jedynek znaczy: wszyscy. Czy broadcast jest zły? Wręcz przeciwnie, jest niezbędny. Klasyczny przykład to ARP. Komputer zna adres IP, ale nie zna adresu MAC, a bez niego nie zbuduje nagłówka ramki. Pyta więc wszystkich: kto ma taki adres IP? Podobnie działa DHCP Discover, kiedy urządzenie szuka serwera DHCP. Problem pojawia się wtedy, gdy domena jest za duża. Każde urządzenie musi każdy broadcast przetworzyć, czyli obciąża procesor i pasmo, nawet jeśli to nie do niego. To zjawisko nazywamy broadcast radiation. Przyjmuje się orientacyjnie, że powyżej dwustu do pięciuset hostów narzut staje się zauważalny, ale granica zależy od aplikacji. W skrajnym przypadku dostajemy burzę rozgłoszeniową, którą już znamy. Ważne jest też to, że broadcastu nie da się po prostu wyłączyć. Bez ARP komputery w sieci IPv4 nie zbudują nagłówków ramek. Można go więc tylko ograniczać, dzieląc sieć na rozsądnie małe domeny. I właśnie do tego służy segmentacja, którą omówimy za chwilę.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Zestawmy oba pojęcia, bo początkujący często je mylą. Domena kolizyjna dotyczy warstwy fizycznej: to obszar, w którym transmisje mogą się zderzyć. Dzielą ją most, przełącznik i router. Hub i repeater jej nie dzielą. Domena rozgłoszeniowa dotyczy warstwy drugiej: to obszar, do którego dociera broadcast. Dzieli ją wyłącznie router, albo VLAN-y z routingiem między nimi. Hub, most i przełącznik jej nie dzielą. Główne zagrożenie przy nadmiernym rozmiarze: w pierwszym przypadku lawinowy wzrost kolizji, głównie w half-duplex, w drugim nadmiar broadcastów i ryzyko burzy. Pomaga prosta reguła liczenia. Liczba domen rozgłoszeniowych jest równa liczbie interfejsów routera, albo, przy VLAN-ach, liczbie skonfigurowanych sieci VLAN. Liczba domen kolizyjnych w sieci pełnoprzełączanej to liczba aktywnych portów przełączników, plus jedna domena na każdy hub, niezależnie od tego, ile komputerów jest do niego podłączonych. Za chwilę sprawdzimy to na zadaniu. Dla porządku dodam, że ta tabela to najlepsza ściągawka na egzamin i na rozmowę kwalifikacyjną. Zwróćcie uwagę na symetrię tej tabeli. Pierwsza kolumna mówi o zderzeniach sygnałów, druga o zasięgu rozgłoszeń. Jedna dotyczy fizyki, druga logiki adresowania. Gdy zobaczycie pytanie o liczbę domen, najpierw ustalcie, o którą z nich pytają, i dopiero potem liczcie.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Skoro wiemy, że duża domena rozgłoszeniowa to problem, jak ją dzielić? Segmentacja sieci to celowy podział na mniejsze fragmenty. Powodów jest kilka. Ograniczenie broadcastów. Bezpieczeństwo, bo ruch wrażliwy, na przykład księgowość czy zarządzanie sprzętem, oddzielamy od reszty i kontrolujemy listami ACL. Wydajność, bo można rozdzielić telefonię VoIP od dużych transferów plików. Odwzorowanie struktury firmy oraz zgodność z regulacjami, jak PCI DSS. Historycznie dzielono sieć fizycznie, osobnymi przełącznikami. Dzisiaj dominują VLAN-y, czyli IEEE 802.1Q, które logicznie dzielą jedną infrastrukturę na wiele odseparowanych domen. Porty dostępowe należą do jednego VLAN-u, a porty trunk przenoszą wiele VLAN-ów, przy czym każda ramka dostaje czterobajtowy znacznik 802.1Q. Przełącznik utrzymuje osobną tablicę MAC dla każdego VLAN-u i nigdy nie przekaże ramki między nimi. Do rozmowy między VLAN-ami potrzebny jest router, na przykład w konfiguracji router-on-a-stick, albo przełącznik warstwy trzeciej. Przykład z diagramu: biuro ze stu dwudziestoma pracownikami. Zamiast jednej domeny na 120 stacji mamy trzy VLAN-y po około czterdzieści: sprzedaż, księgowość i IT. Do tego lista ACL blokująca dostęp sprzedaży do serwerów księgowości. W płaskiej sieci takiej polityki po prostu nie da się wyegzekwować. Podkreślę jeszcze jedną rzecz: VLAN-y same w sobie nie dają komunikacji między segmentami. One tylko rozdzielają. Dopiero router albo przełącznik warstwy trzeciej pozwala je ponownie połączyć, ale już na naszych zasadach.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Podsumujmy. Cała ewolucja, od huba przez most do przełącznika, to jedna zasada: im więcej informacji o ruchu urządzenie potrafi odczytać, tym precyzyjniej może nim zarządzać. Hub widzi bity, więc kopiuje wszystko wszędzie. Most i przełącznik widzą adresy MAC, więc potrafią filtrować i dzielą domeny kolizyjne, ale broadcast muszą puścić wszędzie. Router widzi adresy IP i dzieli domeny rozgłoszeniowe. A VLAN-y pozwalają zrobić to logicznie. I teraz zadanie sprawdzające. Mamy jeden router, dwa przełączniki po osiem aktywnych portów full-duplex i jeden czteroportowy hub podłączony do portu pierwszego przełącznika, z trzema komputerami. Ile domen rozgłoszeniowych i ile kolizyjnych? Dajcie sobie chwilę. Odpowiedź: domena rozgłoszeniowa jest jedna, bo router ma tylko jedno ramię do przełączników i nie ma VLAN-ów. Domen kolizyjnych jest szesnaście: siedem na pierwszym przełączniku, bo ósmy port prowadzi do huba, plus jedna wspólna domena huba, plus osiem na drugim przełączniku. Siedem plus jeden plus osiem daje szesnaście. Jeśli zapamiętacie z całego wykładu jedno zdanie, niech będzie to: przełącznik dzieli domeny kolizyjne, router dzieli domeny rozgłoszeniowe. Reszta to szczegóły, które wynikają z tej jednej zasady. Dziękuję Państwu za uwagę i zapraszam do pytań.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B2545"/>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7F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rgbClr val="0B2545"/>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B254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rgbClr val="FFFFFF"/>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F"/>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548640" y="1097280"/>
            <a:ext cx="4937760" cy="320040"/>
          </a:xfrm>
          <a:prstGeom prst="rect">
            <a:avLst/>
          </a:prstGeom>
          <a:noFill/>
          <a:ln/>
        </p:spPr>
        <p:txBody>
          <a:bodyPr wrap="square" lIns="0" tIns="0" rIns="0" bIns="0" rtlCol="0" anchor="t"/>
          <a:lstStyle/>
          <a:p>
            <a:pPr indent="0" marL="0">
              <a:buNone/>
            </a:pPr>
            <a:r>
              <a:rPr lang="en-US" sz="1200" b="1" spc="300" kern="0" dirty="0">
                <a:solidFill>
                  <a:srgbClr val="F2A541"/>
                </a:solidFill>
              </a:rPr>
              <a:t>URZĄDZENIA WARSTWY DOSTĘPU DO SIECI</a:t>
            </a:r>
            <a:endParaRPr lang="en-US" sz="1200" dirty="0"/>
          </a:p>
        </p:txBody>
      </p:sp>
      <p:sp>
        <p:nvSpPr>
          <p:cNvPr id="4" name="Text 1"/>
          <p:cNvSpPr txBox="1"/>
          <p:nvPr/>
        </p:nvSpPr>
        <p:spPr>
          <a:xfrm>
            <a:off x="548640" y="1554480"/>
            <a:ext cx="4846320" cy="1554480"/>
          </a:xfrm>
          <a:prstGeom prst="rect">
            <a:avLst/>
          </a:prstGeom>
          <a:noFill/>
          <a:ln/>
        </p:spPr>
        <p:txBody>
          <a:bodyPr wrap="square" lIns="0" tIns="0" rIns="0" bIns="0" rtlCol="0" anchor="t"/>
          <a:lstStyle/>
          <a:p>
            <a:pPr indent="0" marL="0">
              <a:buNone/>
            </a:pPr>
            <a:r>
              <a:rPr lang="en-US" sz="3800" b="1" dirty="0">
                <a:solidFill>
                  <a:srgbClr val="FFFFFF"/>
                </a:solidFill>
              </a:rPr>
              <a:t>Koncentratory, mosty i przełączniki</a:t>
            </a:r>
            <a:endParaRPr lang="en-US" sz="3800" dirty="0"/>
          </a:p>
        </p:txBody>
      </p:sp>
      <p:sp>
        <p:nvSpPr>
          <p:cNvPr id="5" name="Text 2"/>
          <p:cNvSpPr txBox="1"/>
          <p:nvPr/>
        </p:nvSpPr>
        <p:spPr>
          <a:xfrm>
            <a:off x="548640" y="3291840"/>
            <a:ext cx="4572000" cy="731520"/>
          </a:xfrm>
          <a:prstGeom prst="rect">
            <a:avLst/>
          </a:prstGeom>
          <a:noFill/>
          <a:ln/>
        </p:spPr>
        <p:txBody>
          <a:bodyPr wrap="square" lIns="0" tIns="0" rIns="0" bIns="0" rtlCol="0" anchor="t"/>
          <a:lstStyle/>
          <a:p>
            <a:pPr indent="0" marL="0">
              <a:buNone/>
            </a:pPr>
            <a:r>
              <a:rPr lang="en-US" sz="1800" dirty="0">
                <a:solidFill>
                  <a:srgbClr val="B8CCE4"/>
                </a:solidFill>
              </a:rPr>
              <a:t>Segmentacja, domeny kolizyjne i rozgłoszeniowe</a:t>
            </a:r>
            <a:endParaRPr lang="en-US" sz="1800" dirty="0"/>
          </a:p>
        </p:txBody>
      </p:sp>
      <p:sp>
        <p:nvSpPr>
          <p:cNvPr id="6" name="Shape 3"/>
          <p:cNvSpPr/>
          <p:nvPr/>
        </p:nvSpPr>
        <p:spPr>
          <a:xfrm flipH="1" flipV="1">
            <a:off x="6309360" y="1280160"/>
            <a:ext cx="1005840" cy="1280160"/>
          </a:xfrm>
          <a:prstGeom prst="line">
            <a:avLst/>
          </a:prstGeom>
          <a:noFill/>
          <a:ln w="25400">
            <a:solidFill>
              <a:srgbClr val="2F5D8C"/>
            </a:solidFill>
            <a:prstDash val="solid"/>
          </a:ln>
        </p:spPr>
      </p:sp>
      <p:sp>
        <p:nvSpPr>
          <p:cNvPr id="7" name="Shape 4"/>
          <p:cNvSpPr/>
          <p:nvPr/>
        </p:nvSpPr>
        <p:spPr>
          <a:xfrm flipV="1">
            <a:off x="7315200" y="1371600"/>
            <a:ext cx="914400" cy="1188720"/>
          </a:xfrm>
          <a:prstGeom prst="line">
            <a:avLst/>
          </a:prstGeom>
          <a:noFill/>
          <a:ln w="25400">
            <a:solidFill>
              <a:srgbClr val="2F5D8C"/>
            </a:solidFill>
            <a:prstDash val="solid"/>
          </a:ln>
        </p:spPr>
      </p:sp>
      <p:sp>
        <p:nvSpPr>
          <p:cNvPr id="8" name="Shape 5"/>
          <p:cNvSpPr/>
          <p:nvPr/>
        </p:nvSpPr>
        <p:spPr>
          <a:xfrm flipH="1">
            <a:off x="6217920" y="2560320"/>
            <a:ext cx="1097280" cy="1371600"/>
          </a:xfrm>
          <a:prstGeom prst="line">
            <a:avLst/>
          </a:prstGeom>
          <a:noFill/>
          <a:ln w="25400">
            <a:solidFill>
              <a:srgbClr val="2F5D8C"/>
            </a:solidFill>
            <a:prstDash val="solid"/>
          </a:ln>
        </p:spPr>
      </p:sp>
      <p:sp>
        <p:nvSpPr>
          <p:cNvPr id="9" name="Shape 6"/>
          <p:cNvSpPr/>
          <p:nvPr/>
        </p:nvSpPr>
        <p:spPr>
          <a:xfrm>
            <a:off x="7315200" y="2560320"/>
            <a:ext cx="914400" cy="1280160"/>
          </a:xfrm>
          <a:prstGeom prst="line">
            <a:avLst/>
          </a:prstGeom>
          <a:noFill/>
          <a:ln w="25400">
            <a:solidFill>
              <a:srgbClr val="2F5D8C"/>
            </a:solidFill>
            <a:prstDash val="solid"/>
          </a:ln>
        </p:spPr>
      </p:sp>
      <p:sp>
        <p:nvSpPr>
          <p:cNvPr id="10" name="Shape 7"/>
          <p:cNvSpPr/>
          <p:nvPr/>
        </p:nvSpPr>
        <p:spPr>
          <a:xfrm flipV="1">
            <a:off x="6309360" y="640080"/>
            <a:ext cx="914400" cy="640080"/>
          </a:xfrm>
          <a:prstGeom prst="line">
            <a:avLst/>
          </a:prstGeom>
          <a:noFill/>
          <a:ln w="25400">
            <a:solidFill>
              <a:srgbClr val="2F5D8C"/>
            </a:solidFill>
            <a:prstDash val="solid"/>
          </a:ln>
        </p:spPr>
      </p:sp>
      <p:sp>
        <p:nvSpPr>
          <p:cNvPr id="11" name="Shape 8"/>
          <p:cNvSpPr/>
          <p:nvPr/>
        </p:nvSpPr>
        <p:spPr>
          <a:xfrm flipH="1" flipV="1">
            <a:off x="7223760" y="640080"/>
            <a:ext cx="1005840" cy="731520"/>
          </a:xfrm>
          <a:prstGeom prst="line">
            <a:avLst/>
          </a:prstGeom>
          <a:noFill/>
          <a:ln w="25400">
            <a:solidFill>
              <a:srgbClr val="2F5D8C"/>
            </a:solidFill>
            <a:prstDash val="solid"/>
          </a:ln>
        </p:spPr>
      </p:sp>
      <p:sp>
        <p:nvSpPr>
          <p:cNvPr id="12" name="Shape 9"/>
          <p:cNvSpPr/>
          <p:nvPr/>
        </p:nvSpPr>
        <p:spPr>
          <a:xfrm>
            <a:off x="6217920" y="3931920"/>
            <a:ext cx="1097280" cy="594360"/>
          </a:xfrm>
          <a:prstGeom prst="line">
            <a:avLst/>
          </a:prstGeom>
          <a:noFill/>
          <a:ln w="25400">
            <a:solidFill>
              <a:srgbClr val="2F5D8C"/>
            </a:solidFill>
            <a:prstDash val="solid"/>
          </a:ln>
        </p:spPr>
      </p:sp>
      <p:sp>
        <p:nvSpPr>
          <p:cNvPr id="13" name="Shape 10"/>
          <p:cNvSpPr/>
          <p:nvPr/>
        </p:nvSpPr>
        <p:spPr>
          <a:xfrm flipH="1">
            <a:off x="7315200" y="3840480"/>
            <a:ext cx="914400" cy="685800"/>
          </a:xfrm>
          <a:prstGeom prst="line">
            <a:avLst/>
          </a:prstGeom>
          <a:noFill/>
          <a:ln w="25400">
            <a:solidFill>
              <a:srgbClr val="2F5D8C"/>
            </a:solidFill>
            <a:prstDash val="solid"/>
          </a:ln>
        </p:spPr>
      </p:sp>
      <p:sp>
        <p:nvSpPr>
          <p:cNvPr id="14" name="Shape 11"/>
          <p:cNvSpPr/>
          <p:nvPr/>
        </p:nvSpPr>
        <p:spPr>
          <a:xfrm>
            <a:off x="6812280" y="2057400"/>
            <a:ext cx="1005840" cy="1005840"/>
          </a:xfrm>
          <a:prstGeom prst="ellipse">
            <a:avLst/>
          </a:prstGeom>
          <a:solidFill>
            <a:srgbClr val="0E7C7B"/>
          </a:solidFill>
          <a:ln w="19050">
            <a:solidFill>
              <a:srgbClr val="5FD0CB"/>
            </a:solidFill>
            <a:prstDash val="solid"/>
          </a:ln>
        </p:spPr>
      </p:sp>
      <p:sp>
        <p:nvSpPr>
          <p:cNvPr id="15" name="Shape 12"/>
          <p:cNvSpPr/>
          <p:nvPr/>
        </p:nvSpPr>
        <p:spPr>
          <a:xfrm>
            <a:off x="6080760" y="1051560"/>
            <a:ext cx="457200" cy="457200"/>
          </a:xfrm>
          <a:prstGeom prst="ellipse">
            <a:avLst/>
          </a:prstGeom>
          <a:solidFill>
            <a:srgbClr val="1F4E79"/>
          </a:solidFill>
          <a:ln w="19050">
            <a:solidFill>
              <a:srgbClr val="3A6EA5"/>
            </a:solidFill>
            <a:prstDash val="solid"/>
          </a:ln>
        </p:spPr>
      </p:sp>
      <p:sp>
        <p:nvSpPr>
          <p:cNvPr id="16" name="Shape 13"/>
          <p:cNvSpPr/>
          <p:nvPr/>
        </p:nvSpPr>
        <p:spPr>
          <a:xfrm>
            <a:off x="8001000" y="1143000"/>
            <a:ext cx="457200" cy="457200"/>
          </a:xfrm>
          <a:prstGeom prst="ellipse">
            <a:avLst/>
          </a:prstGeom>
          <a:solidFill>
            <a:srgbClr val="1F4E79"/>
          </a:solidFill>
          <a:ln w="19050">
            <a:solidFill>
              <a:srgbClr val="3A6EA5"/>
            </a:solidFill>
            <a:prstDash val="solid"/>
          </a:ln>
        </p:spPr>
      </p:sp>
      <p:sp>
        <p:nvSpPr>
          <p:cNvPr id="17" name="Shape 14"/>
          <p:cNvSpPr/>
          <p:nvPr/>
        </p:nvSpPr>
        <p:spPr>
          <a:xfrm>
            <a:off x="5989320" y="3703320"/>
            <a:ext cx="457200" cy="457200"/>
          </a:xfrm>
          <a:prstGeom prst="ellipse">
            <a:avLst/>
          </a:prstGeom>
          <a:solidFill>
            <a:srgbClr val="1F4E79"/>
          </a:solidFill>
          <a:ln w="19050">
            <a:solidFill>
              <a:srgbClr val="3A6EA5"/>
            </a:solidFill>
            <a:prstDash val="solid"/>
          </a:ln>
        </p:spPr>
      </p:sp>
      <p:sp>
        <p:nvSpPr>
          <p:cNvPr id="18" name="Shape 15"/>
          <p:cNvSpPr/>
          <p:nvPr/>
        </p:nvSpPr>
        <p:spPr>
          <a:xfrm>
            <a:off x="8001000" y="3611880"/>
            <a:ext cx="457200" cy="457200"/>
          </a:xfrm>
          <a:prstGeom prst="ellipse">
            <a:avLst/>
          </a:prstGeom>
          <a:solidFill>
            <a:srgbClr val="1F4E79"/>
          </a:solidFill>
          <a:ln w="19050">
            <a:solidFill>
              <a:srgbClr val="3A6EA5"/>
            </a:solidFill>
            <a:prstDash val="solid"/>
          </a:ln>
        </p:spPr>
      </p:sp>
      <p:sp>
        <p:nvSpPr>
          <p:cNvPr id="19" name="Shape 16"/>
          <p:cNvSpPr/>
          <p:nvPr/>
        </p:nvSpPr>
        <p:spPr>
          <a:xfrm>
            <a:off x="6995160" y="411480"/>
            <a:ext cx="457200" cy="457200"/>
          </a:xfrm>
          <a:prstGeom prst="ellipse">
            <a:avLst/>
          </a:prstGeom>
          <a:solidFill>
            <a:srgbClr val="F2A541"/>
          </a:solidFill>
          <a:ln w="19050">
            <a:solidFill>
              <a:srgbClr val="3A6EA5"/>
            </a:solidFill>
            <a:prstDash val="solid"/>
          </a:ln>
        </p:spPr>
      </p:sp>
      <p:sp>
        <p:nvSpPr>
          <p:cNvPr id="20" name="Shape 17"/>
          <p:cNvSpPr/>
          <p:nvPr/>
        </p:nvSpPr>
        <p:spPr>
          <a:xfrm>
            <a:off x="7086600" y="4297680"/>
            <a:ext cx="457200" cy="457200"/>
          </a:xfrm>
          <a:prstGeom prst="ellipse">
            <a:avLst/>
          </a:prstGeom>
          <a:solidFill>
            <a:srgbClr val="F2A541"/>
          </a:solidFill>
          <a:ln w="19050">
            <a:solidFill>
              <a:srgbClr val="3A6EA5"/>
            </a:solidFill>
            <a:prstDash val="solid"/>
          </a:ln>
        </p:spPr>
      </p:sp>
      <p:sp>
        <p:nvSpPr>
          <p:cNvPr id="21" name="icon-bg-FaNetworkWired"/>
          <p:cNvSpPr/>
          <p:nvPr/>
        </p:nvSpPr>
        <p:spPr>
          <a:xfrm>
            <a:off x="6949440" y="2194560"/>
            <a:ext cx="731520" cy="731520"/>
          </a:xfrm>
          <a:prstGeom prst="ellipse">
            <a:avLst/>
          </a:prstGeom>
          <a:solidFill>
            <a:srgbClr val="0E7C7B"/>
          </a:solidFill>
          <a:ln w="6350">
            <a:solidFill>
              <a:srgbClr val="0E7C7B"/>
            </a:solidFill>
            <a:prstDash val="solid"/>
          </a:ln>
        </p:spPr>
      </p:sp>
      <p:pic>
        <p:nvPicPr>
          <p:cNvPr id="22" name="Image 0" descr="FaNetworkWired">    </p:cNvPr>
          <p:cNvPicPr>
            <a:picLocks noChangeAspect="1"/>
          </p:cNvPicPr>
          <p:nvPr/>
        </p:nvPicPr>
        <p:blipFill>
          <a:blip r:embed="rId1"/>
          <a:stretch>
            <a:fillRect/>
          </a:stretch>
        </p:blipFill>
        <p:spPr>
          <a:xfrm>
            <a:off x="7132320" y="2377440"/>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Plan prezentacji</a:t>
            </a:r>
            <a:endParaRPr lang="en-US" sz="3000" dirty="0"/>
          </a:p>
        </p:txBody>
      </p:sp>
      <p:sp>
        <p:nvSpPr>
          <p:cNvPr id="4" name="plan-card-1"/>
          <p:cNvSpPr/>
          <p:nvPr/>
        </p:nvSpPr>
        <p:spPr>
          <a:xfrm>
            <a:off x="457200" y="1234440"/>
            <a:ext cx="2606040" cy="1600200"/>
          </a:xfrm>
          <a:prstGeom prst="roundRect">
            <a:avLst>
              <a:gd name="adj" fmla="val 5714"/>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685800" y="1435608"/>
            <a:ext cx="457200" cy="457200"/>
          </a:xfrm>
          <a:prstGeom prst="ellipse">
            <a:avLst/>
          </a:prstGeom>
          <a:solidFill>
            <a:srgbClr val="0E7C7B"/>
          </a:solidFill>
          <a:ln w="6350">
            <a:solidFill>
              <a:srgbClr val="0E7C7B"/>
            </a:solidFill>
            <a:prstDash val="solid"/>
          </a:ln>
        </p:spPr>
      </p:sp>
      <p:sp>
        <p:nvSpPr>
          <p:cNvPr id="6" name="Text 3"/>
          <p:cNvSpPr txBox="1"/>
          <p:nvPr/>
        </p:nvSpPr>
        <p:spPr>
          <a:xfrm>
            <a:off x="685800" y="14356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7" name="Text 4"/>
          <p:cNvSpPr txBox="1"/>
          <p:nvPr/>
        </p:nvSpPr>
        <p:spPr>
          <a:xfrm>
            <a:off x="685800" y="2057400"/>
            <a:ext cx="2194560" cy="274320"/>
          </a:xfrm>
          <a:prstGeom prst="rect">
            <a:avLst/>
          </a:prstGeom>
          <a:noFill/>
          <a:ln/>
        </p:spPr>
        <p:txBody>
          <a:bodyPr wrap="square" lIns="0" tIns="0" rIns="0" bIns="0" rtlCol="0" anchor="t"/>
          <a:lstStyle/>
          <a:p>
            <a:pPr indent="0" marL="0">
              <a:buNone/>
            </a:pPr>
            <a:r>
              <a:rPr lang="en-US" sz="1600" b="1" dirty="0">
                <a:solidFill>
                  <a:srgbClr val="0B2545"/>
                </a:solidFill>
              </a:rPr>
              <a:t>Kontekst</a:t>
            </a:r>
            <a:endParaRPr lang="en-US" sz="1600" dirty="0"/>
          </a:p>
        </p:txBody>
      </p:sp>
      <p:sp>
        <p:nvSpPr>
          <p:cNvPr id="8" name="Text 5"/>
          <p:cNvSpPr txBox="1"/>
          <p:nvPr/>
        </p:nvSpPr>
        <p:spPr>
          <a:xfrm>
            <a:off x="685800" y="2377440"/>
            <a:ext cx="2194560" cy="320040"/>
          </a:xfrm>
          <a:prstGeom prst="rect">
            <a:avLst/>
          </a:prstGeom>
          <a:noFill/>
          <a:ln/>
        </p:spPr>
        <p:txBody>
          <a:bodyPr wrap="square" lIns="0" tIns="0" rIns="0" bIns="0" rtlCol="0" anchor="t"/>
          <a:lstStyle/>
          <a:p>
            <a:pPr indent="0" marL="0">
              <a:buNone/>
            </a:pPr>
            <a:r>
              <a:rPr lang="en-US" sz="1400" dirty="0">
                <a:solidFill>
                  <a:srgbClr val="5C6B80"/>
                </a:solidFill>
              </a:rPr>
              <a:t>Warstwa dostępu i model OSI</a:t>
            </a:r>
            <a:endParaRPr lang="en-US" sz="1400" dirty="0"/>
          </a:p>
        </p:txBody>
      </p:sp>
      <p:sp>
        <p:nvSpPr>
          <p:cNvPr id="9" name="plan-card-2"/>
          <p:cNvSpPr/>
          <p:nvPr/>
        </p:nvSpPr>
        <p:spPr>
          <a:xfrm>
            <a:off x="3268980" y="1234440"/>
            <a:ext cx="2606040" cy="1600200"/>
          </a:xfrm>
          <a:prstGeom prst="roundRect">
            <a:avLst>
              <a:gd name="adj" fmla="val 5714"/>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497580" y="1435608"/>
            <a:ext cx="457200" cy="457200"/>
          </a:xfrm>
          <a:prstGeom prst="ellipse">
            <a:avLst/>
          </a:prstGeom>
          <a:solidFill>
            <a:srgbClr val="0E7C7B"/>
          </a:solidFill>
          <a:ln w="6350">
            <a:solidFill>
              <a:srgbClr val="0E7C7B"/>
            </a:solidFill>
            <a:prstDash val="solid"/>
          </a:ln>
        </p:spPr>
      </p:sp>
      <p:sp>
        <p:nvSpPr>
          <p:cNvPr id="11" name="Text 8"/>
          <p:cNvSpPr txBox="1"/>
          <p:nvPr/>
        </p:nvSpPr>
        <p:spPr>
          <a:xfrm>
            <a:off x="3497580" y="14356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2" name="Text 9"/>
          <p:cNvSpPr txBox="1"/>
          <p:nvPr/>
        </p:nvSpPr>
        <p:spPr>
          <a:xfrm>
            <a:off x="3497580" y="2057400"/>
            <a:ext cx="2194560" cy="274320"/>
          </a:xfrm>
          <a:prstGeom prst="rect">
            <a:avLst/>
          </a:prstGeom>
          <a:noFill/>
          <a:ln/>
        </p:spPr>
        <p:txBody>
          <a:bodyPr wrap="square" lIns="0" tIns="0" rIns="0" bIns="0" rtlCol="0" anchor="t"/>
          <a:lstStyle/>
          <a:p>
            <a:pPr indent="0" marL="0">
              <a:buNone/>
            </a:pPr>
            <a:r>
              <a:rPr lang="en-US" sz="1600" b="1" dirty="0">
                <a:solidFill>
                  <a:srgbClr val="0B2545"/>
                </a:solidFill>
              </a:rPr>
              <a:t>Koncentratory</a:t>
            </a:r>
            <a:endParaRPr lang="en-US" sz="1600" dirty="0"/>
          </a:p>
        </p:txBody>
      </p:sp>
      <p:sp>
        <p:nvSpPr>
          <p:cNvPr id="13" name="Text 10"/>
          <p:cNvSpPr txBox="1"/>
          <p:nvPr/>
        </p:nvSpPr>
        <p:spPr>
          <a:xfrm>
            <a:off x="3497580" y="2377440"/>
            <a:ext cx="2194560" cy="320040"/>
          </a:xfrm>
          <a:prstGeom prst="rect">
            <a:avLst/>
          </a:prstGeom>
          <a:noFill/>
          <a:ln/>
        </p:spPr>
        <p:txBody>
          <a:bodyPr wrap="square" lIns="0" tIns="0" rIns="0" bIns="0" rtlCol="0" anchor="t"/>
          <a:lstStyle/>
          <a:p>
            <a:pPr indent="0" marL="0">
              <a:buNone/>
            </a:pPr>
            <a:r>
              <a:rPr lang="en-US" sz="1400" dirty="0">
                <a:solidFill>
                  <a:srgbClr val="5C6B80"/>
                </a:solidFill>
              </a:rPr>
              <a:t>Najprostsze urządzenia</a:t>
            </a:r>
            <a:endParaRPr lang="en-US" sz="1400" dirty="0"/>
          </a:p>
        </p:txBody>
      </p:sp>
      <p:sp>
        <p:nvSpPr>
          <p:cNvPr id="14" name="plan-card-3"/>
          <p:cNvSpPr/>
          <p:nvPr/>
        </p:nvSpPr>
        <p:spPr>
          <a:xfrm>
            <a:off x="6080760" y="1234440"/>
            <a:ext cx="2606040" cy="1600200"/>
          </a:xfrm>
          <a:prstGeom prst="roundRect">
            <a:avLst>
              <a:gd name="adj" fmla="val 5714"/>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6309360" y="1435608"/>
            <a:ext cx="457200" cy="457200"/>
          </a:xfrm>
          <a:prstGeom prst="ellipse">
            <a:avLst/>
          </a:prstGeom>
          <a:solidFill>
            <a:srgbClr val="0E7C7B"/>
          </a:solidFill>
          <a:ln w="6350">
            <a:solidFill>
              <a:srgbClr val="0E7C7B"/>
            </a:solidFill>
            <a:prstDash val="solid"/>
          </a:ln>
        </p:spPr>
      </p:sp>
      <p:sp>
        <p:nvSpPr>
          <p:cNvPr id="16" name="Text 13"/>
          <p:cNvSpPr txBox="1"/>
          <p:nvPr/>
        </p:nvSpPr>
        <p:spPr>
          <a:xfrm>
            <a:off x="6309360" y="14356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7" name="Text 14"/>
          <p:cNvSpPr txBox="1"/>
          <p:nvPr/>
        </p:nvSpPr>
        <p:spPr>
          <a:xfrm>
            <a:off x="6309360" y="2057400"/>
            <a:ext cx="2194560" cy="274320"/>
          </a:xfrm>
          <a:prstGeom prst="rect">
            <a:avLst/>
          </a:prstGeom>
          <a:noFill/>
          <a:ln/>
        </p:spPr>
        <p:txBody>
          <a:bodyPr wrap="square" lIns="0" tIns="0" rIns="0" bIns="0" rtlCol="0" anchor="t"/>
          <a:lstStyle/>
          <a:p>
            <a:pPr indent="0" marL="0">
              <a:buNone/>
            </a:pPr>
            <a:r>
              <a:rPr lang="en-US" sz="1600" b="1" dirty="0">
                <a:solidFill>
                  <a:srgbClr val="0B2545"/>
                </a:solidFill>
              </a:rPr>
              <a:t>Domena kolizyjna</a:t>
            </a:r>
            <a:endParaRPr lang="en-US" sz="1600" dirty="0"/>
          </a:p>
        </p:txBody>
      </p:sp>
      <p:sp>
        <p:nvSpPr>
          <p:cNvPr id="18" name="Text 15"/>
          <p:cNvSpPr txBox="1"/>
          <p:nvPr/>
        </p:nvSpPr>
        <p:spPr>
          <a:xfrm>
            <a:off x="6309360" y="2377440"/>
            <a:ext cx="2194560" cy="320040"/>
          </a:xfrm>
          <a:prstGeom prst="rect">
            <a:avLst/>
          </a:prstGeom>
          <a:noFill/>
          <a:ln/>
        </p:spPr>
        <p:txBody>
          <a:bodyPr wrap="square" lIns="0" tIns="0" rIns="0" bIns="0" rtlCol="0" anchor="t"/>
          <a:lstStyle/>
          <a:p>
            <a:pPr indent="0" marL="0">
              <a:buNone/>
            </a:pPr>
            <a:r>
              <a:rPr lang="en-US" sz="1400" dirty="0">
                <a:solidFill>
                  <a:srgbClr val="5C6B80"/>
                </a:solidFill>
              </a:rPr>
              <a:t>CSMA/CD i Full-Duplex</a:t>
            </a:r>
            <a:endParaRPr lang="en-US" sz="1400" dirty="0"/>
          </a:p>
        </p:txBody>
      </p:sp>
      <p:sp>
        <p:nvSpPr>
          <p:cNvPr id="19" name="plan-card-4"/>
          <p:cNvSpPr/>
          <p:nvPr/>
        </p:nvSpPr>
        <p:spPr>
          <a:xfrm>
            <a:off x="457200" y="3017520"/>
            <a:ext cx="2606040" cy="1600200"/>
          </a:xfrm>
          <a:prstGeom prst="roundRect">
            <a:avLst>
              <a:gd name="adj" fmla="val 5714"/>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685800" y="3218688"/>
            <a:ext cx="457200" cy="457200"/>
          </a:xfrm>
          <a:prstGeom prst="ellipse">
            <a:avLst/>
          </a:prstGeom>
          <a:solidFill>
            <a:srgbClr val="0E7C7B"/>
          </a:solidFill>
          <a:ln w="6350">
            <a:solidFill>
              <a:srgbClr val="0E7C7B"/>
            </a:solidFill>
            <a:prstDash val="solid"/>
          </a:ln>
        </p:spPr>
      </p:sp>
      <p:sp>
        <p:nvSpPr>
          <p:cNvPr id="21" name="Text 18"/>
          <p:cNvSpPr txBox="1"/>
          <p:nvPr/>
        </p:nvSpPr>
        <p:spPr>
          <a:xfrm>
            <a:off x="685800" y="321868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2" name="Text 19"/>
          <p:cNvSpPr txBox="1"/>
          <p:nvPr/>
        </p:nvSpPr>
        <p:spPr>
          <a:xfrm>
            <a:off x="685800" y="3840480"/>
            <a:ext cx="2194560" cy="274320"/>
          </a:xfrm>
          <a:prstGeom prst="rect">
            <a:avLst/>
          </a:prstGeom>
          <a:noFill/>
          <a:ln/>
        </p:spPr>
        <p:txBody>
          <a:bodyPr wrap="square" lIns="0" tIns="0" rIns="0" bIns="0" rtlCol="0" anchor="t"/>
          <a:lstStyle/>
          <a:p>
            <a:pPr indent="0" marL="0">
              <a:buNone/>
            </a:pPr>
            <a:r>
              <a:rPr lang="en-US" sz="1600" b="1" dirty="0">
                <a:solidFill>
                  <a:srgbClr val="0B2545"/>
                </a:solidFill>
              </a:rPr>
              <a:t>Mosty</a:t>
            </a:r>
            <a:endParaRPr lang="en-US" sz="1600" dirty="0"/>
          </a:p>
        </p:txBody>
      </p:sp>
      <p:sp>
        <p:nvSpPr>
          <p:cNvPr id="23" name="Text 20"/>
          <p:cNvSpPr txBox="1"/>
          <p:nvPr/>
        </p:nvSpPr>
        <p:spPr>
          <a:xfrm>
            <a:off x="685800" y="4160520"/>
            <a:ext cx="2194560" cy="320040"/>
          </a:xfrm>
          <a:prstGeom prst="rect">
            <a:avLst/>
          </a:prstGeom>
          <a:noFill/>
          <a:ln/>
        </p:spPr>
        <p:txBody>
          <a:bodyPr wrap="square" lIns="0" tIns="0" rIns="0" bIns="0" rtlCol="0" anchor="t"/>
          <a:lstStyle/>
          <a:p>
            <a:pPr indent="0" marL="0">
              <a:buNone/>
            </a:pPr>
            <a:r>
              <a:rPr lang="en-US" sz="1400" dirty="0">
                <a:solidFill>
                  <a:srgbClr val="5C6B80"/>
                </a:solidFill>
              </a:rPr>
              <a:t>Transparent bridging i STP</a:t>
            </a:r>
            <a:endParaRPr lang="en-US" sz="1400" dirty="0"/>
          </a:p>
        </p:txBody>
      </p:sp>
      <p:sp>
        <p:nvSpPr>
          <p:cNvPr id="24" name="plan-card-5"/>
          <p:cNvSpPr/>
          <p:nvPr/>
        </p:nvSpPr>
        <p:spPr>
          <a:xfrm>
            <a:off x="3268980" y="3017520"/>
            <a:ext cx="2606040" cy="1600200"/>
          </a:xfrm>
          <a:prstGeom prst="roundRect">
            <a:avLst>
              <a:gd name="adj" fmla="val 5714"/>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5" name="Shape 22"/>
          <p:cNvSpPr/>
          <p:nvPr/>
        </p:nvSpPr>
        <p:spPr>
          <a:xfrm>
            <a:off x="3497580" y="3218688"/>
            <a:ext cx="457200" cy="457200"/>
          </a:xfrm>
          <a:prstGeom prst="ellipse">
            <a:avLst/>
          </a:prstGeom>
          <a:solidFill>
            <a:srgbClr val="0E7C7B"/>
          </a:solidFill>
          <a:ln w="6350">
            <a:solidFill>
              <a:srgbClr val="0E7C7B"/>
            </a:solidFill>
            <a:prstDash val="solid"/>
          </a:ln>
        </p:spPr>
      </p:sp>
      <p:sp>
        <p:nvSpPr>
          <p:cNvPr id="26" name="Text 23"/>
          <p:cNvSpPr txBox="1"/>
          <p:nvPr/>
        </p:nvSpPr>
        <p:spPr>
          <a:xfrm>
            <a:off x="3497580" y="321868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7" name="Text 24"/>
          <p:cNvSpPr txBox="1"/>
          <p:nvPr/>
        </p:nvSpPr>
        <p:spPr>
          <a:xfrm>
            <a:off x="3497580" y="3840480"/>
            <a:ext cx="2194560" cy="274320"/>
          </a:xfrm>
          <a:prstGeom prst="rect">
            <a:avLst/>
          </a:prstGeom>
          <a:noFill/>
          <a:ln/>
        </p:spPr>
        <p:txBody>
          <a:bodyPr wrap="square" lIns="0" tIns="0" rIns="0" bIns="0" rtlCol="0" anchor="t"/>
          <a:lstStyle/>
          <a:p>
            <a:pPr indent="0" marL="0">
              <a:buNone/>
            </a:pPr>
            <a:r>
              <a:rPr lang="en-US" sz="1600" b="1" dirty="0">
                <a:solidFill>
                  <a:srgbClr val="0B2545"/>
                </a:solidFill>
              </a:rPr>
              <a:t>Przełączniki</a:t>
            </a:r>
            <a:endParaRPr lang="en-US" sz="1600" dirty="0"/>
          </a:p>
        </p:txBody>
      </p:sp>
      <p:sp>
        <p:nvSpPr>
          <p:cNvPr id="28" name="Text 25"/>
          <p:cNvSpPr txBox="1"/>
          <p:nvPr/>
        </p:nvSpPr>
        <p:spPr>
          <a:xfrm>
            <a:off x="3497580" y="4160520"/>
            <a:ext cx="2194560" cy="320040"/>
          </a:xfrm>
          <a:prstGeom prst="rect">
            <a:avLst/>
          </a:prstGeom>
          <a:noFill/>
          <a:ln/>
        </p:spPr>
        <p:txBody>
          <a:bodyPr wrap="square" lIns="0" tIns="0" rIns="0" bIns="0" rtlCol="0" anchor="t"/>
          <a:lstStyle/>
          <a:p>
            <a:pPr indent="0" marL="0">
              <a:buNone/>
            </a:pPr>
            <a:r>
              <a:rPr lang="en-US" sz="1400" dirty="0">
                <a:solidFill>
                  <a:srgbClr val="5C6B80"/>
                </a:solidFill>
              </a:rPr>
              <a:t>CAM, metody, rodzaje</a:t>
            </a:r>
            <a:endParaRPr lang="en-US" sz="1400" dirty="0"/>
          </a:p>
        </p:txBody>
      </p:sp>
      <p:sp>
        <p:nvSpPr>
          <p:cNvPr id="29" name="plan-card-6"/>
          <p:cNvSpPr/>
          <p:nvPr/>
        </p:nvSpPr>
        <p:spPr>
          <a:xfrm>
            <a:off x="6080760" y="3017520"/>
            <a:ext cx="2606040" cy="1600200"/>
          </a:xfrm>
          <a:prstGeom prst="roundRect">
            <a:avLst>
              <a:gd name="adj" fmla="val 5714"/>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30" name="Shape 27"/>
          <p:cNvSpPr/>
          <p:nvPr/>
        </p:nvSpPr>
        <p:spPr>
          <a:xfrm>
            <a:off x="6309360" y="3218688"/>
            <a:ext cx="457200" cy="457200"/>
          </a:xfrm>
          <a:prstGeom prst="ellipse">
            <a:avLst/>
          </a:prstGeom>
          <a:solidFill>
            <a:srgbClr val="F2A541"/>
          </a:solidFill>
          <a:ln w="6350">
            <a:solidFill>
              <a:srgbClr val="F2A541"/>
            </a:solidFill>
            <a:prstDash val="solid"/>
          </a:ln>
        </p:spPr>
      </p:sp>
      <p:sp>
        <p:nvSpPr>
          <p:cNvPr id="31" name="Text 28"/>
          <p:cNvSpPr txBox="1"/>
          <p:nvPr/>
        </p:nvSpPr>
        <p:spPr>
          <a:xfrm>
            <a:off x="6309360" y="3218688"/>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rPr>
              <a:t>6</a:t>
            </a:r>
            <a:endParaRPr lang="en-US" sz="1800" dirty="0"/>
          </a:p>
        </p:txBody>
      </p:sp>
      <p:sp>
        <p:nvSpPr>
          <p:cNvPr id="32" name="Text 29"/>
          <p:cNvSpPr txBox="1"/>
          <p:nvPr/>
        </p:nvSpPr>
        <p:spPr>
          <a:xfrm>
            <a:off x="6309360" y="3840480"/>
            <a:ext cx="2194560" cy="274320"/>
          </a:xfrm>
          <a:prstGeom prst="rect">
            <a:avLst/>
          </a:prstGeom>
          <a:noFill/>
          <a:ln/>
        </p:spPr>
        <p:txBody>
          <a:bodyPr wrap="square" lIns="0" tIns="0" rIns="0" bIns="0" rtlCol="0" anchor="t"/>
          <a:lstStyle/>
          <a:p>
            <a:pPr indent="0" marL="0">
              <a:buNone/>
            </a:pPr>
            <a:r>
              <a:rPr lang="en-US" sz="1600" b="1" dirty="0">
                <a:solidFill>
                  <a:srgbClr val="0B2545"/>
                </a:solidFill>
              </a:rPr>
              <a:t>Domena rozgłoszeniowa</a:t>
            </a:r>
            <a:endParaRPr lang="en-US" sz="1600" dirty="0"/>
          </a:p>
        </p:txBody>
      </p:sp>
      <p:sp>
        <p:nvSpPr>
          <p:cNvPr id="33" name="Text 30"/>
          <p:cNvSpPr txBox="1"/>
          <p:nvPr/>
        </p:nvSpPr>
        <p:spPr>
          <a:xfrm>
            <a:off x="6309360" y="4160520"/>
            <a:ext cx="2194560" cy="320040"/>
          </a:xfrm>
          <a:prstGeom prst="rect">
            <a:avLst/>
          </a:prstGeom>
          <a:noFill/>
          <a:ln/>
        </p:spPr>
        <p:txBody>
          <a:bodyPr wrap="square" lIns="0" tIns="0" rIns="0" bIns="0" rtlCol="0" anchor="t"/>
          <a:lstStyle/>
          <a:p>
            <a:pPr indent="0" marL="0">
              <a:buNone/>
            </a:pPr>
            <a:r>
              <a:rPr lang="en-US" sz="1400" dirty="0">
                <a:solidFill>
                  <a:srgbClr val="5C6B80"/>
                </a:solidFill>
              </a:rPr>
              <a:t>Segmentacja i VLAN</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Warstwa dostępu w modelu sieci</a:t>
            </a:r>
            <a:endParaRPr lang="en-US" sz="3000" dirty="0"/>
          </a:p>
        </p:txBody>
      </p:sp>
      <p:sp>
        <p:nvSpPr>
          <p:cNvPr id="4" name="layer-Rdzeń"/>
          <p:cNvSpPr/>
          <p:nvPr/>
        </p:nvSpPr>
        <p:spPr>
          <a:xfrm>
            <a:off x="457200" y="1188720"/>
            <a:ext cx="5669280" cy="914400"/>
          </a:xfrm>
          <a:prstGeom prst="roundRect">
            <a:avLst>
              <a:gd name="adj" fmla="val 8000"/>
            </a:avLst>
          </a:prstGeom>
          <a:solidFill>
            <a:srgbClr val="0B2545"/>
          </a:solidFill>
          <a:ln w="9525">
            <a:solidFill>
              <a:srgbClr val="0B2545"/>
            </a:solidFill>
            <a:prstDash val="solid"/>
          </a:ln>
        </p:spPr>
      </p:sp>
      <p:sp>
        <p:nvSpPr>
          <p:cNvPr id="5" name="Text 2"/>
          <p:cNvSpPr txBox="1"/>
          <p:nvPr/>
        </p:nvSpPr>
        <p:spPr>
          <a:xfrm>
            <a:off x="685800" y="1188720"/>
            <a:ext cx="1554480" cy="914400"/>
          </a:xfrm>
          <a:prstGeom prst="rect">
            <a:avLst/>
          </a:prstGeom>
          <a:noFill/>
          <a:ln/>
        </p:spPr>
        <p:txBody>
          <a:bodyPr wrap="square" lIns="0" tIns="0" rIns="0" bIns="0" rtlCol="0" anchor="ctr"/>
          <a:lstStyle/>
          <a:p>
            <a:pPr indent="0" marL="0">
              <a:buNone/>
            </a:pPr>
            <a:r>
              <a:rPr lang="en-US" sz="2000" b="1" dirty="0">
                <a:solidFill>
                  <a:srgbClr val="FFFFFF"/>
                </a:solidFill>
              </a:rPr>
              <a:t>Rdzeń</a:t>
            </a:r>
            <a:endParaRPr lang="en-US" sz="2000" dirty="0"/>
          </a:p>
        </p:txBody>
      </p:sp>
      <p:sp>
        <p:nvSpPr>
          <p:cNvPr id="6" name="Text 3"/>
          <p:cNvSpPr txBox="1"/>
          <p:nvPr/>
        </p:nvSpPr>
        <p:spPr>
          <a:xfrm>
            <a:off x="2286000" y="1188720"/>
            <a:ext cx="3657600" cy="914400"/>
          </a:xfrm>
          <a:prstGeom prst="rect">
            <a:avLst/>
          </a:prstGeom>
          <a:noFill/>
          <a:ln/>
        </p:spPr>
        <p:txBody>
          <a:bodyPr wrap="square" lIns="0" tIns="0" rIns="0" bIns="0" rtlCol="0" anchor="ctr"/>
          <a:lstStyle/>
          <a:p>
            <a:pPr indent="0" marL="0">
              <a:buNone/>
            </a:pPr>
            <a:r>
              <a:rPr lang="en-US" sz="1400" dirty="0">
                <a:solidFill>
                  <a:srgbClr val="FFFFFF"/>
                </a:solidFill>
              </a:rPr>
              <a:t>Szybki transport dużych wolumenów ruchu, bez zbędnej filtracji</a:t>
            </a:r>
            <a:endParaRPr lang="en-US" sz="1400" dirty="0"/>
          </a:p>
        </p:txBody>
      </p:sp>
      <p:sp>
        <p:nvSpPr>
          <p:cNvPr id="7" name="layer-Dystrybucja"/>
          <p:cNvSpPr/>
          <p:nvPr/>
        </p:nvSpPr>
        <p:spPr>
          <a:xfrm>
            <a:off x="457200" y="2286000"/>
            <a:ext cx="5669280" cy="914400"/>
          </a:xfrm>
          <a:prstGeom prst="roundRect">
            <a:avLst>
              <a:gd name="adj" fmla="val 8000"/>
            </a:avLst>
          </a:prstGeom>
          <a:solidFill>
            <a:srgbClr val="3A6EA5"/>
          </a:solidFill>
          <a:ln w="9525">
            <a:solidFill>
              <a:srgbClr val="3A6EA5"/>
            </a:solidFill>
            <a:prstDash val="solid"/>
          </a:ln>
        </p:spPr>
      </p:sp>
      <p:sp>
        <p:nvSpPr>
          <p:cNvPr id="8" name="Text 5"/>
          <p:cNvSpPr txBox="1"/>
          <p:nvPr/>
        </p:nvSpPr>
        <p:spPr>
          <a:xfrm>
            <a:off x="685800" y="2286000"/>
            <a:ext cx="1554480" cy="914400"/>
          </a:xfrm>
          <a:prstGeom prst="rect">
            <a:avLst/>
          </a:prstGeom>
          <a:noFill/>
          <a:ln/>
        </p:spPr>
        <p:txBody>
          <a:bodyPr wrap="square" lIns="0" tIns="0" rIns="0" bIns="0" rtlCol="0" anchor="ctr"/>
          <a:lstStyle/>
          <a:p>
            <a:pPr indent="0" marL="0">
              <a:buNone/>
            </a:pPr>
            <a:r>
              <a:rPr lang="en-US" sz="2000" b="1" dirty="0">
                <a:solidFill>
                  <a:srgbClr val="FFFFFF"/>
                </a:solidFill>
              </a:rPr>
              <a:t>Dystrybucja</a:t>
            </a:r>
            <a:endParaRPr lang="en-US" sz="2000" dirty="0"/>
          </a:p>
        </p:txBody>
      </p:sp>
      <p:sp>
        <p:nvSpPr>
          <p:cNvPr id="9" name="Text 6"/>
          <p:cNvSpPr txBox="1"/>
          <p:nvPr/>
        </p:nvSpPr>
        <p:spPr>
          <a:xfrm>
            <a:off x="2286000" y="2286000"/>
            <a:ext cx="3657600" cy="914400"/>
          </a:xfrm>
          <a:prstGeom prst="rect">
            <a:avLst/>
          </a:prstGeom>
          <a:noFill/>
          <a:ln/>
        </p:spPr>
        <p:txBody>
          <a:bodyPr wrap="square" lIns="0" tIns="0" rIns="0" bIns="0" rtlCol="0" anchor="ctr"/>
          <a:lstStyle/>
          <a:p>
            <a:pPr indent="0" marL="0">
              <a:buNone/>
            </a:pPr>
            <a:r>
              <a:rPr lang="en-US" sz="1400" dirty="0">
                <a:solidFill>
                  <a:srgbClr val="FFFFFF"/>
                </a:solidFill>
              </a:rPr>
              <a:t>Agregacja ruchu, routing między VLAN-ami, polityka bezpieczeństwa</a:t>
            </a:r>
            <a:endParaRPr lang="en-US" sz="1400" dirty="0"/>
          </a:p>
        </p:txBody>
      </p:sp>
      <p:sp>
        <p:nvSpPr>
          <p:cNvPr id="10" name="layer-Dostęp"/>
          <p:cNvSpPr/>
          <p:nvPr/>
        </p:nvSpPr>
        <p:spPr>
          <a:xfrm>
            <a:off x="457200" y="3383280"/>
            <a:ext cx="5669280" cy="914400"/>
          </a:xfrm>
          <a:prstGeom prst="roundRect">
            <a:avLst>
              <a:gd name="adj" fmla="val 8000"/>
            </a:avLst>
          </a:prstGeom>
          <a:solidFill>
            <a:srgbClr val="0E7C7B"/>
          </a:solidFill>
          <a:ln w="9525">
            <a:solidFill>
              <a:srgbClr val="0E7C7B"/>
            </a:solidFill>
            <a:prstDash val="solid"/>
          </a:ln>
        </p:spPr>
      </p:sp>
      <p:sp>
        <p:nvSpPr>
          <p:cNvPr id="11" name="Text 8"/>
          <p:cNvSpPr txBox="1"/>
          <p:nvPr/>
        </p:nvSpPr>
        <p:spPr>
          <a:xfrm>
            <a:off x="685800" y="3383280"/>
            <a:ext cx="1554480" cy="914400"/>
          </a:xfrm>
          <a:prstGeom prst="rect">
            <a:avLst/>
          </a:prstGeom>
          <a:noFill/>
          <a:ln/>
        </p:spPr>
        <p:txBody>
          <a:bodyPr wrap="square" lIns="0" tIns="0" rIns="0" bIns="0" rtlCol="0" anchor="ctr"/>
          <a:lstStyle/>
          <a:p>
            <a:pPr indent="0" marL="0">
              <a:buNone/>
            </a:pPr>
            <a:r>
              <a:rPr lang="en-US" sz="2000" b="1" dirty="0">
                <a:solidFill>
                  <a:srgbClr val="FFFFFF"/>
                </a:solidFill>
              </a:rPr>
              <a:t>Dostęp</a:t>
            </a:r>
            <a:endParaRPr lang="en-US" sz="2000" dirty="0"/>
          </a:p>
        </p:txBody>
      </p:sp>
      <p:sp>
        <p:nvSpPr>
          <p:cNvPr id="12" name="Text 9"/>
          <p:cNvSpPr txBox="1"/>
          <p:nvPr/>
        </p:nvSpPr>
        <p:spPr>
          <a:xfrm>
            <a:off x="2286000" y="3383280"/>
            <a:ext cx="3657600" cy="914400"/>
          </a:xfrm>
          <a:prstGeom prst="rect">
            <a:avLst/>
          </a:prstGeom>
          <a:noFill/>
          <a:ln/>
        </p:spPr>
        <p:txBody>
          <a:bodyPr wrap="square" lIns="0" tIns="0" rIns="0" bIns="0" rtlCol="0" anchor="ctr"/>
          <a:lstStyle/>
          <a:p>
            <a:pPr indent="0" marL="0">
              <a:buNone/>
            </a:pPr>
            <a:r>
              <a:rPr lang="en-US" sz="1400" dirty="0">
                <a:solidFill>
                  <a:srgbClr val="FFFFFF"/>
                </a:solidFill>
              </a:rPr>
              <a:t>Komputery, drukarki, telefony IP, Wi-Fi; VLAN-y i zabezpieczenia portów</a:t>
            </a:r>
            <a:endParaRPr lang="en-US" sz="1400" dirty="0"/>
          </a:p>
        </p:txBody>
      </p:sp>
      <p:sp>
        <p:nvSpPr>
          <p:cNvPr id="13" name="focus-card"/>
          <p:cNvSpPr/>
          <p:nvPr/>
        </p:nvSpPr>
        <p:spPr>
          <a:xfrm>
            <a:off x="6400800" y="1188720"/>
            <a:ext cx="2286000" cy="3108960"/>
          </a:xfrm>
          <a:prstGeom prst="roundRect">
            <a:avLst>
              <a:gd name="adj" fmla="val 4000"/>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4" name="icon-bg-FaSearch"/>
          <p:cNvSpPr/>
          <p:nvPr/>
        </p:nvSpPr>
        <p:spPr>
          <a:xfrm>
            <a:off x="6629400" y="1417320"/>
            <a:ext cx="548640" cy="548640"/>
          </a:xfrm>
          <a:prstGeom prst="ellipse">
            <a:avLst/>
          </a:prstGeom>
          <a:solidFill>
            <a:srgbClr val="F2A541"/>
          </a:solidFill>
          <a:ln w="6350">
            <a:solidFill>
              <a:srgbClr val="F2A541"/>
            </a:solidFill>
            <a:prstDash val="solid"/>
          </a:ln>
        </p:spPr>
      </p:sp>
      <p:pic>
        <p:nvPicPr>
          <p:cNvPr id="15" name="Image 0" descr="FaSearch">    </p:cNvPr>
          <p:cNvPicPr>
            <a:picLocks noChangeAspect="1"/>
          </p:cNvPicPr>
          <p:nvPr/>
        </p:nvPicPr>
        <p:blipFill>
          <a:blip r:embed="rId1"/>
          <a:stretch>
            <a:fillRect/>
          </a:stretch>
        </p:blipFill>
        <p:spPr>
          <a:xfrm>
            <a:off x="6766560" y="1554480"/>
            <a:ext cx="274320" cy="274320"/>
          </a:xfrm>
          <a:prstGeom prst="rect">
            <a:avLst/>
          </a:prstGeom>
        </p:spPr>
      </p:pic>
      <p:sp>
        <p:nvSpPr>
          <p:cNvPr id="16" name="Text 12"/>
          <p:cNvSpPr txBox="1"/>
          <p:nvPr/>
        </p:nvSpPr>
        <p:spPr>
          <a:xfrm>
            <a:off x="6629400" y="2103120"/>
            <a:ext cx="1920240" cy="274320"/>
          </a:xfrm>
          <a:prstGeom prst="rect">
            <a:avLst/>
          </a:prstGeom>
          <a:noFill/>
          <a:ln/>
        </p:spPr>
        <p:txBody>
          <a:bodyPr wrap="square" lIns="0" tIns="0" rIns="0" bIns="0" rtlCol="0" anchor="t"/>
          <a:lstStyle/>
          <a:p>
            <a:pPr indent="0" marL="0">
              <a:buNone/>
            </a:pPr>
            <a:r>
              <a:rPr lang="en-US" sz="1600" b="1" dirty="0">
                <a:solidFill>
                  <a:srgbClr val="0B2545"/>
                </a:solidFill>
              </a:rPr>
              <a:t>Pytanie przewodnie</a:t>
            </a:r>
            <a:endParaRPr lang="en-US" sz="1600" dirty="0"/>
          </a:p>
        </p:txBody>
      </p:sp>
      <p:sp>
        <p:nvSpPr>
          <p:cNvPr id="17" name="Text 13"/>
          <p:cNvSpPr txBox="1"/>
          <p:nvPr/>
        </p:nvSpPr>
        <p:spPr>
          <a:xfrm>
            <a:off x="6629400" y="2468880"/>
            <a:ext cx="1920240" cy="914400"/>
          </a:xfrm>
          <a:prstGeom prst="rect">
            <a:avLst/>
          </a:prstGeom>
          <a:noFill/>
          <a:ln/>
        </p:spPr>
        <p:txBody>
          <a:bodyPr wrap="square" lIns="0" tIns="0" rIns="0" bIns="0" rtlCol="0" anchor="t"/>
          <a:lstStyle/>
          <a:p>
            <a:pPr indent="0" marL="0">
              <a:buNone/>
            </a:pPr>
            <a:r>
              <a:rPr lang="en-US" sz="1400" dirty="0">
                <a:solidFill>
                  <a:srgbClr val="1B2A41"/>
                </a:solidFill>
              </a:rPr>
              <a:t>Jak duży fragment sieci widzi pojedynczą ramkę?</a:t>
            </a:r>
            <a:endParaRPr lang="en-US" sz="1400" dirty="0"/>
          </a:p>
        </p:txBody>
      </p:sp>
      <p:sp>
        <p:nvSpPr>
          <p:cNvPr id="18" name="Text 14"/>
          <p:cNvSpPr txBox="1"/>
          <p:nvPr/>
        </p:nvSpPr>
        <p:spPr>
          <a:xfrm>
            <a:off x="6629400" y="3566160"/>
            <a:ext cx="1920240" cy="365760"/>
          </a:xfrm>
          <a:prstGeom prst="rect">
            <a:avLst/>
          </a:prstGeom>
          <a:noFill/>
          <a:ln/>
        </p:spPr>
        <p:txBody>
          <a:bodyPr wrap="square" lIns="0" tIns="0" rIns="0" bIns="0" rtlCol="0" anchor="t"/>
          <a:lstStyle/>
          <a:p>
            <a:pPr indent="0" marL="0">
              <a:buNone/>
            </a:pPr>
            <a:r>
              <a:rPr lang="en-US" sz="1400" b="1" dirty="0">
                <a:solidFill>
                  <a:srgbClr val="0E7C7B"/>
                </a:solidFill>
              </a:rPr>
              <a:t>unicast czy broadcast</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Co urządzenie czyta, to decyduje</a:t>
            </a:r>
            <a:endParaRPr lang="en-US" sz="3000" dirty="0"/>
          </a:p>
        </p:txBody>
      </p:sp>
      <p:sp>
        <p:nvSpPr>
          <p:cNvPr id="4" name="Text 1"/>
          <p:cNvSpPr txBox="1"/>
          <p:nvPr/>
        </p:nvSpPr>
        <p:spPr>
          <a:xfrm>
            <a:off x="457200" y="1051560"/>
            <a:ext cx="1371600" cy="274320"/>
          </a:xfrm>
          <a:prstGeom prst="rect">
            <a:avLst/>
          </a:prstGeom>
          <a:noFill/>
          <a:ln/>
        </p:spPr>
        <p:txBody>
          <a:bodyPr wrap="square" lIns="0" tIns="0" rIns="0" bIns="0" rtlCol="0" anchor="t"/>
          <a:lstStyle/>
          <a:p>
            <a:pPr indent="0" marL="0">
              <a:buNone/>
            </a:pPr>
            <a:r>
              <a:rPr lang="en-US" sz="1100" b="1" spc="200" kern="0" dirty="0">
                <a:solidFill>
                  <a:srgbClr val="5C6B80"/>
                </a:solidFill>
              </a:rPr>
              <a:t>WARSTWA OSI</a:t>
            </a:r>
            <a:endParaRPr lang="en-US" sz="1100" dirty="0"/>
          </a:p>
        </p:txBody>
      </p:sp>
      <p:sp>
        <p:nvSpPr>
          <p:cNvPr id="5" name="Text 2"/>
          <p:cNvSpPr txBox="1"/>
          <p:nvPr/>
        </p:nvSpPr>
        <p:spPr>
          <a:xfrm>
            <a:off x="2011680" y="1051560"/>
            <a:ext cx="2194560" cy="274320"/>
          </a:xfrm>
          <a:prstGeom prst="rect">
            <a:avLst/>
          </a:prstGeom>
          <a:noFill/>
          <a:ln/>
        </p:spPr>
        <p:txBody>
          <a:bodyPr wrap="square" lIns="0" tIns="0" rIns="0" bIns="0" rtlCol="0" anchor="t"/>
          <a:lstStyle/>
          <a:p>
            <a:pPr indent="0" marL="0">
              <a:buNone/>
            </a:pPr>
            <a:r>
              <a:rPr lang="en-US" sz="1100" b="1" spc="200" kern="0" dirty="0">
                <a:solidFill>
                  <a:srgbClr val="5C6B80"/>
                </a:solidFill>
              </a:rPr>
              <a:t>URZĄDZENIE</a:t>
            </a:r>
            <a:endParaRPr lang="en-US" sz="1100" dirty="0"/>
          </a:p>
        </p:txBody>
      </p:sp>
      <p:sp>
        <p:nvSpPr>
          <p:cNvPr id="6" name="Text 3"/>
          <p:cNvSpPr txBox="1"/>
          <p:nvPr/>
        </p:nvSpPr>
        <p:spPr>
          <a:xfrm>
            <a:off x="4389120" y="1051560"/>
            <a:ext cx="2377440" cy="274320"/>
          </a:xfrm>
          <a:prstGeom prst="rect">
            <a:avLst/>
          </a:prstGeom>
          <a:noFill/>
          <a:ln/>
        </p:spPr>
        <p:txBody>
          <a:bodyPr wrap="square" lIns="0" tIns="0" rIns="0" bIns="0" rtlCol="0" anchor="t"/>
          <a:lstStyle/>
          <a:p>
            <a:pPr indent="0" marL="0">
              <a:buNone/>
            </a:pPr>
            <a:r>
              <a:rPr lang="en-US" sz="1100" b="1" spc="200" kern="0" dirty="0">
                <a:solidFill>
                  <a:srgbClr val="5C6B80"/>
                </a:solidFill>
              </a:rPr>
              <a:t>DECYZJA NA PODSTAWIE</a:t>
            </a:r>
            <a:endParaRPr lang="en-US" sz="1100" dirty="0"/>
          </a:p>
        </p:txBody>
      </p:sp>
      <p:sp>
        <p:nvSpPr>
          <p:cNvPr id="7" name="Text 4"/>
          <p:cNvSpPr txBox="1"/>
          <p:nvPr/>
        </p:nvSpPr>
        <p:spPr>
          <a:xfrm>
            <a:off x="6949440" y="1051560"/>
            <a:ext cx="1737360" cy="274320"/>
          </a:xfrm>
          <a:prstGeom prst="rect">
            <a:avLst/>
          </a:prstGeom>
          <a:noFill/>
          <a:ln/>
        </p:spPr>
        <p:txBody>
          <a:bodyPr wrap="square" lIns="0" tIns="0" rIns="0" bIns="0" rtlCol="0" anchor="t"/>
          <a:lstStyle/>
          <a:p>
            <a:pPr indent="0" marL="0">
              <a:buNone/>
            </a:pPr>
            <a:r>
              <a:rPr lang="en-US" sz="1100" b="1" spc="200" kern="0" dirty="0">
                <a:solidFill>
                  <a:srgbClr val="5C6B80"/>
                </a:solidFill>
              </a:rPr>
              <a:t>PRZEKAZUJE</a:t>
            </a:r>
            <a:endParaRPr lang="en-US" sz="1100" dirty="0"/>
          </a:p>
        </p:txBody>
      </p:sp>
      <p:sp>
        <p:nvSpPr>
          <p:cNvPr id="8" name="osi-row-3"/>
          <p:cNvSpPr/>
          <p:nvPr/>
        </p:nvSpPr>
        <p:spPr>
          <a:xfrm>
            <a:off x="457200" y="1371600"/>
            <a:ext cx="8229600" cy="914400"/>
          </a:xfrm>
          <a:prstGeom prst="roundRect">
            <a:avLst>
              <a:gd name="adj" fmla="val 10000"/>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9" name="osi-badge-3"/>
          <p:cNvSpPr/>
          <p:nvPr/>
        </p:nvSpPr>
        <p:spPr>
          <a:xfrm>
            <a:off x="457200" y="1371600"/>
            <a:ext cx="1371600" cy="914400"/>
          </a:xfrm>
          <a:prstGeom prst="roundRect">
            <a:avLst>
              <a:gd name="adj" fmla="val 8000"/>
            </a:avLst>
          </a:prstGeom>
          <a:solidFill>
            <a:srgbClr val="0B2545"/>
          </a:solidFill>
          <a:ln w="9525">
            <a:solidFill>
              <a:srgbClr val="0B2545"/>
            </a:solidFill>
            <a:prstDash val="solid"/>
          </a:ln>
        </p:spPr>
      </p:sp>
      <p:sp>
        <p:nvSpPr>
          <p:cNvPr id="10" name="Text 7"/>
          <p:cNvSpPr txBox="1"/>
          <p:nvPr/>
        </p:nvSpPr>
        <p:spPr>
          <a:xfrm>
            <a:off x="457200" y="1371600"/>
            <a:ext cx="1371600" cy="914400"/>
          </a:xfrm>
          <a:prstGeom prst="rect">
            <a:avLst/>
          </a:prstGeom>
          <a:noFill/>
          <a:ln/>
        </p:spPr>
        <p:txBody>
          <a:bodyPr wrap="square" lIns="0" tIns="0" rIns="0" bIns="0" rtlCol="0" anchor="ctr"/>
          <a:lstStyle/>
          <a:p>
            <a:pPr algn="ctr" indent="0" marL="0">
              <a:buNone/>
            </a:pPr>
            <a:r>
              <a:rPr lang="en-US" sz="2400" b="1" dirty="0">
                <a:solidFill>
                  <a:srgbClr val="FFFFFF"/>
                </a:solidFill>
              </a:rPr>
              <a:t>L3</a:t>
            </a:r>
            <a:endParaRPr lang="en-US" sz="1400" dirty="0"/>
          </a:p>
          <a:p>
            <a:pPr algn="ctr" indent="0" marL="0">
              <a:buNone/>
            </a:pPr>
            <a:r>
              <a:rPr lang="en-US" sz="1200" dirty="0">
                <a:solidFill>
                  <a:srgbClr val="FFFFFF"/>
                </a:solidFill>
              </a:rPr>
              <a:t>Sieciowa</a:t>
            </a:r>
            <a:endParaRPr lang="en-US" sz="1400" dirty="0"/>
          </a:p>
        </p:txBody>
      </p:sp>
      <p:sp>
        <p:nvSpPr>
          <p:cNvPr id="11" name="Text 8"/>
          <p:cNvSpPr txBox="1"/>
          <p:nvPr/>
        </p:nvSpPr>
        <p:spPr>
          <a:xfrm>
            <a:off x="2011680" y="1371600"/>
            <a:ext cx="2286000" cy="914400"/>
          </a:xfrm>
          <a:prstGeom prst="rect">
            <a:avLst/>
          </a:prstGeom>
          <a:noFill/>
          <a:ln/>
        </p:spPr>
        <p:txBody>
          <a:bodyPr wrap="square" lIns="0" tIns="0" rIns="0" bIns="0" rtlCol="0" anchor="ctr"/>
          <a:lstStyle/>
          <a:p>
            <a:pPr indent="0" marL="0">
              <a:buNone/>
            </a:pPr>
            <a:r>
              <a:rPr lang="en-US" sz="1800" b="1" dirty="0">
                <a:solidFill>
                  <a:srgbClr val="0B2545"/>
                </a:solidFill>
              </a:rPr>
              <a:t>Router</a:t>
            </a:r>
            <a:endParaRPr lang="en-US" sz="1800" dirty="0"/>
          </a:p>
        </p:txBody>
      </p:sp>
      <p:sp>
        <p:nvSpPr>
          <p:cNvPr id="12" name="Text 9"/>
          <p:cNvSpPr txBox="1"/>
          <p:nvPr/>
        </p:nvSpPr>
        <p:spPr>
          <a:xfrm>
            <a:off x="4389120" y="1371600"/>
            <a:ext cx="2468880" cy="914400"/>
          </a:xfrm>
          <a:prstGeom prst="rect">
            <a:avLst/>
          </a:prstGeom>
          <a:noFill/>
          <a:ln/>
        </p:spPr>
        <p:txBody>
          <a:bodyPr wrap="square" lIns="0" tIns="0" rIns="0" bIns="0" rtlCol="0" anchor="ctr"/>
          <a:lstStyle/>
          <a:p>
            <a:pPr indent="0" marL="0">
              <a:buNone/>
            </a:pPr>
            <a:r>
              <a:rPr lang="en-US" sz="1400" dirty="0">
                <a:solidFill>
                  <a:srgbClr val="1B2A41"/>
                </a:solidFill>
              </a:rPr>
              <a:t>adres IP i tablica routingu</a:t>
            </a:r>
            <a:endParaRPr lang="en-US" sz="1400" dirty="0"/>
          </a:p>
        </p:txBody>
      </p:sp>
      <p:sp>
        <p:nvSpPr>
          <p:cNvPr id="13" name="Text 10"/>
          <p:cNvSpPr txBox="1"/>
          <p:nvPr/>
        </p:nvSpPr>
        <p:spPr>
          <a:xfrm>
            <a:off x="6949440" y="1371600"/>
            <a:ext cx="1645920" cy="914400"/>
          </a:xfrm>
          <a:prstGeom prst="rect">
            <a:avLst/>
          </a:prstGeom>
          <a:noFill/>
          <a:ln/>
        </p:spPr>
        <p:txBody>
          <a:bodyPr wrap="square" lIns="0" tIns="0" rIns="0" bIns="0" rtlCol="0" anchor="ctr"/>
          <a:lstStyle/>
          <a:p>
            <a:pPr indent="0" marL="0">
              <a:buNone/>
            </a:pPr>
            <a:r>
              <a:rPr lang="en-US" sz="1600" b="1" dirty="0">
                <a:solidFill>
                  <a:srgbClr val="0B2545"/>
                </a:solidFill>
              </a:rPr>
              <a:t>pakiety</a:t>
            </a:r>
            <a:endParaRPr lang="en-US" sz="1600" dirty="0"/>
          </a:p>
        </p:txBody>
      </p:sp>
      <p:sp>
        <p:nvSpPr>
          <p:cNvPr id="14" name="osi-row-2"/>
          <p:cNvSpPr/>
          <p:nvPr/>
        </p:nvSpPr>
        <p:spPr>
          <a:xfrm>
            <a:off x="457200" y="2423160"/>
            <a:ext cx="8229600" cy="914400"/>
          </a:xfrm>
          <a:prstGeom prst="roundRect">
            <a:avLst>
              <a:gd name="adj" fmla="val 10000"/>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5" name="osi-badge-2"/>
          <p:cNvSpPr/>
          <p:nvPr/>
        </p:nvSpPr>
        <p:spPr>
          <a:xfrm>
            <a:off x="457200" y="2423160"/>
            <a:ext cx="1371600" cy="914400"/>
          </a:xfrm>
          <a:prstGeom prst="roundRect">
            <a:avLst>
              <a:gd name="adj" fmla="val 8000"/>
            </a:avLst>
          </a:prstGeom>
          <a:solidFill>
            <a:srgbClr val="0E7C7B"/>
          </a:solidFill>
          <a:ln w="9525">
            <a:solidFill>
              <a:srgbClr val="0E7C7B"/>
            </a:solidFill>
            <a:prstDash val="solid"/>
          </a:ln>
        </p:spPr>
      </p:sp>
      <p:sp>
        <p:nvSpPr>
          <p:cNvPr id="16" name="Text 13"/>
          <p:cNvSpPr txBox="1"/>
          <p:nvPr/>
        </p:nvSpPr>
        <p:spPr>
          <a:xfrm>
            <a:off x="457200" y="2423160"/>
            <a:ext cx="1371600" cy="914400"/>
          </a:xfrm>
          <a:prstGeom prst="rect">
            <a:avLst/>
          </a:prstGeom>
          <a:noFill/>
          <a:ln/>
        </p:spPr>
        <p:txBody>
          <a:bodyPr wrap="square" lIns="0" tIns="0" rIns="0" bIns="0" rtlCol="0" anchor="ctr"/>
          <a:lstStyle/>
          <a:p>
            <a:pPr algn="ctr" indent="0" marL="0">
              <a:buNone/>
            </a:pPr>
            <a:r>
              <a:rPr lang="en-US" sz="2400" b="1" dirty="0">
                <a:solidFill>
                  <a:srgbClr val="FFFFFF"/>
                </a:solidFill>
              </a:rPr>
              <a:t>L2</a:t>
            </a:r>
            <a:endParaRPr lang="en-US" sz="1400" dirty="0"/>
          </a:p>
          <a:p>
            <a:pPr algn="ctr" indent="0" marL="0">
              <a:buNone/>
            </a:pPr>
            <a:r>
              <a:rPr lang="en-US" sz="1200" dirty="0">
                <a:solidFill>
                  <a:srgbClr val="FFFFFF"/>
                </a:solidFill>
              </a:rPr>
              <a:t>Łącza danych</a:t>
            </a:r>
            <a:endParaRPr lang="en-US" sz="1400" dirty="0"/>
          </a:p>
        </p:txBody>
      </p:sp>
      <p:sp>
        <p:nvSpPr>
          <p:cNvPr id="17" name="Text 14"/>
          <p:cNvSpPr txBox="1"/>
          <p:nvPr/>
        </p:nvSpPr>
        <p:spPr>
          <a:xfrm>
            <a:off x="2011680" y="2423160"/>
            <a:ext cx="2286000" cy="914400"/>
          </a:xfrm>
          <a:prstGeom prst="rect">
            <a:avLst/>
          </a:prstGeom>
          <a:noFill/>
          <a:ln/>
        </p:spPr>
        <p:txBody>
          <a:bodyPr wrap="square" lIns="0" tIns="0" rIns="0" bIns="0" rtlCol="0" anchor="ctr"/>
          <a:lstStyle/>
          <a:p>
            <a:pPr indent="0" marL="0">
              <a:buNone/>
            </a:pPr>
            <a:r>
              <a:rPr lang="en-US" sz="1800" b="1" dirty="0">
                <a:solidFill>
                  <a:srgbClr val="0B2545"/>
                </a:solidFill>
              </a:rPr>
              <a:t>Most, przełącznik</a:t>
            </a:r>
            <a:endParaRPr lang="en-US" sz="1800" dirty="0"/>
          </a:p>
        </p:txBody>
      </p:sp>
      <p:sp>
        <p:nvSpPr>
          <p:cNvPr id="18" name="Text 15"/>
          <p:cNvSpPr txBox="1"/>
          <p:nvPr/>
        </p:nvSpPr>
        <p:spPr>
          <a:xfrm>
            <a:off x="4389120" y="2423160"/>
            <a:ext cx="2468880" cy="914400"/>
          </a:xfrm>
          <a:prstGeom prst="rect">
            <a:avLst/>
          </a:prstGeom>
          <a:noFill/>
          <a:ln/>
        </p:spPr>
        <p:txBody>
          <a:bodyPr wrap="square" lIns="0" tIns="0" rIns="0" bIns="0" rtlCol="0" anchor="ctr"/>
          <a:lstStyle/>
          <a:p>
            <a:pPr indent="0" marL="0">
              <a:buNone/>
            </a:pPr>
            <a:r>
              <a:rPr lang="en-US" sz="1400" dirty="0">
                <a:solidFill>
                  <a:srgbClr val="1B2A41"/>
                </a:solidFill>
              </a:rPr>
              <a:t>adres MAC docelowy</a:t>
            </a:r>
            <a:endParaRPr lang="en-US" sz="1400" dirty="0"/>
          </a:p>
        </p:txBody>
      </p:sp>
      <p:sp>
        <p:nvSpPr>
          <p:cNvPr id="19" name="Text 16"/>
          <p:cNvSpPr txBox="1"/>
          <p:nvPr/>
        </p:nvSpPr>
        <p:spPr>
          <a:xfrm>
            <a:off x="6949440" y="2423160"/>
            <a:ext cx="1645920" cy="914400"/>
          </a:xfrm>
          <a:prstGeom prst="rect">
            <a:avLst/>
          </a:prstGeom>
          <a:noFill/>
          <a:ln/>
        </p:spPr>
        <p:txBody>
          <a:bodyPr wrap="square" lIns="0" tIns="0" rIns="0" bIns="0" rtlCol="0" anchor="ctr"/>
          <a:lstStyle/>
          <a:p>
            <a:pPr indent="0" marL="0">
              <a:buNone/>
            </a:pPr>
            <a:r>
              <a:rPr lang="en-US" sz="1600" b="1" dirty="0">
                <a:solidFill>
                  <a:srgbClr val="0E7C7B"/>
                </a:solidFill>
              </a:rPr>
              <a:t>ramki</a:t>
            </a:r>
            <a:endParaRPr lang="en-US" sz="1600" dirty="0"/>
          </a:p>
        </p:txBody>
      </p:sp>
      <p:sp>
        <p:nvSpPr>
          <p:cNvPr id="20" name="osi-row-1"/>
          <p:cNvSpPr/>
          <p:nvPr/>
        </p:nvSpPr>
        <p:spPr>
          <a:xfrm>
            <a:off x="457200" y="3474720"/>
            <a:ext cx="8229600" cy="914400"/>
          </a:xfrm>
          <a:prstGeom prst="roundRect">
            <a:avLst>
              <a:gd name="adj" fmla="val 10000"/>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1" name="osi-badge-1"/>
          <p:cNvSpPr/>
          <p:nvPr/>
        </p:nvSpPr>
        <p:spPr>
          <a:xfrm>
            <a:off x="457200" y="3474720"/>
            <a:ext cx="1371600" cy="914400"/>
          </a:xfrm>
          <a:prstGeom prst="roundRect">
            <a:avLst>
              <a:gd name="adj" fmla="val 8000"/>
            </a:avLst>
          </a:prstGeom>
          <a:solidFill>
            <a:srgbClr val="6C7A89"/>
          </a:solidFill>
          <a:ln w="9525">
            <a:solidFill>
              <a:srgbClr val="6C7A89"/>
            </a:solidFill>
            <a:prstDash val="solid"/>
          </a:ln>
        </p:spPr>
      </p:sp>
      <p:sp>
        <p:nvSpPr>
          <p:cNvPr id="22" name="Text 19"/>
          <p:cNvSpPr txBox="1"/>
          <p:nvPr/>
        </p:nvSpPr>
        <p:spPr>
          <a:xfrm>
            <a:off x="457200" y="3474720"/>
            <a:ext cx="1371600" cy="914400"/>
          </a:xfrm>
          <a:prstGeom prst="rect">
            <a:avLst/>
          </a:prstGeom>
          <a:noFill/>
          <a:ln/>
        </p:spPr>
        <p:txBody>
          <a:bodyPr wrap="square" lIns="0" tIns="0" rIns="0" bIns="0" rtlCol="0" anchor="ctr"/>
          <a:lstStyle/>
          <a:p>
            <a:pPr algn="ctr" indent="0" marL="0">
              <a:buNone/>
            </a:pPr>
            <a:r>
              <a:rPr lang="en-US" sz="2400" b="1" dirty="0">
                <a:solidFill>
                  <a:srgbClr val="FFFFFF"/>
                </a:solidFill>
              </a:rPr>
              <a:t>L1</a:t>
            </a:r>
            <a:endParaRPr lang="en-US" sz="1400" dirty="0"/>
          </a:p>
          <a:p>
            <a:pPr algn="ctr" indent="0" marL="0">
              <a:buNone/>
            </a:pPr>
            <a:r>
              <a:rPr lang="en-US" sz="1200" dirty="0">
                <a:solidFill>
                  <a:srgbClr val="FFFFFF"/>
                </a:solidFill>
              </a:rPr>
              <a:t>Fizyczna</a:t>
            </a:r>
            <a:endParaRPr lang="en-US" sz="1400" dirty="0"/>
          </a:p>
        </p:txBody>
      </p:sp>
      <p:sp>
        <p:nvSpPr>
          <p:cNvPr id="23" name="Text 20"/>
          <p:cNvSpPr txBox="1"/>
          <p:nvPr/>
        </p:nvSpPr>
        <p:spPr>
          <a:xfrm>
            <a:off x="2011680" y="3474720"/>
            <a:ext cx="2286000" cy="914400"/>
          </a:xfrm>
          <a:prstGeom prst="rect">
            <a:avLst/>
          </a:prstGeom>
          <a:noFill/>
          <a:ln/>
        </p:spPr>
        <p:txBody>
          <a:bodyPr wrap="square" lIns="0" tIns="0" rIns="0" bIns="0" rtlCol="0" anchor="ctr"/>
          <a:lstStyle/>
          <a:p>
            <a:pPr indent="0" marL="0">
              <a:buNone/>
            </a:pPr>
            <a:r>
              <a:rPr lang="en-US" sz="1800" b="1" dirty="0">
                <a:solidFill>
                  <a:srgbClr val="0B2545"/>
                </a:solidFill>
              </a:rPr>
              <a:t>Repeater, hub</a:t>
            </a:r>
            <a:endParaRPr lang="en-US" sz="1800" dirty="0"/>
          </a:p>
        </p:txBody>
      </p:sp>
      <p:sp>
        <p:nvSpPr>
          <p:cNvPr id="24" name="Text 21"/>
          <p:cNvSpPr txBox="1"/>
          <p:nvPr/>
        </p:nvSpPr>
        <p:spPr>
          <a:xfrm>
            <a:off x="4389120" y="3474720"/>
            <a:ext cx="2468880" cy="914400"/>
          </a:xfrm>
          <a:prstGeom prst="rect">
            <a:avLst/>
          </a:prstGeom>
          <a:noFill/>
          <a:ln/>
        </p:spPr>
        <p:txBody>
          <a:bodyPr wrap="square" lIns="0" tIns="0" rIns="0" bIns="0" rtlCol="0" anchor="ctr"/>
          <a:lstStyle/>
          <a:p>
            <a:pPr indent="0" marL="0">
              <a:buNone/>
            </a:pPr>
            <a:r>
              <a:rPr lang="en-US" sz="1400" dirty="0">
                <a:solidFill>
                  <a:srgbClr val="1B2A41"/>
                </a:solidFill>
              </a:rPr>
              <a:t>brak decyzji, regeneruje sygnał</a:t>
            </a:r>
            <a:endParaRPr lang="en-US" sz="1400" dirty="0"/>
          </a:p>
        </p:txBody>
      </p:sp>
      <p:sp>
        <p:nvSpPr>
          <p:cNvPr id="25" name="Text 22"/>
          <p:cNvSpPr txBox="1"/>
          <p:nvPr/>
        </p:nvSpPr>
        <p:spPr>
          <a:xfrm>
            <a:off x="6949440" y="3474720"/>
            <a:ext cx="1645920" cy="914400"/>
          </a:xfrm>
          <a:prstGeom prst="rect">
            <a:avLst/>
          </a:prstGeom>
          <a:noFill/>
          <a:ln/>
        </p:spPr>
        <p:txBody>
          <a:bodyPr wrap="square" lIns="0" tIns="0" rIns="0" bIns="0" rtlCol="0" anchor="ctr"/>
          <a:lstStyle/>
          <a:p>
            <a:pPr indent="0" marL="0">
              <a:buNone/>
            </a:pPr>
            <a:r>
              <a:rPr lang="en-US" sz="1600" b="1" dirty="0">
                <a:solidFill>
                  <a:srgbClr val="6C7A89"/>
                </a:solidFill>
              </a:rPr>
              <a:t>bity</a:t>
            </a:r>
            <a:endParaRPr lang="en-US" sz="1600" dirty="0"/>
          </a:p>
        </p:txBody>
      </p:sp>
      <p:sp>
        <p:nvSpPr>
          <p:cNvPr id="26" name="Text 23"/>
          <p:cNvSpPr txBox="1"/>
          <p:nvPr/>
        </p:nvSpPr>
        <p:spPr>
          <a:xfrm>
            <a:off x="457200" y="4526280"/>
            <a:ext cx="6858000" cy="274320"/>
          </a:xfrm>
          <a:prstGeom prst="rect">
            <a:avLst/>
          </a:prstGeom>
          <a:noFill/>
          <a:ln/>
        </p:spPr>
        <p:txBody>
          <a:bodyPr wrap="square" lIns="0" tIns="0" rIns="0" bIns="0" rtlCol="0" anchor="t"/>
          <a:lstStyle/>
          <a:p>
            <a:pPr indent="0" marL="0">
              <a:buNone/>
            </a:pPr>
            <a:r>
              <a:rPr lang="en-US" sz="1400" i="1" dirty="0">
                <a:solidFill>
                  <a:srgbClr val="5C6B80"/>
                </a:solidFill>
              </a:rPr>
              <a:t>Im wyżej urządzenie patrzy, tym mądrzejsze decyzje podejmuje.</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Hub — wieloportowy repeater</a:t>
            </a:r>
            <a:endParaRPr lang="en-US" sz="3000" dirty="0"/>
          </a:p>
        </p:txBody>
      </p:sp>
      <p:sp>
        <p:nvSpPr>
          <p:cNvPr id="4" name="Text 1"/>
          <p:cNvSpPr txBox="1"/>
          <p:nvPr/>
        </p:nvSpPr>
        <p:spPr>
          <a:xfrm>
            <a:off x="457200" y="1280160"/>
            <a:ext cx="384048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2A41"/>
                </a:solidFill>
              </a:rPr>
              <a:t>Warstwa 1: nie czyta adresów MAC</a:t>
            </a:r>
            <a:endParaRPr lang="en-US" sz="1600" dirty="0"/>
          </a:p>
          <a:p>
            <a:pPr marL="342900" indent="-342900">
              <a:spcAft>
                <a:spcPts val="1000"/>
              </a:spcAft>
              <a:buSzPct val="100000"/>
              <a:buChar char="•"/>
            </a:pPr>
            <a:r>
              <a:rPr lang="en-US" sz="1600" dirty="0">
                <a:solidFill>
                  <a:srgbClr val="1B2A41"/>
                </a:solidFill>
              </a:rPr>
              <a:t>Regeneruje sygnał i wysyła go na wszystkie pozostałe porty</a:t>
            </a:r>
            <a:endParaRPr lang="en-US" sz="1600" dirty="0"/>
          </a:p>
          <a:p>
            <a:pPr marL="342900" indent="-342900">
              <a:buSzPct val="100000"/>
              <a:buChar char="•"/>
            </a:pPr>
            <a:r>
              <a:rPr lang="en-US" sz="1600" dirty="0">
                <a:solidFill>
                  <a:srgbClr val="1B2A41"/>
                </a:solidFill>
              </a:rPr>
              <a:t>Fizycznie gwiazda, logicznie magistrala</a:t>
            </a:r>
            <a:endParaRPr lang="en-US" sz="1600" dirty="0"/>
          </a:p>
        </p:txBody>
      </p:sp>
      <p:sp>
        <p:nvSpPr>
          <p:cNvPr id="5" name="hub-callout"/>
          <p:cNvSpPr/>
          <p:nvPr/>
        </p:nvSpPr>
        <p:spPr>
          <a:xfrm>
            <a:off x="457200" y="3657600"/>
            <a:ext cx="3840480" cy="731520"/>
          </a:xfrm>
          <a:prstGeom prst="roundRect">
            <a:avLst>
              <a:gd name="adj" fmla="val 10000"/>
            </a:avLst>
          </a:prstGeom>
          <a:solidFill>
            <a:srgbClr val="FDEBCF"/>
          </a:solidFill>
          <a:ln w="9525">
            <a:solidFill>
              <a:srgbClr val="F2A541"/>
            </a:solidFill>
            <a:prstDash val="solid"/>
          </a:ln>
        </p:spPr>
      </p:sp>
      <p:sp>
        <p:nvSpPr>
          <p:cNvPr id="6" name="Text 3"/>
          <p:cNvSpPr txBox="1"/>
          <p:nvPr/>
        </p:nvSpPr>
        <p:spPr>
          <a:xfrm>
            <a:off x="640080" y="3657600"/>
            <a:ext cx="3474720" cy="731520"/>
          </a:xfrm>
          <a:prstGeom prst="rect">
            <a:avLst/>
          </a:prstGeom>
          <a:noFill/>
          <a:ln/>
        </p:spPr>
        <p:txBody>
          <a:bodyPr wrap="square" lIns="0" tIns="0" rIns="0" bIns="0" rtlCol="0" anchor="ctr"/>
          <a:lstStyle/>
          <a:p>
            <a:pPr indent="0" marL="0">
              <a:buNone/>
            </a:pPr>
            <a:r>
              <a:rPr lang="en-US" sz="1600" b="1" dirty="0">
                <a:solidFill>
                  <a:srgbClr val="0B2545"/>
                </a:solidFill>
              </a:rPr>
              <a:t>Wszystkie porty = jedna domena kolizyjna</a:t>
            </a:r>
            <a:endParaRPr lang="en-US" sz="1600" dirty="0"/>
          </a:p>
        </p:txBody>
      </p:sp>
      <p:sp>
        <p:nvSpPr>
          <p:cNvPr id="7" name="Shape 4"/>
          <p:cNvSpPr/>
          <p:nvPr/>
        </p:nvSpPr>
        <p:spPr>
          <a:xfrm>
            <a:off x="5760720" y="1828800"/>
            <a:ext cx="411480" cy="685800"/>
          </a:xfrm>
          <a:prstGeom prst="line">
            <a:avLst/>
          </a:prstGeom>
          <a:noFill/>
          <a:ln w="38100">
            <a:solidFill>
              <a:srgbClr val="F2A541"/>
            </a:solidFill>
            <a:prstDash val="solid"/>
            <a:tailEnd type="triangle"/>
          </a:ln>
        </p:spPr>
      </p:sp>
      <p:sp>
        <p:nvSpPr>
          <p:cNvPr id="8" name="Shape 5"/>
          <p:cNvSpPr/>
          <p:nvPr/>
        </p:nvSpPr>
        <p:spPr>
          <a:xfrm flipV="1">
            <a:off x="7086600" y="1828800"/>
            <a:ext cx="411480" cy="685800"/>
          </a:xfrm>
          <a:prstGeom prst="line">
            <a:avLst/>
          </a:prstGeom>
          <a:noFill/>
          <a:ln w="31750">
            <a:solidFill>
              <a:srgbClr val="0E7C7B"/>
            </a:solidFill>
            <a:prstDash val="solid"/>
            <a:tailEnd type="triangle"/>
          </a:ln>
        </p:spPr>
      </p:sp>
      <p:sp>
        <p:nvSpPr>
          <p:cNvPr id="9" name="Shape 6"/>
          <p:cNvSpPr/>
          <p:nvPr/>
        </p:nvSpPr>
        <p:spPr>
          <a:xfrm flipH="1">
            <a:off x="5760720" y="3154680"/>
            <a:ext cx="411480" cy="594360"/>
          </a:xfrm>
          <a:prstGeom prst="line">
            <a:avLst/>
          </a:prstGeom>
          <a:noFill/>
          <a:ln w="31750">
            <a:solidFill>
              <a:srgbClr val="0E7C7B"/>
            </a:solidFill>
            <a:prstDash val="solid"/>
            <a:tailEnd type="triangle"/>
          </a:ln>
        </p:spPr>
      </p:sp>
      <p:sp>
        <p:nvSpPr>
          <p:cNvPr id="10" name="Shape 7"/>
          <p:cNvSpPr/>
          <p:nvPr/>
        </p:nvSpPr>
        <p:spPr>
          <a:xfrm>
            <a:off x="7086600" y="3154680"/>
            <a:ext cx="411480" cy="594360"/>
          </a:xfrm>
          <a:prstGeom prst="line">
            <a:avLst/>
          </a:prstGeom>
          <a:noFill/>
          <a:ln w="31750">
            <a:solidFill>
              <a:srgbClr val="0E7C7B"/>
            </a:solidFill>
            <a:prstDash val="solid"/>
            <a:tailEnd type="triangle"/>
          </a:ln>
        </p:spPr>
      </p:sp>
      <p:sp>
        <p:nvSpPr>
          <p:cNvPr id="11" name="node-HUB"/>
          <p:cNvSpPr/>
          <p:nvPr/>
        </p:nvSpPr>
        <p:spPr>
          <a:xfrm>
            <a:off x="6035040" y="2514600"/>
            <a:ext cx="1188720" cy="640080"/>
          </a:xfrm>
          <a:prstGeom prst="roundRect">
            <a:avLst>
              <a:gd name="adj" fmla="val 11429"/>
            </a:avLst>
          </a:prstGeom>
          <a:solidFill>
            <a:srgbClr val="0B2545"/>
          </a:solidFill>
          <a:ln w="12700">
            <a:solidFill>
              <a:srgbClr val="0B2545"/>
            </a:solidFill>
            <a:prstDash val="solid"/>
          </a:ln>
        </p:spPr>
      </p:sp>
      <p:sp>
        <p:nvSpPr>
          <p:cNvPr id="12" name="Text 9"/>
          <p:cNvSpPr txBox="1"/>
          <p:nvPr/>
        </p:nvSpPr>
        <p:spPr>
          <a:xfrm>
            <a:off x="6035040" y="2514600"/>
            <a:ext cx="1188720" cy="640080"/>
          </a:xfrm>
          <a:prstGeom prst="rect">
            <a:avLst/>
          </a:prstGeom>
          <a:noFill/>
          <a:ln/>
        </p:spPr>
        <p:txBody>
          <a:bodyPr wrap="square" lIns="0" tIns="0" rIns="0" bIns="0" rtlCol="0" anchor="ctr"/>
          <a:lstStyle/>
          <a:p>
            <a:pPr algn="ctr" indent="0" marL="0">
              <a:buNone/>
            </a:pPr>
            <a:r>
              <a:rPr lang="en-US" sz="1800" b="1" dirty="0">
                <a:solidFill>
                  <a:srgbClr val="FFFFFF"/>
                </a:solidFill>
              </a:rPr>
              <a:t>HUB</a:t>
            </a:r>
            <a:endParaRPr lang="en-US" sz="1800" dirty="0"/>
          </a:p>
        </p:txBody>
      </p:sp>
      <p:sp>
        <p:nvSpPr>
          <p:cNvPr id="13" name="node-PC-A nadaje"/>
          <p:cNvSpPr/>
          <p:nvPr/>
        </p:nvSpPr>
        <p:spPr>
          <a:xfrm>
            <a:off x="4572000" y="1234440"/>
            <a:ext cx="1463040" cy="594360"/>
          </a:xfrm>
          <a:prstGeom prst="roundRect">
            <a:avLst>
              <a:gd name="adj" fmla="val 12308"/>
            </a:avLst>
          </a:prstGeom>
          <a:solidFill>
            <a:srgbClr val="F2A541"/>
          </a:solidFill>
          <a:ln w="12700">
            <a:solidFill>
              <a:srgbClr val="F2A541"/>
            </a:solidFill>
            <a:prstDash val="solid"/>
          </a:ln>
        </p:spPr>
      </p:sp>
      <p:sp>
        <p:nvSpPr>
          <p:cNvPr id="14" name="Text 11"/>
          <p:cNvSpPr txBox="1"/>
          <p:nvPr/>
        </p:nvSpPr>
        <p:spPr>
          <a:xfrm>
            <a:off x="4572000" y="1234440"/>
            <a:ext cx="1463040" cy="594360"/>
          </a:xfrm>
          <a:prstGeom prst="rect">
            <a:avLst/>
          </a:prstGeom>
          <a:noFill/>
          <a:ln/>
        </p:spPr>
        <p:txBody>
          <a:bodyPr wrap="square" lIns="0" tIns="0" rIns="0" bIns="0" rtlCol="0" anchor="ctr"/>
          <a:lstStyle/>
          <a:p>
            <a:pPr algn="ctr" indent="0" marL="0">
              <a:buNone/>
            </a:pPr>
            <a:r>
              <a:rPr lang="en-US" sz="1400" b="1" dirty="0">
                <a:solidFill>
                  <a:srgbClr val="0B2545"/>
                </a:solidFill>
              </a:rPr>
              <a:t>PC-A nadaje</a:t>
            </a:r>
            <a:endParaRPr lang="en-US" sz="1400" dirty="0"/>
          </a:p>
        </p:txBody>
      </p:sp>
      <p:sp>
        <p:nvSpPr>
          <p:cNvPr id="15" name="node-PC-B adresat"/>
          <p:cNvSpPr/>
          <p:nvPr/>
        </p:nvSpPr>
        <p:spPr>
          <a:xfrm>
            <a:off x="7223760" y="1234440"/>
            <a:ext cx="1463040" cy="594360"/>
          </a:xfrm>
          <a:prstGeom prst="roundRect">
            <a:avLst>
              <a:gd name="adj" fmla="val 12308"/>
            </a:avLst>
          </a:prstGeom>
          <a:solidFill>
            <a:srgbClr val="0E7C7B"/>
          </a:solidFill>
          <a:ln w="12700">
            <a:solidFill>
              <a:srgbClr val="0E7C7B"/>
            </a:solidFill>
            <a:prstDash val="solid"/>
          </a:ln>
        </p:spPr>
      </p:sp>
      <p:sp>
        <p:nvSpPr>
          <p:cNvPr id="16" name="Text 13"/>
          <p:cNvSpPr txBox="1"/>
          <p:nvPr/>
        </p:nvSpPr>
        <p:spPr>
          <a:xfrm>
            <a:off x="7223760" y="1234440"/>
            <a:ext cx="1463040" cy="594360"/>
          </a:xfrm>
          <a:prstGeom prst="rect">
            <a:avLst/>
          </a:prstGeom>
          <a:noFill/>
          <a:ln/>
        </p:spPr>
        <p:txBody>
          <a:bodyPr wrap="square" lIns="0" tIns="0" rIns="0" bIns="0" rtlCol="0" anchor="ctr"/>
          <a:lstStyle/>
          <a:p>
            <a:pPr algn="ctr" indent="0" marL="0">
              <a:buNone/>
            </a:pPr>
            <a:r>
              <a:rPr lang="en-US" sz="1400" b="1" dirty="0">
                <a:solidFill>
                  <a:srgbClr val="FFFFFF"/>
                </a:solidFill>
              </a:rPr>
              <a:t>PC-B adresat</a:t>
            </a:r>
            <a:endParaRPr lang="en-US" sz="1400" dirty="0"/>
          </a:p>
        </p:txBody>
      </p:sp>
      <p:sp>
        <p:nvSpPr>
          <p:cNvPr id="17" name="node-PC-C słyszy"/>
          <p:cNvSpPr/>
          <p:nvPr/>
        </p:nvSpPr>
        <p:spPr>
          <a:xfrm>
            <a:off x="4572000" y="3749040"/>
            <a:ext cx="1463040" cy="594360"/>
          </a:xfrm>
          <a:prstGeom prst="roundRect">
            <a:avLst>
              <a:gd name="adj" fmla="val 12308"/>
            </a:avLst>
          </a:prstGeom>
          <a:solidFill>
            <a:srgbClr val="E4EAF1"/>
          </a:solidFill>
          <a:ln w="12700">
            <a:solidFill>
              <a:srgbClr val="B9C5D3"/>
            </a:solidFill>
            <a:prstDash val="solid"/>
          </a:ln>
        </p:spPr>
      </p:sp>
      <p:sp>
        <p:nvSpPr>
          <p:cNvPr id="18" name="Text 15"/>
          <p:cNvSpPr txBox="1"/>
          <p:nvPr/>
        </p:nvSpPr>
        <p:spPr>
          <a:xfrm>
            <a:off x="4572000" y="3749040"/>
            <a:ext cx="1463040" cy="594360"/>
          </a:xfrm>
          <a:prstGeom prst="rect">
            <a:avLst/>
          </a:prstGeom>
          <a:noFill/>
          <a:ln/>
        </p:spPr>
        <p:txBody>
          <a:bodyPr wrap="square" lIns="0" tIns="0" rIns="0" bIns="0" rtlCol="0" anchor="ctr"/>
          <a:lstStyle/>
          <a:p>
            <a:pPr algn="ctr" indent="0" marL="0">
              <a:buNone/>
            </a:pPr>
            <a:r>
              <a:rPr lang="en-US" sz="1400" b="1" dirty="0">
                <a:solidFill>
                  <a:srgbClr val="1B2A41"/>
                </a:solidFill>
              </a:rPr>
              <a:t>PC-C słyszy</a:t>
            </a:r>
            <a:endParaRPr lang="en-US" sz="1400" dirty="0"/>
          </a:p>
        </p:txBody>
      </p:sp>
      <p:sp>
        <p:nvSpPr>
          <p:cNvPr id="19" name="node-PC-D słyszy"/>
          <p:cNvSpPr/>
          <p:nvPr/>
        </p:nvSpPr>
        <p:spPr>
          <a:xfrm>
            <a:off x="7223760" y="3749040"/>
            <a:ext cx="1463040" cy="594360"/>
          </a:xfrm>
          <a:prstGeom prst="roundRect">
            <a:avLst>
              <a:gd name="adj" fmla="val 12308"/>
            </a:avLst>
          </a:prstGeom>
          <a:solidFill>
            <a:srgbClr val="E4EAF1"/>
          </a:solidFill>
          <a:ln w="12700">
            <a:solidFill>
              <a:srgbClr val="B9C5D3"/>
            </a:solidFill>
            <a:prstDash val="solid"/>
          </a:ln>
        </p:spPr>
      </p:sp>
      <p:sp>
        <p:nvSpPr>
          <p:cNvPr id="20" name="Text 17"/>
          <p:cNvSpPr txBox="1"/>
          <p:nvPr/>
        </p:nvSpPr>
        <p:spPr>
          <a:xfrm>
            <a:off x="7223760" y="3749040"/>
            <a:ext cx="1463040" cy="594360"/>
          </a:xfrm>
          <a:prstGeom prst="rect">
            <a:avLst/>
          </a:prstGeom>
          <a:noFill/>
          <a:ln/>
        </p:spPr>
        <p:txBody>
          <a:bodyPr wrap="square" lIns="0" tIns="0" rIns="0" bIns="0" rtlCol="0" anchor="ctr"/>
          <a:lstStyle/>
          <a:p>
            <a:pPr algn="ctr" indent="0" marL="0">
              <a:buNone/>
            </a:pPr>
            <a:r>
              <a:rPr lang="en-US" sz="1400" b="1" dirty="0">
                <a:solidFill>
                  <a:srgbClr val="1B2A41"/>
                </a:solidFill>
              </a:rPr>
              <a:t>PC-D słyszy</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Konsekwencje braku inteligencji</a:t>
            </a:r>
            <a:endParaRPr lang="en-US" sz="3000" dirty="0"/>
          </a:p>
        </p:txBody>
      </p:sp>
      <p:sp>
        <p:nvSpPr>
          <p:cNvPr id="4" name="hub-card-1"/>
          <p:cNvSpPr/>
          <p:nvPr/>
        </p:nvSpPr>
        <p:spPr>
          <a:xfrm>
            <a:off x="457200" y="1188720"/>
            <a:ext cx="2606040" cy="1554480"/>
          </a:xfrm>
          <a:prstGeom prst="roundRect">
            <a:avLst>
              <a:gd name="adj" fmla="val 5882"/>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5" name="icon-bg-FaShareAlt"/>
          <p:cNvSpPr/>
          <p:nvPr/>
        </p:nvSpPr>
        <p:spPr>
          <a:xfrm>
            <a:off x="685800" y="1371600"/>
            <a:ext cx="457200" cy="457200"/>
          </a:xfrm>
          <a:prstGeom prst="ellipse">
            <a:avLst/>
          </a:prstGeom>
          <a:solidFill>
            <a:srgbClr val="0E7C7B"/>
          </a:solidFill>
          <a:ln w="6350">
            <a:solidFill>
              <a:srgbClr val="0E7C7B"/>
            </a:solidFill>
            <a:prstDash val="solid"/>
          </a:ln>
        </p:spPr>
      </p:sp>
      <p:pic>
        <p:nvPicPr>
          <p:cNvPr id="6" name="Image 0" descr="FaShareAlt">    </p:cNvPr>
          <p:cNvPicPr>
            <a:picLocks noChangeAspect="1"/>
          </p:cNvPicPr>
          <p:nvPr/>
        </p:nvPicPr>
        <p:blipFill>
          <a:blip r:embed="rId1"/>
          <a:stretch>
            <a:fillRect/>
          </a:stretch>
        </p:blipFill>
        <p:spPr>
          <a:xfrm>
            <a:off x="800100" y="1485900"/>
            <a:ext cx="228600" cy="228600"/>
          </a:xfrm>
          <a:prstGeom prst="rect">
            <a:avLst/>
          </a:prstGeom>
        </p:spPr>
      </p:pic>
      <p:sp>
        <p:nvSpPr>
          <p:cNvPr id="7" name="Text 3"/>
          <p:cNvSpPr txBox="1"/>
          <p:nvPr/>
        </p:nvSpPr>
        <p:spPr>
          <a:xfrm>
            <a:off x="685800" y="1920240"/>
            <a:ext cx="2240280" cy="274320"/>
          </a:xfrm>
          <a:prstGeom prst="rect">
            <a:avLst/>
          </a:prstGeom>
          <a:noFill/>
          <a:ln/>
        </p:spPr>
        <p:txBody>
          <a:bodyPr wrap="square" lIns="0" tIns="0" rIns="0" bIns="0" rtlCol="0" anchor="t"/>
          <a:lstStyle/>
          <a:p>
            <a:pPr indent="0" marL="0">
              <a:buNone/>
            </a:pPr>
            <a:r>
              <a:rPr lang="en-US" sz="1600" b="1" dirty="0">
                <a:solidFill>
                  <a:srgbClr val="0B2545"/>
                </a:solidFill>
              </a:rPr>
              <a:t>Medium współdzielone</a:t>
            </a:r>
            <a:endParaRPr lang="en-US" sz="1600" dirty="0"/>
          </a:p>
        </p:txBody>
      </p:sp>
      <p:sp>
        <p:nvSpPr>
          <p:cNvPr id="8" name="Text 4"/>
          <p:cNvSpPr txBox="1"/>
          <p:nvPr/>
        </p:nvSpPr>
        <p:spPr>
          <a:xfrm>
            <a:off x="685800" y="2212848"/>
            <a:ext cx="2240280" cy="457200"/>
          </a:xfrm>
          <a:prstGeom prst="rect">
            <a:avLst/>
          </a:prstGeom>
          <a:noFill/>
          <a:ln/>
        </p:spPr>
        <p:txBody>
          <a:bodyPr wrap="square" lIns="0" tIns="0" rIns="0" bIns="0" rtlCol="0" anchor="t"/>
          <a:lstStyle/>
          <a:p>
            <a:pPr indent="0" marL="0">
              <a:buNone/>
            </a:pPr>
            <a:r>
              <a:rPr lang="en-US" sz="1400" dirty="0">
                <a:solidFill>
                  <a:srgbClr val="1B2A41"/>
                </a:solidFill>
              </a:rPr>
              <a:t>Jedna wspólna domena kolizyjna</a:t>
            </a:r>
            <a:endParaRPr lang="en-US" sz="1400" dirty="0"/>
          </a:p>
        </p:txBody>
      </p:sp>
      <p:sp>
        <p:nvSpPr>
          <p:cNvPr id="9" name="hub-card-2"/>
          <p:cNvSpPr/>
          <p:nvPr/>
        </p:nvSpPr>
        <p:spPr>
          <a:xfrm>
            <a:off x="3268980" y="1188720"/>
            <a:ext cx="2606040" cy="1554480"/>
          </a:xfrm>
          <a:prstGeom prst="roundRect">
            <a:avLst>
              <a:gd name="adj" fmla="val 5882"/>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0" name="icon-bg-FaExchangeAlt"/>
          <p:cNvSpPr/>
          <p:nvPr/>
        </p:nvSpPr>
        <p:spPr>
          <a:xfrm>
            <a:off x="3497580" y="1371600"/>
            <a:ext cx="457200" cy="457200"/>
          </a:xfrm>
          <a:prstGeom prst="ellipse">
            <a:avLst/>
          </a:prstGeom>
          <a:solidFill>
            <a:srgbClr val="0E7C7B"/>
          </a:solidFill>
          <a:ln w="6350">
            <a:solidFill>
              <a:srgbClr val="0E7C7B"/>
            </a:solidFill>
            <a:prstDash val="solid"/>
          </a:ln>
        </p:spPr>
      </p:sp>
      <p:pic>
        <p:nvPicPr>
          <p:cNvPr id="11" name="Image 1" descr="FaExchangeAlt">    </p:cNvPr>
          <p:cNvPicPr>
            <a:picLocks noChangeAspect="1"/>
          </p:cNvPicPr>
          <p:nvPr/>
        </p:nvPicPr>
        <p:blipFill>
          <a:blip r:embed="rId2"/>
          <a:stretch>
            <a:fillRect/>
          </a:stretch>
        </p:blipFill>
        <p:spPr>
          <a:xfrm>
            <a:off x="3611880" y="1485900"/>
            <a:ext cx="228600" cy="228600"/>
          </a:xfrm>
          <a:prstGeom prst="rect">
            <a:avLst/>
          </a:prstGeom>
        </p:spPr>
      </p:pic>
      <p:sp>
        <p:nvSpPr>
          <p:cNvPr id="12" name="Text 7"/>
          <p:cNvSpPr txBox="1"/>
          <p:nvPr/>
        </p:nvSpPr>
        <p:spPr>
          <a:xfrm>
            <a:off x="3497580" y="1920240"/>
            <a:ext cx="2240280" cy="274320"/>
          </a:xfrm>
          <a:prstGeom prst="rect">
            <a:avLst/>
          </a:prstGeom>
          <a:noFill/>
          <a:ln/>
        </p:spPr>
        <p:txBody>
          <a:bodyPr wrap="square" lIns="0" tIns="0" rIns="0" bIns="0" rtlCol="0" anchor="t"/>
          <a:lstStyle/>
          <a:p>
            <a:pPr indent="0" marL="0">
              <a:buNone/>
            </a:pPr>
            <a:r>
              <a:rPr lang="en-US" sz="1600" b="1" dirty="0">
                <a:solidFill>
                  <a:srgbClr val="0B2545"/>
                </a:solidFill>
              </a:rPr>
              <a:t>Tylko Half-Duplex</a:t>
            </a:r>
            <a:endParaRPr lang="en-US" sz="1600" dirty="0"/>
          </a:p>
        </p:txBody>
      </p:sp>
      <p:sp>
        <p:nvSpPr>
          <p:cNvPr id="13" name="Text 8"/>
          <p:cNvSpPr txBox="1"/>
          <p:nvPr/>
        </p:nvSpPr>
        <p:spPr>
          <a:xfrm>
            <a:off x="3497580" y="2212848"/>
            <a:ext cx="2240280" cy="457200"/>
          </a:xfrm>
          <a:prstGeom prst="rect">
            <a:avLst/>
          </a:prstGeom>
          <a:noFill/>
          <a:ln/>
        </p:spPr>
        <p:txBody>
          <a:bodyPr wrap="square" lIns="0" tIns="0" rIns="0" bIns="0" rtlCol="0" anchor="t"/>
          <a:lstStyle/>
          <a:p>
            <a:pPr indent="0" marL="0">
              <a:buNone/>
            </a:pPr>
            <a:r>
              <a:rPr lang="en-US" sz="1400" dirty="0">
                <a:solidFill>
                  <a:srgbClr val="1B2A41"/>
                </a:solidFill>
              </a:rPr>
              <a:t>Nadawanie i odbiór wykluczają się</a:t>
            </a:r>
            <a:endParaRPr lang="en-US" sz="1400" dirty="0"/>
          </a:p>
        </p:txBody>
      </p:sp>
      <p:sp>
        <p:nvSpPr>
          <p:cNvPr id="14" name="hub-card-3"/>
          <p:cNvSpPr/>
          <p:nvPr/>
        </p:nvSpPr>
        <p:spPr>
          <a:xfrm>
            <a:off x="6080760" y="1188720"/>
            <a:ext cx="2606040" cy="1554480"/>
          </a:xfrm>
          <a:prstGeom prst="roundRect">
            <a:avLst>
              <a:gd name="adj" fmla="val 5882"/>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5" name="icon-bg-FaBan"/>
          <p:cNvSpPr/>
          <p:nvPr/>
        </p:nvSpPr>
        <p:spPr>
          <a:xfrm>
            <a:off x="6309360" y="1371600"/>
            <a:ext cx="457200" cy="457200"/>
          </a:xfrm>
          <a:prstGeom prst="ellipse">
            <a:avLst/>
          </a:prstGeom>
          <a:solidFill>
            <a:srgbClr val="0E7C7B"/>
          </a:solidFill>
          <a:ln w="6350">
            <a:solidFill>
              <a:srgbClr val="0E7C7B"/>
            </a:solidFill>
            <a:prstDash val="solid"/>
          </a:ln>
        </p:spPr>
      </p:sp>
      <p:pic>
        <p:nvPicPr>
          <p:cNvPr id="16" name="Image 2" descr="FaBan">    </p:cNvPr>
          <p:cNvPicPr>
            <a:picLocks noChangeAspect="1"/>
          </p:cNvPicPr>
          <p:nvPr/>
        </p:nvPicPr>
        <p:blipFill>
          <a:blip r:embed="rId3"/>
          <a:stretch>
            <a:fillRect/>
          </a:stretch>
        </p:blipFill>
        <p:spPr>
          <a:xfrm>
            <a:off x="6423660" y="1485900"/>
            <a:ext cx="228600" cy="228600"/>
          </a:xfrm>
          <a:prstGeom prst="rect">
            <a:avLst/>
          </a:prstGeom>
        </p:spPr>
      </p:pic>
      <p:sp>
        <p:nvSpPr>
          <p:cNvPr id="17" name="Text 11"/>
          <p:cNvSpPr txBox="1"/>
          <p:nvPr/>
        </p:nvSpPr>
        <p:spPr>
          <a:xfrm>
            <a:off x="6309360" y="1920240"/>
            <a:ext cx="2240280" cy="274320"/>
          </a:xfrm>
          <a:prstGeom prst="rect">
            <a:avLst/>
          </a:prstGeom>
          <a:noFill/>
          <a:ln/>
        </p:spPr>
        <p:txBody>
          <a:bodyPr wrap="square" lIns="0" tIns="0" rIns="0" bIns="0" rtlCol="0" anchor="t"/>
          <a:lstStyle/>
          <a:p>
            <a:pPr indent="0" marL="0">
              <a:buNone/>
            </a:pPr>
            <a:r>
              <a:rPr lang="en-US" sz="1600" b="1" dirty="0">
                <a:solidFill>
                  <a:srgbClr val="0B2545"/>
                </a:solidFill>
              </a:rPr>
              <a:t>Brak filtrowania</a:t>
            </a:r>
            <a:endParaRPr lang="en-US" sz="1600" dirty="0"/>
          </a:p>
        </p:txBody>
      </p:sp>
      <p:sp>
        <p:nvSpPr>
          <p:cNvPr id="18" name="Text 12"/>
          <p:cNvSpPr txBox="1"/>
          <p:nvPr/>
        </p:nvSpPr>
        <p:spPr>
          <a:xfrm>
            <a:off x="6309360" y="2212848"/>
            <a:ext cx="2240280" cy="457200"/>
          </a:xfrm>
          <a:prstGeom prst="rect">
            <a:avLst/>
          </a:prstGeom>
          <a:noFill/>
          <a:ln/>
        </p:spPr>
        <p:txBody>
          <a:bodyPr wrap="square" lIns="0" tIns="0" rIns="0" bIns="0" rtlCol="0" anchor="t"/>
          <a:lstStyle/>
          <a:p>
            <a:pPr indent="0" marL="0">
              <a:buNone/>
            </a:pPr>
            <a:r>
              <a:rPr lang="en-US" sz="1400" dirty="0">
                <a:solidFill>
                  <a:srgbClr val="1B2A41"/>
                </a:solidFill>
              </a:rPr>
              <a:t>Ramka trafia na każdy port</a:t>
            </a:r>
            <a:endParaRPr lang="en-US" sz="1400" dirty="0"/>
          </a:p>
        </p:txBody>
      </p:sp>
      <p:sp>
        <p:nvSpPr>
          <p:cNvPr id="19" name="hub-card-4"/>
          <p:cNvSpPr/>
          <p:nvPr/>
        </p:nvSpPr>
        <p:spPr>
          <a:xfrm>
            <a:off x="457200" y="2926080"/>
            <a:ext cx="2606040" cy="1554480"/>
          </a:xfrm>
          <a:prstGeom prst="roundRect">
            <a:avLst>
              <a:gd name="adj" fmla="val 5882"/>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0" name="icon-bg-FaTachometerAlt"/>
          <p:cNvSpPr/>
          <p:nvPr/>
        </p:nvSpPr>
        <p:spPr>
          <a:xfrm>
            <a:off x="685800" y="3108960"/>
            <a:ext cx="457200" cy="457200"/>
          </a:xfrm>
          <a:prstGeom prst="ellipse">
            <a:avLst/>
          </a:prstGeom>
          <a:solidFill>
            <a:srgbClr val="0E7C7B"/>
          </a:solidFill>
          <a:ln w="6350">
            <a:solidFill>
              <a:srgbClr val="0E7C7B"/>
            </a:solidFill>
            <a:prstDash val="solid"/>
          </a:ln>
        </p:spPr>
      </p:sp>
      <p:pic>
        <p:nvPicPr>
          <p:cNvPr id="21" name="Image 3" descr="FaTachometerAlt">    </p:cNvPr>
          <p:cNvPicPr>
            <a:picLocks noChangeAspect="1"/>
          </p:cNvPicPr>
          <p:nvPr/>
        </p:nvPicPr>
        <p:blipFill>
          <a:blip r:embed="rId4"/>
          <a:stretch>
            <a:fillRect/>
          </a:stretch>
        </p:blipFill>
        <p:spPr>
          <a:xfrm>
            <a:off x="800100" y="3223260"/>
            <a:ext cx="228600" cy="228600"/>
          </a:xfrm>
          <a:prstGeom prst="rect">
            <a:avLst/>
          </a:prstGeom>
        </p:spPr>
      </p:pic>
      <p:sp>
        <p:nvSpPr>
          <p:cNvPr id="22" name="Text 15"/>
          <p:cNvSpPr txBox="1"/>
          <p:nvPr/>
        </p:nvSpPr>
        <p:spPr>
          <a:xfrm>
            <a:off x="685800" y="3657600"/>
            <a:ext cx="2240280" cy="274320"/>
          </a:xfrm>
          <a:prstGeom prst="rect">
            <a:avLst/>
          </a:prstGeom>
          <a:noFill/>
          <a:ln/>
        </p:spPr>
        <p:txBody>
          <a:bodyPr wrap="square" lIns="0" tIns="0" rIns="0" bIns="0" rtlCol="0" anchor="t"/>
          <a:lstStyle/>
          <a:p>
            <a:pPr indent="0" marL="0">
              <a:buNone/>
            </a:pPr>
            <a:r>
              <a:rPr lang="en-US" sz="1600" b="1" dirty="0">
                <a:solidFill>
                  <a:srgbClr val="0B2545"/>
                </a:solidFill>
              </a:rPr>
              <a:t>Dzielone pasmo</a:t>
            </a:r>
            <a:endParaRPr lang="en-US" sz="1600" dirty="0"/>
          </a:p>
        </p:txBody>
      </p:sp>
      <p:sp>
        <p:nvSpPr>
          <p:cNvPr id="23" name="Text 16"/>
          <p:cNvSpPr txBox="1"/>
          <p:nvPr/>
        </p:nvSpPr>
        <p:spPr>
          <a:xfrm>
            <a:off x="685800" y="3950208"/>
            <a:ext cx="2240280" cy="457200"/>
          </a:xfrm>
          <a:prstGeom prst="rect">
            <a:avLst/>
          </a:prstGeom>
          <a:noFill/>
          <a:ln/>
        </p:spPr>
        <p:txBody>
          <a:bodyPr wrap="square" lIns="0" tIns="0" rIns="0" bIns="0" rtlCol="0" anchor="t"/>
          <a:lstStyle/>
          <a:p>
            <a:pPr indent="0" marL="0">
              <a:buNone/>
            </a:pPr>
            <a:r>
              <a:rPr lang="en-US" sz="1400" dirty="0">
                <a:solidFill>
                  <a:srgbClr val="1B2A41"/>
                </a:solidFill>
              </a:rPr>
              <a:t>10 lub 100 Mb/s na wszystkich</a:t>
            </a:r>
            <a:endParaRPr lang="en-US" sz="1400" dirty="0"/>
          </a:p>
        </p:txBody>
      </p:sp>
      <p:sp>
        <p:nvSpPr>
          <p:cNvPr id="24" name="hub-card-5"/>
          <p:cNvSpPr/>
          <p:nvPr/>
        </p:nvSpPr>
        <p:spPr>
          <a:xfrm>
            <a:off x="3268980" y="2926080"/>
            <a:ext cx="2606040" cy="1554480"/>
          </a:xfrm>
          <a:prstGeom prst="roundRect">
            <a:avLst>
              <a:gd name="adj" fmla="val 5882"/>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5" name="icon-bg-FaSitemap"/>
          <p:cNvSpPr/>
          <p:nvPr/>
        </p:nvSpPr>
        <p:spPr>
          <a:xfrm>
            <a:off x="3497580" y="3108960"/>
            <a:ext cx="457200" cy="457200"/>
          </a:xfrm>
          <a:prstGeom prst="ellipse">
            <a:avLst/>
          </a:prstGeom>
          <a:solidFill>
            <a:srgbClr val="0E7C7B"/>
          </a:solidFill>
          <a:ln w="6350">
            <a:solidFill>
              <a:srgbClr val="0E7C7B"/>
            </a:solidFill>
            <a:prstDash val="solid"/>
          </a:ln>
        </p:spPr>
      </p:sp>
      <p:pic>
        <p:nvPicPr>
          <p:cNvPr id="26" name="Image 4" descr="FaSitemap">    </p:cNvPr>
          <p:cNvPicPr>
            <a:picLocks noChangeAspect="1"/>
          </p:cNvPicPr>
          <p:nvPr/>
        </p:nvPicPr>
        <p:blipFill>
          <a:blip r:embed="rId5"/>
          <a:stretch>
            <a:fillRect/>
          </a:stretch>
        </p:blipFill>
        <p:spPr>
          <a:xfrm>
            <a:off x="3611880" y="3223260"/>
            <a:ext cx="228600" cy="228600"/>
          </a:xfrm>
          <a:prstGeom prst="rect">
            <a:avLst/>
          </a:prstGeom>
        </p:spPr>
      </p:pic>
      <p:sp>
        <p:nvSpPr>
          <p:cNvPr id="27" name="Text 19"/>
          <p:cNvSpPr txBox="1"/>
          <p:nvPr/>
        </p:nvSpPr>
        <p:spPr>
          <a:xfrm>
            <a:off x="3497580" y="3657600"/>
            <a:ext cx="2240280" cy="274320"/>
          </a:xfrm>
          <a:prstGeom prst="rect">
            <a:avLst/>
          </a:prstGeom>
          <a:noFill/>
          <a:ln/>
        </p:spPr>
        <p:txBody>
          <a:bodyPr wrap="square" lIns="0" tIns="0" rIns="0" bIns="0" rtlCol="0" anchor="t"/>
          <a:lstStyle/>
          <a:p>
            <a:pPr indent="0" marL="0">
              <a:buNone/>
            </a:pPr>
            <a:r>
              <a:rPr lang="en-US" sz="1600" b="1" dirty="0">
                <a:solidFill>
                  <a:srgbClr val="0B2545"/>
                </a:solidFill>
              </a:rPr>
              <a:t>Reguła 5-4-3</a:t>
            </a:r>
            <a:endParaRPr lang="en-US" sz="1600" dirty="0"/>
          </a:p>
        </p:txBody>
      </p:sp>
      <p:sp>
        <p:nvSpPr>
          <p:cNvPr id="28" name="Text 20"/>
          <p:cNvSpPr txBox="1"/>
          <p:nvPr/>
        </p:nvSpPr>
        <p:spPr>
          <a:xfrm>
            <a:off x="3497580" y="3950208"/>
            <a:ext cx="2240280" cy="457200"/>
          </a:xfrm>
          <a:prstGeom prst="rect">
            <a:avLst/>
          </a:prstGeom>
          <a:noFill/>
          <a:ln/>
        </p:spPr>
        <p:txBody>
          <a:bodyPr wrap="square" lIns="0" tIns="0" rIns="0" bIns="0" rtlCol="0" anchor="t"/>
          <a:lstStyle/>
          <a:p>
            <a:pPr indent="0" marL="0">
              <a:buNone/>
            </a:pPr>
            <a:r>
              <a:rPr lang="en-US" sz="1400" dirty="0">
                <a:solidFill>
                  <a:srgbClr val="1B2A41"/>
                </a:solidFill>
              </a:rPr>
              <a:t>5 segmentów, 4 huby, 3 obsadzone</a:t>
            </a:r>
            <a:endParaRPr lang="en-US" sz="1400" dirty="0"/>
          </a:p>
        </p:txBody>
      </p:sp>
      <p:sp>
        <p:nvSpPr>
          <p:cNvPr id="29" name="hub-card-6"/>
          <p:cNvSpPr/>
          <p:nvPr/>
        </p:nvSpPr>
        <p:spPr>
          <a:xfrm>
            <a:off x="6080760" y="2926080"/>
            <a:ext cx="2606040" cy="1554480"/>
          </a:xfrm>
          <a:prstGeom prst="roundRect">
            <a:avLst>
              <a:gd name="adj" fmla="val 5882"/>
            </a:avLst>
          </a:prstGeom>
          <a:solidFill>
            <a:srgbClr val="FDEBC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30" name="icon-bg-FaHistory"/>
          <p:cNvSpPr/>
          <p:nvPr/>
        </p:nvSpPr>
        <p:spPr>
          <a:xfrm>
            <a:off x="6309360" y="3108960"/>
            <a:ext cx="457200" cy="457200"/>
          </a:xfrm>
          <a:prstGeom prst="ellipse">
            <a:avLst/>
          </a:prstGeom>
          <a:solidFill>
            <a:srgbClr val="F2A541"/>
          </a:solidFill>
          <a:ln w="6350">
            <a:solidFill>
              <a:srgbClr val="F2A541"/>
            </a:solidFill>
            <a:prstDash val="solid"/>
          </a:ln>
        </p:spPr>
      </p:sp>
      <p:pic>
        <p:nvPicPr>
          <p:cNvPr id="31" name="Image 5" descr="FaHistory">    </p:cNvPr>
          <p:cNvPicPr>
            <a:picLocks noChangeAspect="1"/>
          </p:cNvPicPr>
          <p:nvPr/>
        </p:nvPicPr>
        <p:blipFill>
          <a:blip r:embed="rId6"/>
          <a:stretch>
            <a:fillRect/>
          </a:stretch>
        </p:blipFill>
        <p:spPr>
          <a:xfrm>
            <a:off x="6423660" y="3223260"/>
            <a:ext cx="228600" cy="228600"/>
          </a:xfrm>
          <a:prstGeom prst="rect">
            <a:avLst/>
          </a:prstGeom>
        </p:spPr>
      </p:pic>
      <p:sp>
        <p:nvSpPr>
          <p:cNvPr id="32" name="Text 23"/>
          <p:cNvSpPr txBox="1"/>
          <p:nvPr/>
        </p:nvSpPr>
        <p:spPr>
          <a:xfrm>
            <a:off x="6309360" y="3657600"/>
            <a:ext cx="2240280" cy="274320"/>
          </a:xfrm>
          <a:prstGeom prst="rect">
            <a:avLst/>
          </a:prstGeom>
          <a:noFill/>
          <a:ln/>
        </p:spPr>
        <p:txBody>
          <a:bodyPr wrap="square" lIns="0" tIns="0" rIns="0" bIns="0" rtlCol="0" anchor="t"/>
          <a:lstStyle/>
          <a:p>
            <a:pPr indent="0" marL="0">
              <a:buNone/>
            </a:pPr>
            <a:r>
              <a:rPr lang="en-US" sz="1600" b="1" dirty="0">
                <a:solidFill>
                  <a:srgbClr val="0B2545"/>
                </a:solidFill>
              </a:rPr>
              <a:t>Dlaczego zniknęły?</a:t>
            </a:r>
            <a:endParaRPr lang="en-US" sz="1600" dirty="0"/>
          </a:p>
        </p:txBody>
      </p:sp>
      <p:sp>
        <p:nvSpPr>
          <p:cNvPr id="33" name="Text 24"/>
          <p:cNvSpPr txBox="1"/>
          <p:nvPr/>
        </p:nvSpPr>
        <p:spPr>
          <a:xfrm>
            <a:off x="6309360" y="3950208"/>
            <a:ext cx="2240280" cy="457200"/>
          </a:xfrm>
          <a:prstGeom prst="rect">
            <a:avLst/>
          </a:prstGeom>
          <a:noFill/>
          <a:ln/>
        </p:spPr>
        <p:txBody>
          <a:bodyPr wrap="square" lIns="0" tIns="0" rIns="0" bIns="0" rtlCol="0" anchor="t"/>
          <a:lstStyle/>
          <a:p>
            <a:pPr indent="0" marL="0">
              <a:buNone/>
            </a:pPr>
            <a:r>
              <a:rPr lang="en-US" sz="1400" dirty="0">
                <a:solidFill>
                  <a:srgbClr val="1B2A41"/>
                </a:solidFill>
              </a:rPr>
              <a:t>Przełączniki są tańsze i wielokrotnie szybsze</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Domena kolizyjna i CSMA/CD</a:t>
            </a:r>
            <a:endParaRPr lang="en-US" sz="3000" dirty="0"/>
          </a:p>
        </p:txBody>
      </p:sp>
      <p:sp>
        <p:nvSpPr>
          <p:cNvPr id="4" name="def-card"/>
          <p:cNvSpPr/>
          <p:nvPr/>
        </p:nvSpPr>
        <p:spPr>
          <a:xfrm>
            <a:off x="457200" y="1143000"/>
            <a:ext cx="8229600" cy="914400"/>
          </a:xfrm>
          <a:prstGeom prst="roundRect">
            <a:avLst>
              <a:gd name="adj" fmla="val 10000"/>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685800" y="1143000"/>
            <a:ext cx="7772400" cy="914400"/>
          </a:xfrm>
          <a:prstGeom prst="rect">
            <a:avLst/>
          </a:prstGeom>
          <a:noFill/>
          <a:ln/>
        </p:spPr>
        <p:txBody>
          <a:bodyPr wrap="square" lIns="0" tIns="0" rIns="0" bIns="0" rtlCol="0" anchor="ctr"/>
          <a:lstStyle/>
          <a:p>
            <a:pPr indent="0" marL="0">
              <a:buNone/>
            </a:pPr>
            <a:r>
              <a:rPr lang="en-US" sz="1600" b="1" dirty="0">
                <a:solidFill>
                  <a:srgbClr val="0E7C7B"/>
                </a:solidFill>
              </a:rPr>
              <a:t>Domena kolizyjna</a:t>
            </a:r>
            <a:pPr indent="0" marL="0">
              <a:buNone/>
            </a:pPr>
            <a:r>
              <a:rPr lang="en-US" sz="1600" dirty="0">
                <a:solidFill>
                  <a:srgbClr val="1B2A41"/>
                </a:solidFill>
              </a:rPr>
              <a:t> to obszar sieci, w którym jednoczesna transmisja dwóch urządzeń powoduje zakłócenie sygnałów, czyli </a:t>
            </a:r>
            <a:pPr indent="0" marL="0">
              <a:buNone/>
            </a:pPr>
            <a:r>
              <a:rPr lang="en-US" sz="1600" b="1" dirty="0">
                <a:solidFill>
                  <a:srgbClr val="1B2A41"/>
                </a:solidFill>
              </a:rPr>
              <a:t>kolizję</a:t>
            </a:r>
            <a:pPr indent="0" marL="0">
              <a:buNone/>
            </a:pPr>
            <a:r>
              <a:rPr lang="en-US" sz="1600" dirty="0">
                <a:solidFill>
                  <a:srgbClr val="1B2A41"/>
                </a:solidFill>
              </a:rPr>
              <a:t>.</a:t>
            </a:r>
            <a:endParaRPr lang="en-US" sz="1600" dirty="0"/>
          </a:p>
        </p:txBody>
      </p:sp>
      <p:sp>
        <p:nvSpPr>
          <p:cNvPr id="6" name="step-card-1"/>
          <p:cNvSpPr/>
          <p:nvPr/>
        </p:nvSpPr>
        <p:spPr>
          <a:xfrm>
            <a:off x="457200" y="2331720"/>
            <a:ext cx="1536192" cy="2103120"/>
          </a:xfrm>
          <a:prstGeom prst="roundRect">
            <a:avLst>
              <a:gd name="adj" fmla="val 5952"/>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585216" y="2468880"/>
            <a:ext cx="457200" cy="457200"/>
          </a:xfrm>
          <a:prstGeom prst="ellipse">
            <a:avLst/>
          </a:prstGeom>
          <a:solidFill>
            <a:srgbClr val="0E7C7B"/>
          </a:solidFill>
          <a:ln w="6350">
            <a:solidFill>
              <a:srgbClr val="0E7C7B"/>
            </a:solidFill>
            <a:prstDash val="solid"/>
          </a:ln>
        </p:spPr>
      </p:sp>
      <p:sp>
        <p:nvSpPr>
          <p:cNvPr id="8" name="Text 5"/>
          <p:cNvSpPr txBox="1"/>
          <p:nvPr/>
        </p:nvSpPr>
        <p:spPr>
          <a:xfrm>
            <a:off x="585216" y="2468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9" name="Text 6"/>
          <p:cNvSpPr txBox="1"/>
          <p:nvPr/>
        </p:nvSpPr>
        <p:spPr>
          <a:xfrm>
            <a:off x="585216" y="3108960"/>
            <a:ext cx="1298448" cy="274320"/>
          </a:xfrm>
          <a:prstGeom prst="rect">
            <a:avLst/>
          </a:prstGeom>
          <a:noFill/>
          <a:ln/>
        </p:spPr>
        <p:txBody>
          <a:bodyPr wrap="square" lIns="0" tIns="0" rIns="0" bIns="0" rtlCol="0" anchor="t"/>
          <a:lstStyle/>
          <a:p>
            <a:pPr indent="0" marL="0">
              <a:buNone/>
            </a:pPr>
            <a:r>
              <a:rPr lang="en-US" sz="1600" b="1" dirty="0">
                <a:solidFill>
                  <a:srgbClr val="0B2545"/>
                </a:solidFill>
              </a:rPr>
              <a:t>Nasłuch</a:t>
            </a:r>
            <a:endParaRPr lang="en-US" sz="1600" dirty="0"/>
          </a:p>
        </p:txBody>
      </p:sp>
      <p:sp>
        <p:nvSpPr>
          <p:cNvPr id="10" name="Text 7"/>
          <p:cNvSpPr txBox="1"/>
          <p:nvPr/>
        </p:nvSpPr>
        <p:spPr>
          <a:xfrm>
            <a:off x="585216" y="3456432"/>
            <a:ext cx="1298448" cy="914400"/>
          </a:xfrm>
          <a:prstGeom prst="rect">
            <a:avLst/>
          </a:prstGeom>
          <a:noFill/>
          <a:ln/>
        </p:spPr>
        <p:txBody>
          <a:bodyPr wrap="square" lIns="0" tIns="0" rIns="0" bIns="0" rtlCol="0" anchor="t"/>
          <a:lstStyle/>
          <a:p>
            <a:pPr indent="0" marL="0">
              <a:buNone/>
            </a:pPr>
            <a:r>
              <a:rPr lang="en-US" sz="1400" dirty="0">
                <a:solidFill>
                  <a:srgbClr val="1B2A41"/>
                </a:solidFill>
              </a:rPr>
              <a:t>Stacja sprawdza, czy medium jest wolne</a:t>
            </a:r>
            <a:endParaRPr lang="en-US" sz="1400" dirty="0"/>
          </a:p>
        </p:txBody>
      </p:sp>
      <p:sp>
        <p:nvSpPr>
          <p:cNvPr id="11" name="step-card-2"/>
          <p:cNvSpPr/>
          <p:nvPr/>
        </p:nvSpPr>
        <p:spPr>
          <a:xfrm>
            <a:off x="2130552" y="2331720"/>
            <a:ext cx="1536192" cy="2103120"/>
          </a:xfrm>
          <a:prstGeom prst="roundRect">
            <a:avLst>
              <a:gd name="adj" fmla="val 5952"/>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2258568" y="2468880"/>
            <a:ext cx="457200" cy="457200"/>
          </a:xfrm>
          <a:prstGeom prst="ellipse">
            <a:avLst/>
          </a:prstGeom>
          <a:solidFill>
            <a:srgbClr val="0E7C7B"/>
          </a:solidFill>
          <a:ln w="6350">
            <a:solidFill>
              <a:srgbClr val="0E7C7B"/>
            </a:solidFill>
            <a:prstDash val="solid"/>
          </a:ln>
        </p:spPr>
      </p:sp>
      <p:sp>
        <p:nvSpPr>
          <p:cNvPr id="13" name="Text 10"/>
          <p:cNvSpPr txBox="1"/>
          <p:nvPr/>
        </p:nvSpPr>
        <p:spPr>
          <a:xfrm>
            <a:off x="2258568" y="2468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4" name="Text 11"/>
          <p:cNvSpPr txBox="1"/>
          <p:nvPr/>
        </p:nvSpPr>
        <p:spPr>
          <a:xfrm>
            <a:off x="2258568" y="3108960"/>
            <a:ext cx="1298448" cy="274320"/>
          </a:xfrm>
          <a:prstGeom prst="rect">
            <a:avLst/>
          </a:prstGeom>
          <a:noFill/>
          <a:ln/>
        </p:spPr>
        <p:txBody>
          <a:bodyPr wrap="square" lIns="0" tIns="0" rIns="0" bIns="0" rtlCol="0" anchor="t"/>
          <a:lstStyle/>
          <a:p>
            <a:pPr indent="0" marL="0">
              <a:buNone/>
            </a:pPr>
            <a:r>
              <a:rPr lang="en-US" sz="1600" b="1" dirty="0">
                <a:solidFill>
                  <a:srgbClr val="0B2545"/>
                </a:solidFill>
              </a:rPr>
              <a:t>Nadawanie</a:t>
            </a:r>
            <a:endParaRPr lang="en-US" sz="1600" dirty="0"/>
          </a:p>
        </p:txBody>
      </p:sp>
      <p:sp>
        <p:nvSpPr>
          <p:cNvPr id="15" name="Text 12"/>
          <p:cNvSpPr txBox="1"/>
          <p:nvPr/>
        </p:nvSpPr>
        <p:spPr>
          <a:xfrm>
            <a:off x="2258568" y="3456432"/>
            <a:ext cx="1298448" cy="914400"/>
          </a:xfrm>
          <a:prstGeom prst="rect">
            <a:avLst/>
          </a:prstGeom>
          <a:noFill/>
          <a:ln/>
        </p:spPr>
        <p:txBody>
          <a:bodyPr wrap="square" lIns="0" tIns="0" rIns="0" bIns="0" rtlCol="0" anchor="t"/>
          <a:lstStyle/>
          <a:p>
            <a:pPr indent="0" marL="0">
              <a:buNone/>
            </a:pPr>
            <a:r>
              <a:rPr lang="en-US" sz="1400" dirty="0">
                <a:solidFill>
                  <a:srgbClr val="1B2A41"/>
                </a:solidFill>
              </a:rPr>
              <a:t>Medium wolne, więc zaczyna wysyłać</a:t>
            </a:r>
            <a:endParaRPr lang="en-US" sz="1400" dirty="0"/>
          </a:p>
        </p:txBody>
      </p:sp>
      <p:sp>
        <p:nvSpPr>
          <p:cNvPr id="16" name="step-card-3"/>
          <p:cNvSpPr/>
          <p:nvPr/>
        </p:nvSpPr>
        <p:spPr>
          <a:xfrm>
            <a:off x="3803904" y="2331720"/>
            <a:ext cx="1536192" cy="2103120"/>
          </a:xfrm>
          <a:prstGeom prst="roundRect">
            <a:avLst>
              <a:gd name="adj" fmla="val 5952"/>
            </a:avLst>
          </a:prstGeom>
          <a:solidFill>
            <a:srgbClr val="FADBD5"/>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7" name="Shape 14"/>
          <p:cNvSpPr/>
          <p:nvPr/>
        </p:nvSpPr>
        <p:spPr>
          <a:xfrm>
            <a:off x="3931920" y="2468880"/>
            <a:ext cx="457200" cy="457200"/>
          </a:xfrm>
          <a:prstGeom prst="ellipse">
            <a:avLst/>
          </a:prstGeom>
          <a:solidFill>
            <a:srgbClr val="C8442F"/>
          </a:solidFill>
          <a:ln w="6350">
            <a:solidFill>
              <a:srgbClr val="C8442F"/>
            </a:solidFill>
            <a:prstDash val="solid"/>
          </a:ln>
        </p:spPr>
      </p:sp>
      <p:sp>
        <p:nvSpPr>
          <p:cNvPr id="18" name="Text 15"/>
          <p:cNvSpPr txBox="1"/>
          <p:nvPr/>
        </p:nvSpPr>
        <p:spPr>
          <a:xfrm>
            <a:off x="3931920" y="2468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9" name="Text 16"/>
          <p:cNvSpPr txBox="1"/>
          <p:nvPr/>
        </p:nvSpPr>
        <p:spPr>
          <a:xfrm>
            <a:off x="3931920" y="3108960"/>
            <a:ext cx="1298448" cy="274320"/>
          </a:xfrm>
          <a:prstGeom prst="rect">
            <a:avLst/>
          </a:prstGeom>
          <a:noFill/>
          <a:ln/>
        </p:spPr>
        <p:txBody>
          <a:bodyPr wrap="square" lIns="0" tIns="0" rIns="0" bIns="0" rtlCol="0" anchor="t"/>
          <a:lstStyle/>
          <a:p>
            <a:pPr indent="0" marL="0">
              <a:buNone/>
            </a:pPr>
            <a:r>
              <a:rPr lang="en-US" sz="1600" b="1" dirty="0">
                <a:solidFill>
                  <a:srgbClr val="0B2545"/>
                </a:solidFill>
              </a:rPr>
              <a:t>Kolizja</a:t>
            </a:r>
            <a:endParaRPr lang="en-US" sz="1600" dirty="0"/>
          </a:p>
        </p:txBody>
      </p:sp>
      <p:sp>
        <p:nvSpPr>
          <p:cNvPr id="20" name="Text 17"/>
          <p:cNvSpPr txBox="1"/>
          <p:nvPr/>
        </p:nvSpPr>
        <p:spPr>
          <a:xfrm>
            <a:off x="3931920" y="3456432"/>
            <a:ext cx="1298448" cy="914400"/>
          </a:xfrm>
          <a:prstGeom prst="rect">
            <a:avLst/>
          </a:prstGeom>
          <a:noFill/>
          <a:ln/>
        </p:spPr>
        <p:txBody>
          <a:bodyPr wrap="square" lIns="0" tIns="0" rIns="0" bIns="0" rtlCol="0" anchor="t"/>
          <a:lstStyle/>
          <a:p>
            <a:pPr indent="0" marL="0">
              <a:buNone/>
            </a:pPr>
            <a:r>
              <a:rPr lang="en-US" sz="1400" dirty="0">
                <a:solidFill>
                  <a:srgbClr val="1B2A41"/>
                </a:solidFill>
              </a:rPr>
              <a:t>Dwie stacje nadały naraz i obie to wykrywają</a:t>
            </a:r>
            <a:endParaRPr lang="en-US" sz="1400" dirty="0"/>
          </a:p>
        </p:txBody>
      </p:sp>
      <p:sp>
        <p:nvSpPr>
          <p:cNvPr id="21" name="step-card-4"/>
          <p:cNvSpPr/>
          <p:nvPr/>
        </p:nvSpPr>
        <p:spPr>
          <a:xfrm>
            <a:off x="5477256" y="2331720"/>
            <a:ext cx="1536192" cy="2103120"/>
          </a:xfrm>
          <a:prstGeom prst="roundRect">
            <a:avLst>
              <a:gd name="adj" fmla="val 5952"/>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2" name="Shape 19"/>
          <p:cNvSpPr/>
          <p:nvPr/>
        </p:nvSpPr>
        <p:spPr>
          <a:xfrm>
            <a:off x="5605272" y="2468880"/>
            <a:ext cx="457200" cy="457200"/>
          </a:xfrm>
          <a:prstGeom prst="ellipse">
            <a:avLst/>
          </a:prstGeom>
          <a:solidFill>
            <a:srgbClr val="0E7C7B"/>
          </a:solidFill>
          <a:ln w="6350">
            <a:solidFill>
              <a:srgbClr val="0E7C7B"/>
            </a:solidFill>
            <a:prstDash val="solid"/>
          </a:ln>
        </p:spPr>
      </p:sp>
      <p:sp>
        <p:nvSpPr>
          <p:cNvPr id="23" name="Text 20"/>
          <p:cNvSpPr txBox="1"/>
          <p:nvPr/>
        </p:nvSpPr>
        <p:spPr>
          <a:xfrm>
            <a:off x="5605272" y="2468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4" name="Text 21"/>
          <p:cNvSpPr txBox="1"/>
          <p:nvPr/>
        </p:nvSpPr>
        <p:spPr>
          <a:xfrm>
            <a:off x="5605272" y="3108960"/>
            <a:ext cx="1298448" cy="274320"/>
          </a:xfrm>
          <a:prstGeom prst="rect">
            <a:avLst/>
          </a:prstGeom>
          <a:noFill/>
          <a:ln/>
        </p:spPr>
        <p:txBody>
          <a:bodyPr wrap="square" lIns="0" tIns="0" rIns="0" bIns="0" rtlCol="0" anchor="t"/>
          <a:lstStyle/>
          <a:p>
            <a:pPr indent="0" marL="0">
              <a:buNone/>
            </a:pPr>
            <a:r>
              <a:rPr lang="en-US" sz="1600" b="1" dirty="0">
                <a:solidFill>
                  <a:srgbClr val="0B2545"/>
                </a:solidFill>
              </a:rPr>
              <a:t>Sygnał JAM</a:t>
            </a:r>
            <a:endParaRPr lang="en-US" sz="1600" dirty="0"/>
          </a:p>
        </p:txBody>
      </p:sp>
      <p:sp>
        <p:nvSpPr>
          <p:cNvPr id="25" name="Text 22"/>
          <p:cNvSpPr txBox="1"/>
          <p:nvPr/>
        </p:nvSpPr>
        <p:spPr>
          <a:xfrm>
            <a:off x="5605272" y="3456432"/>
            <a:ext cx="1298448" cy="914400"/>
          </a:xfrm>
          <a:prstGeom prst="rect">
            <a:avLst/>
          </a:prstGeom>
          <a:noFill/>
          <a:ln/>
        </p:spPr>
        <p:txBody>
          <a:bodyPr wrap="square" lIns="0" tIns="0" rIns="0" bIns="0" rtlCol="0" anchor="t"/>
          <a:lstStyle/>
          <a:p>
            <a:pPr indent="0" marL="0">
              <a:buNone/>
            </a:pPr>
            <a:r>
              <a:rPr lang="en-US" sz="1400" dirty="0">
                <a:solidFill>
                  <a:srgbClr val="1B2A41"/>
                </a:solidFill>
              </a:rPr>
              <a:t>Krótki sygnał zagłuszający dla całej domeny</a:t>
            </a:r>
            <a:endParaRPr lang="en-US" sz="1400" dirty="0"/>
          </a:p>
        </p:txBody>
      </p:sp>
      <p:sp>
        <p:nvSpPr>
          <p:cNvPr id="26" name="step-card-5"/>
          <p:cNvSpPr/>
          <p:nvPr/>
        </p:nvSpPr>
        <p:spPr>
          <a:xfrm>
            <a:off x="7150608" y="2331720"/>
            <a:ext cx="1536192" cy="2103120"/>
          </a:xfrm>
          <a:prstGeom prst="roundRect">
            <a:avLst>
              <a:gd name="adj" fmla="val 5952"/>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7" name="Shape 24"/>
          <p:cNvSpPr/>
          <p:nvPr/>
        </p:nvSpPr>
        <p:spPr>
          <a:xfrm>
            <a:off x="7278624" y="2468880"/>
            <a:ext cx="457200" cy="457200"/>
          </a:xfrm>
          <a:prstGeom prst="ellipse">
            <a:avLst/>
          </a:prstGeom>
          <a:solidFill>
            <a:srgbClr val="0E7C7B"/>
          </a:solidFill>
          <a:ln w="6350">
            <a:solidFill>
              <a:srgbClr val="0E7C7B"/>
            </a:solidFill>
            <a:prstDash val="solid"/>
          </a:ln>
        </p:spPr>
      </p:sp>
      <p:sp>
        <p:nvSpPr>
          <p:cNvPr id="28" name="Text 25"/>
          <p:cNvSpPr txBox="1"/>
          <p:nvPr/>
        </p:nvSpPr>
        <p:spPr>
          <a:xfrm>
            <a:off x="7278624" y="2468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9" name="Text 26"/>
          <p:cNvSpPr txBox="1"/>
          <p:nvPr/>
        </p:nvSpPr>
        <p:spPr>
          <a:xfrm>
            <a:off x="7278624" y="3108960"/>
            <a:ext cx="1298448" cy="274320"/>
          </a:xfrm>
          <a:prstGeom prst="rect">
            <a:avLst/>
          </a:prstGeom>
          <a:noFill/>
          <a:ln/>
        </p:spPr>
        <p:txBody>
          <a:bodyPr wrap="square" lIns="0" tIns="0" rIns="0" bIns="0" rtlCol="0" anchor="t"/>
          <a:lstStyle/>
          <a:p>
            <a:pPr indent="0" marL="0">
              <a:buNone/>
            </a:pPr>
            <a:r>
              <a:rPr lang="en-US" sz="1600" b="1" dirty="0">
                <a:solidFill>
                  <a:srgbClr val="0B2545"/>
                </a:solidFill>
              </a:rPr>
              <a:t>Backoff</a:t>
            </a:r>
            <a:endParaRPr lang="en-US" sz="1600" dirty="0"/>
          </a:p>
        </p:txBody>
      </p:sp>
      <p:sp>
        <p:nvSpPr>
          <p:cNvPr id="30" name="Text 27"/>
          <p:cNvSpPr txBox="1"/>
          <p:nvPr/>
        </p:nvSpPr>
        <p:spPr>
          <a:xfrm>
            <a:off x="7278624" y="3456432"/>
            <a:ext cx="1298448" cy="914400"/>
          </a:xfrm>
          <a:prstGeom prst="rect">
            <a:avLst/>
          </a:prstGeom>
          <a:noFill/>
          <a:ln/>
        </p:spPr>
        <p:txBody>
          <a:bodyPr wrap="square" lIns="0" tIns="0" rIns="0" bIns="0" rtlCol="0" anchor="t"/>
          <a:lstStyle/>
          <a:p>
            <a:pPr indent="0" marL="0">
              <a:buNone/>
            </a:pPr>
            <a:r>
              <a:rPr lang="en-US" sz="1400" dirty="0">
                <a:solidFill>
                  <a:srgbClr val="1B2A41"/>
                </a:solidFill>
              </a:rPr>
              <a:t>Losowy czas oczekiwania i ponowna próba</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Rozmiar domeny kolizyjnej</a:t>
            </a:r>
            <a:endParaRPr lang="en-US" sz="3000" dirty="0"/>
          </a:p>
        </p:txBody>
      </p:sp>
      <p:sp>
        <p:nvSpPr>
          <p:cNvPr id="4" name="Text 1"/>
          <p:cNvSpPr txBox="1"/>
          <p:nvPr/>
        </p:nvSpPr>
        <p:spPr>
          <a:xfrm>
            <a:off x="457200" y="1005840"/>
            <a:ext cx="8229600" cy="320040"/>
          </a:xfrm>
          <a:prstGeom prst="rect">
            <a:avLst/>
          </a:prstGeom>
          <a:noFill/>
          <a:ln/>
        </p:spPr>
        <p:txBody>
          <a:bodyPr wrap="square" lIns="0" tIns="0" rIns="0" bIns="0" rtlCol="0" anchor="t"/>
          <a:lstStyle/>
          <a:p>
            <a:pPr indent="0" marL="0">
              <a:buNone/>
            </a:pPr>
            <a:r>
              <a:rPr lang="en-US" sz="1400" dirty="0">
                <a:solidFill>
                  <a:srgbClr val="5C6B80"/>
                </a:solidFill>
              </a:rPr>
              <a:t>Im większa domena: więcej kolizji, niższa przepustowość, większe opóźnienie.</a:t>
            </a:r>
            <a:endParaRPr lang="en-US" sz="1400" dirty="0"/>
          </a:p>
        </p:txBody>
      </p:sp>
      <p:sp>
        <p:nvSpPr>
          <p:cNvPr id="5" name="stat-half"/>
          <p:cNvSpPr/>
          <p:nvPr/>
        </p:nvSpPr>
        <p:spPr>
          <a:xfrm>
            <a:off x="457200" y="1463040"/>
            <a:ext cx="4023360" cy="1874520"/>
          </a:xfrm>
          <a:prstGeom prst="roundRect">
            <a:avLst>
              <a:gd name="adj" fmla="val 4878"/>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685800" y="1554480"/>
            <a:ext cx="3566160" cy="868680"/>
          </a:xfrm>
          <a:prstGeom prst="rect">
            <a:avLst/>
          </a:prstGeom>
          <a:noFill/>
          <a:ln/>
        </p:spPr>
        <p:txBody>
          <a:bodyPr wrap="square" lIns="0" tIns="0" rIns="0" bIns="0" rtlCol="0" anchor="ctr"/>
          <a:lstStyle/>
          <a:p>
            <a:pPr indent="0" marL="0">
              <a:buNone/>
            </a:pPr>
            <a:r>
              <a:rPr lang="en-US" sz="5400" b="1" dirty="0">
                <a:solidFill>
                  <a:srgbClr val="C77D0A"/>
                </a:solidFill>
              </a:rPr>
              <a:t>30–40%</a:t>
            </a:r>
            <a:endParaRPr lang="en-US" sz="5400" dirty="0"/>
          </a:p>
        </p:txBody>
      </p:sp>
      <p:sp>
        <p:nvSpPr>
          <p:cNvPr id="7" name="Text 4"/>
          <p:cNvSpPr txBox="1"/>
          <p:nvPr/>
        </p:nvSpPr>
        <p:spPr>
          <a:xfrm>
            <a:off x="685800" y="2468880"/>
            <a:ext cx="3566160" cy="777240"/>
          </a:xfrm>
          <a:prstGeom prst="rect">
            <a:avLst/>
          </a:prstGeom>
          <a:noFill/>
          <a:ln/>
        </p:spPr>
        <p:txBody>
          <a:bodyPr wrap="square" lIns="0" tIns="0" rIns="0" bIns="0" rtlCol="0" anchor="t"/>
          <a:lstStyle/>
          <a:p>
            <a:pPr indent="0" marL="0">
              <a:buNone/>
            </a:pPr>
            <a:r>
              <a:rPr lang="en-US" sz="1400" dirty="0">
                <a:solidFill>
                  <a:srgbClr val="1B2A41"/>
                </a:solidFill>
              </a:rPr>
              <a:t>efektywnego wykorzystania łącza Half-Duplex przy silnym obciążeniu</a:t>
            </a:r>
            <a:endParaRPr lang="en-US" sz="1400" dirty="0"/>
          </a:p>
        </p:txBody>
      </p:sp>
      <p:sp>
        <p:nvSpPr>
          <p:cNvPr id="8" name="stat-full"/>
          <p:cNvSpPr/>
          <p:nvPr/>
        </p:nvSpPr>
        <p:spPr>
          <a:xfrm>
            <a:off x="4663440" y="1463040"/>
            <a:ext cx="4023360" cy="1874520"/>
          </a:xfrm>
          <a:prstGeom prst="roundRect">
            <a:avLst>
              <a:gd name="adj" fmla="val 4878"/>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892040" y="1554480"/>
            <a:ext cx="3566160" cy="868680"/>
          </a:xfrm>
          <a:prstGeom prst="rect">
            <a:avLst/>
          </a:prstGeom>
          <a:noFill/>
          <a:ln/>
        </p:spPr>
        <p:txBody>
          <a:bodyPr wrap="square" lIns="0" tIns="0" rIns="0" bIns="0" rtlCol="0" anchor="ctr">
            <a:normAutofit/>
          </a:bodyPr>
          <a:lstStyle/>
          <a:p>
            <a:pPr indent="0" marL="0">
              <a:buNone/>
            </a:pPr>
            <a:r>
              <a:rPr lang="en-US" sz="5400" b="1" dirty="0">
                <a:solidFill>
                  <a:srgbClr val="0E7C7B"/>
                </a:solidFill>
              </a:rPr>
              <a:t>0 kolizji</a:t>
            </a:r>
            <a:endParaRPr lang="en-US" sz="5400" dirty="0"/>
          </a:p>
        </p:txBody>
      </p:sp>
      <p:sp>
        <p:nvSpPr>
          <p:cNvPr id="10" name="Text 7"/>
          <p:cNvSpPr txBox="1"/>
          <p:nvPr/>
        </p:nvSpPr>
        <p:spPr>
          <a:xfrm>
            <a:off x="4892040" y="2468880"/>
            <a:ext cx="3566160" cy="777240"/>
          </a:xfrm>
          <a:prstGeom prst="rect">
            <a:avLst/>
          </a:prstGeom>
          <a:noFill/>
          <a:ln/>
        </p:spPr>
        <p:txBody>
          <a:bodyPr wrap="square" lIns="0" tIns="0" rIns="0" bIns="0" rtlCol="0" anchor="t"/>
          <a:lstStyle/>
          <a:p>
            <a:pPr indent="0" marL="0">
              <a:buNone/>
            </a:pPr>
            <a:r>
              <a:rPr lang="en-US" sz="1400" dirty="0">
                <a:solidFill>
                  <a:srgbClr val="1B2A41"/>
                </a:solidFill>
              </a:rPr>
              <a:t>w trybie Full-Duplex: brak wspólnego medium, CSMA/CD wyłączone</a:t>
            </a:r>
            <a:endParaRPr lang="en-US" sz="1400" dirty="0"/>
          </a:p>
        </p:txBody>
      </p:sp>
      <p:sp>
        <p:nvSpPr>
          <p:cNvPr id="11" name="Text 8"/>
          <p:cNvSpPr txBox="1"/>
          <p:nvPr/>
        </p:nvSpPr>
        <p:spPr>
          <a:xfrm>
            <a:off x="457200" y="3474720"/>
            <a:ext cx="5486400" cy="274320"/>
          </a:xfrm>
          <a:prstGeom prst="rect">
            <a:avLst/>
          </a:prstGeom>
          <a:noFill/>
          <a:ln/>
        </p:spPr>
        <p:txBody>
          <a:bodyPr wrap="square" lIns="0" tIns="0" rIns="0" bIns="0" rtlCol="0" anchor="t"/>
          <a:lstStyle/>
          <a:p>
            <a:pPr indent="0" marL="0">
              <a:buNone/>
            </a:pPr>
            <a:r>
              <a:rPr lang="en-US" sz="1600" b="1" dirty="0">
                <a:solidFill>
                  <a:srgbClr val="0B2545"/>
                </a:solidFill>
              </a:rPr>
              <a:t>Kto dzieli domenę kolizyjną?</a:t>
            </a:r>
            <a:endParaRPr lang="en-US" sz="1600" dirty="0"/>
          </a:p>
        </p:txBody>
      </p:sp>
      <p:sp>
        <p:nvSpPr>
          <p:cNvPr id="12" name="chip-Hub: nie"/>
          <p:cNvSpPr/>
          <p:nvPr/>
        </p:nvSpPr>
        <p:spPr>
          <a:xfrm>
            <a:off x="457200" y="3886200"/>
            <a:ext cx="1920240" cy="502920"/>
          </a:xfrm>
          <a:prstGeom prst="roundRect">
            <a:avLst>
              <a:gd name="adj" fmla="val 14545"/>
            </a:avLst>
          </a:prstGeom>
          <a:solidFill>
            <a:srgbClr val="FADBD5"/>
          </a:solidFill>
          <a:ln w="9525">
            <a:solidFill>
              <a:srgbClr val="C8442F"/>
            </a:solidFill>
            <a:prstDash val="solid"/>
          </a:ln>
        </p:spPr>
      </p:sp>
      <p:sp>
        <p:nvSpPr>
          <p:cNvPr id="13" name="Text 10"/>
          <p:cNvSpPr txBox="1"/>
          <p:nvPr/>
        </p:nvSpPr>
        <p:spPr>
          <a:xfrm>
            <a:off x="457200" y="3886200"/>
            <a:ext cx="1920240" cy="502920"/>
          </a:xfrm>
          <a:prstGeom prst="rect">
            <a:avLst/>
          </a:prstGeom>
          <a:noFill/>
          <a:ln/>
        </p:spPr>
        <p:txBody>
          <a:bodyPr wrap="square" lIns="0" tIns="0" rIns="0" bIns="0" rtlCol="0" anchor="ctr"/>
          <a:lstStyle/>
          <a:p>
            <a:pPr algn="ctr" indent="0" marL="0">
              <a:buNone/>
            </a:pPr>
            <a:r>
              <a:rPr lang="en-US" sz="1400" b="1" dirty="0">
                <a:solidFill>
                  <a:srgbClr val="C8442F"/>
                </a:solidFill>
              </a:rPr>
              <a:t>Hub: nie</a:t>
            </a:r>
            <a:endParaRPr lang="en-US" sz="1400" dirty="0"/>
          </a:p>
        </p:txBody>
      </p:sp>
      <p:sp>
        <p:nvSpPr>
          <p:cNvPr id="14" name="chip-Most: tak"/>
          <p:cNvSpPr/>
          <p:nvPr/>
        </p:nvSpPr>
        <p:spPr>
          <a:xfrm>
            <a:off x="2560320" y="3886200"/>
            <a:ext cx="1920240" cy="502920"/>
          </a:xfrm>
          <a:prstGeom prst="roundRect">
            <a:avLst>
              <a:gd name="adj" fmla="val 14545"/>
            </a:avLst>
          </a:prstGeom>
          <a:solidFill>
            <a:srgbClr val="D5EFEE"/>
          </a:solidFill>
          <a:ln w="9525">
            <a:solidFill>
              <a:srgbClr val="0E7C7B"/>
            </a:solidFill>
            <a:prstDash val="solid"/>
          </a:ln>
        </p:spPr>
      </p:sp>
      <p:sp>
        <p:nvSpPr>
          <p:cNvPr id="15" name="Text 12"/>
          <p:cNvSpPr txBox="1"/>
          <p:nvPr/>
        </p:nvSpPr>
        <p:spPr>
          <a:xfrm>
            <a:off x="2560320" y="3886200"/>
            <a:ext cx="1920240" cy="502920"/>
          </a:xfrm>
          <a:prstGeom prst="rect">
            <a:avLst/>
          </a:prstGeom>
          <a:noFill/>
          <a:ln/>
        </p:spPr>
        <p:txBody>
          <a:bodyPr wrap="square" lIns="0" tIns="0" rIns="0" bIns="0" rtlCol="0" anchor="ctr"/>
          <a:lstStyle/>
          <a:p>
            <a:pPr algn="ctr" indent="0" marL="0">
              <a:buNone/>
            </a:pPr>
            <a:r>
              <a:rPr lang="en-US" sz="1400" b="1" dirty="0">
                <a:solidFill>
                  <a:srgbClr val="0E7C7B"/>
                </a:solidFill>
              </a:rPr>
              <a:t>Most: tak</a:t>
            </a:r>
            <a:endParaRPr lang="en-US" sz="1400" dirty="0"/>
          </a:p>
        </p:txBody>
      </p:sp>
      <p:sp>
        <p:nvSpPr>
          <p:cNvPr id="16" name="chip-Przełącznik: tak"/>
          <p:cNvSpPr/>
          <p:nvPr/>
        </p:nvSpPr>
        <p:spPr>
          <a:xfrm>
            <a:off x="4663440" y="3886200"/>
            <a:ext cx="1920240" cy="502920"/>
          </a:xfrm>
          <a:prstGeom prst="roundRect">
            <a:avLst>
              <a:gd name="adj" fmla="val 14545"/>
            </a:avLst>
          </a:prstGeom>
          <a:solidFill>
            <a:srgbClr val="D5EFEE"/>
          </a:solidFill>
          <a:ln w="9525">
            <a:solidFill>
              <a:srgbClr val="0E7C7B"/>
            </a:solidFill>
            <a:prstDash val="solid"/>
          </a:ln>
        </p:spPr>
      </p:sp>
      <p:sp>
        <p:nvSpPr>
          <p:cNvPr id="17" name="Text 14"/>
          <p:cNvSpPr txBox="1"/>
          <p:nvPr/>
        </p:nvSpPr>
        <p:spPr>
          <a:xfrm>
            <a:off x="4663440" y="3886200"/>
            <a:ext cx="1920240" cy="502920"/>
          </a:xfrm>
          <a:prstGeom prst="rect">
            <a:avLst/>
          </a:prstGeom>
          <a:noFill/>
          <a:ln/>
        </p:spPr>
        <p:txBody>
          <a:bodyPr wrap="square" lIns="0" tIns="0" rIns="0" bIns="0" rtlCol="0" anchor="ctr"/>
          <a:lstStyle/>
          <a:p>
            <a:pPr algn="ctr" indent="0" marL="0">
              <a:buNone/>
            </a:pPr>
            <a:r>
              <a:rPr lang="en-US" sz="1400" b="1" dirty="0">
                <a:solidFill>
                  <a:srgbClr val="0E7C7B"/>
                </a:solidFill>
              </a:rPr>
              <a:t>Przełącznik: tak</a:t>
            </a:r>
            <a:endParaRPr lang="en-US" sz="1400" dirty="0"/>
          </a:p>
        </p:txBody>
      </p:sp>
      <p:sp>
        <p:nvSpPr>
          <p:cNvPr id="18" name="chip-Router: tak"/>
          <p:cNvSpPr/>
          <p:nvPr/>
        </p:nvSpPr>
        <p:spPr>
          <a:xfrm>
            <a:off x="6766560" y="3886200"/>
            <a:ext cx="1920240" cy="502920"/>
          </a:xfrm>
          <a:prstGeom prst="roundRect">
            <a:avLst>
              <a:gd name="adj" fmla="val 14545"/>
            </a:avLst>
          </a:prstGeom>
          <a:solidFill>
            <a:srgbClr val="D5EFEE"/>
          </a:solidFill>
          <a:ln w="9525">
            <a:solidFill>
              <a:srgbClr val="0E7C7B"/>
            </a:solidFill>
            <a:prstDash val="solid"/>
          </a:ln>
        </p:spPr>
      </p:sp>
      <p:sp>
        <p:nvSpPr>
          <p:cNvPr id="19" name="Text 16"/>
          <p:cNvSpPr txBox="1"/>
          <p:nvPr/>
        </p:nvSpPr>
        <p:spPr>
          <a:xfrm>
            <a:off x="6766560" y="3886200"/>
            <a:ext cx="1920240" cy="502920"/>
          </a:xfrm>
          <a:prstGeom prst="rect">
            <a:avLst/>
          </a:prstGeom>
          <a:noFill/>
          <a:ln/>
        </p:spPr>
        <p:txBody>
          <a:bodyPr wrap="square" lIns="0" tIns="0" rIns="0" bIns="0" rtlCol="0" anchor="ctr"/>
          <a:lstStyle/>
          <a:p>
            <a:pPr algn="ctr" indent="0" marL="0">
              <a:buNone/>
            </a:pPr>
            <a:r>
              <a:rPr lang="en-US" sz="1400" b="1" dirty="0">
                <a:solidFill>
                  <a:srgbClr val="0E7C7B"/>
                </a:solidFill>
              </a:rPr>
              <a:t>Router: tak</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Most — pierwszy mądry pośrednik</a:t>
            </a:r>
            <a:endParaRPr lang="en-US" sz="3000" dirty="0"/>
          </a:p>
        </p:txBody>
      </p:sp>
      <p:sp>
        <p:nvSpPr>
          <p:cNvPr id="4" name="Text 1"/>
          <p:cNvSpPr txBox="1"/>
          <p:nvPr/>
        </p:nvSpPr>
        <p:spPr>
          <a:xfrm>
            <a:off x="457200" y="1280160"/>
            <a:ext cx="3749040" cy="18288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2A41"/>
                </a:solidFill>
              </a:rPr>
              <a:t>Warstwa 2: czyta adres MAC źródłowy i docelowy</a:t>
            </a:r>
            <a:endParaRPr lang="en-US" sz="1600" dirty="0"/>
          </a:p>
          <a:p>
            <a:pPr marL="342900" indent="-342900">
              <a:spcAft>
                <a:spcPts val="1000"/>
              </a:spcAft>
              <a:buSzPct val="100000"/>
              <a:buChar char="•"/>
            </a:pPr>
            <a:r>
              <a:rPr lang="en-US" sz="1600" dirty="0">
                <a:solidFill>
                  <a:srgbClr val="1B2A41"/>
                </a:solidFill>
              </a:rPr>
              <a:t>Buduje tablicę adresów dla swoich portów</a:t>
            </a:r>
            <a:endParaRPr lang="en-US" sz="1600" dirty="0"/>
          </a:p>
          <a:p>
            <a:pPr marL="342900" indent="-342900">
              <a:buSzPct val="100000"/>
              <a:buChar char="•"/>
            </a:pPr>
            <a:r>
              <a:rPr lang="en-US" sz="1600" dirty="0">
                <a:solidFill>
                  <a:srgbClr val="1B2A41"/>
                </a:solidFill>
              </a:rPr>
              <a:t>Przekazuje ramkę albo ją odrzuca</a:t>
            </a:r>
            <a:endParaRPr lang="en-US" sz="1600" dirty="0"/>
          </a:p>
        </p:txBody>
      </p:sp>
      <p:sp>
        <p:nvSpPr>
          <p:cNvPr id="5" name="bridge-yes"/>
          <p:cNvSpPr/>
          <p:nvPr/>
        </p:nvSpPr>
        <p:spPr>
          <a:xfrm>
            <a:off x="457200" y="3246120"/>
            <a:ext cx="3749040" cy="502920"/>
          </a:xfrm>
          <a:prstGeom prst="roundRect">
            <a:avLst>
              <a:gd name="adj" fmla="val 14545"/>
            </a:avLst>
          </a:prstGeom>
          <a:solidFill>
            <a:srgbClr val="D5EFEE"/>
          </a:solidFill>
          <a:ln w="9525">
            <a:solidFill>
              <a:srgbClr val="0E7C7B"/>
            </a:solidFill>
            <a:prstDash val="solid"/>
          </a:ln>
        </p:spPr>
      </p:sp>
      <p:sp>
        <p:nvSpPr>
          <p:cNvPr id="6" name="Text 3"/>
          <p:cNvSpPr txBox="1"/>
          <p:nvPr/>
        </p:nvSpPr>
        <p:spPr>
          <a:xfrm>
            <a:off x="457200" y="3246120"/>
            <a:ext cx="3749040" cy="502920"/>
          </a:xfrm>
          <a:prstGeom prst="rect">
            <a:avLst/>
          </a:prstGeom>
          <a:noFill/>
          <a:ln/>
        </p:spPr>
        <p:txBody>
          <a:bodyPr wrap="square" lIns="0" tIns="0" rIns="0" bIns="0" rtlCol="0" anchor="ctr"/>
          <a:lstStyle/>
          <a:p>
            <a:pPr algn="ctr" indent="0" marL="0">
              <a:buNone/>
            </a:pPr>
            <a:r>
              <a:rPr lang="en-US" sz="1400" b="1" dirty="0">
                <a:solidFill>
                  <a:srgbClr val="0E7C7B"/>
                </a:solidFill>
              </a:rPr>
              <a:t>Dzieli domenę kolizyjną</a:t>
            </a:r>
            <a:endParaRPr lang="en-US" sz="1400" dirty="0"/>
          </a:p>
        </p:txBody>
      </p:sp>
      <p:sp>
        <p:nvSpPr>
          <p:cNvPr id="7" name="bridge-no"/>
          <p:cNvSpPr/>
          <p:nvPr/>
        </p:nvSpPr>
        <p:spPr>
          <a:xfrm>
            <a:off x="457200" y="3886200"/>
            <a:ext cx="3749040" cy="502920"/>
          </a:xfrm>
          <a:prstGeom prst="roundRect">
            <a:avLst>
              <a:gd name="adj" fmla="val 14545"/>
            </a:avLst>
          </a:prstGeom>
          <a:solidFill>
            <a:srgbClr val="FADBD5"/>
          </a:solidFill>
          <a:ln w="9525">
            <a:solidFill>
              <a:srgbClr val="C8442F"/>
            </a:solidFill>
            <a:prstDash val="solid"/>
          </a:ln>
        </p:spPr>
      </p:sp>
      <p:sp>
        <p:nvSpPr>
          <p:cNvPr id="8" name="Text 5"/>
          <p:cNvSpPr txBox="1"/>
          <p:nvPr/>
        </p:nvSpPr>
        <p:spPr>
          <a:xfrm>
            <a:off x="457200" y="3886200"/>
            <a:ext cx="3749040" cy="502920"/>
          </a:xfrm>
          <a:prstGeom prst="rect">
            <a:avLst/>
          </a:prstGeom>
          <a:noFill/>
          <a:ln/>
        </p:spPr>
        <p:txBody>
          <a:bodyPr wrap="square" lIns="0" tIns="0" rIns="0" bIns="0" rtlCol="0" anchor="ctr"/>
          <a:lstStyle/>
          <a:p>
            <a:pPr algn="ctr" indent="0" marL="0">
              <a:buNone/>
            </a:pPr>
            <a:r>
              <a:rPr lang="en-US" sz="1400" b="1" dirty="0">
                <a:solidFill>
                  <a:srgbClr val="C8442F"/>
                </a:solidFill>
              </a:rPr>
              <a:t>Nie dzieli domeny rozgłoszeniowej</a:t>
            </a:r>
            <a:endParaRPr lang="en-US" sz="1400" dirty="0"/>
          </a:p>
        </p:txBody>
      </p:sp>
      <p:sp>
        <p:nvSpPr>
          <p:cNvPr id="9" name="Shape 6"/>
          <p:cNvSpPr/>
          <p:nvPr/>
        </p:nvSpPr>
        <p:spPr>
          <a:xfrm>
            <a:off x="5852160" y="2651760"/>
            <a:ext cx="320040" cy="0"/>
          </a:xfrm>
          <a:prstGeom prst="line">
            <a:avLst/>
          </a:prstGeom>
          <a:noFill/>
          <a:ln w="31750">
            <a:solidFill>
              <a:srgbClr val="0E7C7B"/>
            </a:solidFill>
            <a:prstDash val="solid"/>
          </a:ln>
        </p:spPr>
      </p:sp>
      <p:sp>
        <p:nvSpPr>
          <p:cNvPr id="10" name="Shape 7"/>
          <p:cNvSpPr/>
          <p:nvPr/>
        </p:nvSpPr>
        <p:spPr>
          <a:xfrm>
            <a:off x="7040880" y="2651760"/>
            <a:ext cx="320040" cy="0"/>
          </a:xfrm>
          <a:prstGeom prst="line">
            <a:avLst/>
          </a:prstGeom>
          <a:noFill/>
          <a:ln w="31750">
            <a:solidFill>
              <a:srgbClr val="0E7C7B"/>
            </a:solidFill>
            <a:prstDash val="solid"/>
          </a:ln>
        </p:spPr>
      </p:sp>
      <p:sp>
        <p:nvSpPr>
          <p:cNvPr id="11" name="segment-Segment A"/>
          <p:cNvSpPr/>
          <p:nvPr/>
        </p:nvSpPr>
        <p:spPr>
          <a:xfrm>
            <a:off x="4480560" y="1371600"/>
            <a:ext cx="1371600" cy="2377440"/>
          </a:xfrm>
          <a:prstGeom prst="roundRect">
            <a:avLst>
              <a:gd name="adj" fmla="val 6667"/>
            </a:avLst>
          </a:prstGeom>
          <a:solidFill>
            <a:srgbClr val="DCE8F5"/>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4480560" y="1463040"/>
            <a:ext cx="1371600" cy="274320"/>
          </a:xfrm>
          <a:prstGeom prst="rect">
            <a:avLst/>
          </a:prstGeom>
          <a:noFill/>
          <a:ln/>
        </p:spPr>
        <p:txBody>
          <a:bodyPr wrap="square" lIns="0" tIns="0" rIns="0" bIns="0" rtlCol="0" anchor="t"/>
          <a:lstStyle/>
          <a:p>
            <a:pPr algn="ctr" indent="0" marL="0">
              <a:buNone/>
            </a:pPr>
            <a:r>
              <a:rPr lang="en-US" sz="1400" b="1" dirty="0">
                <a:solidFill>
                  <a:srgbClr val="0B2545"/>
                </a:solidFill>
              </a:rPr>
              <a:t>Segment A</a:t>
            </a:r>
            <a:endParaRPr lang="en-US" sz="1400" dirty="0"/>
          </a:p>
        </p:txBody>
      </p:sp>
      <p:sp>
        <p:nvSpPr>
          <p:cNvPr id="13" name="node-PC1"/>
          <p:cNvSpPr/>
          <p:nvPr/>
        </p:nvSpPr>
        <p:spPr>
          <a:xfrm>
            <a:off x="4617720" y="2011680"/>
            <a:ext cx="1097280" cy="457200"/>
          </a:xfrm>
          <a:prstGeom prst="roundRect">
            <a:avLst>
              <a:gd name="adj" fmla="val 16000"/>
            </a:avLst>
          </a:prstGeom>
          <a:solidFill>
            <a:srgbClr val="FFFFFF"/>
          </a:solidFill>
          <a:ln w="12700">
            <a:solidFill>
              <a:srgbClr val="B9C5D3"/>
            </a:solidFill>
            <a:prstDash val="solid"/>
          </a:ln>
        </p:spPr>
      </p:sp>
      <p:sp>
        <p:nvSpPr>
          <p:cNvPr id="14" name="Text 11"/>
          <p:cNvSpPr txBox="1"/>
          <p:nvPr/>
        </p:nvSpPr>
        <p:spPr>
          <a:xfrm>
            <a:off x="4617720" y="2011680"/>
            <a:ext cx="1097280" cy="457200"/>
          </a:xfrm>
          <a:prstGeom prst="rect">
            <a:avLst/>
          </a:prstGeom>
          <a:noFill/>
          <a:ln/>
        </p:spPr>
        <p:txBody>
          <a:bodyPr wrap="square" lIns="0" tIns="0" rIns="0" bIns="0" rtlCol="0" anchor="ctr"/>
          <a:lstStyle/>
          <a:p>
            <a:pPr algn="ctr" indent="0" marL="0">
              <a:buNone/>
            </a:pPr>
            <a:r>
              <a:rPr lang="en-US" sz="1400" b="1" dirty="0">
                <a:solidFill>
                  <a:srgbClr val="1B2A41"/>
                </a:solidFill>
              </a:rPr>
              <a:t>PC1</a:t>
            </a:r>
            <a:endParaRPr lang="en-US" sz="1400" dirty="0"/>
          </a:p>
        </p:txBody>
      </p:sp>
      <p:sp>
        <p:nvSpPr>
          <p:cNvPr id="15" name="node-PC2"/>
          <p:cNvSpPr/>
          <p:nvPr/>
        </p:nvSpPr>
        <p:spPr>
          <a:xfrm>
            <a:off x="4617720" y="2834640"/>
            <a:ext cx="1097280" cy="457200"/>
          </a:xfrm>
          <a:prstGeom prst="roundRect">
            <a:avLst>
              <a:gd name="adj" fmla="val 16000"/>
            </a:avLst>
          </a:prstGeom>
          <a:solidFill>
            <a:srgbClr val="FFFFFF"/>
          </a:solidFill>
          <a:ln w="12700">
            <a:solidFill>
              <a:srgbClr val="B9C5D3"/>
            </a:solidFill>
            <a:prstDash val="solid"/>
          </a:ln>
        </p:spPr>
      </p:sp>
      <p:sp>
        <p:nvSpPr>
          <p:cNvPr id="16" name="Text 13"/>
          <p:cNvSpPr txBox="1"/>
          <p:nvPr/>
        </p:nvSpPr>
        <p:spPr>
          <a:xfrm>
            <a:off x="4617720" y="2834640"/>
            <a:ext cx="1097280" cy="457200"/>
          </a:xfrm>
          <a:prstGeom prst="rect">
            <a:avLst/>
          </a:prstGeom>
          <a:noFill/>
          <a:ln/>
        </p:spPr>
        <p:txBody>
          <a:bodyPr wrap="square" lIns="0" tIns="0" rIns="0" bIns="0" rtlCol="0" anchor="ctr"/>
          <a:lstStyle/>
          <a:p>
            <a:pPr algn="ctr" indent="0" marL="0">
              <a:buNone/>
            </a:pPr>
            <a:r>
              <a:rPr lang="en-US" sz="1400" b="1" dirty="0">
                <a:solidFill>
                  <a:srgbClr val="1B2A41"/>
                </a:solidFill>
              </a:rPr>
              <a:t>PC2</a:t>
            </a:r>
            <a:endParaRPr lang="en-US" sz="1400" dirty="0"/>
          </a:p>
        </p:txBody>
      </p:sp>
      <p:sp>
        <p:nvSpPr>
          <p:cNvPr id="17" name="Text 14"/>
          <p:cNvSpPr txBox="1"/>
          <p:nvPr/>
        </p:nvSpPr>
        <p:spPr>
          <a:xfrm>
            <a:off x="4480560" y="3794760"/>
            <a:ext cx="1371600" cy="274320"/>
          </a:xfrm>
          <a:prstGeom prst="rect">
            <a:avLst/>
          </a:prstGeom>
          <a:noFill/>
          <a:ln/>
        </p:spPr>
        <p:txBody>
          <a:bodyPr wrap="square" lIns="0" tIns="0" rIns="0" bIns="0" rtlCol="0" anchor="t"/>
          <a:lstStyle/>
          <a:p>
            <a:pPr algn="ctr" indent="0" marL="0">
              <a:buNone/>
            </a:pPr>
            <a:r>
              <a:rPr lang="en-US" sz="1200" dirty="0">
                <a:solidFill>
                  <a:srgbClr val="5C6B80"/>
                </a:solidFill>
              </a:rPr>
              <a:t>domena kolizyjna 1</a:t>
            </a:r>
            <a:endParaRPr lang="en-US" sz="1200" dirty="0"/>
          </a:p>
        </p:txBody>
      </p:sp>
      <p:sp>
        <p:nvSpPr>
          <p:cNvPr id="18" name="segment-Segment B"/>
          <p:cNvSpPr/>
          <p:nvPr/>
        </p:nvSpPr>
        <p:spPr>
          <a:xfrm>
            <a:off x="7360920" y="1371600"/>
            <a:ext cx="1371600" cy="2377440"/>
          </a:xfrm>
          <a:prstGeom prst="roundRect">
            <a:avLst>
              <a:gd name="adj" fmla="val 6667"/>
            </a:avLst>
          </a:prstGeom>
          <a:solidFill>
            <a:srgbClr val="DCE8F5"/>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9" name="Text 16"/>
          <p:cNvSpPr txBox="1"/>
          <p:nvPr/>
        </p:nvSpPr>
        <p:spPr>
          <a:xfrm>
            <a:off x="7360920" y="1463040"/>
            <a:ext cx="1371600" cy="274320"/>
          </a:xfrm>
          <a:prstGeom prst="rect">
            <a:avLst/>
          </a:prstGeom>
          <a:noFill/>
          <a:ln/>
        </p:spPr>
        <p:txBody>
          <a:bodyPr wrap="square" lIns="0" tIns="0" rIns="0" bIns="0" rtlCol="0" anchor="t"/>
          <a:lstStyle/>
          <a:p>
            <a:pPr algn="ctr" indent="0" marL="0">
              <a:buNone/>
            </a:pPr>
            <a:r>
              <a:rPr lang="en-US" sz="1400" b="1" dirty="0">
                <a:solidFill>
                  <a:srgbClr val="0B2545"/>
                </a:solidFill>
              </a:rPr>
              <a:t>Segment B</a:t>
            </a:r>
            <a:endParaRPr lang="en-US" sz="1400" dirty="0"/>
          </a:p>
        </p:txBody>
      </p:sp>
      <p:sp>
        <p:nvSpPr>
          <p:cNvPr id="20" name="node-PC3"/>
          <p:cNvSpPr/>
          <p:nvPr/>
        </p:nvSpPr>
        <p:spPr>
          <a:xfrm>
            <a:off x="7498080" y="2011680"/>
            <a:ext cx="1097280" cy="457200"/>
          </a:xfrm>
          <a:prstGeom prst="roundRect">
            <a:avLst>
              <a:gd name="adj" fmla="val 16000"/>
            </a:avLst>
          </a:prstGeom>
          <a:solidFill>
            <a:srgbClr val="FFFFFF"/>
          </a:solidFill>
          <a:ln w="12700">
            <a:solidFill>
              <a:srgbClr val="B9C5D3"/>
            </a:solidFill>
            <a:prstDash val="solid"/>
          </a:ln>
        </p:spPr>
      </p:sp>
      <p:sp>
        <p:nvSpPr>
          <p:cNvPr id="21" name="Text 18"/>
          <p:cNvSpPr txBox="1"/>
          <p:nvPr/>
        </p:nvSpPr>
        <p:spPr>
          <a:xfrm>
            <a:off x="7498080" y="2011680"/>
            <a:ext cx="1097280" cy="457200"/>
          </a:xfrm>
          <a:prstGeom prst="rect">
            <a:avLst/>
          </a:prstGeom>
          <a:noFill/>
          <a:ln/>
        </p:spPr>
        <p:txBody>
          <a:bodyPr wrap="square" lIns="0" tIns="0" rIns="0" bIns="0" rtlCol="0" anchor="ctr"/>
          <a:lstStyle/>
          <a:p>
            <a:pPr algn="ctr" indent="0" marL="0">
              <a:buNone/>
            </a:pPr>
            <a:r>
              <a:rPr lang="en-US" sz="1400" b="1" dirty="0">
                <a:solidFill>
                  <a:srgbClr val="1B2A41"/>
                </a:solidFill>
              </a:rPr>
              <a:t>PC3</a:t>
            </a:r>
            <a:endParaRPr lang="en-US" sz="1400" dirty="0"/>
          </a:p>
        </p:txBody>
      </p:sp>
      <p:sp>
        <p:nvSpPr>
          <p:cNvPr id="22" name="node-PC4"/>
          <p:cNvSpPr/>
          <p:nvPr/>
        </p:nvSpPr>
        <p:spPr>
          <a:xfrm>
            <a:off x="7498080" y="2834640"/>
            <a:ext cx="1097280" cy="457200"/>
          </a:xfrm>
          <a:prstGeom prst="roundRect">
            <a:avLst>
              <a:gd name="adj" fmla="val 16000"/>
            </a:avLst>
          </a:prstGeom>
          <a:solidFill>
            <a:srgbClr val="FFFFFF"/>
          </a:solidFill>
          <a:ln w="12700">
            <a:solidFill>
              <a:srgbClr val="B9C5D3"/>
            </a:solidFill>
            <a:prstDash val="solid"/>
          </a:ln>
        </p:spPr>
      </p:sp>
      <p:sp>
        <p:nvSpPr>
          <p:cNvPr id="23" name="Text 20"/>
          <p:cNvSpPr txBox="1"/>
          <p:nvPr/>
        </p:nvSpPr>
        <p:spPr>
          <a:xfrm>
            <a:off x="7498080" y="2834640"/>
            <a:ext cx="1097280" cy="457200"/>
          </a:xfrm>
          <a:prstGeom prst="rect">
            <a:avLst/>
          </a:prstGeom>
          <a:noFill/>
          <a:ln/>
        </p:spPr>
        <p:txBody>
          <a:bodyPr wrap="square" lIns="0" tIns="0" rIns="0" bIns="0" rtlCol="0" anchor="ctr"/>
          <a:lstStyle/>
          <a:p>
            <a:pPr algn="ctr" indent="0" marL="0">
              <a:buNone/>
            </a:pPr>
            <a:r>
              <a:rPr lang="en-US" sz="1400" b="1" dirty="0">
                <a:solidFill>
                  <a:srgbClr val="1B2A41"/>
                </a:solidFill>
              </a:rPr>
              <a:t>PC4</a:t>
            </a:r>
            <a:endParaRPr lang="en-US" sz="1400" dirty="0"/>
          </a:p>
        </p:txBody>
      </p:sp>
      <p:sp>
        <p:nvSpPr>
          <p:cNvPr id="24" name="Text 21"/>
          <p:cNvSpPr txBox="1"/>
          <p:nvPr/>
        </p:nvSpPr>
        <p:spPr>
          <a:xfrm>
            <a:off x="7360920" y="3794760"/>
            <a:ext cx="1371600" cy="274320"/>
          </a:xfrm>
          <a:prstGeom prst="rect">
            <a:avLst/>
          </a:prstGeom>
          <a:noFill/>
          <a:ln/>
        </p:spPr>
        <p:txBody>
          <a:bodyPr wrap="square" lIns="0" tIns="0" rIns="0" bIns="0" rtlCol="0" anchor="t"/>
          <a:lstStyle/>
          <a:p>
            <a:pPr algn="ctr" indent="0" marL="0">
              <a:buNone/>
            </a:pPr>
            <a:r>
              <a:rPr lang="en-US" sz="1200" dirty="0">
                <a:solidFill>
                  <a:srgbClr val="5C6B80"/>
                </a:solidFill>
              </a:rPr>
              <a:t>domena kolizyjna 2</a:t>
            </a:r>
            <a:endParaRPr lang="en-US" sz="1200" dirty="0"/>
          </a:p>
        </p:txBody>
      </p:sp>
      <p:sp>
        <p:nvSpPr>
          <p:cNvPr id="25" name="node-MOST"/>
          <p:cNvSpPr/>
          <p:nvPr/>
        </p:nvSpPr>
        <p:spPr>
          <a:xfrm>
            <a:off x="6172200" y="2331720"/>
            <a:ext cx="868680" cy="640080"/>
          </a:xfrm>
          <a:prstGeom prst="roundRect">
            <a:avLst>
              <a:gd name="adj" fmla="val 11429"/>
            </a:avLst>
          </a:prstGeom>
          <a:solidFill>
            <a:srgbClr val="0E7C7B"/>
          </a:solidFill>
          <a:ln w="12700">
            <a:solidFill>
              <a:srgbClr val="0E7C7B"/>
            </a:solidFill>
            <a:prstDash val="solid"/>
          </a:ln>
        </p:spPr>
      </p:sp>
      <p:sp>
        <p:nvSpPr>
          <p:cNvPr id="26" name="Text 23"/>
          <p:cNvSpPr txBox="1"/>
          <p:nvPr/>
        </p:nvSpPr>
        <p:spPr>
          <a:xfrm>
            <a:off x="6172200" y="2331720"/>
            <a:ext cx="868680" cy="640080"/>
          </a:xfrm>
          <a:prstGeom prst="rect">
            <a:avLst/>
          </a:prstGeom>
          <a:noFill/>
          <a:ln/>
        </p:spPr>
        <p:txBody>
          <a:bodyPr wrap="square" lIns="0" tIns="0" rIns="0" bIns="0" rtlCol="0" anchor="ctr"/>
          <a:lstStyle/>
          <a:p>
            <a:pPr algn="ctr" indent="0" marL="0">
              <a:buNone/>
            </a:pPr>
            <a:r>
              <a:rPr lang="en-US" sz="1400" b="1" dirty="0">
                <a:solidFill>
                  <a:srgbClr val="FFFFFF"/>
                </a:solidFill>
              </a:rPr>
              <a:t>MOST</a:t>
            </a:r>
            <a:endParaRPr lang="en-US" sz="1400" dirty="0"/>
          </a:p>
        </p:txBody>
      </p:sp>
      <p:sp>
        <p:nvSpPr>
          <p:cNvPr id="27" name="bcast-bar"/>
          <p:cNvSpPr/>
          <p:nvPr/>
        </p:nvSpPr>
        <p:spPr>
          <a:xfrm>
            <a:off x="4480560" y="4160520"/>
            <a:ext cx="4251960" cy="365760"/>
          </a:xfrm>
          <a:prstGeom prst="roundRect">
            <a:avLst>
              <a:gd name="adj" fmla="val 20000"/>
            </a:avLst>
          </a:prstGeom>
          <a:solidFill>
            <a:srgbClr val="FDEBCF"/>
          </a:solidFill>
          <a:ln w="9525">
            <a:solidFill>
              <a:srgbClr val="F2A541"/>
            </a:solidFill>
            <a:prstDash val="solid"/>
          </a:ln>
        </p:spPr>
      </p:sp>
      <p:sp>
        <p:nvSpPr>
          <p:cNvPr id="28" name="Text 25"/>
          <p:cNvSpPr txBox="1"/>
          <p:nvPr/>
        </p:nvSpPr>
        <p:spPr>
          <a:xfrm>
            <a:off x="4480560" y="4160520"/>
            <a:ext cx="4251960" cy="365760"/>
          </a:xfrm>
          <a:prstGeom prst="rect">
            <a:avLst/>
          </a:prstGeom>
          <a:noFill/>
          <a:ln/>
        </p:spPr>
        <p:txBody>
          <a:bodyPr wrap="square" lIns="0" tIns="0" rIns="0" bIns="0" rtlCol="0" anchor="ctr"/>
          <a:lstStyle/>
          <a:p>
            <a:pPr algn="ctr" indent="0" marL="0">
              <a:buNone/>
            </a:pPr>
            <a:r>
              <a:rPr lang="en-US" sz="1400" b="1" dirty="0">
                <a:solidFill>
                  <a:srgbClr val="0B2545"/>
                </a:solidFill>
              </a:rPr>
              <a:t>jedna domena rozgłoszeniowa</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Mostkowanie przezroczyste</a:t>
            </a:r>
            <a:endParaRPr lang="en-US" sz="3000" dirty="0"/>
          </a:p>
        </p:txBody>
      </p:sp>
      <p:sp>
        <p:nvSpPr>
          <p:cNvPr id="4" name="Text 1"/>
          <p:cNvSpPr txBox="1"/>
          <p:nvPr/>
        </p:nvSpPr>
        <p:spPr>
          <a:xfrm>
            <a:off x="457200" y="1005840"/>
            <a:ext cx="8229600" cy="320040"/>
          </a:xfrm>
          <a:prstGeom prst="rect">
            <a:avLst/>
          </a:prstGeom>
          <a:noFill/>
          <a:ln/>
        </p:spPr>
        <p:txBody>
          <a:bodyPr wrap="square" lIns="0" tIns="0" rIns="0" bIns="0" rtlCol="0" anchor="t"/>
          <a:lstStyle/>
          <a:p>
            <a:pPr indent="0" marL="0">
              <a:buNone/>
            </a:pPr>
            <a:r>
              <a:rPr lang="en-US" sz="1400" dirty="0">
                <a:solidFill>
                  <a:srgbClr val="5C6B80"/>
                </a:solidFill>
              </a:rPr>
              <a:t>IEEE 802.1D: urządzenia końcowe nie muszą wiedzieć, że most istnieje.</a:t>
            </a:r>
            <a:endParaRPr lang="en-US" sz="1400" dirty="0"/>
          </a:p>
        </p:txBody>
      </p:sp>
      <p:sp>
        <p:nvSpPr>
          <p:cNvPr id="5" name="tb-card-1"/>
          <p:cNvSpPr/>
          <p:nvPr/>
        </p:nvSpPr>
        <p:spPr>
          <a:xfrm>
            <a:off x="457200" y="1463040"/>
            <a:ext cx="4023360" cy="1463040"/>
          </a:xfrm>
          <a:prstGeom prst="roundRect">
            <a:avLst>
              <a:gd name="adj" fmla="val 6250"/>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6" name="icon-bg-FaGraduationCap"/>
          <p:cNvSpPr/>
          <p:nvPr/>
        </p:nvSpPr>
        <p:spPr>
          <a:xfrm>
            <a:off x="685800" y="1691640"/>
            <a:ext cx="594360" cy="594360"/>
          </a:xfrm>
          <a:prstGeom prst="ellipse">
            <a:avLst/>
          </a:prstGeom>
          <a:solidFill>
            <a:srgbClr val="0E7C7B"/>
          </a:solidFill>
          <a:ln w="6350">
            <a:solidFill>
              <a:srgbClr val="0E7C7B"/>
            </a:solidFill>
            <a:prstDash val="solid"/>
          </a:ln>
        </p:spPr>
      </p:sp>
      <p:pic>
        <p:nvPicPr>
          <p:cNvPr id="7" name="Image 0" descr="FaGraduationCap">    </p:cNvPr>
          <p:cNvPicPr>
            <a:picLocks noChangeAspect="1"/>
          </p:cNvPicPr>
          <p:nvPr/>
        </p:nvPicPr>
        <p:blipFill>
          <a:blip r:embed="rId1"/>
          <a:stretch>
            <a:fillRect/>
          </a:stretch>
        </p:blipFill>
        <p:spPr>
          <a:xfrm>
            <a:off x="834390" y="1840230"/>
            <a:ext cx="297180" cy="297180"/>
          </a:xfrm>
          <a:prstGeom prst="rect">
            <a:avLst/>
          </a:prstGeom>
        </p:spPr>
      </p:pic>
      <p:sp>
        <p:nvSpPr>
          <p:cNvPr id="8" name="Text 4"/>
          <p:cNvSpPr txBox="1"/>
          <p:nvPr/>
        </p:nvSpPr>
        <p:spPr>
          <a:xfrm>
            <a:off x="1508760" y="1645920"/>
            <a:ext cx="2834640" cy="320040"/>
          </a:xfrm>
          <a:prstGeom prst="rect">
            <a:avLst/>
          </a:prstGeom>
          <a:noFill/>
          <a:ln/>
        </p:spPr>
        <p:txBody>
          <a:bodyPr wrap="square" lIns="0" tIns="0" rIns="0" bIns="0" rtlCol="0" anchor="t"/>
          <a:lstStyle/>
          <a:p>
            <a:pPr indent="0" marL="0">
              <a:buNone/>
            </a:pPr>
            <a:r>
              <a:rPr lang="en-US" sz="1800" b="1" dirty="0">
                <a:solidFill>
                  <a:srgbClr val="0B2545"/>
                </a:solidFill>
              </a:rPr>
              <a:t>Uczenie się</a:t>
            </a:r>
            <a:endParaRPr lang="en-US" sz="1800" dirty="0"/>
          </a:p>
        </p:txBody>
      </p:sp>
      <p:sp>
        <p:nvSpPr>
          <p:cNvPr id="9" name="Text 5"/>
          <p:cNvSpPr txBox="1"/>
          <p:nvPr/>
        </p:nvSpPr>
        <p:spPr>
          <a:xfrm>
            <a:off x="1508760" y="2029968"/>
            <a:ext cx="2834640" cy="822960"/>
          </a:xfrm>
          <a:prstGeom prst="rect">
            <a:avLst/>
          </a:prstGeom>
          <a:noFill/>
          <a:ln/>
        </p:spPr>
        <p:txBody>
          <a:bodyPr wrap="square" lIns="0" tIns="0" rIns="0" bIns="0" rtlCol="0" anchor="t"/>
          <a:lstStyle/>
          <a:p>
            <a:pPr indent="0" marL="0">
              <a:buNone/>
            </a:pPr>
            <a:r>
              <a:rPr lang="en-US" sz="1400" dirty="0">
                <a:solidFill>
                  <a:srgbClr val="1B2A41"/>
                </a:solidFill>
              </a:rPr>
              <a:t>Zapisuje parę: adres MAC źródłowy i port, na którym ramka dotarła</a:t>
            </a:r>
            <a:endParaRPr lang="en-US" sz="1400" dirty="0"/>
          </a:p>
        </p:txBody>
      </p:sp>
      <p:sp>
        <p:nvSpPr>
          <p:cNvPr id="10" name="tb-card-2"/>
          <p:cNvSpPr/>
          <p:nvPr/>
        </p:nvSpPr>
        <p:spPr>
          <a:xfrm>
            <a:off x="4663440" y="1463040"/>
            <a:ext cx="4023360" cy="1463040"/>
          </a:xfrm>
          <a:prstGeom prst="roundRect">
            <a:avLst>
              <a:gd name="adj" fmla="val 6250"/>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1" name="icon-bg-FaRandom"/>
          <p:cNvSpPr/>
          <p:nvPr/>
        </p:nvSpPr>
        <p:spPr>
          <a:xfrm>
            <a:off x="4892040" y="1691640"/>
            <a:ext cx="594360" cy="594360"/>
          </a:xfrm>
          <a:prstGeom prst="ellipse">
            <a:avLst/>
          </a:prstGeom>
          <a:solidFill>
            <a:srgbClr val="3A6EA5"/>
          </a:solidFill>
          <a:ln w="6350">
            <a:solidFill>
              <a:srgbClr val="3A6EA5"/>
            </a:solidFill>
            <a:prstDash val="solid"/>
          </a:ln>
        </p:spPr>
      </p:sp>
      <p:pic>
        <p:nvPicPr>
          <p:cNvPr id="12" name="Image 1" descr="FaRandom">    </p:cNvPr>
          <p:cNvPicPr>
            <a:picLocks noChangeAspect="1"/>
          </p:cNvPicPr>
          <p:nvPr/>
        </p:nvPicPr>
        <p:blipFill>
          <a:blip r:embed="rId2"/>
          <a:stretch>
            <a:fillRect/>
          </a:stretch>
        </p:blipFill>
        <p:spPr>
          <a:xfrm>
            <a:off x="5040630" y="1840230"/>
            <a:ext cx="297180" cy="297180"/>
          </a:xfrm>
          <a:prstGeom prst="rect">
            <a:avLst/>
          </a:prstGeom>
        </p:spPr>
      </p:pic>
      <p:sp>
        <p:nvSpPr>
          <p:cNvPr id="13" name="Text 8"/>
          <p:cNvSpPr txBox="1"/>
          <p:nvPr/>
        </p:nvSpPr>
        <p:spPr>
          <a:xfrm>
            <a:off x="5715000" y="1645920"/>
            <a:ext cx="2834640" cy="320040"/>
          </a:xfrm>
          <a:prstGeom prst="rect">
            <a:avLst/>
          </a:prstGeom>
          <a:noFill/>
          <a:ln/>
        </p:spPr>
        <p:txBody>
          <a:bodyPr wrap="square" lIns="0" tIns="0" rIns="0" bIns="0" rtlCol="0" anchor="t"/>
          <a:lstStyle/>
          <a:p>
            <a:pPr indent="0" marL="0">
              <a:buNone/>
            </a:pPr>
            <a:r>
              <a:rPr lang="en-US" sz="1800" b="1" dirty="0">
                <a:solidFill>
                  <a:srgbClr val="0B2545"/>
                </a:solidFill>
              </a:rPr>
              <a:t>Przekazywanie i filtrowanie</a:t>
            </a:r>
            <a:endParaRPr lang="en-US" sz="1800" dirty="0"/>
          </a:p>
        </p:txBody>
      </p:sp>
      <p:sp>
        <p:nvSpPr>
          <p:cNvPr id="14" name="Text 9"/>
          <p:cNvSpPr txBox="1"/>
          <p:nvPr/>
        </p:nvSpPr>
        <p:spPr>
          <a:xfrm>
            <a:off x="5715000" y="2029968"/>
            <a:ext cx="2834640" cy="822960"/>
          </a:xfrm>
          <a:prstGeom prst="rect">
            <a:avLst/>
          </a:prstGeom>
          <a:noFill/>
          <a:ln/>
        </p:spPr>
        <p:txBody>
          <a:bodyPr wrap="square" lIns="0" tIns="0" rIns="0" bIns="0" rtlCol="0" anchor="t"/>
          <a:lstStyle/>
          <a:p>
            <a:pPr indent="0" marL="0">
              <a:buNone/>
            </a:pPr>
            <a:r>
              <a:rPr lang="en-US" sz="1400" dirty="0">
                <a:solidFill>
                  <a:srgbClr val="1B2A41"/>
                </a:solidFill>
              </a:rPr>
              <a:t>Znany adres, inny port: przekaż. Ten sam port: odrzuć</a:t>
            </a:r>
            <a:endParaRPr lang="en-US" sz="1400" dirty="0"/>
          </a:p>
        </p:txBody>
      </p:sp>
      <p:sp>
        <p:nvSpPr>
          <p:cNvPr id="15" name="tb-card-3"/>
          <p:cNvSpPr/>
          <p:nvPr/>
        </p:nvSpPr>
        <p:spPr>
          <a:xfrm>
            <a:off x="457200" y="3108960"/>
            <a:ext cx="4023360" cy="1463040"/>
          </a:xfrm>
          <a:prstGeom prst="roundRect">
            <a:avLst>
              <a:gd name="adj" fmla="val 6250"/>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6" name="icon-bg-FaClock"/>
          <p:cNvSpPr/>
          <p:nvPr/>
        </p:nvSpPr>
        <p:spPr>
          <a:xfrm>
            <a:off x="685800" y="3337560"/>
            <a:ext cx="594360" cy="594360"/>
          </a:xfrm>
          <a:prstGeom prst="ellipse">
            <a:avLst/>
          </a:prstGeom>
          <a:solidFill>
            <a:srgbClr val="6C7A89"/>
          </a:solidFill>
          <a:ln w="6350">
            <a:solidFill>
              <a:srgbClr val="6C7A89"/>
            </a:solidFill>
            <a:prstDash val="solid"/>
          </a:ln>
        </p:spPr>
      </p:sp>
      <p:pic>
        <p:nvPicPr>
          <p:cNvPr id="17" name="Image 2" descr="FaClock">    </p:cNvPr>
          <p:cNvPicPr>
            <a:picLocks noChangeAspect="1"/>
          </p:cNvPicPr>
          <p:nvPr/>
        </p:nvPicPr>
        <p:blipFill>
          <a:blip r:embed="rId3"/>
          <a:stretch>
            <a:fillRect/>
          </a:stretch>
        </p:blipFill>
        <p:spPr>
          <a:xfrm>
            <a:off x="834390" y="3486150"/>
            <a:ext cx="297180" cy="297180"/>
          </a:xfrm>
          <a:prstGeom prst="rect">
            <a:avLst/>
          </a:prstGeom>
        </p:spPr>
      </p:pic>
      <p:sp>
        <p:nvSpPr>
          <p:cNvPr id="18" name="Text 12"/>
          <p:cNvSpPr txBox="1"/>
          <p:nvPr/>
        </p:nvSpPr>
        <p:spPr>
          <a:xfrm>
            <a:off x="1508760" y="3291840"/>
            <a:ext cx="2834640" cy="320040"/>
          </a:xfrm>
          <a:prstGeom prst="rect">
            <a:avLst/>
          </a:prstGeom>
          <a:noFill/>
          <a:ln/>
        </p:spPr>
        <p:txBody>
          <a:bodyPr wrap="square" lIns="0" tIns="0" rIns="0" bIns="0" rtlCol="0" anchor="t"/>
          <a:lstStyle/>
          <a:p>
            <a:pPr indent="0" marL="0">
              <a:buNone/>
            </a:pPr>
            <a:r>
              <a:rPr lang="en-US" sz="1800" b="1" dirty="0">
                <a:solidFill>
                  <a:srgbClr val="0B2545"/>
                </a:solidFill>
              </a:rPr>
              <a:t>Starzenie</a:t>
            </a:r>
            <a:endParaRPr lang="en-US" sz="1800" dirty="0"/>
          </a:p>
        </p:txBody>
      </p:sp>
      <p:sp>
        <p:nvSpPr>
          <p:cNvPr id="19" name="Text 13"/>
          <p:cNvSpPr txBox="1"/>
          <p:nvPr/>
        </p:nvSpPr>
        <p:spPr>
          <a:xfrm>
            <a:off x="1508760" y="3675888"/>
            <a:ext cx="2834640" cy="822960"/>
          </a:xfrm>
          <a:prstGeom prst="rect">
            <a:avLst/>
          </a:prstGeom>
          <a:noFill/>
          <a:ln/>
        </p:spPr>
        <p:txBody>
          <a:bodyPr wrap="square" lIns="0" tIns="0" rIns="0" bIns="0" rtlCol="0" anchor="t"/>
          <a:lstStyle/>
          <a:p>
            <a:pPr indent="0" marL="0">
              <a:buNone/>
            </a:pPr>
            <a:r>
              <a:rPr lang="en-US" sz="1400" dirty="0">
                <a:solidFill>
                  <a:srgbClr val="1B2A41"/>
                </a:solidFill>
              </a:rPr>
              <a:t>Wpis bez ruchu przez 300 s zostaje usunięty z tablicy</a:t>
            </a:r>
            <a:endParaRPr lang="en-US" sz="1400" dirty="0"/>
          </a:p>
        </p:txBody>
      </p:sp>
      <p:sp>
        <p:nvSpPr>
          <p:cNvPr id="20" name="tb-card-4"/>
          <p:cNvSpPr/>
          <p:nvPr/>
        </p:nvSpPr>
        <p:spPr>
          <a:xfrm>
            <a:off x="4663440" y="3108960"/>
            <a:ext cx="4023360" cy="1463040"/>
          </a:xfrm>
          <a:prstGeom prst="roundRect">
            <a:avLst>
              <a:gd name="adj" fmla="val 6250"/>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1" name="icon-bg-FaBroadcastTower"/>
          <p:cNvSpPr/>
          <p:nvPr/>
        </p:nvSpPr>
        <p:spPr>
          <a:xfrm>
            <a:off x="4892040" y="3337560"/>
            <a:ext cx="594360" cy="594360"/>
          </a:xfrm>
          <a:prstGeom prst="ellipse">
            <a:avLst/>
          </a:prstGeom>
          <a:solidFill>
            <a:srgbClr val="F2A541"/>
          </a:solidFill>
          <a:ln w="6350">
            <a:solidFill>
              <a:srgbClr val="F2A541"/>
            </a:solidFill>
            <a:prstDash val="solid"/>
          </a:ln>
        </p:spPr>
      </p:sp>
      <p:pic>
        <p:nvPicPr>
          <p:cNvPr id="22" name="Image 3" descr="FaBroadcastTower">    </p:cNvPr>
          <p:cNvPicPr>
            <a:picLocks noChangeAspect="1"/>
          </p:cNvPicPr>
          <p:nvPr/>
        </p:nvPicPr>
        <p:blipFill>
          <a:blip r:embed="rId4"/>
          <a:stretch>
            <a:fillRect/>
          </a:stretch>
        </p:blipFill>
        <p:spPr>
          <a:xfrm>
            <a:off x="5040630" y="3486150"/>
            <a:ext cx="297180" cy="297180"/>
          </a:xfrm>
          <a:prstGeom prst="rect">
            <a:avLst/>
          </a:prstGeom>
        </p:spPr>
      </p:pic>
      <p:sp>
        <p:nvSpPr>
          <p:cNvPr id="23" name="Text 16"/>
          <p:cNvSpPr txBox="1"/>
          <p:nvPr/>
        </p:nvSpPr>
        <p:spPr>
          <a:xfrm>
            <a:off x="5715000" y="3291840"/>
            <a:ext cx="2834640" cy="320040"/>
          </a:xfrm>
          <a:prstGeom prst="rect">
            <a:avLst/>
          </a:prstGeom>
          <a:noFill/>
          <a:ln/>
        </p:spPr>
        <p:txBody>
          <a:bodyPr wrap="square" lIns="0" tIns="0" rIns="0" bIns="0" rtlCol="0" anchor="t"/>
          <a:lstStyle/>
          <a:p>
            <a:pPr indent="0" marL="0">
              <a:buNone/>
            </a:pPr>
            <a:r>
              <a:rPr lang="en-US" sz="1800" b="1" dirty="0">
                <a:solidFill>
                  <a:srgbClr val="0B2545"/>
                </a:solidFill>
              </a:rPr>
              <a:t>Zalewanie</a:t>
            </a:r>
            <a:endParaRPr lang="en-US" sz="1800" dirty="0"/>
          </a:p>
        </p:txBody>
      </p:sp>
      <p:sp>
        <p:nvSpPr>
          <p:cNvPr id="24" name="Text 17"/>
          <p:cNvSpPr txBox="1"/>
          <p:nvPr/>
        </p:nvSpPr>
        <p:spPr>
          <a:xfrm>
            <a:off x="5715000" y="3675888"/>
            <a:ext cx="2834640" cy="822960"/>
          </a:xfrm>
          <a:prstGeom prst="rect">
            <a:avLst/>
          </a:prstGeom>
          <a:noFill/>
          <a:ln/>
        </p:spPr>
        <p:txBody>
          <a:bodyPr wrap="square" lIns="0" tIns="0" rIns="0" bIns="0" rtlCol="0" anchor="t"/>
          <a:lstStyle/>
          <a:p>
            <a:pPr indent="0" marL="0">
              <a:buNone/>
            </a:pPr>
            <a:r>
              <a:rPr lang="en-US" sz="1400" dirty="0">
                <a:solidFill>
                  <a:srgbClr val="1B2A41"/>
                </a:solidFill>
              </a:rPr>
              <a:t>Nieznany adres, broadcast lub multicast: wszędzie poza źródłowym</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Pętle i burza rozgłoszeniowa</a:t>
            </a:r>
            <a:endParaRPr lang="en-US" sz="3000" dirty="0"/>
          </a:p>
        </p:txBody>
      </p:sp>
      <p:sp>
        <p:nvSpPr>
          <p:cNvPr id="4" name="Shape 1"/>
          <p:cNvSpPr/>
          <p:nvPr/>
        </p:nvSpPr>
        <p:spPr>
          <a:xfrm flipH="1">
            <a:off x="1097280" y="1485900"/>
            <a:ext cx="1325880" cy="2331720"/>
          </a:xfrm>
          <a:prstGeom prst="line">
            <a:avLst/>
          </a:prstGeom>
          <a:noFill/>
          <a:ln w="38100">
            <a:solidFill>
              <a:srgbClr val="0E7C7B"/>
            </a:solidFill>
            <a:prstDash val="solid"/>
          </a:ln>
        </p:spPr>
      </p:sp>
      <p:sp>
        <p:nvSpPr>
          <p:cNvPr id="5" name="Shape 2"/>
          <p:cNvSpPr/>
          <p:nvPr/>
        </p:nvSpPr>
        <p:spPr>
          <a:xfrm>
            <a:off x="2423160" y="1485900"/>
            <a:ext cx="1325880" cy="2331720"/>
          </a:xfrm>
          <a:prstGeom prst="line">
            <a:avLst/>
          </a:prstGeom>
          <a:noFill/>
          <a:ln w="38100">
            <a:solidFill>
              <a:srgbClr val="0E7C7B"/>
            </a:solidFill>
            <a:prstDash val="solid"/>
          </a:ln>
        </p:spPr>
      </p:sp>
      <p:sp>
        <p:nvSpPr>
          <p:cNvPr id="6" name="Shape 3"/>
          <p:cNvSpPr/>
          <p:nvPr/>
        </p:nvSpPr>
        <p:spPr>
          <a:xfrm>
            <a:off x="1097280" y="3817620"/>
            <a:ext cx="2651760" cy="0"/>
          </a:xfrm>
          <a:prstGeom prst="line">
            <a:avLst/>
          </a:prstGeom>
          <a:noFill/>
          <a:ln w="38100">
            <a:solidFill>
              <a:srgbClr val="0E7C7B"/>
            </a:solidFill>
            <a:prstDash val="solid"/>
          </a:ln>
        </p:spPr>
      </p:sp>
      <p:sp>
        <p:nvSpPr>
          <p:cNvPr id="7" name="node-SW1"/>
          <p:cNvSpPr/>
          <p:nvPr/>
        </p:nvSpPr>
        <p:spPr>
          <a:xfrm>
            <a:off x="1920240" y="1234440"/>
            <a:ext cx="1005840" cy="502920"/>
          </a:xfrm>
          <a:prstGeom prst="roundRect">
            <a:avLst>
              <a:gd name="adj" fmla="val 14545"/>
            </a:avLst>
          </a:prstGeom>
          <a:solidFill>
            <a:srgbClr val="0B2545"/>
          </a:solidFill>
          <a:ln w="12700">
            <a:solidFill>
              <a:srgbClr val="0B2545"/>
            </a:solidFill>
            <a:prstDash val="solid"/>
          </a:ln>
        </p:spPr>
      </p:sp>
      <p:sp>
        <p:nvSpPr>
          <p:cNvPr id="8" name="Text 5"/>
          <p:cNvSpPr txBox="1"/>
          <p:nvPr/>
        </p:nvSpPr>
        <p:spPr>
          <a:xfrm>
            <a:off x="1920240" y="1234440"/>
            <a:ext cx="1005840" cy="502920"/>
          </a:xfrm>
          <a:prstGeom prst="rect">
            <a:avLst/>
          </a:prstGeom>
          <a:noFill/>
          <a:ln/>
        </p:spPr>
        <p:txBody>
          <a:bodyPr wrap="square" lIns="0" tIns="0" rIns="0" bIns="0" rtlCol="0" anchor="ctr"/>
          <a:lstStyle/>
          <a:p>
            <a:pPr algn="ctr" indent="0" marL="0">
              <a:buNone/>
            </a:pPr>
            <a:r>
              <a:rPr lang="en-US" sz="1400" b="1" dirty="0">
                <a:solidFill>
                  <a:srgbClr val="FFFFFF"/>
                </a:solidFill>
              </a:rPr>
              <a:t>SW1</a:t>
            </a:r>
            <a:endParaRPr lang="en-US" sz="1400" dirty="0"/>
          </a:p>
        </p:txBody>
      </p:sp>
      <p:sp>
        <p:nvSpPr>
          <p:cNvPr id="9" name="node-SW2"/>
          <p:cNvSpPr/>
          <p:nvPr/>
        </p:nvSpPr>
        <p:spPr>
          <a:xfrm>
            <a:off x="594360" y="3566160"/>
            <a:ext cx="1005840" cy="502920"/>
          </a:xfrm>
          <a:prstGeom prst="roundRect">
            <a:avLst>
              <a:gd name="adj" fmla="val 14545"/>
            </a:avLst>
          </a:prstGeom>
          <a:solidFill>
            <a:srgbClr val="0B2545"/>
          </a:solidFill>
          <a:ln w="12700">
            <a:solidFill>
              <a:srgbClr val="0B2545"/>
            </a:solidFill>
            <a:prstDash val="solid"/>
          </a:ln>
        </p:spPr>
      </p:sp>
      <p:sp>
        <p:nvSpPr>
          <p:cNvPr id="10" name="Text 7"/>
          <p:cNvSpPr txBox="1"/>
          <p:nvPr/>
        </p:nvSpPr>
        <p:spPr>
          <a:xfrm>
            <a:off x="594360" y="3566160"/>
            <a:ext cx="1005840" cy="502920"/>
          </a:xfrm>
          <a:prstGeom prst="rect">
            <a:avLst/>
          </a:prstGeom>
          <a:noFill/>
          <a:ln/>
        </p:spPr>
        <p:txBody>
          <a:bodyPr wrap="square" lIns="0" tIns="0" rIns="0" bIns="0" rtlCol="0" anchor="ctr"/>
          <a:lstStyle/>
          <a:p>
            <a:pPr algn="ctr" indent="0" marL="0">
              <a:buNone/>
            </a:pPr>
            <a:r>
              <a:rPr lang="en-US" sz="1400" b="1" dirty="0">
                <a:solidFill>
                  <a:srgbClr val="FFFFFF"/>
                </a:solidFill>
              </a:rPr>
              <a:t>SW2</a:t>
            </a:r>
            <a:endParaRPr lang="en-US" sz="1400" dirty="0"/>
          </a:p>
        </p:txBody>
      </p:sp>
      <p:sp>
        <p:nvSpPr>
          <p:cNvPr id="11" name="node-SW3"/>
          <p:cNvSpPr/>
          <p:nvPr/>
        </p:nvSpPr>
        <p:spPr>
          <a:xfrm>
            <a:off x="3246120" y="3566160"/>
            <a:ext cx="1005840" cy="502920"/>
          </a:xfrm>
          <a:prstGeom prst="roundRect">
            <a:avLst>
              <a:gd name="adj" fmla="val 14545"/>
            </a:avLst>
          </a:prstGeom>
          <a:solidFill>
            <a:srgbClr val="0B2545"/>
          </a:solidFill>
          <a:ln w="12700">
            <a:solidFill>
              <a:srgbClr val="0B2545"/>
            </a:solidFill>
            <a:prstDash val="solid"/>
          </a:ln>
        </p:spPr>
      </p:sp>
      <p:sp>
        <p:nvSpPr>
          <p:cNvPr id="12" name="Text 9"/>
          <p:cNvSpPr txBox="1"/>
          <p:nvPr/>
        </p:nvSpPr>
        <p:spPr>
          <a:xfrm>
            <a:off x="3246120" y="3566160"/>
            <a:ext cx="1005840" cy="502920"/>
          </a:xfrm>
          <a:prstGeom prst="rect">
            <a:avLst/>
          </a:prstGeom>
          <a:noFill/>
          <a:ln/>
        </p:spPr>
        <p:txBody>
          <a:bodyPr wrap="square" lIns="0" tIns="0" rIns="0" bIns="0" rtlCol="0" anchor="ctr"/>
          <a:lstStyle/>
          <a:p>
            <a:pPr algn="ctr" indent="0" marL="0">
              <a:buNone/>
            </a:pPr>
            <a:r>
              <a:rPr lang="en-US" sz="1400" b="1" dirty="0">
                <a:solidFill>
                  <a:srgbClr val="FFFFFF"/>
                </a:solidFill>
              </a:rPr>
              <a:t>SW3</a:t>
            </a:r>
            <a:endParaRPr lang="en-US" sz="1400" dirty="0"/>
          </a:p>
        </p:txBody>
      </p:sp>
      <p:sp>
        <p:nvSpPr>
          <p:cNvPr id="13" name="icon-bg-FaSyncAlt"/>
          <p:cNvSpPr/>
          <p:nvPr/>
        </p:nvSpPr>
        <p:spPr>
          <a:xfrm>
            <a:off x="2103120" y="2423160"/>
            <a:ext cx="640080" cy="640080"/>
          </a:xfrm>
          <a:prstGeom prst="ellipse">
            <a:avLst/>
          </a:prstGeom>
          <a:solidFill>
            <a:srgbClr val="C8442F"/>
          </a:solidFill>
          <a:ln w="6350">
            <a:solidFill>
              <a:srgbClr val="C8442F"/>
            </a:solidFill>
            <a:prstDash val="solid"/>
          </a:ln>
        </p:spPr>
      </p:sp>
      <p:pic>
        <p:nvPicPr>
          <p:cNvPr id="14" name="Image 0" descr="FaSyncAlt">    </p:cNvPr>
          <p:cNvPicPr>
            <a:picLocks noChangeAspect="1"/>
          </p:cNvPicPr>
          <p:nvPr/>
        </p:nvPicPr>
        <p:blipFill>
          <a:blip r:embed="rId1"/>
          <a:stretch>
            <a:fillRect/>
          </a:stretch>
        </p:blipFill>
        <p:spPr>
          <a:xfrm>
            <a:off x="2263140" y="2583180"/>
            <a:ext cx="320040" cy="320040"/>
          </a:xfrm>
          <a:prstGeom prst="rect">
            <a:avLst/>
          </a:prstGeom>
        </p:spPr>
      </p:pic>
      <p:sp>
        <p:nvSpPr>
          <p:cNvPr id="15" name="Text 11"/>
          <p:cNvSpPr txBox="1"/>
          <p:nvPr/>
        </p:nvSpPr>
        <p:spPr>
          <a:xfrm>
            <a:off x="457200" y="4251960"/>
            <a:ext cx="3931920" cy="320040"/>
          </a:xfrm>
          <a:prstGeom prst="rect">
            <a:avLst/>
          </a:prstGeom>
          <a:noFill/>
          <a:ln/>
        </p:spPr>
        <p:txBody>
          <a:bodyPr wrap="square" lIns="0" tIns="0" rIns="0" bIns="0" rtlCol="0" anchor="t"/>
          <a:lstStyle/>
          <a:p>
            <a:pPr algn="ctr" indent="0" marL="0">
              <a:buNone/>
            </a:pPr>
            <a:r>
              <a:rPr lang="en-US" sz="1400" b="1" dirty="0">
                <a:solidFill>
                  <a:srgbClr val="C8442F"/>
                </a:solidFill>
              </a:rPr>
              <a:t>broadcast krąży w nieskończoność</a:t>
            </a:r>
            <a:endParaRPr lang="en-US" sz="1400" dirty="0"/>
          </a:p>
        </p:txBody>
      </p:sp>
      <p:sp>
        <p:nvSpPr>
          <p:cNvPr id="16" name="stp-card"/>
          <p:cNvSpPr/>
          <p:nvPr/>
        </p:nvSpPr>
        <p:spPr>
          <a:xfrm>
            <a:off x="4754880" y="1188720"/>
            <a:ext cx="3931920" cy="3337560"/>
          </a:xfrm>
          <a:prstGeom prst="roundRect">
            <a:avLst>
              <a:gd name="adj" fmla="val 2740"/>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7" name="Text 13"/>
          <p:cNvSpPr txBox="1"/>
          <p:nvPr/>
        </p:nvSpPr>
        <p:spPr>
          <a:xfrm>
            <a:off x="4983480" y="1325880"/>
            <a:ext cx="3474720" cy="365760"/>
          </a:xfrm>
          <a:prstGeom prst="rect">
            <a:avLst/>
          </a:prstGeom>
          <a:noFill/>
          <a:ln/>
        </p:spPr>
        <p:txBody>
          <a:bodyPr wrap="square" lIns="0" tIns="0" rIns="0" bIns="0" rtlCol="0" anchor="t"/>
          <a:lstStyle/>
          <a:p>
            <a:pPr indent="0" marL="0">
              <a:buNone/>
            </a:pPr>
            <a:r>
              <a:rPr lang="en-US" sz="1800" b="1" dirty="0">
                <a:solidFill>
                  <a:srgbClr val="0E7C7B"/>
                </a:solidFill>
              </a:rPr>
              <a:t>STP — Spanning Tree Protocol</a:t>
            </a:r>
            <a:endParaRPr lang="en-US" sz="1800" dirty="0"/>
          </a:p>
        </p:txBody>
      </p:sp>
      <p:sp>
        <p:nvSpPr>
          <p:cNvPr id="18" name="Text 14"/>
          <p:cNvSpPr txBox="1"/>
          <p:nvPr/>
        </p:nvSpPr>
        <p:spPr>
          <a:xfrm>
            <a:off x="4983480" y="1828800"/>
            <a:ext cx="3474720" cy="1828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B2A41"/>
                </a:solidFill>
              </a:rPr>
              <a:t>Wykrywa pętle w topologii</a:t>
            </a:r>
            <a:endParaRPr lang="en-US" sz="1600" dirty="0"/>
          </a:p>
          <a:p>
            <a:pPr marL="342900" indent="-342900">
              <a:spcAft>
                <a:spcPts val="800"/>
              </a:spcAft>
              <a:buSzPct val="100000"/>
              <a:buChar char="•"/>
            </a:pPr>
            <a:r>
              <a:rPr lang="en-US" sz="1600" dirty="0">
                <a:solidFill>
                  <a:srgbClr val="1B2A41"/>
                </a:solidFill>
              </a:rPr>
              <a:t>Blokuje logicznie nadmiarowe łącza</a:t>
            </a:r>
            <a:endParaRPr lang="en-US" sz="1600" dirty="0"/>
          </a:p>
          <a:p>
            <a:pPr marL="342900" indent="-342900">
              <a:spcAft>
                <a:spcPts val="800"/>
              </a:spcAft>
              <a:buSzPct val="100000"/>
              <a:buChar char="•"/>
            </a:pPr>
            <a:r>
              <a:rPr lang="en-US" sz="1600" dirty="0">
                <a:solidFill>
                  <a:srgbClr val="1B2A41"/>
                </a:solidFill>
              </a:rPr>
              <a:t>Tworzy drzewo rozpinające bez pętli</a:t>
            </a:r>
            <a:endParaRPr lang="en-US" sz="1600" dirty="0"/>
          </a:p>
          <a:p>
            <a:pPr marL="342900" indent="-342900">
              <a:buSzPct val="100000"/>
              <a:buChar char="•"/>
            </a:pPr>
            <a:r>
              <a:rPr lang="en-US" sz="1600" dirty="0">
                <a:solidFill>
                  <a:srgbClr val="1B2A41"/>
                </a:solidFill>
              </a:rPr>
              <a:t>Po awarii odblokowuje łącze zapasowe</a:t>
            </a:r>
            <a:endParaRPr lang="en-US" sz="1600" dirty="0"/>
          </a:p>
        </p:txBody>
      </p:sp>
      <p:sp>
        <p:nvSpPr>
          <p:cNvPr id="19" name="Text 15"/>
          <p:cNvSpPr txBox="1"/>
          <p:nvPr/>
        </p:nvSpPr>
        <p:spPr>
          <a:xfrm>
            <a:off x="4983480" y="3977640"/>
            <a:ext cx="3474720" cy="320040"/>
          </a:xfrm>
          <a:prstGeom prst="rect">
            <a:avLst/>
          </a:prstGeom>
          <a:noFill/>
          <a:ln/>
        </p:spPr>
        <p:txBody>
          <a:bodyPr wrap="square" lIns="0" tIns="0" rIns="0" bIns="0" rtlCol="0" anchor="t"/>
          <a:lstStyle/>
          <a:p>
            <a:pPr indent="0" marL="0">
              <a:buNone/>
            </a:pPr>
            <a:r>
              <a:rPr lang="en-US" sz="1400" dirty="0">
                <a:solidFill>
                  <a:srgbClr val="5C6B80"/>
                </a:solidFill>
              </a:rPr>
              <a:t>Następcy: RSTP, MSTP</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Most czy przełącznik?</a:t>
            </a:r>
            <a:endParaRPr lang="en-US" sz="3000" dirty="0"/>
          </a:p>
        </p:txBody>
      </p:sp>
      <p:sp>
        <p:nvSpPr>
          <p:cNvPr id="4" name="cmp-Most (bridge)"/>
          <p:cNvSpPr/>
          <p:nvPr/>
        </p:nvSpPr>
        <p:spPr>
          <a:xfrm>
            <a:off x="457200" y="1188720"/>
            <a:ext cx="3931920" cy="2468880"/>
          </a:xfrm>
          <a:prstGeom prst="roundRect">
            <a:avLst>
              <a:gd name="adj" fmla="val 3704"/>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5" name="cmp-head-Most (bridge)"/>
          <p:cNvSpPr/>
          <p:nvPr/>
        </p:nvSpPr>
        <p:spPr>
          <a:xfrm>
            <a:off x="457200" y="1188720"/>
            <a:ext cx="3931920" cy="548640"/>
          </a:xfrm>
          <a:prstGeom prst="roundRect">
            <a:avLst>
              <a:gd name="adj" fmla="val 13333"/>
            </a:avLst>
          </a:prstGeom>
          <a:solidFill>
            <a:srgbClr val="6C7A89"/>
          </a:solidFill>
          <a:ln w="9525">
            <a:solidFill>
              <a:srgbClr val="6C7A89"/>
            </a:solidFill>
            <a:prstDash val="solid"/>
          </a:ln>
        </p:spPr>
      </p:sp>
      <p:sp>
        <p:nvSpPr>
          <p:cNvPr id="6" name="Text 3"/>
          <p:cNvSpPr txBox="1"/>
          <p:nvPr/>
        </p:nvSpPr>
        <p:spPr>
          <a:xfrm>
            <a:off x="685800" y="1188720"/>
            <a:ext cx="3474720" cy="548640"/>
          </a:xfrm>
          <a:prstGeom prst="rect">
            <a:avLst/>
          </a:prstGeom>
          <a:noFill/>
          <a:ln/>
        </p:spPr>
        <p:txBody>
          <a:bodyPr wrap="square" lIns="0" tIns="0" rIns="0" bIns="0" rtlCol="0" anchor="ctr"/>
          <a:lstStyle/>
          <a:p>
            <a:pPr indent="0" marL="0">
              <a:buNone/>
            </a:pPr>
            <a:r>
              <a:rPr lang="en-US" sz="1800" b="1" dirty="0">
                <a:solidFill>
                  <a:srgbClr val="FFFFFF"/>
                </a:solidFill>
              </a:rPr>
              <a:t>Most (bridge)</a:t>
            </a:r>
            <a:endParaRPr lang="en-US" sz="1800" dirty="0"/>
          </a:p>
        </p:txBody>
      </p:sp>
      <p:sp>
        <p:nvSpPr>
          <p:cNvPr id="7" name="Text 4"/>
          <p:cNvSpPr txBox="1"/>
          <p:nvPr/>
        </p:nvSpPr>
        <p:spPr>
          <a:xfrm>
            <a:off x="685800" y="1920240"/>
            <a:ext cx="3474720" cy="502920"/>
          </a:xfrm>
          <a:prstGeom prst="rect">
            <a:avLst/>
          </a:prstGeom>
          <a:noFill/>
          <a:ln/>
        </p:spPr>
        <p:txBody>
          <a:bodyPr wrap="square" lIns="0" tIns="0" rIns="0" bIns="0" rtlCol="0" anchor="ctr"/>
          <a:lstStyle/>
          <a:p>
            <a:pPr indent="0" marL="0">
              <a:buNone/>
            </a:pPr>
            <a:r>
              <a:rPr lang="en-US" sz="1600" b="1" dirty="0">
                <a:solidFill>
                  <a:srgbClr val="0B2545"/>
                </a:solidFill>
              </a:rPr>
              <a:t>Implementacja: </a:t>
            </a:r>
            <a:pPr indent="0" marL="0">
              <a:buNone/>
            </a:pPr>
            <a:r>
              <a:rPr lang="en-US" sz="1600" dirty="0">
                <a:solidFill>
                  <a:srgbClr val="1B2A41"/>
                </a:solidFill>
              </a:rPr>
              <a:t>oprogramowanie na procesorze</a:t>
            </a:r>
            <a:endParaRPr lang="en-US" sz="1600" dirty="0"/>
          </a:p>
        </p:txBody>
      </p:sp>
      <p:sp>
        <p:nvSpPr>
          <p:cNvPr id="8" name="Text 5"/>
          <p:cNvSpPr txBox="1"/>
          <p:nvPr/>
        </p:nvSpPr>
        <p:spPr>
          <a:xfrm>
            <a:off x="685800" y="2468880"/>
            <a:ext cx="3474720" cy="502920"/>
          </a:xfrm>
          <a:prstGeom prst="rect">
            <a:avLst/>
          </a:prstGeom>
          <a:noFill/>
          <a:ln/>
        </p:spPr>
        <p:txBody>
          <a:bodyPr wrap="square" lIns="0" tIns="0" rIns="0" bIns="0" rtlCol="0" anchor="ctr"/>
          <a:lstStyle/>
          <a:p>
            <a:pPr indent="0" marL="0">
              <a:buNone/>
            </a:pPr>
            <a:r>
              <a:rPr lang="en-US" sz="1600" b="1" dirty="0">
                <a:solidFill>
                  <a:srgbClr val="0B2545"/>
                </a:solidFill>
              </a:rPr>
              <a:t>Porty: </a:t>
            </a:r>
            <a:pPr indent="0" marL="0">
              <a:buNone/>
            </a:pPr>
            <a:r>
              <a:rPr lang="en-US" sz="1600" dirty="0">
                <a:solidFill>
                  <a:srgbClr val="1B2A41"/>
                </a:solidFill>
              </a:rPr>
              <a:t>zwykle 2–4</a:t>
            </a:r>
            <a:endParaRPr lang="en-US" sz="1600" dirty="0"/>
          </a:p>
        </p:txBody>
      </p:sp>
      <p:sp>
        <p:nvSpPr>
          <p:cNvPr id="9" name="Text 6"/>
          <p:cNvSpPr txBox="1"/>
          <p:nvPr/>
        </p:nvSpPr>
        <p:spPr>
          <a:xfrm>
            <a:off x="685800" y="3017520"/>
            <a:ext cx="3474720" cy="502920"/>
          </a:xfrm>
          <a:prstGeom prst="rect">
            <a:avLst/>
          </a:prstGeom>
          <a:noFill/>
          <a:ln/>
        </p:spPr>
        <p:txBody>
          <a:bodyPr wrap="square" lIns="0" tIns="0" rIns="0" bIns="0" rtlCol="0" anchor="ctr"/>
          <a:lstStyle/>
          <a:p>
            <a:pPr indent="0" marL="0">
              <a:buNone/>
            </a:pPr>
            <a:r>
              <a:rPr lang="en-US" sz="1600" b="1" dirty="0">
                <a:solidFill>
                  <a:srgbClr val="0B2545"/>
                </a:solidFill>
              </a:rPr>
              <a:t>Dziś: </a:t>
            </a:r>
            <a:pPr indent="0" marL="0">
              <a:buNone/>
            </a:pPr>
            <a:r>
              <a:rPr lang="en-US" sz="1600" dirty="0">
                <a:solidFill>
                  <a:srgbClr val="1B2A41"/>
                </a:solidFill>
              </a:rPr>
              <a:t>głównie znaczenie historyczne</a:t>
            </a:r>
            <a:endParaRPr lang="en-US" sz="1600" dirty="0"/>
          </a:p>
        </p:txBody>
      </p:sp>
      <p:sp>
        <p:nvSpPr>
          <p:cNvPr id="10" name="cmp-Przełącznik (switch)"/>
          <p:cNvSpPr/>
          <p:nvPr/>
        </p:nvSpPr>
        <p:spPr>
          <a:xfrm>
            <a:off x="4754880" y="1188720"/>
            <a:ext cx="3931920" cy="2468880"/>
          </a:xfrm>
          <a:prstGeom prst="roundRect">
            <a:avLst>
              <a:gd name="adj" fmla="val 3704"/>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1" name="cmp-head-Przełącznik (switch)"/>
          <p:cNvSpPr/>
          <p:nvPr/>
        </p:nvSpPr>
        <p:spPr>
          <a:xfrm>
            <a:off x="4754880" y="1188720"/>
            <a:ext cx="3931920" cy="548640"/>
          </a:xfrm>
          <a:prstGeom prst="roundRect">
            <a:avLst>
              <a:gd name="adj" fmla="val 13333"/>
            </a:avLst>
          </a:prstGeom>
          <a:solidFill>
            <a:srgbClr val="0E7C7B"/>
          </a:solidFill>
          <a:ln w="9525">
            <a:solidFill>
              <a:srgbClr val="0E7C7B"/>
            </a:solidFill>
            <a:prstDash val="solid"/>
          </a:ln>
        </p:spPr>
      </p:sp>
      <p:sp>
        <p:nvSpPr>
          <p:cNvPr id="12" name="Text 9"/>
          <p:cNvSpPr txBox="1"/>
          <p:nvPr/>
        </p:nvSpPr>
        <p:spPr>
          <a:xfrm>
            <a:off x="4983480" y="1188720"/>
            <a:ext cx="3474720" cy="548640"/>
          </a:xfrm>
          <a:prstGeom prst="rect">
            <a:avLst/>
          </a:prstGeom>
          <a:noFill/>
          <a:ln/>
        </p:spPr>
        <p:txBody>
          <a:bodyPr wrap="square" lIns="0" tIns="0" rIns="0" bIns="0" rtlCol="0" anchor="ctr"/>
          <a:lstStyle/>
          <a:p>
            <a:pPr indent="0" marL="0">
              <a:buNone/>
            </a:pPr>
            <a:r>
              <a:rPr lang="en-US" sz="1800" b="1" dirty="0">
                <a:solidFill>
                  <a:srgbClr val="FFFFFF"/>
                </a:solidFill>
              </a:rPr>
              <a:t>Przełącznik (switch)</a:t>
            </a:r>
            <a:endParaRPr lang="en-US" sz="1800" dirty="0"/>
          </a:p>
        </p:txBody>
      </p:sp>
      <p:sp>
        <p:nvSpPr>
          <p:cNvPr id="13" name="Text 10"/>
          <p:cNvSpPr txBox="1"/>
          <p:nvPr/>
        </p:nvSpPr>
        <p:spPr>
          <a:xfrm>
            <a:off x="4983480" y="1920240"/>
            <a:ext cx="3474720" cy="502920"/>
          </a:xfrm>
          <a:prstGeom prst="rect">
            <a:avLst/>
          </a:prstGeom>
          <a:noFill/>
          <a:ln/>
        </p:spPr>
        <p:txBody>
          <a:bodyPr wrap="square" lIns="0" tIns="0" rIns="0" bIns="0" rtlCol="0" anchor="ctr"/>
          <a:lstStyle/>
          <a:p>
            <a:pPr indent="0" marL="0">
              <a:buNone/>
            </a:pPr>
            <a:r>
              <a:rPr lang="en-US" sz="1600" b="1" dirty="0">
                <a:solidFill>
                  <a:srgbClr val="0B2545"/>
                </a:solidFill>
              </a:rPr>
              <a:t>Implementacja: </a:t>
            </a:r>
            <a:pPr indent="0" marL="0">
              <a:buNone/>
            </a:pPr>
            <a:r>
              <a:rPr lang="en-US" sz="1600" dirty="0">
                <a:solidFill>
                  <a:srgbClr val="1B2A41"/>
                </a:solidFill>
              </a:rPr>
              <a:t>sprzętowo, układy ASIC</a:t>
            </a:r>
            <a:endParaRPr lang="en-US" sz="1600" dirty="0"/>
          </a:p>
        </p:txBody>
      </p:sp>
      <p:sp>
        <p:nvSpPr>
          <p:cNvPr id="14" name="Text 11"/>
          <p:cNvSpPr txBox="1"/>
          <p:nvPr/>
        </p:nvSpPr>
        <p:spPr>
          <a:xfrm>
            <a:off x="4983480" y="2468880"/>
            <a:ext cx="3474720" cy="502920"/>
          </a:xfrm>
          <a:prstGeom prst="rect">
            <a:avLst/>
          </a:prstGeom>
          <a:noFill/>
          <a:ln/>
        </p:spPr>
        <p:txBody>
          <a:bodyPr wrap="square" lIns="0" tIns="0" rIns="0" bIns="0" rtlCol="0" anchor="ctr"/>
          <a:lstStyle/>
          <a:p>
            <a:pPr indent="0" marL="0">
              <a:buNone/>
            </a:pPr>
            <a:r>
              <a:rPr lang="en-US" sz="1600" b="1" dirty="0">
                <a:solidFill>
                  <a:srgbClr val="0B2545"/>
                </a:solidFill>
              </a:rPr>
              <a:t>Porty: </a:t>
            </a:r>
            <a:pPr indent="0" marL="0">
              <a:buNone/>
            </a:pPr>
            <a:r>
              <a:rPr lang="en-US" sz="1600" dirty="0">
                <a:solidFill>
                  <a:srgbClr val="1B2A41"/>
                </a:solidFill>
              </a:rPr>
              <a:t>kilkanaście do setek</a:t>
            </a:r>
            <a:endParaRPr lang="en-US" sz="1600" dirty="0"/>
          </a:p>
        </p:txBody>
      </p:sp>
      <p:sp>
        <p:nvSpPr>
          <p:cNvPr id="15" name="Text 12"/>
          <p:cNvSpPr txBox="1"/>
          <p:nvPr/>
        </p:nvSpPr>
        <p:spPr>
          <a:xfrm>
            <a:off x="4983480" y="3017520"/>
            <a:ext cx="3474720" cy="502920"/>
          </a:xfrm>
          <a:prstGeom prst="rect">
            <a:avLst/>
          </a:prstGeom>
          <a:noFill/>
          <a:ln/>
        </p:spPr>
        <p:txBody>
          <a:bodyPr wrap="square" lIns="0" tIns="0" rIns="0" bIns="0" rtlCol="0" anchor="ctr"/>
          <a:lstStyle/>
          <a:p>
            <a:pPr indent="0" marL="0">
              <a:buNone/>
            </a:pPr>
            <a:r>
              <a:rPr lang="en-US" sz="1600" b="1" dirty="0">
                <a:solidFill>
                  <a:srgbClr val="0B2545"/>
                </a:solidFill>
              </a:rPr>
              <a:t>Wydajność: </a:t>
            </a:r>
            <a:pPr indent="0" marL="0">
              <a:buNone/>
            </a:pPr>
            <a:r>
              <a:rPr lang="en-US" sz="1600" dirty="0">
                <a:solidFill>
                  <a:srgbClr val="1B2A41"/>
                </a:solidFill>
              </a:rPr>
              <a:t>prędkość liniowa, non-blocking</a:t>
            </a:r>
            <a:endParaRPr lang="en-US" sz="1600" dirty="0"/>
          </a:p>
        </p:txBody>
      </p:sp>
      <p:sp>
        <p:nvSpPr>
          <p:cNvPr id="16" name="same-algo"/>
          <p:cNvSpPr/>
          <p:nvPr/>
        </p:nvSpPr>
        <p:spPr>
          <a:xfrm>
            <a:off x="457200" y="3840480"/>
            <a:ext cx="8229600" cy="685800"/>
          </a:xfrm>
          <a:prstGeom prst="roundRect">
            <a:avLst>
              <a:gd name="adj" fmla="val 10667"/>
            </a:avLst>
          </a:prstGeom>
          <a:solidFill>
            <a:srgbClr val="0B2545"/>
          </a:solidFill>
          <a:ln w="9525">
            <a:solidFill>
              <a:srgbClr val="0B2545"/>
            </a:solidFill>
            <a:prstDash val="solid"/>
          </a:ln>
        </p:spPr>
      </p:sp>
      <p:sp>
        <p:nvSpPr>
          <p:cNvPr id="17" name="Text 14"/>
          <p:cNvSpPr txBox="1"/>
          <p:nvPr/>
        </p:nvSpPr>
        <p:spPr>
          <a:xfrm>
            <a:off x="457200" y="3840480"/>
            <a:ext cx="8229600" cy="685800"/>
          </a:xfrm>
          <a:prstGeom prst="rect">
            <a:avLst/>
          </a:prstGeom>
          <a:noFill/>
          <a:ln/>
        </p:spPr>
        <p:txBody>
          <a:bodyPr wrap="square" lIns="0" tIns="0" rIns="0" bIns="0" rtlCol="0" anchor="ctr"/>
          <a:lstStyle/>
          <a:p>
            <a:pPr algn="ctr" indent="0" marL="0">
              <a:buNone/>
            </a:pPr>
            <a:r>
              <a:rPr lang="en-US" sz="2000" b="1" dirty="0">
                <a:solidFill>
                  <a:srgbClr val="FFFFFF"/>
                </a:solidFill>
              </a:rPr>
              <a:t>Każdy przełącznik Ethernet to wieloportowy most</a:t>
            </a:r>
            <a:endParaRPr lang="en-US" sz="20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Tablica adresów MAC (CAM)</a:t>
            </a:r>
            <a:endParaRPr lang="en-US" sz="3000" dirty="0"/>
          </a:p>
        </p:txBody>
      </p:sp>
      <p:sp>
        <p:nvSpPr>
          <p:cNvPr id="4" name="Text 1"/>
          <p:cNvSpPr txBox="1"/>
          <p:nvPr/>
        </p:nvSpPr>
        <p:spPr>
          <a:xfrm>
            <a:off x="457200" y="1097280"/>
            <a:ext cx="4480560" cy="274320"/>
          </a:xfrm>
          <a:prstGeom prst="rect">
            <a:avLst/>
          </a:prstGeom>
          <a:noFill/>
          <a:ln/>
        </p:spPr>
        <p:txBody>
          <a:bodyPr wrap="square" lIns="0" tIns="0" rIns="0" bIns="0" rtlCol="0" anchor="t"/>
          <a:lstStyle/>
          <a:p>
            <a:pPr indent="0" marL="0">
              <a:buNone/>
            </a:pPr>
            <a:r>
              <a:rPr lang="en-US" sz="1600" b="1" dirty="0">
                <a:solidFill>
                  <a:srgbClr val="0B2545"/>
                </a:solidFill>
              </a:rPr>
              <a:t>Przykładowa tablica</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4480560" cy="914400"/>
        </p:xfrm>
        <a:graphic>
          <a:graphicData uri="http://schemas.openxmlformats.org/drawingml/2006/table">
            <a:tbl>
              <a:tblPr/>
              <a:tblGrid>
                <a:gridCol w="2011680"/>
                <a:gridCol w="822960"/>
                <a:gridCol w="640080"/>
                <a:gridCol w="1005840"/>
              </a:tblGrid>
              <a:tr h="457200">
                <a:tc>
                  <a:txBody>
                    <a:bodyPr/>
                    <a:lstStyle/>
                    <a:p>
                      <a:pPr indent="0" marL="0">
                        <a:buNone/>
                      </a:pPr>
                      <a:r>
                        <a:rPr lang="en-US" sz="1400" b="1" dirty="0">
                          <a:solidFill>
                            <a:srgbClr val="FFFFFF"/>
                          </a:solidFill>
                        </a:rPr>
                        <a:t>Adres MAC</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Port</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VLAN</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Wiek</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r>
              <a:tr h="457200">
                <a:tc>
                  <a:txBody>
                    <a:bodyPr/>
                    <a:lstStyle/>
                    <a:p>
                      <a:pPr indent="0" marL="0">
                        <a:buNone/>
                      </a:pPr>
                      <a:r>
                        <a:rPr lang="en-US" sz="1400" dirty="0">
                          <a:solidFill>
                            <a:srgbClr val="1B2A41"/>
                          </a:solidFill>
                        </a:rPr>
                        <a:t>AA:11:22:33:44:01</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Gi0/1</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10</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12 s</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r>
              <a:tr h="457200">
                <a:tc>
                  <a:txBody>
                    <a:bodyPr/>
                    <a:lstStyle/>
                    <a:p>
                      <a:pPr indent="0" marL="0">
                        <a:buNone/>
                      </a:pPr>
                      <a:r>
                        <a:rPr lang="en-US" sz="1400" dirty="0">
                          <a:solidFill>
                            <a:srgbClr val="1B2A41"/>
                          </a:solidFill>
                        </a:rPr>
                        <a:t>AA:11:22:33:44:02</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Gi0/2</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10</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85 s</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A41"/>
                          </a:solidFill>
                        </a:rPr>
                        <a:t>BB:55:66:77:88:03</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Gi0/7</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20</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c>
                  <a:txBody>
                    <a:bodyPr/>
                    <a:lstStyle/>
                    <a:p>
                      <a:pPr indent="0" marL="0">
                        <a:buNone/>
                      </a:pPr>
                      <a:r>
                        <a:rPr lang="en-US" sz="1400" dirty="0">
                          <a:solidFill>
                            <a:srgbClr val="1B2A41"/>
                          </a:solidFill>
                        </a:rPr>
                        <a:t>240 s</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AF0F6"/>
                    </a:solidFill>
                  </a:tcPr>
                </a:tc>
              </a:tr>
              <a:tr h="457200">
                <a:tc>
                  <a:txBody>
                    <a:bodyPr/>
                    <a:lstStyle/>
                    <a:p>
                      <a:pPr indent="0" marL="0">
                        <a:buNone/>
                      </a:pPr>
                      <a:r>
                        <a:rPr lang="en-US" sz="1400" dirty="0">
                          <a:solidFill>
                            <a:srgbClr val="1B2A41"/>
                          </a:solidFill>
                        </a:rPr>
                        <a:t>CC:99:AA:BB:CC:04</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Gi0/24</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30</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3 s</a:t>
                      </a:r>
                      <a:endParaRPr lang="en-US" sz="1400" dirty="0"/>
                    </a:p>
                  </a:txBody>
                  <a:tcPr marL="91440" marR="91440"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3931920"/>
            <a:ext cx="4480560" cy="548640"/>
          </a:xfrm>
          <a:prstGeom prst="rect">
            <a:avLst/>
          </a:prstGeom>
          <a:noFill/>
          <a:ln/>
        </p:spPr>
        <p:txBody>
          <a:bodyPr wrap="square" lIns="0" tIns="0" rIns="0" bIns="0" rtlCol="0" anchor="t"/>
          <a:lstStyle/>
          <a:p>
            <a:pPr indent="0" marL="0">
              <a:buNone/>
            </a:pPr>
            <a:r>
              <a:rPr lang="en-US" sz="1400" dirty="0">
                <a:solidFill>
                  <a:srgbClr val="5C6B80"/>
                </a:solidFill>
              </a:rPr>
              <a:t>Pamięć CAM: wyszukiwanie w czasie stałym, niezależnie od liczby wpisów.</a:t>
            </a:r>
            <a:endParaRPr lang="en-US" sz="1400" dirty="0"/>
          </a:p>
        </p:txBody>
      </p:sp>
      <p:sp>
        <p:nvSpPr>
          <p:cNvPr id="7" name="Text 3"/>
          <p:cNvSpPr txBox="1"/>
          <p:nvPr/>
        </p:nvSpPr>
        <p:spPr>
          <a:xfrm>
            <a:off x="5212080" y="1097280"/>
            <a:ext cx="3474720" cy="274320"/>
          </a:xfrm>
          <a:prstGeom prst="rect">
            <a:avLst/>
          </a:prstGeom>
          <a:noFill/>
          <a:ln/>
        </p:spPr>
        <p:txBody>
          <a:bodyPr wrap="square" lIns="0" tIns="0" rIns="0" bIns="0" rtlCol="0" anchor="t"/>
          <a:lstStyle/>
          <a:p>
            <a:pPr indent="0" marL="0">
              <a:buNone/>
            </a:pPr>
            <a:r>
              <a:rPr lang="en-US" sz="1600" b="1" dirty="0">
                <a:solidFill>
                  <a:srgbClr val="0B2545"/>
                </a:solidFill>
              </a:rPr>
              <a:t>Co robi z ramką?</a:t>
            </a:r>
            <a:endParaRPr lang="en-US" sz="1600" dirty="0"/>
          </a:p>
        </p:txBody>
      </p:sp>
      <p:sp>
        <p:nvSpPr>
          <p:cNvPr id="8" name="rule-Uczy się"/>
          <p:cNvSpPr/>
          <p:nvPr/>
        </p:nvSpPr>
        <p:spPr>
          <a:xfrm>
            <a:off x="5212080" y="1508760"/>
            <a:ext cx="3474720" cy="685800"/>
          </a:xfrm>
          <a:prstGeom prst="roundRect">
            <a:avLst>
              <a:gd name="adj" fmla="val 13333"/>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9" name="rule-pill-Uczy się"/>
          <p:cNvSpPr/>
          <p:nvPr/>
        </p:nvSpPr>
        <p:spPr>
          <a:xfrm>
            <a:off x="5303520" y="1618488"/>
            <a:ext cx="1097280" cy="466344"/>
          </a:xfrm>
          <a:prstGeom prst="roundRect">
            <a:avLst>
              <a:gd name="adj" fmla="val 15686"/>
            </a:avLst>
          </a:prstGeom>
          <a:solidFill>
            <a:srgbClr val="0E7C7B"/>
          </a:solidFill>
          <a:ln w="9525">
            <a:solidFill>
              <a:srgbClr val="0E7C7B"/>
            </a:solidFill>
            <a:prstDash val="solid"/>
          </a:ln>
        </p:spPr>
      </p:sp>
      <p:sp>
        <p:nvSpPr>
          <p:cNvPr id="10" name="Text 6"/>
          <p:cNvSpPr txBox="1"/>
          <p:nvPr/>
        </p:nvSpPr>
        <p:spPr>
          <a:xfrm>
            <a:off x="5303520" y="1618488"/>
            <a:ext cx="1097280" cy="466344"/>
          </a:xfrm>
          <a:prstGeom prst="rect">
            <a:avLst/>
          </a:prstGeom>
          <a:noFill/>
          <a:ln/>
        </p:spPr>
        <p:txBody>
          <a:bodyPr wrap="square" lIns="0" tIns="0" rIns="0" bIns="0" rtlCol="0" anchor="ctr"/>
          <a:lstStyle/>
          <a:p>
            <a:pPr algn="ctr" indent="0" marL="0">
              <a:buNone/>
            </a:pPr>
            <a:r>
              <a:rPr lang="en-US" sz="1400" b="1" dirty="0">
                <a:solidFill>
                  <a:srgbClr val="FFFFFF"/>
                </a:solidFill>
              </a:rPr>
              <a:t>Uczy się</a:t>
            </a:r>
            <a:endParaRPr lang="en-US" sz="1400" dirty="0"/>
          </a:p>
        </p:txBody>
      </p:sp>
      <p:sp>
        <p:nvSpPr>
          <p:cNvPr id="11" name="Text 7"/>
          <p:cNvSpPr txBox="1"/>
          <p:nvPr/>
        </p:nvSpPr>
        <p:spPr>
          <a:xfrm>
            <a:off x="6492240" y="1508760"/>
            <a:ext cx="2103120" cy="685800"/>
          </a:xfrm>
          <a:prstGeom prst="rect">
            <a:avLst/>
          </a:prstGeom>
          <a:noFill/>
          <a:ln/>
        </p:spPr>
        <p:txBody>
          <a:bodyPr wrap="square" lIns="0" tIns="0" rIns="0" bIns="0" rtlCol="0" anchor="ctr"/>
          <a:lstStyle/>
          <a:p>
            <a:pPr indent="0" marL="0">
              <a:buNone/>
            </a:pPr>
            <a:r>
              <a:rPr lang="en-US" sz="1400" dirty="0">
                <a:solidFill>
                  <a:srgbClr val="1B2A41"/>
                </a:solidFill>
              </a:rPr>
              <a:t>zapisuje MAC źródłowy i port</a:t>
            </a:r>
            <a:endParaRPr lang="en-US" sz="1400" dirty="0"/>
          </a:p>
        </p:txBody>
      </p:sp>
      <p:sp>
        <p:nvSpPr>
          <p:cNvPr id="12" name="rule-Forwarding"/>
          <p:cNvSpPr/>
          <p:nvPr/>
        </p:nvSpPr>
        <p:spPr>
          <a:xfrm>
            <a:off x="5212080" y="2267712"/>
            <a:ext cx="3474720" cy="685800"/>
          </a:xfrm>
          <a:prstGeom prst="roundRect">
            <a:avLst>
              <a:gd name="adj" fmla="val 13333"/>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3" name="rule-pill-Forwarding"/>
          <p:cNvSpPr/>
          <p:nvPr/>
        </p:nvSpPr>
        <p:spPr>
          <a:xfrm>
            <a:off x="5303520" y="2377440"/>
            <a:ext cx="1097280" cy="466344"/>
          </a:xfrm>
          <a:prstGeom prst="roundRect">
            <a:avLst>
              <a:gd name="adj" fmla="val 15686"/>
            </a:avLst>
          </a:prstGeom>
          <a:solidFill>
            <a:srgbClr val="3A6EA5"/>
          </a:solidFill>
          <a:ln w="9525">
            <a:solidFill>
              <a:srgbClr val="3A6EA5"/>
            </a:solidFill>
            <a:prstDash val="solid"/>
          </a:ln>
        </p:spPr>
      </p:sp>
      <p:sp>
        <p:nvSpPr>
          <p:cNvPr id="14" name="Text 10"/>
          <p:cNvSpPr txBox="1"/>
          <p:nvPr/>
        </p:nvSpPr>
        <p:spPr>
          <a:xfrm>
            <a:off x="5303520" y="2377440"/>
            <a:ext cx="1097280" cy="466344"/>
          </a:xfrm>
          <a:prstGeom prst="rect">
            <a:avLst/>
          </a:prstGeom>
          <a:noFill/>
          <a:ln/>
        </p:spPr>
        <p:txBody>
          <a:bodyPr wrap="square" lIns="0" tIns="0" rIns="0" bIns="0" rtlCol="0" anchor="ctr"/>
          <a:lstStyle/>
          <a:p>
            <a:pPr algn="ctr" indent="0" marL="0">
              <a:buNone/>
            </a:pPr>
            <a:r>
              <a:rPr lang="en-US" sz="1400" b="1" dirty="0">
                <a:solidFill>
                  <a:srgbClr val="FFFFFF"/>
                </a:solidFill>
              </a:rPr>
              <a:t>Forwarding</a:t>
            </a:r>
            <a:endParaRPr lang="en-US" sz="1400" dirty="0"/>
          </a:p>
        </p:txBody>
      </p:sp>
      <p:sp>
        <p:nvSpPr>
          <p:cNvPr id="15" name="Text 11"/>
          <p:cNvSpPr txBox="1"/>
          <p:nvPr/>
        </p:nvSpPr>
        <p:spPr>
          <a:xfrm>
            <a:off x="6492240" y="2267712"/>
            <a:ext cx="2103120" cy="685800"/>
          </a:xfrm>
          <a:prstGeom prst="rect">
            <a:avLst/>
          </a:prstGeom>
          <a:noFill/>
          <a:ln/>
        </p:spPr>
        <p:txBody>
          <a:bodyPr wrap="square" lIns="0" tIns="0" rIns="0" bIns="0" rtlCol="0" anchor="ctr"/>
          <a:lstStyle/>
          <a:p>
            <a:pPr indent="0" marL="0">
              <a:buNone/>
            </a:pPr>
            <a:r>
              <a:rPr lang="en-US" sz="1400" dirty="0">
                <a:solidFill>
                  <a:srgbClr val="1B2A41"/>
                </a:solidFill>
              </a:rPr>
              <a:t>znany adres, inny port: tylko tam</a:t>
            </a:r>
            <a:endParaRPr lang="en-US" sz="1400" dirty="0"/>
          </a:p>
        </p:txBody>
      </p:sp>
      <p:sp>
        <p:nvSpPr>
          <p:cNvPr id="16" name="rule-Filtering"/>
          <p:cNvSpPr/>
          <p:nvPr/>
        </p:nvSpPr>
        <p:spPr>
          <a:xfrm>
            <a:off x="5212080" y="3026664"/>
            <a:ext cx="3474720" cy="685800"/>
          </a:xfrm>
          <a:prstGeom prst="roundRect">
            <a:avLst>
              <a:gd name="adj" fmla="val 13333"/>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7" name="rule-pill-Filtering"/>
          <p:cNvSpPr/>
          <p:nvPr/>
        </p:nvSpPr>
        <p:spPr>
          <a:xfrm>
            <a:off x="5303520" y="3136392"/>
            <a:ext cx="1097280" cy="466344"/>
          </a:xfrm>
          <a:prstGeom prst="roundRect">
            <a:avLst>
              <a:gd name="adj" fmla="val 15686"/>
            </a:avLst>
          </a:prstGeom>
          <a:solidFill>
            <a:srgbClr val="6C7A89"/>
          </a:solidFill>
          <a:ln w="9525">
            <a:solidFill>
              <a:srgbClr val="6C7A89"/>
            </a:solidFill>
            <a:prstDash val="solid"/>
          </a:ln>
        </p:spPr>
      </p:sp>
      <p:sp>
        <p:nvSpPr>
          <p:cNvPr id="18" name="Text 14"/>
          <p:cNvSpPr txBox="1"/>
          <p:nvPr/>
        </p:nvSpPr>
        <p:spPr>
          <a:xfrm>
            <a:off x="5303520" y="3136392"/>
            <a:ext cx="1097280" cy="466344"/>
          </a:xfrm>
          <a:prstGeom prst="rect">
            <a:avLst/>
          </a:prstGeom>
          <a:noFill/>
          <a:ln/>
        </p:spPr>
        <p:txBody>
          <a:bodyPr wrap="square" lIns="0" tIns="0" rIns="0" bIns="0" rtlCol="0" anchor="ctr"/>
          <a:lstStyle/>
          <a:p>
            <a:pPr algn="ctr" indent="0" marL="0">
              <a:buNone/>
            </a:pPr>
            <a:r>
              <a:rPr lang="en-US" sz="1400" b="1" dirty="0">
                <a:solidFill>
                  <a:srgbClr val="FFFFFF"/>
                </a:solidFill>
              </a:rPr>
              <a:t>Filtering</a:t>
            </a:r>
            <a:endParaRPr lang="en-US" sz="1400" dirty="0"/>
          </a:p>
        </p:txBody>
      </p:sp>
      <p:sp>
        <p:nvSpPr>
          <p:cNvPr id="19" name="Text 15"/>
          <p:cNvSpPr txBox="1"/>
          <p:nvPr/>
        </p:nvSpPr>
        <p:spPr>
          <a:xfrm>
            <a:off x="6492240" y="3026664"/>
            <a:ext cx="2103120" cy="685800"/>
          </a:xfrm>
          <a:prstGeom prst="rect">
            <a:avLst/>
          </a:prstGeom>
          <a:noFill/>
          <a:ln/>
        </p:spPr>
        <p:txBody>
          <a:bodyPr wrap="square" lIns="0" tIns="0" rIns="0" bIns="0" rtlCol="0" anchor="ctr"/>
          <a:lstStyle/>
          <a:p>
            <a:pPr indent="0" marL="0">
              <a:buNone/>
            </a:pPr>
            <a:r>
              <a:rPr lang="en-US" sz="1400" dirty="0">
                <a:solidFill>
                  <a:srgbClr val="1B2A41"/>
                </a:solidFill>
              </a:rPr>
              <a:t>znany adres, ten sam port: odrzuca</a:t>
            </a:r>
            <a:endParaRPr lang="en-US" sz="1400" dirty="0"/>
          </a:p>
        </p:txBody>
      </p:sp>
      <p:sp>
        <p:nvSpPr>
          <p:cNvPr id="20" name="rule-Flooding"/>
          <p:cNvSpPr/>
          <p:nvPr/>
        </p:nvSpPr>
        <p:spPr>
          <a:xfrm>
            <a:off x="5212080" y="3785616"/>
            <a:ext cx="3474720" cy="685800"/>
          </a:xfrm>
          <a:prstGeom prst="roundRect">
            <a:avLst>
              <a:gd name="adj" fmla="val 13333"/>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1" name="rule-pill-Flooding"/>
          <p:cNvSpPr/>
          <p:nvPr/>
        </p:nvSpPr>
        <p:spPr>
          <a:xfrm>
            <a:off x="5303520" y="3895344"/>
            <a:ext cx="1097280" cy="466344"/>
          </a:xfrm>
          <a:prstGeom prst="roundRect">
            <a:avLst>
              <a:gd name="adj" fmla="val 15686"/>
            </a:avLst>
          </a:prstGeom>
          <a:solidFill>
            <a:srgbClr val="C77D0A"/>
          </a:solidFill>
          <a:ln w="9525">
            <a:solidFill>
              <a:srgbClr val="C77D0A"/>
            </a:solidFill>
            <a:prstDash val="solid"/>
          </a:ln>
        </p:spPr>
      </p:sp>
      <p:sp>
        <p:nvSpPr>
          <p:cNvPr id="22" name="Text 18"/>
          <p:cNvSpPr txBox="1"/>
          <p:nvPr/>
        </p:nvSpPr>
        <p:spPr>
          <a:xfrm>
            <a:off x="5303520" y="3895344"/>
            <a:ext cx="1097280" cy="466344"/>
          </a:xfrm>
          <a:prstGeom prst="rect">
            <a:avLst/>
          </a:prstGeom>
          <a:noFill/>
          <a:ln/>
        </p:spPr>
        <p:txBody>
          <a:bodyPr wrap="square" lIns="0" tIns="0" rIns="0" bIns="0" rtlCol="0" anchor="ctr"/>
          <a:lstStyle/>
          <a:p>
            <a:pPr algn="ctr" indent="0" marL="0">
              <a:buNone/>
            </a:pPr>
            <a:r>
              <a:rPr lang="en-US" sz="1400" b="1" dirty="0">
                <a:solidFill>
                  <a:srgbClr val="FFFFFF"/>
                </a:solidFill>
              </a:rPr>
              <a:t>Flooding</a:t>
            </a:r>
            <a:endParaRPr lang="en-US" sz="1400" dirty="0"/>
          </a:p>
        </p:txBody>
      </p:sp>
      <p:sp>
        <p:nvSpPr>
          <p:cNvPr id="23" name="Text 19"/>
          <p:cNvSpPr txBox="1"/>
          <p:nvPr/>
        </p:nvSpPr>
        <p:spPr>
          <a:xfrm>
            <a:off x="6492240" y="3785616"/>
            <a:ext cx="2103120" cy="685800"/>
          </a:xfrm>
          <a:prstGeom prst="rect">
            <a:avLst/>
          </a:prstGeom>
          <a:noFill/>
          <a:ln/>
        </p:spPr>
        <p:txBody>
          <a:bodyPr wrap="square" lIns="0" tIns="0" rIns="0" bIns="0" rtlCol="0" anchor="ctr"/>
          <a:lstStyle/>
          <a:p>
            <a:pPr indent="0" marL="0">
              <a:buNone/>
            </a:pPr>
            <a:r>
              <a:rPr lang="en-US" sz="1400" dirty="0">
                <a:solidFill>
                  <a:srgbClr val="1B2A41"/>
                </a:solidFill>
              </a:rPr>
              <a:t>nieznany lub broadcast: wszędzie poza źródłowym</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Metody przełączania ramek</a:t>
            </a:r>
            <a:endParaRPr lang="en-US" sz="3000" dirty="0"/>
          </a:p>
        </p:txBody>
      </p:sp>
      <p:sp>
        <p:nvSpPr>
          <p:cNvPr id="4" name="Text 1"/>
          <p:cNvSpPr txBox="1"/>
          <p:nvPr/>
        </p:nvSpPr>
        <p:spPr>
          <a:xfrm>
            <a:off x="457200" y="987552"/>
            <a:ext cx="8229600" cy="274320"/>
          </a:xfrm>
          <a:prstGeom prst="rect">
            <a:avLst/>
          </a:prstGeom>
          <a:noFill/>
          <a:ln/>
        </p:spPr>
        <p:txBody>
          <a:bodyPr wrap="square" lIns="0" tIns="0" rIns="0" bIns="0" rtlCol="0" anchor="t"/>
          <a:lstStyle/>
          <a:p>
            <a:pPr indent="0" marL="0">
              <a:buNone/>
            </a:pPr>
            <a:r>
              <a:rPr lang="en-US" sz="1200" dirty="0">
                <a:solidFill>
                  <a:srgbClr val="5C6B80"/>
                </a:solidFill>
              </a:rPr>
              <a:t>Wypełnienie paska: część ramki odebrana przed startem retransmisji (poglądowo)</a:t>
            </a:r>
            <a:endParaRPr lang="en-US" sz="1200" dirty="0"/>
          </a:p>
        </p:txBody>
      </p:sp>
      <p:sp>
        <p:nvSpPr>
          <p:cNvPr id="5" name="method-Cut-Through"/>
          <p:cNvSpPr/>
          <p:nvPr/>
        </p:nvSpPr>
        <p:spPr>
          <a:xfrm>
            <a:off x="457200" y="1325880"/>
            <a:ext cx="8229600" cy="987552"/>
          </a:xfrm>
          <a:prstGeom prst="roundRect">
            <a:avLst>
              <a:gd name="adj" fmla="val 9259"/>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685800" y="1463040"/>
            <a:ext cx="2194560" cy="365760"/>
          </a:xfrm>
          <a:prstGeom prst="rect">
            <a:avLst/>
          </a:prstGeom>
          <a:noFill/>
          <a:ln/>
        </p:spPr>
        <p:txBody>
          <a:bodyPr wrap="square" lIns="0" tIns="0" rIns="0" bIns="0" rtlCol="0" anchor="t"/>
          <a:lstStyle/>
          <a:p>
            <a:pPr indent="0" marL="0">
              <a:buNone/>
            </a:pPr>
            <a:r>
              <a:rPr lang="en-US" sz="1800" b="1" dirty="0">
                <a:solidFill>
                  <a:srgbClr val="0B2545"/>
                </a:solidFill>
              </a:rPr>
              <a:t>Cut-Through</a:t>
            </a:r>
            <a:endParaRPr lang="en-US" sz="1800" dirty="0"/>
          </a:p>
        </p:txBody>
      </p:sp>
      <p:sp>
        <p:nvSpPr>
          <p:cNvPr id="7" name="Text 4"/>
          <p:cNvSpPr txBox="1"/>
          <p:nvPr/>
        </p:nvSpPr>
        <p:spPr>
          <a:xfrm>
            <a:off x="685800" y="1856232"/>
            <a:ext cx="2194560" cy="365760"/>
          </a:xfrm>
          <a:prstGeom prst="rect">
            <a:avLst/>
          </a:prstGeom>
          <a:noFill/>
          <a:ln/>
        </p:spPr>
        <p:txBody>
          <a:bodyPr wrap="square" lIns="0" tIns="0" rIns="0" bIns="0" rtlCol="0" anchor="t"/>
          <a:lstStyle/>
          <a:p>
            <a:pPr indent="0" marL="0">
              <a:buNone/>
            </a:pPr>
            <a:r>
              <a:rPr lang="en-US" sz="1400" dirty="0">
                <a:solidFill>
                  <a:srgbClr val="5C6B80"/>
                </a:solidFill>
              </a:rPr>
              <a:t>po ~14 B (adres docelowy)</a:t>
            </a:r>
            <a:endParaRPr lang="en-US" sz="1400" dirty="0"/>
          </a:p>
        </p:txBody>
      </p:sp>
      <p:sp>
        <p:nvSpPr>
          <p:cNvPr id="8" name="Text 5"/>
          <p:cNvSpPr txBox="1"/>
          <p:nvPr/>
        </p:nvSpPr>
        <p:spPr>
          <a:xfrm>
            <a:off x="3017520" y="1463040"/>
            <a:ext cx="2743200" cy="274320"/>
          </a:xfrm>
          <a:prstGeom prst="rect">
            <a:avLst/>
          </a:prstGeom>
          <a:noFill/>
          <a:ln/>
        </p:spPr>
        <p:txBody>
          <a:bodyPr wrap="square" lIns="0" tIns="0" rIns="0" bIns="0" rtlCol="0" anchor="t"/>
          <a:lstStyle/>
          <a:p>
            <a:pPr indent="0" marL="0">
              <a:buNone/>
            </a:pPr>
            <a:r>
              <a:rPr lang="en-US" sz="1200" dirty="0">
                <a:solidFill>
                  <a:srgbClr val="5C6B80"/>
                </a:solidFill>
              </a:rPr>
              <a:t>start retransmisji</a:t>
            </a:r>
            <a:endParaRPr lang="en-US" sz="1200" dirty="0"/>
          </a:p>
        </p:txBody>
      </p:sp>
      <p:sp>
        <p:nvSpPr>
          <p:cNvPr id="9" name="bar-bg-Cut-Through"/>
          <p:cNvSpPr/>
          <p:nvPr/>
        </p:nvSpPr>
        <p:spPr>
          <a:xfrm>
            <a:off x="3017520" y="1828800"/>
            <a:ext cx="2743200" cy="292608"/>
          </a:xfrm>
          <a:prstGeom prst="roundRect">
            <a:avLst>
              <a:gd name="adj" fmla="val 25000"/>
            </a:avLst>
          </a:prstGeom>
          <a:solidFill>
            <a:srgbClr val="E4EAF1"/>
          </a:solidFill>
          <a:ln w="9525">
            <a:solidFill>
              <a:srgbClr val="E4EAF1"/>
            </a:solidFill>
            <a:prstDash val="solid"/>
          </a:ln>
        </p:spPr>
      </p:sp>
      <p:sp>
        <p:nvSpPr>
          <p:cNvPr id="10" name="bar-fill-Cut-Through"/>
          <p:cNvSpPr/>
          <p:nvPr/>
        </p:nvSpPr>
        <p:spPr>
          <a:xfrm>
            <a:off x="3017520" y="1828800"/>
            <a:ext cx="329184" cy="292608"/>
          </a:xfrm>
          <a:prstGeom prst="roundRect">
            <a:avLst>
              <a:gd name="adj" fmla="val 25000"/>
            </a:avLst>
          </a:prstGeom>
          <a:solidFill>
            <a:srgbClr val="F2A541"/>
          </a:solidFill>
          <a:ln w="9525">
            <a:solidFill>
              <a:srgbClr val="F2A541"/>
            </a:solidFill>
            <a:prstDash val="solid"/>
          </a:ln>
        </p:spPr>
      </p:sp>
      <p:sp>
        <p:nvSpPr>
          <p:cNvPr id="11" name="Text 8"/>
          <p:cNvSpPr txBox="1"/>
          <p:nvPr/>
        </p:nvSpPr>
        <p:spPr>
          <a:xfrm>
            <a:off x="5989320" y="1435608"/>
            <a:ext cx="2606040" cy="777240"/>
          </a:xfrm>
          <a:prstGeom prst="rect">
            <a:avLst/>
          </a:prstGeom>
          <a:noFill/>
          <a:ln/>
        </p:spPr>
        <p:txBody>
          <a:bodyPr wrap="square" lIns="0" tIns="0" rIns="0" bIns="0" rtlCol="0" anchor="ctr"/>
          <a:lstStyle/>
          <a:p>
            <a:pPr indent="0" marL="0">
              <a:buNone/>
            </a:pPr>
            <a:r>
              <a:rPr lang="en-US" sz="1400" b="1" dirty="0">
                <a:solidFill>
                  <a:srgbClr val="1B2A41"/>
                </a:solidFill>
              </a:rPr>
              <a:t>Opóźnienie: minimalne</a:t>
            </a:r>
            <a:endParaRPr lang="en-US" sz="1400" dirty="0"/>
          </a:p>
          <a:p>
            <a:pPr indent="0" marL="0">
              <a:buNone/>
            </a:pPr>
            <a:r>
              <a:rPr lang="en-US" sz="1400" dirty="0">
                <a:solidFill>
                  <a:srgbClr val="1B2A41"/>
                </a:solidFill>
              </a:rPr>
              <a:t>Błędy: brak filtrowania</a:t>
            </a:r>
            <a:endParaRPr lang="en-US" sz="1400" dirty="0"/>
          </a:p>
        </p:txBody>
      </p:sp>
      <p:sp>
        <p:nvSpPr>
          <p:cNvPr id="12" name="method-Fragment-Free"/>
          <p:cNvSpPr/>
          <p:nvPr/>
        </p:nvSpPr>
        <p:spPr>
          <a:xfrm>
            <a:off x="457200" y="2423160"/>
            <a:ext cx="8229600" cy="987552"/>
          </a:xfrm>
          <a:prstGeom prst="roundRect">
            <a:avLst>
              <a:gd name="adj" fmla="val 9259"/>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685800" y="2560320"/>
            <a:ext cx="2194560" cy="365760"/>
          </a:xfrm>
          <a:prstGeom prst="rect">
            <a:avLst/>
          </a:prstGeom>
          <a:noFill/>
          <a:ln/>
        </p:spPr>
        <p:txBody>
          <a:bodyPr wrap="square" lIns="0" tIns="0" rIns="0" bIns="0" rtlCol="0" anchor="t"/>
          <a:lstStyle/>
          <a:p>
            <a:pPr indent="0" marL="0">
              <a:buNone/>
            </a:pPr>
            <a:r>
              <a:rPr lang="en-US" sz="1800" b="1" dirty="0">
                <a:solidFill>
                  <a:srgbClr val="0B2545"/>
                </a:solidFill>
              </a:rPr>
              <a:t>Fragment-Free</a:t>
            </a:r>
            <a:endParaRPr lang="en-US" sz="1800" dirty="0"/>
          </a:p>
        </p:txBody>
      </p:sp>
      <p:sp>
        <p:nvSpPr>
          <p:cNvPr id="14" name="Text 11"/>
          <p:cNvSpPr txBox="1"/>
          <p:nvPr/>
        </p:nvSpPr>
        <p:spPr>
          <a:xfrm>
            <a:off x="685800" y="2953512"/>
            <a:ext cx="2194560" cy="365760"/>
          </a:xfrm>
          <a:prstGeom prst="rect">
            <a:avLst/>
          </a:prstGeom>
          <a:noFill/>
          <a:ln/>
        </p:spPr>
        <p:txBody>
          <a:bodyPr wrap="square" lIns="0" tIns="0" rIns="0" bIns="0" rtlCol="0" anchor="t"/>
          <a:lstStyle/>
          <a:p>
            <a:pPr indent="0" marL="0">
              <a:buNone/>
            </a:pPr>
            <a:r>
              <a:rPr lang="en-US" sz="1400" dirty="0">
                <a:solidFill>
                  <a:srgbClr val="5C6B80"/>
                </a:solidFill>
              </a:rPr>
              <a:t>po pierwszych 64 B</a:t>
            </a:r>
            <a:endParaRPr lang="en-US" sz="1400" dirty="0"/>
          </a:p>
        </p:txBody>
      </p:sp>
      <p:sp>
        <p:nvSpPr>
          <p:cNvPr id="15" name="Text 12"/>
          <p:cNvSpPr txBox="1"/>
          <p:nvPr/>
        </p:nvSpPr>
        <p:spPr>
          <a:xfrm>
            <a:off x="3017520" y="2560320"/>
            <a:ext cx="2743200" cy="274320"/>
          </a:xfrm>
          <a:prstGeom prst="rect">
            <a:avLst/>
          </a:prstGeom>
          <a:noFill/>
          <a:ln/>
        </p:spPr>
        <p:txBody>
          <a:bodyPr wrap="square" lIns="0" tIns="0" rIns="0" bIns="0" rtlCol="0" anchor="t"/>
          <a:lstStyle/>
          <a:p>
            <a:pPr indent="0" marL="0">
              <a:buNone/>
            </a:pPr>
            <a:r>
              <a:rPr lang="en-US" sz="1200" dirty="0">
                <a:solidFill>
                  <a:srgbClr val="5C6B80"/>
                </a:solidFill>
              </a:rPr>
              <a:t>start retransmisji</a:t>
            </a:r>
            <a:endParaRPr lang="en-US" sz="1200" dirty="0"/>
          </a:p>
        </p:txBody>
      </p:sp>
      <p:sp>
        <p:nvSpPr>
          <p:cNvPr id="16" name="bar-bg-Fragment-Free"/>
          <p:cNvSpPr/>
          <p:nvPr/>
        </p:nvSpPr>
        <p:spPr>
          <a:xfrm>
            <a:off x="3017520" y="2926080"/>
            <a:ext cx="2743200" cy="292608"/>
          </a:xfrm>
          <a:prstGeom prst="roundRect">
            <a:avLst>
              <a:gd name="adj" fmla="val 25000"/>
            </a:avLst>
          </a:prstGeom>
          <a:solidFill>
            <a:srgbClr val="E4EAF1"/>
          </a:solidFill>
          <a:ln w="9525">
            <a:solidFill>
              <a:srgbClr val="E4EAF1"/>
            </a:solidFill>
            <a:prstDash val="solid"/>
          </a:ln>
        </p:spPr>
      </p:sp>
      <p:sp>
        <p:nvSpPr>
          <p:cNvPr id="17" name="bar-fill-Fragment-Free"/>
          <p:cNvSpPr/>
          <p:nvPr/>
        </p:nvSpPr>
        <p:spPr>
          <a:xfrm>
            <a:off x="3017520" y="2926080"/>
            <a:ext cx="960120" cy="292608"/>
          </a:xfrm>
          <a:prstGeom prst="roundRect">
            <a:avLst>
              <a:gd name="adj" fmla="val 25000"/>
            </a:avLst>
          </a:prstGeom>
          <a:solidFill>
            <a:srgbClr val="3A6EA5"/>
          </a:solidFill>
          <a:ln w="9525">
            <a:solidFill>
              <a:srgbClr val="3A6EA5"/>
            </a:solidFill>
            <a:prstDash val="solid"/>
          </a:ln>
        </p:spPr>
      </p:sp>
      <p:sp>
        <p:nvSpPr>
          <p:cNvPr id="18" name="Text 15"/>
          <p:cNvSpPr txBox="1"/>
          <p:nvPr/>
        </p:nvSpPr>
        <p:spPr>
          <a:xfrm>
            <a:off x="5989320" y="2532888"/>
            <a:ext cx="2606040" cy="777240"/>
          </a:xfrm>
          <a:prstGeom prst="rect">
            <a:avLst/>
          </a:prstGeom>
          <a:noFill/>
          <a:ln/>
        </p:spPr>
        <p:txBody>
          <a:bodyPr wrap="square" lIns="0" tIns="0" rIns="0" bIns="0" rtlCol="0" anchor="ctr"/>
          <a:lstStyle/>
          <a:p>
            <a:pPr indent="0" marL="0">
              <a:buNone/>
            </a:pPr>
            <a:r>
              <a:rPr lang="en-US" sz="1400" b="1" dirty="0">
                <a:solidFill>
                  <a:srgbClr val="1B2A41"/>
                </a:solidFill>
              </a:rPr>
              <a:t>Opóźnienie: pośrednie</a:t>
            </a:r>
            <a:endParaRPr lang="en-US" sz="1400" dirty="0"/>
          </a:p>
          <a:p>
            <a:pPr indent="0" marL="0">
              <a:buNone/>
            </a:pPr>
            <a:r>
              <a:rPr lang="en-US" sz="1400" dirty="0">
                <a:solidFill>
                  <a:srgbClr val="1B2A41"/>
                </a:solidFill>
              </a:rPr>
              <a:t>Błędy: odrzuca fragmenty kolizyjne</a:t>
            </a:r>
            <a:endParaRPr lang="en-US" sz="1400" dirty="0"/>
          </a:p>
        </p:txBody>
      </p:sp>
      <p:sp>
        <p:nvSpPr>
          <p:cNvPr id="19" name="method-Store-and-Forward"/>
          <p:cNvSpPr/>
          <p:nvPr/>
        </p:nvSpPr>
        <p:spPr>
          <a:xfrm>
            <a:off x="457200" y="3520440"/>
            <a:ext cx="8229600" cy="987552"/>
          </a:xfrm>
          <a:prstGeom prst="roundRect">
            <a:avLst>
              <a:gd name="adj" fmla="val 9259"/>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0" name="Text 17"/>
          <p:cNvSpPr txBox="1"/>
          <p:nvPr/>
        </p:nvSpPr>
        <p:spPr>
          <a:xfrm>
            <a:off x="685800" y="3657600"/>
            <a:ext cx="2194560" cy="365760"/>
          </a:xfrm>
          <a:prstGeom prst="rect">
            <a:avLst/>
          </a:prstGeom>
          <a:noFill/>
          <a:ln/>
        </p:spPr>
        <p:txBody>
          <a:bodyPr wrap="square" lIns="0" tIns="0" rIns="0" bIns="0" rtlCol="0" anchor="t"/>
          <a:lstStyle/>
          <a:p>
            <a:pPr indent="0" marL="0">
              <a:buNone/>
            </a:pPr>
            <a:r>
              <a:rPr lang="en-US" sz="1800" b="1" dirty="0">
                <a:solidFill>
                  <a:srgbClr val="0B2545"/>
                </a:solidFill>
              </a:rPr>
              <a:t>Store-and-Forward</a:t>
            </a:r>
            <a:endParaRPr lang="en-US" sz="1800" dirty="0"/>
          </a:p>
        </p:txBody>
      </p:sp>
      <p:sp>
        <p:nvSpPr>
          <p:cNvPr id="21" name="Text 18"/>
          <p:cNvSpPr txBox="1"/>
          <p:nvPr/>
        </p:nvSpPr>
        <p:spPr>
          <a:xfrm>
            <a:off x="685800" y="4050792"/>
            <a:ext cx="2194560" cy="365760"/>
          </a:xfrm>
          <a:prstGeom prst="rect">
            <a:avLst/>
          </a:prstGeom>
          <a:noFill/>
          <a:ln/>
        </p:spPr>
        <p:txBody>
          <a:bodyPr wrap="square" lIns="0" tIns="0" rIns="0" bIns="0" rtlCol="0" anchor="t"/>
          <a:lstStyle/>
          <a:p>
            <a:pPr indent="0" marL="0">
              <a:buNone/>
            </a:pPr>
            <a:r>
              <a:rPr lang="en-US" sz="1400" dirty="0">
                <a:solidFill>
                  <a:srgbClr val="5C6B80"/>
                </a:solidFill>
              </a:rPr>
              <a:t>po całej ramce i FCS</a:t>
            </a:r>
            <a:endParaRPr lang="en-US" sz="1400" dirty="0"/>
          </a:p>
        </p:txBody>
      </p:sp>
      <p:sp>
        <p:nvSpPr>
          <p:cNvPr id="22" name="Text 19"/>
          <p:cNvSpPr txBox="1"/>
          <p:nvPr/>
        </p:nvSpPr>
        <p:spPr>
          <a:xfrm>
            <a:off x="3017520" y="3657600"/>
            <a:ext cx="2743200" cy="274320"/>
          </a:xfrm>
          <a:prstGeom prst="rect">
            <a:avLst/>
          </a:prstGeom>
          <a:noFill/>
          <a:ln/>
        </p:spPr>
        <p:txBody>
          <a:bodyPr wrap="square" lIns="0" tIns="0" rIns="0" bIns="0" rtlCol="0" anchor="t"/>
          <a:lstStyle/>
          <a:p>
            <a:pPr indent="0" marL="0">
              <a:buNone/>
            </a:pPr>
            <a:r>
              <a:rPr lang="en-US" sz="1200" dirty="0">
                <a:solidFill>
                  <a:srgbClr val="5C6B80"/>
                </a:solidFill>
              </a:rPr>
              <a:t>start retransmisji</a:t>
            </a:r>
            <a:endParaRPr lang="en-US" sz="1200" dirty="0"/>
          </a:p>
        </p:txBody>
      </p:sp>
      <p:sp>
        <p:nvSpPr>
          <p:cNvPr id="23" name="bar-bg-Store-and-Forward"/>
          <p:cNvSpPr/>
          <p:nvPr/>
        </p:nvSpPr>
        <p:spPr>
          <a:xfrm>
            <a:off x="3017520" y="4023360"/>
            <a:ext cx="2743200" cy="292608"/>
          </a:xfrm>
          <a:prstGeom prst="roundRect">
            <a:avLst>
              <a:gd name="adj" fmla="val 25000"/>
            </a:avLst>
          </a:prstGeom>
          <a:solidFill>
            <a:srgbClr val="E4EAF1"/>
          </a:solidFill>
          <a:ln w="9525">
            <a:solidFill>
              <a:srgbClr val="E4EAF1"/>
            </a:solidFill>
            <a:prstDash val="solid"/>
          </a:ln>
        </p:spPr>
      </p:sp>
      <p:sp>
        <p:nvSpPr>
          <p:cNvPr id="24" name="bar-fill-Store-and-Forward"/>
          <p:cNvSpPr/>
          <p:nvPr/>
        </p:nvSpPr>
        <p:spPr>
          <a:xfrm>
            <a:off x="3017520" y="4023360"/>
            <a:ext cx="2743200" cy="292608"/>
          </a:xfrm>
          <a:prstGeom prst="roundRect">
            <a:avLst>
              <a:gd name="adj" fmla="val 25000"/>
            </a:avLst>
          </a:prstGeom>
          <a:solidFill>
            <a:srgbClr val="0E7C7B"/>
          </a:solidFill>
          <a:ln w="9525">
            <a:solidFill>
              <a:srgbClr val="0E7C7B"/>
            </a:solidFill>
            <a:prstDash val="solid"/>
          </a:ln>
        </p:spPr>
      </p:sp>
      <p:sp>
        <p:nvSpPr>
          <p:cNvPr id="25" name="Text 22"/>
          <p:cNvSpPr txBox="1"/>
          <p:nvPr/>
        </p:nvSpPr>
        <p:spPr>
          <a:xfrm>
            <a:off x="5989320" y="3630168"/>
            <a:ext cx="2606040" cy="777240"/>
          </a:xfrm>
          <a:prstGeom prst="rect">
            <a:avLst/>
          </a:prstGeom>
          <a:noFill/>
          <a:ln/>
        </p:spPr>
        <p:txBody>
          <a:bodyPr wrap="square" lIns="0" tIns="0" rIns="0" bIns="0" rtlCol="0" anchor="ctr"/>
          <a:lstStyle/>
          <a:p>
            <a:pPr indent="0" marL="0">
              <a:buNone/>
            </a:pPr>
            <a:r>
              <a:rPr lang="en-US" sz="1400" b="1" dirty="0">
                <a:solidFill>
                  <a:srgbClr val="1B2A41"/>
                </a:solidFill>
              </a:rPr>
              <a:t>Opóźnienie: największe</a:t>
            </a:r>
            <a:endParaRPr lang="en-US" sz="1400" dirty="0"/>
          </a:p>
          <a:p>
            <a:pPr indent="0" marL="0">
              <a:buNone/>
            </a:pPr>
            <a:r>
              <a:rPr lang="en-US" sz="1400" dirty="0">
                <a:solidFill>
                  <a:srgbClr val="1B2A41"/>
                </a:solidFill>
              </a:rPr>
              <a:t>Błędy: pełne filtrowanie</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Full-Duplex i autonegocjacja</a:t>
            </a:r>
            <a:endParaRPr lang="en-US" sz="3000" dirty="0"/>
          </a:p>
        </p:txBody>
      </p:sp>
      <p:sp>
        <p:nvSpPr>
          <p:cNvPr id="4" name="auto-card"/>
          <p:cNvSpPr/>
          <p:nvPr/>
        </p:nvSpPr>
        <p:spPr>
          <a:xfrm>
            <a:off x="457200" y="1188720"/>
            <a:ext cx="3931920" cy="2331720"/>
          </a:xfrm>
          <a:prstGeom prst="roundRect">
            <a:avLst>
              <a:gd name="adj" fmla="val 3922"/>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685800" y="1298448"/>
            <a:ext cx="3474720" cy="320040"/>
          </a:xfrm>
          <a:prstGeom prst="rect">
            <a:avLst/>
          </a:prstGeom>
          <a:noFill/>
          <a:ln/>
        </p:spPr>
        <p:txBody>
          <a:bodyPr wrap="square" lIns="0" tIns="0" rIns="0" bIns="0" rtlCol="0" anchor="t"/>
          <a:lstStyle/>
          <a:p>
            <a:pPr indent="0" marL="0">
              <a:buNone/>
            </a:pPr>
            <a:r>
              <a:rPr lang="en-US" sz="1800" b="1" dirty="0">
                <a:solidFill>
                  <a:srgbClr val="0E7C7B"/>
                </a:solidFill>
              </a:rPr>
              <a:t>Autonegocjacja</a:t>
            </a:r>
            <a:endParaRPr lang="en-US" sz="1800" dirty="0"/>
          </a:p>
        </p:txBody>
      </p:sp>
      <p:sp>
        <p:nvSpPr>
          <p:cNvPr id="6" name="node-Przełącznik"/>
          <p:cNvSpPr/>
          <p:nvPr/>
        </p:nvSpPr>
        <p:spPr>
          <a:xfrm>
            <a:off x="731520" y="1783080"/>
            <a:ext cx="1371600" cy="548640"/>
          </a:xfrm>
          <a:prstGeom prst="roundRect">
            <a:avLst>
              <a:gd name="adj" fmla="val 13333"/>
            </a:avLst>
          </a:prstGeom>
          <a:solidFill>
            <a:srgbClr val="0B2545"/>
          </a:solidFill>
          <a:ln w="12700">
            <a:solidFill>
              <a:srgbClr val="0B2545"/>
            </a:solidFill>
            <a:prstDash val="solid"/>
          </a:ln>
        </p:spPr>
      </p:sp>
      <p:sp>
        <p:nvSpPr>
          <p:cNvPr id="7" name="Text 4"/>
          <p:cNvSpPr txBox="1"/>
          <p:nvPr/>
        </p:nvSpPr>
        <p:spPr>
          <a:xfrm>
            <a:off x="731520" y="1783080"/>
            <a:ext cx="1371600" cy="548640"/>
          </a:xfrm>
          <a:prstGeom prst="rect">
            <a:avLst/>
          </a:prstGeom>
          <a:noFill/>
          <a:ln/>
        </p:spPr>
        <p:txBody>
          <a:bodyPr wrap="square" lIns="0" tIns="0" rIns="0" bIns="0" rtlCol="0" anchor="ctr"/>
          <a:lstStyle/>
          <a:p>
            <a:pPr algn="ctr" indent="0" marL="0">
              <a:buNone/>
            </a:pPr>
            <a:r>
              <a:rPr lang="en-US" sz="1400" b="1" dirty="0">
                <a:solidFill>
                  <a:srgbClr val="FFFFFF"/>
                </a:solidFill>
              </a:rPr>
              <a:t>Przełącznik</a:t>
            </a:r>
            <a:endParaRPr lang="en-US" sz="1400" dirty="0"/>
          </a:p>
        </p:txBody>
      </p:sp>
      <p:sp>
        <p:nvSpPr>
          <p:cNvPr id="8" name="node-Host"/>
          <p:cNvSpPr/>
          <p:nvPr/>
        </p:nvSpPr>
        <p:spPr>
          <a:xfrm>
            <a:off x="2743200" y="1783080"/>
            <a:ext cx="1371600" cy="548640"/>
          </a:xfrm>
          <a:prstGeom prst="roundRect">
            <a:avLst>
              <a:gd name="adj" fmla="val 13333"/>
            </a:avLst>
          </a:prstGeom>
          <a:solidFill>
            <a:srgbClr val="0B2545"/>
          </a:solidFill>
          <a:ln w="12700">
            <a:solidFill>
              <a:srgbClr val="0B2545"/>
            </a:solidFill>
            <a:prstDash val="solid"/>
          </a:ln>
        </p:spPr>
      </p:sp>
      <p:sp>
        <p:nvSpPr>
          <p:cNvPr id="9" name="Text 6"/>
          <p:cNvSpPr txBox="1"/>
          <p:nvPr/>
        </p:nvSpPr>
        <p:spPr>
          <a:xfrm>
            <a:off x="2743200" y="1783080"/>
            <a:ext cx="1371600" cy="548640"/>
          </a:xfrm>
          <a:prstGeom prst="rect">
            <a:avLst/>
          </a:prstGeom>
          <a:noFill/>
          <a:ln/>
        </p:spPr>
        <p:txBody>
          <a:bodyPr wrap="square" lIns="0" tIns="0" rIns="0" bIns="0" rtlCol="0" anchor="ctr"/>
          <a:lstStyle/>
          <a:p>
            <a:pPr algn="ctr" indent="0" marL="0">
              <a:buNone/>
            </a:pPr>
            <a:r>
              <a:rPr lang="en-US" sz="1400" b="1" dirty="0">
                <a:solidFill>
                  <a:srgbClr val="FFFFFF"/>
                </a:solidFill>
              </a:rPr>
              <a:t>Host</a:t>
            </a:r>
            <a:endParaRPr lang="en-US" sz="1400" dirty="0"/>
          </a:p>
        </p:txBody>
      </p:sp>
      <p:sp>
        <p:nvSpPr>
          <p:cNvPr id="10" name="Shape 7"/>
          <p:cNvSpPr/>
          <p:nvPr/>
        </p:nvSpPr>
        <p:spPr>
          <a:xfrm>
            <a:off x="2148840" y="2057400"/>
            <a:ext cx="548640" cy="0"/>
          </a:xfrm>
          <a:prstGeom prst="line">
            <a:avLst/>
          </a:prstGeom>
          <a:noFill/>
          <a:ln w="31750">
            <a:solidFill>
              <a:srgbClr val="0E7C7B"/>
            </a:solidFill>
            <a:prstDash val="solid"/>
            <a:headEnd type="triangle"/>
            <a:tailEnd type="triangle"/>
          </a:ln>
        </p:spPr>
      </p:sp>
      <p:sp>
        <p:nvSpPr>
          <p:cNvPr id="11" name="Text 8"/>
          <p:cNvSpPr txBox="1"/>
          <p:nvPr/>
        </p:nvSpPr>
        <p:spPr>
          <a:xfrm>
            <a:off x="685800" y="2514600"/>
            <a:ext cx="3474720" cy="914400"/>
          </a:xfrm>
          <a:prstGeom prst="rect">
            <a:avLst/>
          </a:prstGeom>
          <a:noFill/>
          <a:ln/>
        </p:spPr>
        <p:txBody>
          <a:bodyPr wrap="square" lIns="0" tIns="0" rIns="0" bIns="0" rtlCol="0" anchor="t"/>
          <a:lstStyle/>
          <a:p>
            <a:pPr indent="0" marL="0">
              <a:buNone/>
            </a:pPr>
            <a:r>
              <a:rPr lang="en-US" sz="1400" dirty="0">
                <a:solidFill>
                  <a:srgbClr val="1B2A41"/>
                </a:solidFill>
              </a:rPr>
              <a:t>Obie strony ogłaszają prędkości i tryby dupleksu, po czym wybierają najlepszy wspólny wariant (IEEE 802.3, klauzula 28).</a:t>
            </a:r>
            <a:endParaRPr lang="en-US" sz="1400" dirty="0"/>
          </a:p>
        </p:txBody>
      </p:sp>
      <p:sp>
        <p:nvSpPr>
          <p:cNvPr id="12" name="mismatch-card"/>
          <p:cNvSpPr/>
          <p:nvPr/>
        </p:nvSpPr>
        <p:spPr>
          <a:xfrm>
            <a:off x="4754880" y="1188720"/>
            <a:ext cx="3931920" cy="2331720"/>
          </a:xfrm>
          <a:prstGeom prst="roundRect">
            <a:avLst>
              <a:gd name="adj" fmla="val 3922"/>
            </a:avLst>
          </a:prstGeom>
          <a:solidFill>
            <a:srgbClr val="FADBD5"/>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4983480" y="1298448"/>
            <a:ext cx="3474720" cy="320040"/>
          </a:xfrm>
          <a:prstGeom prst="rect">
            <a:avLst/>
          </a:prstGeom>
          <a:noFill/>
          <a:ln/>
        </p:spPr>
        <p:txBody>
          <a:bodyPr wrap="square" lIns="0" tIns="0" rIns="0" bIns="0" rtlCol="0" anchor="t"/>
          <a:lstStyle/>
          <a:p>
            <a:pPr indent="0" marL="0">
              <a:buNone/>
            </a:pPr>
            <a:r>
              <a:rPr lang="en-US" sz="1800" b="1" dirty="0">
                <a:solidFill>
                  <a:srgbClr val="C8442F"/>
                </a:solidFill>
              </a:rPr>
              <a:t>Duplex mismatch</a:t>
            </a:r>
            <a:endParaRPr lang="en-US" sz="1800" dirty="0"/>
          </a:p>
        </p:txBody>
      </p:sp>
      <p:sp>
        <p:nvSpPr>
          <p:cNvPr id="14" name="node-Full-Duplex"/>
          <p:cNvSpPr/>
          <p:nvPr/>
        </p:nvSpPr>
        <p:spPr>
          <a:xfrm>
            <a:off x="5029200" y="1783080"/>
            <a:ext cx="1554480" cy="548640"/>
          </a:xfrm>
          <a:prstGeom prst="roundRect">
            <a:avLst>
              <a:gd name="adj" fmla="val 13333"/>
            </a:avLst>
          </a:prstGeom>
          <a:solidFill>
            <a:srgbClr val="C8442F"/>
          </a:solidFill>
          <a:ln w="12700">
            <a:solidFill>
              <a:srgbClr val="C8442F"/>
            </a:solidFill>
            <a:prstDash val="solid"/>
          </a:ln>
        </p:spPr>
      </p:sp>
      <p:sp>
        <p:nvSpPr>
          <p:cNvPr id="15" name="Text 12"/>
          <p:cNvSpPr txBox="1"/>
          <p:nvPr/>
        </p:nvSpPr>
        <p:spPr>
          <a:xfrm>
            <a:off x="5029200" y="1783080"/>
            <a:ext cx="1554480" cy="548640"/>
          </a:xfrm>
          <a:prstGeom prst="rect">
            <a:avLst/>
          </a:prstGeom>
          <a:noFill/>
          <a:ln/>
        </p:spPr>
        <p:txBody>
          <a:bodyPr wrap="square" lIns="0" tIns="0" rIns="0" bIns="0" rtlCol="0" anchor="ctr"/>
          <a:lstStyle/>
          <a:p>
            <a:pPr algn="ctr" indent="0" marL="0">
              <a:buNone/>
            </a:pPr>
            <a:r>
              <a:rPr lang="en-US" sz="1400" b="1" dirty="0">
                <a:solidFill>
                  <a:srgbClr val="FFFFFF"/>
                </a:solidFill>
              </a:rPr>
              <a:t>Full-Duplex</a:t>
            </a:r>
            <a:endParaRPr lang="en-US" sz="1400" dirty="0"/>
          </a:p>
        </p:txBody>
      </p:sp>
      <p:sp>
        <p:nvSpPr>
          <p:cNvPr id="16" name="node-Half-Duplex"/>
          <p:cNvSpPr/>
          <p:nvPr/>
        </p:nvSpPr>
        <p:spPr>
          <a:xfrm>
            <a:off x="6858000" y="1783080"/>
            <a:ext cx="1554480" cy="548640"/>
          </a:xfrm>
          <a:prstGeom prst="roundRect">
            <a:avLst>
              <a:gd name="adj" fmla="val 13333"/>
            </a:avLst>
          </a:prstGeom>
          <a:solidFill>
            <a:srgbClr val="6C7A89"/>
          </a:solidFill>
          <a:ln w="12700">
            <a:solidFill>
              <a:srgbClr val="6C7A89"/>
            </a:solidFill>
            <a:prstDash val="solid"/>
          </a:ln>
        </p:spPr>
      </p:sp>
      <p:sp>
        <p:nvSpPr>
          <p:cNvPr id="17" name="Text 14"/>
          <p:cNvSpPr txBox="1"/>
          <p:nvPr/>
        </p:nvSpPr>
        <p:spPr>
          <a:xfrm>
            <a:off x="6858000" y="1783080"/>
            <a:ext cx="1554480" cy="548640"/>
          </a:xfrm>
          <a:prstGeom prst="rect">
            <a:avLst/>
          </a:prstGeom>
          <a:noFill/>
          <a:ln/>
        </p:spPr>
        <p:txBody>
          <a:bodyPr wrap="square" lIns="0" tIns="0" rIns="0" bIns="0" rtlCol="0" anchor="ctr"/>
          <a:lstStyle/>
          <a:p>
            <a:pPr algn="ctr" indent="0" marL="0">
              <a:buNone/>
            </a:pPr>
            <a:r>
              <a:rPr lang="en-US" sz="1400" b="1" dirty="0">
                <a:solidFill>
                  <a:srgbClr val="FFFFFF"/>
                </a:solidFill>
              </a:rPr>
              <a:t>Half-Duplex</a:t>
            </a:r>
            <a:endParaRPr lang="en-US" sz="1400" dirty="0"/>
          </a:p>
        </p:txBody>
      </p:sp>
      <p:sp>
        <p:nvSpPr>
          <p:cNvPr id="18" name="Text 15"/>
          <p:cNvSpPr txBox="1"/>
          <p:nvPr/>
        </p:nvSpPr>
        <p:spPr>
          <a:xfrm>
            <a:off x="4983480" y="2514600"/>
            <a:ext cx="3474720" cy="914400"/>
          </a:xfrm>
          <a:prstGeom prst="rect">
            <a:avLst/>
          </a:prstGeom>
          <a:noFill/>
          <a:ln/>
        </p:spPr>
        <p:txBody>
          <a:bodyPr wrap="square" lIns="0" tIns="0" rIns="0" bIns="0" rtlCol="0" anchor="t"/>
          <a:lstStyle/>
          <a:p>
            <a:pPr indent="0" marL="0">
              <a:buNone/>
            </a:pPr>
            <a:r>
              <a:rPr lang="en-US" sz="1400" dirty="0">
                <a:solidFill>
                  <a:srgbClr val="1B2A41"/>
                </a:solidFill>
              </a:rPr>
              <a:t>Ręczne ustawienie tylko jednej strony. Skutek: błędy CRC, pozorne kolizje, wolna sieć.</a:t>
            </a:r>
            <a:endParaRPr lang="en-US" sz="1400" dirty="0"/>
          </a:p>
        </p:txBody>
      </p:sp>
      <p:sp>
        <p:nvSpPr>
          <p:cNvPr id="19" name="linux-tip"/>
          <p:cNvSpPr/>
          <p:nvPr/>
        </p:nvSpPr>
        <p:spPr>
          <a:xfrm>
            <a:off x="457200" y="3703320"/>
            <a:ext cx="8229600" cy="822960"/>
          </a:xfrm>
          <a:prstGeom prst="roundRect">
            <a:avLst>
              <a:gd name="adj" fmla="val 8889"/>
            </a:avLst>
          </a:prstGeom>
          <a:solidFill>
            <a:srgbClr val="0B2545"/>
          </a:solidFill>
          <a:ln w="9525">
            <a:solidFill>
              <a:srgbClr val="0B2545"/>
            </a:solidFill>
            <a:prstDash val="solid"/>
          </a:ln>
        </p:spPr>
      </p:sp>
      <p:sp>
        <p:nvSpPr>
          <p:cNvPr id="20" name="Text 17"/>
          <p:cNvSpPr txBox="1"/>
          <p:nvPr/>
        </p:nvSpPr>
        <p:spPr>
          <a:xfrm>
            <a:off x="685800" y="3703320"/>
            <a:ext cx="7772400" cy="822960"/>
          </a:xfrm>
          <a:prstGeom prst="rect">
            <a:avLst/>
          </a:prstGeom>
          <a:noFill/>
          <a:ln/>
        </p:spPr>
        <p:txBody>
          <a:bodyPr wrap="square" lIns="0" tIns="0" rIns="0" bIns="0" rtlCol="0" anchor="ctr"/>
          <a:lstStyle/>
          <a:p>
            <a:pPr indent="0" marL="0">
              <a:buNone/>
            </a:pPr>
            <a:r>
              <a:rPr lang="en-US" sz="1400" dirty="0">
                <a:solidFill>
                  <a:srgbClr val="FFFFFF"/>
                </a:solidFill>
              </a:rPr>
              <a:t>Diagnostyka w Linuksie: </a:t>
            </a:r>
            <a:pPr indent="0" marL="0">
              <a:buNone/>
            </a:pPr>
            <a:r>
              <a:rPr lang="en-US" sz="1400" b="1" dirty="0">
                <a:solidFill>
                  <a:srgbClr val="F2A541"/>
                </a:solidFill>
                <a:latin typeface="Courier New" pitchFamily="34" charset="0"/>
                <a:ea typeface="Courier New" pitchFamily="34" charset="-122"/>
                <a:cs typeface="Courier New" pitchFamily="34" charset="-120"/>
              </a:rPr>
              <a:t>collisions</a:t>
            </a:r>
            <a:pPr indent="0" marL="0">
              <a:buNone/>
            </a:pPr>
            <a:r>
              <a:rPr lang="en-US" sz="1400" dirty="0">
                <a:solidFill>
                  <a:srgbClr val="FFFFFF"/>
                </a:solidFill>
              </a:rPr>
              <a:t> w sieci Full-Duplex powinno wynosić 0. Rosnący licznik oznacza zwykle niezgodność dupleksu.</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Rodzaje i zalety przełączników</a:t>
            </a:r>
            <a:endParaRPr lang="en-US" sz="3000" dirty="0"/>
          </a:p>
        </p:txBody>
      </p:sp>
      <p:sp>
        <p:nvSpPr>
          <p:cNvPr id="4" name="types-card"/>
          <p:cNvSpPr/>
          <p:nvPr/>
        </p:nvSpPr>
        <p:spPr>
          <a:xfrm>
            <a:off x="457200" y="1188720"/>
            <a:ext cx="4023360" cy="3337560"/>
          </a:xfrm>
          <a:prstGeom prst="roundRect">
            <a:avLst>
              <a:gd name="adj" fmla="val 2740"/>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685800" y="1298448"/>
            <a:ext cx="3566160" cy="320040"/>
          </a:xfrm>
          <a:prstGeom prst="rect">
            <a:avLst/>
          </a:prstGeom>
          <a:noFill/>
          <a:ln/>
        </p:spPr>
        <p:txBody>
          <a:bodyPr wrap="square" lIns="0" tIns="0" rIns="0" bIns="0" rtlCol="0" anchor="t"/>
          <a:lstStyle/>
          <a:p>
            <a:pPr indent="0" marL="0">
              <a:buNone/>
            </a:pPr>
            <a:r>
              <a:rPr lang="en-US" sz="1800" b="1" dirty="0">
                <a:solidFill>
                  <a:srgbClr val="0E7C7B"/>
                </a:solidFill>
              </a:rPr>
              <a:t>Rodzaje</a:t>
            </a:r>
            <a:endParaRPr lang="en-US" sz="1800" dirty="0"/>
          </a:p>
        </p:txBody>
      </p:sp>
      <p:sp>
        <p:nvSpPr>
          <p:cNvPr id="6" name="Text 3"/>
          <p:cNvSpPr txBox="1"/>
          <p:nvPr/>
        </p:nvSpPr>
        <p:spPr>
          <a:xfrm>
            <a:off x="685800" y="1737360"/>
            <a:ext cx="3566160" cy="502920"/>
          </a:xfrm>
          <a:prstGeom prst="rect">
            <a:avLst/>
          </a:prstGeom>
          <a:noFill/>
          <a:ln/>
        </p:spPr>
        <p:txBody>
          <a:bodyPr wrap="square" lIns="0" tIns="0" rIns="0" bIns="0" rtlCol="0" anchor="ctr"/>
          <a:lstStyle/>
          <a:p>
            <a:pPr indent="0" marL="0">
              <a:buNone/>
            </a:pPr>
            <a:r>
              <a:rPr lang="en-US" sz="1400" b="1" dirty="0">
                <a:solidFill>
                  <a:srgbClr val="0B2545"/>
                </a:solidFill>
              </a:rPr>
              <a:t>Zarządzalność: </a:t>
            </a:r>
            <a:pPr indent="0" marL="0">
              <a:buNone/>
            </a:pPr>
            <a:r>
              <a:rPr lang="en-US" sz="1400" dirty="0">
                <a:solidFill>
                  <a:srgbClr val="1B2A41"/>
                </a:solidFill>
              </a:rPr>
              <a:t>niezarządzalne / zarządzalne</a:t>
            </a:r>
            <a:endParaRPr lang="en-US" sz="1400" dirty="0"/>
          </a:p>
        </p:txBody>
      </p:sp>
      <p:sp>
        <p:nvSpPr>
          <p:cNvPr id="7" name="Text 4"/>
          <p:cNvSpPr txBox="1"/>
          <p:nvPr/>
        </p:nvSpPr>
        <p:spPr>
          <a:xfrm>
            <a:off x="685800" y="2286000"/>
            <a:ext cx="3566160" cy="502920"/>
          </a:xfrm>
          <a:prstGeom prst="rect">
            <a:avLst/>
          </a:prstGeom>
          <a:noFill/>
          <a:ln/>
        </p:spPr>
        <p:txBody>
          <a:bodyPr wrap="square" lIns="0" tIns="0" rIns="0" bIns="0" rtlCol="0" anchor="ctr"/>
          <a:lstStyle/>
          <a:p>
            <a:pPr indent="0" marL="0">
              <a:buNone/>
            </a:pPr>
            <a:r>
              <a:rPr lang="en-US" sz="1400" b="1" dirty="0">
                <a:solidFill>
                  <a:srgbClr val="0B2545"/>
                </a:solidFill>
              </a:rPr>
              <a:t>Warstwa: </a:t>
            </a:r>
            <a:pPr indent="0" marL="0">
              <a:buNone/>
            </a:pPr>
            <a:r>
              <a:rPr lang="en-US" sz="1400" dirty="0">
                <a:solidFill>
                  <a:srgbClr val="1B2A41"/>
                </a:solidFill>
              </a:rPr>
              <a:t>L2 / L3 (multilayer)</a:t>
            </a:r>
            <a:endParaRPr lang="en-US" sz="1400" dirty="0"/>
          </a:p>
        </p:txBody>
      </p:sp>
      <p:sp>
        <p:nvSpPr>
          <p:cNvPr id="8" name="Text 5"/>
          <p:cNvSpPr txBox="1"/>
          <p:nvPr/>
        </p:nvSpPr>
        <p:spPr>
          <a:xfrm>
            <a:off x="685800" y="2834640"/>
            <a:ext cx="3566160" cy="502920"/>
          </a:xfrm>
          <a:prstGeom prst="rect">
            <a:avLst/>
          </a:prstGeom>
          <a:noFill/>
          <a:ln/>
        </p:spPr>
        <p:txBody>
          <a:bodyPr wrap="square" lIns="0" tIns="0" rIns="0" bIns="0" rtlCol="0" anchor="ctr"/>
          <a:lstStyle/>
          <a:p>
            <a:pPr indent="0" marL="0">
              <a:buNone/>
            </a:pPr>
            <a:r>
              <a:rPr lang="en-US" sz="1400" b="1" dirty="0">
                <a:solidFill>
                  <a:srgbClr val="0B2545"/>
                </a:solidFill>
              </a:rPr>
              <a:t>Budowa: </a:t>
            </a:r>
            <a:pPr indent="0" marL="0">
              <a:buNone/>
            </a:pPr>
            <a:r>
              <a:rPr lang="en-US" sz="1400" dirty="0">
                <a:solidFill>
                  <a:srgbClr val="1B2A41"/>
                </a:solidFill>
              </a:rPr>
              <a:t>stała / modularna</a:t>
            </a:r>
            <a:endParaRPr lang="en-US" sz="1400" dirty="0"/>
          </a:p>
        </p:txBody>
      </p:sp>
      <p:sp>
        <p:nvSpPr>
          <p:cNvPr id="9" name="Text 6"/>
          <p:cNvSpPr txBox="1"/>
          <p:nvPr/>
        </p:nvSpPr>
        <p:spPr>
          <a:xfrm>
            <a:off x="685800" y="3383280"/>
            <a:ext cx="3566160" cy="502920"/>
          </a:xfrm>
          <a:prstGeom prst="rect">
            <a:avLst/>
          </a:prstGeom>
          <a:noFill/>
          <a:ln/>
        </p:spPr>
        <p:txBody>
          <a:bodyPr wrap="square" lIns="0" tIns="0" rIns="0" bIns="0" rtlCol="0" anchor="ctr"/>
          <a:lstStyle/>
          <a:p>
            <a:pPr indent="0" marL="0">
              <a:buNone/>
            </a:pPr>
            <a:r>
              <a:rPr lang="en-US" sz="1400" b="1" dirty="0">
                <a:solidFill>
                  <a:srgbClr val="0B2545"/>
                </a:solidFill>
              </a:rPr>
              <a:t>Przeznaczenie: </a:t>
            </a:r>
            <a:pPr indent="0" marL="0">
              <a:buNone/>
            </a:pPr>
            <a:r>
              <a:rPr lang="en-US" sz="1400" dirty="0">
                <a:solidFill>
                  <a:srgbClr val="1B2A41"/>
                </a:solidFill>
              </a:rPr>
              <a:t>dostępowe, dystrybucyjne, rdzeniowe</a:t>
            </a:r>
            <a:endParaRPr lang="en-US" sz="1400" dirty="0"/>
          </a:p>
        </p:txBody>
      </p:sp>
      <p:sp>
        <p:nvSpPr>
          <p:cNvPr id="10" name="Text 7"/>
          <p:cNvSpPr txBox="1"/>
          <p:nvPr/>
        </p:nvSpPr>
        <p:spPr>
          <a:xfrm>
            <a:off x="685800" y="3931920"/>
            <a:ext cx="3566160" cy="502920"/>
          </a:xfrm>
          <a:prstGeom prst="rect">
            <a:avLst/>
          </a:prstGeom>
          <a:noFill/>
          <a:ln/>
        </p:spPr>
        <p:txBody>
          <a:bodyPr wrap="square" lIns="0" tIns="0" rIns="0" bIns="0" rtlCol="0" anchor="ctr"/>
          <a:lstStyle/>
          <a:p>
            <a:pPr indent="0" marL="0">
              <a:buNone/>
            </a:pPr>
            <a:r>
              <a:rPr lang="en-US" sz="1400" b="1" dirty="0">
                <a:solidFill>
                  <a:srgbClr val="0B2545"/>
                </a:solidFill>
              </a:rPr>
              <a:t>Zasilanie: </a:t>
            </a:r>
            <a:pPr indent="0" marL="0">
              <a:buNone/>
            </a:pPr>
            <a:r>
              <a:rPr lang="en-US" sz="1400" dirty="0">
                <a:solidFill>
                  <a:srgbClr val="1B2A41"/>
                </a:solidFill>
              </a:rPr>
              <a:t>PoE / PoE+ / PoE++</a:t>
            </a:r>
            <a:endParaRPr lang="en-US" sz="1400" dirty="0"/>
          </a:p>
        </p:txBody>
      </p:sp>
      <p:sp>
        <p:nvSpPr>
          <p:cNvPr id="11" name="stat-48"/>
          <p:cNvSpPr/>
          <p:nvPr/>
        </p:nvSpPr>
        <p:spPr>
          <a:xfrm>
            <a:off x="4663440" y="1188720"/>
            <a:ext cx="4023360" cy="1554480"/>
          </a:xfrm>
          <a:prstGeom prst="roundRect">
            <a:avLst>
              <a:gd name="adj" fmla="val 5882"/>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4892040" y="1234440"/>
            <a:ext cx="3566160" cy="777240"/>
          </a:xfrm>
          <a:prstGeom prst="rect">
            <a:avLst/>
          </a:prstGeom>
          <a:noFill/>
          <a:ln/>
        </p:spPr>
        <p:txBody>
          <a:bodyPr wrap="square" lIns="0" tIns="0" rIns="0" bIns="0" rtlCol="0" anchor="ctr"/>
          <a:lstStyle/>
          <a:p>
            <a:pPr indent="0" marL="0">
              <a:buNone/>
            </a:pPr>
            <a:r>
              <a:rPr lang="en-US" sz="4800" b="1" dirty="0">
                <a:solidFill>
                  <a:srgbClr val="0E7C7B"/>
                </a:solidFill>
              </a:rPr>
              <a:t>48 Gb/s</a:t>
            </a:r>
            <a:endParaRPr lang="en-US" sz="4800" dirty="0"/>
          </a:p>
        </p:txBody>
      </p:sp>
      <p:sp>
        <p:nvSpPr>
          <p:cNvPr id="13" name="Text 10"/>
          <p:cNvSpPr txBox="1"/>
          <p:nvPr/>
        </p:nvSpPr>
        <p:spPr>
          <a:xfrm>
            <a:off x="4892040" y="2011680"/>
            <a:ext cx="3566160" cy="640080"/>
          </a:xfrm>
          <a:prstGeom prst="rect">
            <a:avLst/>
          </a:prstGeom>
          <a:noFill/>
          <a:ln/>
        </p:spPr>
        <p:txBody>
          <a:bodyPr wrap="square" lIns="0" tIns="0" rIns="0" bIns="0" rtlCol="0" anchor="t"/>
          <a:lstStyle/>
          <a:p>
            <a:pPr indent="0" marL="0">
              <a:buNone/>
            </a:pPr>
            <a:r>
              <a:rPr lang="en-US" sz="1400" dirty="0">
                <a:solidFill>
                  <a:srgbClr val="1B2A41"/>
                </a:solidFill>
              </a:rPr>
              <a:t>teoretyczna przepustowość 24 portów 1 Gb/s w Full-Duplex (non-blocking)</a:t>
            </a:r>
            <a:endParaRPr lang="en-US" sz="1400" dirty="0"/>
          </a:p>
        </p:txBody>
      </p:sp>
      <p:sp>
        <p:nvSpPr>
          <p:cNvPr id="14" name="adv-card"/>
          <p:cNvSpPr/>
          <p:nvPr/>
        </p:nvSpPr>
        <p:spPr>
          <a:xfrm>
            <a:off x="4663440" y="2880360"/>
            <a:ext cx="4023360" cy="1645920"/>
          </a:xfrm>
          <a:prstGeom prst="roundRect">
            <a:avLst>
              <a:gd name="adj" fmla="val 5556"/>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4892040" y="2971800"/>
            <a:ext cx="3566160" cy="274320"/>
          </a:xfrm>
          <a:prstGeom prst="rect">
            <a:avLst/>
          </a:prstGeom>
          <a:noFill/>
          <a:ln/>
        </p:spPr>
        <p:txBody>
          <a:bodyPr wrap="square" lIns="0" tIns="0" rIns="0" bIns="0" rtlCol="0" anchor="t"/>
          <a:lstStyle/>
          <a:p>
            <a:pPr indent="0" marL="0">
              <a:buNone/>
            </a:pPr>
            <a:r>
              <a:rPr lang="en-US" sz="1600" b="1" dirty="0">
                <a:solidFill>
                  <a:srgbClr val="0B2545"/>
                </a:solidFill>
              </a:rPr>
              <a:t>Zalety względem huba</a:t>
            </a:r>
            <a:endParaRPr lang="en-US" sz="1600" dirty="0"/>
          </a:p>
        </p:txBody>
      </p:sp>
      <p:sp>
        <p:nvSpPr>
          <p:cNvPr id="16" name="adv-Mikrosegmentacja"/>
          <p:cNvSpPr/>
          <p:nvPr/>
        </p:nvSpPr>
        <p:spPr>
          <a:xfrm>
            <a:off x="4846320" y="3337560"/>
            <a:ext cx="1783080" cy="329184"/>
          </a:xfrm>
          <a:prstGeom prst="roundRect">
            <a:avLst>
              <a:gd name="adj" fmla="val 22222"/>
            </a:avLst>
          </a:prstGeom>
          <a:solidFill>
            <a:srgbClr val="D5EFEE"/>
          </a:solidFill>
          <a:ln w="9525">
            <a:solidFill>
              <a:srgbClr val="0E7C7B"/>
            </a:solidFill>
            <a:prstDash val="solid"/>
          </a:ln>
        </p:spPr>
      </p:sp>
      <p:sp>
        <p:nvSpPr>
          <p:cNvPr id="17" name="Text 14"/>
          <p:cNvSpPr txBox="1"/>
          <p:nvPr/>
        </p:nvSpPr>
        <p:spPr>
          <a:xfrm>
            <a:off x="4846320" y="3337560"/>
            <a:ext cx="1783080" cy="329184"/>
          </a:xfrm>
          <a:prstGeom prst="rect">
            <a:avLst/>
          </a:prstGeom>
          <a:noFill/>
          <a:ln/>
        </p:spPr>
        <p:txBody>
          <a:bodyPr wrap="square" lIns="0" tIns="0" rIns="0" bIns="0" rtlCol="0" anchor="ctr"/>
          <a:lstStyle/>
          <a:p>
            <a:pPr algn="ctr" indent="0" marL="0">
              <a:buNone/>
            </a:pPr>
            <a:r>
              <a:rPr lang="en-US" sz="1400" b="1" dirty="0">
                <a:solidFill>
                  <a:srgbClr val="0E7C7B"/>
                </a:solidFill>
              </a:rPr>
              <a:t>Mikrosegmentacja</a:t>
            </a:r>
            <a:endParaRPr lang="en-US" sz="1400" dirty="0"/>
          </a:p>
        </p:txBody>
      </p:sp>
      <p:sp>
        <p:nvSpPr>
          <p:cNvPr id="18" name="adv-Filtrowanie ruchu"/>
          <p:cNvSpPr/>
          <p:nvPr/>
        </p:nvSpPr>
        <p:spPr>
          <a:xfrm>
            <a:off x="6720840" y="3337560"/>
            <a:ext cx="1783080" cy="329184"/>
          </a:xfrm>
          <a:prstGeom prst="roundRect">
            <a:avLst>
              <a:gd name="adj" fmla="val 22222"/>
            </a:avLst>
          </a:prstGeom>
          <a:solidFill>
            <a:srgbClr val="D5EFEE"/>
          </a:solidFill>
          <a:ln w="9525">
            <a:solidFill>
              <a:srgbClr val="0E7C7B"/>
            </a:solidFill>
            <a:prstDash val="solid"/>
          </a:ln>
        </p:spPr>
      </p:sp>
      <p:sp>
        <p:nvSpPr>
          <p:cNvPr id="19" name="Text 16"/>
          <p:cNvSpPr txBox="1"/>
          <p:nvPr/>
        </p:nvSpPr>
        <p:spPr>
          <a:xfrm>
            <a:off x="6720840" y="3337560"/>
            <a:ext cx="1783080" cy="329184"/>
          </a:xfrm>
          <a:prstGeom prst="rect">
            <a:avLst/>
          </a:prstGeom>
          <a:noFill/>
          <a:ln/>
        </p:spPr>
        <p:txBody>
          <a:bodyPr wrap="square" lIns="0" tIns="0" rIns="0" bIns="0" rtlCol="0" anchor="ctr"/>
          <a:lstStyle/>
          <a:p>
            <a:pPr algn="ctr" indent="0" marL="0">
              <a:buNone/>
            </a:pPr>
            <a:r>
              <a:rPr lang="en-US" sz="1400" b="1" dirty="0">
                <a:solidFill>
                  <a:srgbClr val="0E7C7B"/>
                </a:solidFill>
              </a:rPr>
              <a:t>Filtrowanie ruchu</a:t>
            </a:r>
            <a:endParaRPr lang="en-US" sz="1400" dirty="0"/>
          </a:p>
        </p:txBody>
      </p:sp>
      <p:sp>
        <p:nvSpPr>
          <p:cNvPr id="20" name="adv-Bezpieczeństwo"/>
          <p:cNvSpPr/>
          <p:nvPr/>
        </p:nvSpPr>
        <p:spPr>
          <a:xfrm>
            <a:off x="4846320" y="3721608"/>
            <a:ext cx="1783080" cy="329184"/>
          </a:xfrm>
          <a:prstGeom prst="roundRect">
            <a:avLst>
              <a:gd name="adj" fmla="val 22222"/>
            </a:avLst>
          </a:prstGeom>
          <a:solidFill>
            <a:srgbClr val="D5EFEE"/>
          </a:solidFill>
          <a:ln w="9525">
            <a:solidFill>
              <a:srgbClr val="0E7C7B"/>
            </a:solidFill>
            <a:prstDash val="solid"/>
          </a:ln>
        </p:spPr>
      </p:sp>
      <p:sp>
        <p:nvSpPr>
          <p:cNvPr id="21" name="Text 18"/>
          <p:cNvSpPr txBox="1"/>
          <p:nvPr/>
        </p:nvSpPr>
        <p:spPr>
          <a:xfrm>
            <a:off x="4846320" y="3721608"/>
            <a:ext cx="1783080" cy="329184"/>
          </a:xfrm>
          <a:prstGeom prst="rect">
            <a:avLst/>
          </a:prstGeom>
          <a:noFill/>
          <a:ln/>
        </p:spPr>
        <p:txBody>
          <a:bodyPr wrap="square" lIns="0" tIns="0" rIns="0" bIns="0" rtlCol="0" anchor="ctr"/>
          <a:lstStyle/>
          <a:p>
            <a:pPr algn="ctr" indent="0" marL="0">
              <a:buNone/>
            </a:pPr>
            <a:r>
              <a:rPr lang="en-US" sz="1400" b="1" dirty="0">
                <a:solidFill>
                  <a:srgbClr val="0E7C7B"/>
                </a:solidFill>
              </a:rPr>
              <a:t>Bezpieczeństwo</a:t>
            </a:r>
            <a:endParaRPr lang="en-US" sz="1400" dirty="0"/>
          </a:p>
        </p:txBody>
      </p:sp>
      <p:sp>
        <p:nvSpPr>
          <p:cNvPr id="22" name="adv-VLAN"/>
          <p:cNvSpPr/>
          <p:nvPr/>
        </p:nvSpPr>
        <p:spPr>
          <a:xfrm>
            <a:off x="6720840" y="3721608"/>
            <a:ext cx="1783080" cy="329184"/>
          </a:xfrm>
          <a:prstGeom prst="roundRect">
            <a:avLst>
              <a:gd name="adj" fmla="val 22222"/>
            </a:avLst>
          </a:prstGeom>
          <a:solidFill>
            <a:srgbClr val="D5EFEE"/>
          </a:solidFill>
          <a:ln w="9525">
            <a:solidFill>
              <a:srgbClr val="0E7C7B"/>
            </a:solidFill>
            <a:prstDash val="solid"/>
          </a:ln>
        </p:spPr>
      </p:sp>
      <p:sp>
        <p:nvSpPr>
          <p:cNvPr id="23" name="Text 20"/>
          <p:cNvSpPr txBox="1"/>
          <p:nvPr/>
        </p:nvSpPr>
        <p:spPr>
          <a:xfrm>
            <a:off x="6720840" y="3721608"/>
            <a:ext cx="1783080" cy="329184"/>
          </a:xfrm>
          <a:prstGeom prst="rect">
            <a:avLst/>
          </a:prstGeom>
          <a:noFill/>
          <a:ln/>
        </p:spPr>
        <p:txBody>
          <a:bodyPr wrap="square" lIns="0" tIns="0" rIns="0" bIns="0" rtlCol="0" anchor="ctr"/>
          <a:lstStyle/>
          <a:p>
            <a:pPr algn="ctr" indent="0" marL="0">
              <a:buNone/>
            </a:pPr>
            <a:r>
              <a:rPr lang="en-US" sz="1400" b="1" dirty="0">
                <a:solidFill>
                  <a:srgbClr val="0E7C7B"/>
                </a:solidFill>
              </a:rPr>
              <a:t>VLAN</a:t>
            </a:r>
            <a:endParaRPr lang="en-US" sz="1400" dirty="0"/>
          </a:p>
        </p:txBody>
      </p:sp>
      <p:sp>
        <p:nvSpPr>
          <p:cNvPr id="24" name="adv-QoS i STP"/>
          <p:cNvSpPr/>
          <p:nvPr/>
        </p:nvSpPr>
        <p:spPr>
          <a:xfrm>
            <a:off x="4846320" y="4105656"/>
            <a:ext cx="1783080" cy="329184"/>
          </a:xfrm>
          <a:prstGeom prst="roundRect">
            <a:avLst>
              <a:gd name="adj" fmla="val 22222"/>
            </a:avLst>
          </a:prstGeom>
          <a:solidFill>
            <a:srgbClr val="D5EFEE"/>
          </a:solidFill>
          <a:ln w="9525">
            <a:solidFill>
              <a:srgbClr val="0E7C7B"/>
            </a:solidFill>
            <a:prstDash val="solid"/>
          </a:ln>
        </p:spPr>
      </p:sp>
      <p:sp>
        <p:nvSpPr>
          <p:cNvPr id="25" name="Text 22"/>
          <p:cNvSpPr txBox="1"/>
          <p:nvPr/>
        </p:nvSpPr>
        <p:spPr>
          <a:xfrm>
            <a:off x="4846320" y="4105656"/>
            <a:ext cx="1783080" cy="329184"/>
          </a:xfrm>
          <a:prstGeom prst="rect">
            <a:avLst/>
          </a:prstGeom>
          <a:noFill/>
          <a:ln/>
        </p:spPr>
        <p:txBody>
          <a:bodyPr wrap="square" lIns="0" tIns="0" rIns="0" bIns="0" rtlCol="0" anchor="ctr"/>
          <a:lstStyle/>
          <a:p>
            <a:pPr algn="ctr" indent="0" marL="0">
              <a:buNone/>
            </a:pPr>
            <a:r>
              <a:rPr lang="en-US" sz="1400" b="1" dirty="0">
                <a:solidFill>
                  <a:srgbClr val="0E7C7B"/>
                </a:solidFill>
              </a:rPr>
              <a:t>QoS i STP</a:t>
            </a:r>
            <a:endParaRPr lang="en-US" sz="1400" dirty="0"/>
          </a:p>
        </p:txBody>
      </p:sp>
      <p:sp>
        <p:nvSpPr>
          <p:cNvPr id="26" name="adv-Link Aggregation"/>
          <p:cNvSpPr/>
          <p:nvPr/>
        </p:nvSpPr>
        <p:spPr>
          <a:xfrm>
            <a:off x="6720840" y="4105656"/>
            <a:ext cx="1783080" cy="329184"/>
          </a:xfrm>
          <a:prstGeom prst="roundRect">
            <a:avLst>
              <a:gd name="adj" fmla="val 22222"/>
            </a:avLst>
          </a:prstGeom>
          <a:solidFill>
            <a:srgbClr val="D5EFEE"/>
          </a:solidFill>
          <a:ln w="9525">
            <a:solidFill>
              <a:srgbClr val="0E7C7B"/>
            </a:solidFill>
            <a:prstDash val="solid"/>
          </a:ln>
        </p:spPr>
      </p:sp>
      <p:sp>
        <p:nvSpPr>
          <p:cNvPr id="27" name="Text 24"/>
          <p:cNvSpPr txBox="1"/>
          <p:nvPr/>
        </p:nvSpPr>
        <p:spPr>
          <a:xfrm>
            <a:off x="6720840" y="4105656"/>
            <a:ext cx="1783080" cy="329184"/>
          </a:xfrm>
          <a:prstGeom prst="rect">
            <a:avLst/>
          </a:prstGeom>
          <a:noFill/>
          <a:ln/>
        </p:spPr>
        <p:txBody>
          <a:bodyPr wrap="square" lIns="0" tIns="0" rIns="0" bIns="0" rtlCol="0" anchor="ctr"/>
          <a:lstStyle/>
          <a:p>
            <a:pPr algn="ctr" indent="0" marL="0">
              <a:buNone/>
            </a:pPr>
            <a:r>
              <a:rPr lang="en-US" sz="1400" b="1" dirty="0">
                <a:solidFill>
                  <a:srgbClr val="0E7C7B"/>
                </a:solidFill>
              </a:rPr>
              <a:t>Link Aggregation</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Domena rozgłoszeniowa</a:t>
            </a:r>
            <a:endParaRPr lang="en-US" sz="3000" dirty="0"/>
          </a:p>
        </p:txBody>
      </p:sp>
      <p:sp>
        <p:nvSpPr>
          <p:cNvPr id="4" name="bd-def"/>
          <p:cNvSpPr/>
          <p:nvPr/>
        </p:nvSpPr>
        <p:spPr>
          <a:xfrm>
            <a:off x="457200" y="1143000"/>
            <a:ext cx="8229600" cy="868680"/>
          </a:xfrm>
          <a:prstGeom prst="roundRect">
            <a:avLst>
              <a:gd name="adj" fmla="val 10526"/>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685800" y="1143000"/>
            <a:ext cx="7772400" cy="868680"/>
          </a:xfrm>
          <a:prstGeom prst="rect">
            <a:avLst/>
          </a:prstGeom>
          <a:noFill/>
          <a:ln/>
        </p:spPr>
        <p:txBody>
          <a:bodyPr wrap="square" lIns="0" tIns="0" rIns="0" bIns="0" rtlCol="0" anchor="ctr"/>
          <a:lstStyle/>
          <a:p>
            <a:pPr indent="0" marL="0">
              <a:buNone/>
            </a:pPr>
            <a:r>
              <a:rPr lang="en-US" sz="1600" dirty="0">
                <a:solidFill>
                  <a:srgbClr val="1B2A41"/>
                </a:solidFill>
              </a:rPr>
              <a:t>Obszar sieci, do którego dociera ramka wysłana na adres </a:t>
            </a:r>
            <a:pPr indent="0" marL="0">
              <a:buNone/>
            </a:pPr>
            <a:r>
              <a:rPr lang="en-US" sz="1600" b="1" dirty="0">
                <a:solidFill>
                  <a:srgbClr val="0E7C7B"/>
                </a:solidFill>
                <a:latin typeface="Courier New" pitchFamily="34" charset="0"/>
                <a:ea typeface="Courier New" pitchFamily="34" charset="-122"/>
                <a:cs typeface="Courier New" pitchFamily="34" charset="-120"/>
              </a:rPr>
              <a:t>FF:FF:FF:FF:FF:FF</a:t>
            </a:r>
            <a:pPr indent="0" marL="0">
              <a:buNone/>
            </a:pPr>
            <a:r>
              <a:rPr lang="en-US" sz="1600" dirty="0">
                <a:solidFill>
                  <a:srgbClr val="1B2A41"/>
                </a:solidFill>
              </a:rPr>
              <a:t> przez dowolne urządzenie w tym obszarze.</a:t>
            </a:r>
            <a:endParaRPr lang="en-US" sz="1600" dirty="0"/>
          </a:p>
        </p:txBody>
      </p:sp>
      <p:sp>
        <p:nvSpPr>
          <p:cNvPr id="6" name="bd-rule"/>
          <p:cNvSpPr/>
          <p:nvPr/>
        </p:nvSpPr>
        <p:spPr>
          <a:xfrm>
            <a:off x="457200" y="2148840"/>
            <a:ext cx="8229600" cy="777240"/>
          </a:xfrm>
          <a:prstGeom prst="roundRect">
            <a:avLst>
              <a:gd name="adj" fmla="val 9412"/>
            </a:avLst>
          </a:prstGeom>
          <a:solidFill>
            <a:srgbClr val="0B2545"/>
          </a:solidFill>
          <a:ln w="9525">
            <a:solidFill>
              <a:srgbClr val="0B2545"/>
            </a:solidFill>
            <a:prstDash val="solid"/>
          </a:ln>
        </p:spPr>
      </p:sp>
      <p:sp>
        <p:nvSpPr>
          <p:cNvPr id="7" name="Text 4"/>
          <p:cNvSpPr txBox="1"/>
          <p:nvPr/>
        </p:nvSpPr>
        <p:spPr>
          <a:xfrm>
            <a:off x="731520" y="2148840"/>
            <a:ext cx="7680960" cy="777240"/>
          </a:xfrm>
          <a:prstGeom prst="rect">
            <a:avLst/>
          </a:prstGeom>
          <a:noFill/>
          <a:ln/>
        </p:spPr>
        <p:txBody>
          <a:bodyPr wrap="square" lIns="0" tIns="0" rIns="0" bIns="0" rtlCol="0" anchor="ctr"/>
          <a:lstStyle/>
          <a:p>
            <a:pPr indent="0" marL="0">
              <a:buNone/>
            </a:pPr>
            <a:r>
              <a:rPr lang="en-US" sz="1600" b="1" dirty="0">
                <a:solidFill>
                  <a:srgbClr val="FFFFFF"/>
                </a:solidFill>
              </a:rPr>
              <a:t>Most i przełącznik dzielą domeny kolizyjne, ale NIE dzielą domeny rozgłoszeniowej. Dzieli ją router (lub VLAN + routing).</a:t>
            </a:r>
            <a:endParaRPr lang="en-US" sz="1600" dirty="0"/>
          </a:p>
        </p:txBody>
      </p:sp>
      <p:sp>
        <p:nvSpPr>
          <p:cNvPr id="8" name="bd-card-1"/>
          <p:cNvSpPr/>
          <p:nvPr/>
        </p:nvSpPr>
        <p:spPr>
          <a:xfrm>
            <a:off x="457200" y="3108960"/>
            <a:ext cx="2651760" cy="1417320"/>
          </a:xfrm>
          <a:prstGeom prst="roundRect">
            <a:avLst>
              <a:gd name="adj" fmla="val 6452"/>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640080" y="3218688"/>
            <a:ext cx="2286000" cy="274320"/>
          </a:xfrm>
          <a:prstGeom prst="rect">
            <a:avLst/>
          </a:prstGeom>
          <a:noFill/>
          <a:ln/>
        </p:spPr>
        <p:txBody>
          <a:bodyPr wrap="square" lIns="0" tIns="0" rIns="0" bIns="0" rtlCol="0" anchor="t"/>
          <a:lstStyle/>
          <a:p>
            <a:pPr indent="0" marL="0">
              <a:buNone/>
            </a:pPr>
            <a:r>
              <a:rPr lang="en-US" sz="1600" b="1" dirty="0">
                <a:solidFill>
                  <a:srgbClr val="0E7C7B"/>
                </a:solidFill>
              </a:rPr>
              <a:t>Po co broadcast?</a:t>
            </a:r>
            <a:endParaRPr lang="en-US" sz="1600" dirty="0"/>
          </a:p>
        </p:txBody>
      </p:sp>
      <p:sp>
        <p:nvSpPr>
          <p:cNvPr id="10" name="Text 7"/>
          <p:cNvSpPr txBox="1"/>
          <p:nvPr/>
        </p:nvSpPr>
        <p:spPr>
          <a:xfrm>
            <a:off x="640080" y="3566160"/>
            <a:ext cx="2286000" cy="914400"/>
          </a:xfrm>
          <a:prstGeom prst="rect">
            <a:avLst/>
          </a:prstGeom>
          <a:noFill/>
          <a:ln/>
        </p:spPr>
        <p:txBody>
          <a:bodyPr wrap="square" lIns="0" tIns="0" rIns="0" bIns="0" rtlCol="0" anchor="t"/>
          <a:lstStyle/>
          <a:p>
            <a:pPr indent="0" marL="0">
              <a:buNone/>
            </a:pPr>
            <a:r>
              <a:rPr lang="en-US" sz="1400" dirty="0">
                <a:solidFill>
                  <a:srgbClr val="1B2A41"/>
                </a:solidFill>
              </a:rPr>
              <a:t>ARP: kto ma ten adres IP? Także DHCP Discover i Wake-on-LAN</a:t>
            </a:r>
            <a:endParaRPr lang="en-US" sz="1400" dirty="0"/>
          </a:p>
        </p:txBody>
      </p:sp>
      <p:sp>
        <p:nvSpPr>
          <p:cNvPr id="11" name="bd-card-2"/>
          <p:cNvSpPr/>
          <p:nvPr/>
        </p:nvSpPr>
        <p:spPr>
          <a:xfrm>
            <a:off x="3246120" y="3108960"/>
            <a:ext cx="2651760" cy="1417320"/>
          </a:xfrm>
          <a:prstGeom prst="roundRect">
            <a:avLst>
              <a:gd name="adj" fmla="val 6452"/>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3429000" y="3218688"/>
            <a:ext cx="2286000" cy="274320"/>
          </a:xfrm>
          <a:prstGeom prst="rect">
            <a:avLst/>
          </a:prstGeom>
          <a:noFill/>
          <a:ln/>
        </p:spPr>
        <p:txBody>
          <a:bodyPr wrap="square" lIns="0" tIns="0" rIns="0" bIns="0" rtlCol="0" anchor="t"/>
          <a:lstStyle/>
          <a:p>
            <a:pPr indent="0" marL="0">
              <a:buNone/>
            </a:pPr>
            <a:r>
              <a:rPr lang="en-US" sz="1600" b="1" dirty="0">
                <a:solidFill>
                  <a:srgbClr val="C8442F"/>
                </a:solidFill>
              </a:rPr>
              <a:t>Broadcast radiation</a:t>
            </a:r>
            <a:endParaRPr lang="en-US" sz="1600" dirty="0"/>
          </a:p>
        </p:txBody>
      </p:sp>
      <p:sp>
        <p:nvSpPr>
          <p:cNvPr id="13" name="Text 10"/>
          <p:cNvSpPr txBox="1"/>
          <p:nvPr/>
        </p:nvSpPr>
        <p:spPr>
          <a:xfrm>
            <a:off x="3429000" y="3566160"/>
            <a:ext cx="2286000" cy="914400"/>
          </a:xfrm>
          <a:prstGeom prst="rect">
            <a:avLst/>
          </a:prstGeom>
          <a:noFill/>
          <a:ln/>
        </p:spPr>
        <p:txBody>
          <a:bodyPr wrap="square" lIns="0" tIns="0" rIns="0" bIns="0" rtlCol="0" anchor="t"/>
          <a:lstStyle/>
          <a:p>
            <a:pPr indent="0" marL="0">
              <a:buNone/>
            </a:pPr>
            <a:r>
              <a:rPr lang="en-US" sz="1400" dirty="0">
                <a:solidFill>
                  <a:srgbClr val="1B2A41"/>
                </a:solidFill>
              </a:rPr>
              <a:t>Każdy host przetwarza każdy broadcast, więc spada wydajność</a:t>
            </a:r>
            <a:endParaRPr lang="en-US" sz="1400" dirty="0"/>
          </a:p>
        </p:txBody>
      </p:sp>
      <p:sp>
        <p:nvSpPr>
          <p:cNvPr id="14" name="bd-card-3"/>
          <p:cNvSpPr/>
          <p:nvPr/>
        </p:nvSpPr>
        <p:spPr>
          <a:xfrm>
            <a:off x="6035040" y="3108960"/>
            <a:ext cx="2651760" cy="1417320"/>
          </a:xfrm>
          <a:prstGeom prst="roundRect">
            <a:avLst>
              <a:gd name="adj" fmla="val 6452"/>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6217920" y="3218688"/>
            <a:ext cx="2286000" cy="274320"/>
          </a:xfrm>
          <a:prstGeom prst="rect">
            <a:avLst/>
          </a:prstGeom>
          <a:noFill/>
          <a:ln/>
        </p:spPr>
        <p:txBody>
          <a:bodyPr wrap="square" lIns="0" tIns="0" rIns="0" bIns="0" rtlCol="0" anchor="t"/>
          <a:lstStyle/>
          <a:p>
            <a:pPr indent="0" marL="0">
              <a:buNone/>
            </a:pPr>
            <a:r>
              <a:rPr lang="en-US" sz="1600" b="1" dirty="0">
                <a:solidFill>
                  <a:srgbClr val="C77D0A"/>
                </a:solidFill>
              </a:rPr>
              <a:t>Ile hostów?</a:t>
            </a:r>
            <a:endParaRPr lang="en-US" sz="1600" dirty="0"/>
          </a:p>
        </p:txBody>
      </p:sp>
      <p:sp>
        <p:nvSpPr>
          <p:cNvPr id="16" name="Text 13"/>
          <p:cNvSpPr txBox="1"/>
          <p:nvPr/>
        </p:nvSpPr>
        <p:spPr>
          <a:xfrm>
            <a:off x="6217920" y="3566160"/>
            <a:ext cx="2286000" cy="914400"/>
          </a:xfrm>
          <a:prstGeom prst="rect">
            <a:avLst/>
          </a:prstGeom>
          <a:noFill/>
          <a:ln/>
        </p:spPr>
        <p:txBody>
          <a:bodyPr wrap="square" lIns="0" tIns="0" rIns="0" bIns="0" rtlCol="0" anchor="t"/>
          <a:lstStyle/>
          <a:p>
            <a:pPr indent="0" marL="0">
              <a:buNone/>
            </a:pPr>
            <a:r>
              <a:rPr lang="en-US" sz="1400" dirty="0">
                <a:solidFill>
                  <a:srgbClr val="1B2A41"/>
                </a:solidFill>
              </a:rPr>
              <a:t>Powyżej ok. 200–500 narzut staje się zauważalny</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Kolizyjna a rozgłoszeniowa</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920240"/>
                <a:gridCol w="3154680"/>
                <a:gridCol w="3154680"/>
              </a:tblGrid>
              <a:tr h="548640">
                <a:tc>
                  <a:txBody>
                    <a:bodyPr/>
                    <a:lstStyle/>
                    <a:p>
                      <a:pPr indent="0" marL="0">
                        <a:buNone/>
                      </a:pPr>
                      <a:r>
                        <a:rPr lang="en-US" sz="1400" b="1" dirty="0">
                          <a:solidFill>
                            <a:srgbClr val="FFFFFF"/>
                          </a:solidFill>
                        </a:rPr>
                        <a:t>Cecha</a:t>
                      </a:r>
                      <a:endParaRPr lang="en-US" sz="1400" dirty="0"/>
                    </a:p>
                  </a:txBody>
                  <a:tcPr marL="109728" marR="109728"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Domena kolizyjna</a:t>
                      </a:r>
                      <a:endParaRPr lang="en-US" sz="1400" dirty="0"/>
                    </a:p>
                  </a:txBody>
                  <a:tcPr marL="109728" marR="109728"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Domena rozgłoszeniowa</a:t>
                      </a:r>
                      <a:endParaRPr lang="en-US" sz="1400" dirty="0"/>
                    </a:p>
                  </a:txBody>
                  <a:tcPr marL="109728" marR="109728"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2545"/>
                    </a:solidFill>
                  </a:tcPr>
                </a:tc>
              </a:tr>
              <a:tr h="548640">
                <a:tc>
                  <a:txBody>
                    <a:bodyPr/>
                    <a:lstStyle/>
                    <a:p>
                      <a:pPr indent="0" marL="0">
                        <a:buNone/>
                      </a:pPr>
                      <a:r>
                        <a:rPr lang="en-US" sz="1400" b="1" dirty="0">
                          <a:solidFill>
                            <a:srgbClr val="0B2545"/>
                          </a:solidFill>
                        </a:rPr>
                        <a:t>Warstwa OSI</a:t>
                      </a:r>
                      <a:endParaRPr lang="en-US" sz="1400" dirty="0"/>
                    </a:p>
                  </a:txBody>
                  <a:tcPr marL="109728" marR="109728"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4EAF1"/>
                    </a:solidFill>
                  </a:tcPr>
                </a:tc>
                <a:tc>
                  <a:txBody>
                    <a:bodyPr/>
                    <a:lstStyle/>
                    <a:p>
                      <a:pPr indent="0" marL="0">
                        <a:buNone/>
                      </a:pPr>
                      <a:r>
                        <a:rPr lang="en-US" sz="1400" dirty="0">
                          <a:solidFill>
                            <a:srgbClr val="1B2A41"/>
                          </a:solidFill>
                        </a:rPr>
                        <a:t>1 (fizyczna)</a:t>
                      </a:r>
                      <a:endParaRPr lang="en-US" sz="1400" dirty="0"/>
                    </a:p>
                  </a:txBody>
                  <a:tcPr marL="109728" marR="109728"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EF3F8"/>
                    </a:solidFill>
                  </a:tcPr>
                </a:tc>
                <a:tc>
                  <a:txBody>
                    <a:bodyPr/>
                    <a:lstStyle/>
                    <a:p>
                      <a:pPr indent="0" marL="0">
                        <a:buNone/>
                      </a:pPr>
                      <a:r>
                        <a:rPr lang="en-US" sz="1400" dirty="0">
                          <a:solidFill>
                            <a:srgbClr val="1B2A41"/>
                          </a:solidFill>
                        </a:rPr>
                        <a:t>2 (łącza danych)</a:t>
                      </a:r>
                      <a:endParaRPr lang="en-US" sz="1400" dirty="0"/>
                    </a:p>
                  </a:txBody>
                  <a:tcPr marL="109728" marR="109728"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EF3F8"/>
                    </a:solidFill>
                  </a:tcPr>
                </a:tc>
              </a:tr>
              <a:tr h="548640">
                <a:tc>
                  <a:txBody>
                    <a:bodyPr/>
                    <a:lstStyle/>
                    <a:p>
                      <a:pPr indent="0" marL="0">
                        <a:buNone/>
                      </a:pPr>
                      <a:r>
                        <a:rPr lang="en-US" sz="1400" b="1" dirty="0">
                          <a:solidFill>
                            <a:srgbClr val="0B2545"/>
                          </a:solidFill>
                        </a:rPr>
                        <a:t>Co ją dzieli</a:t>
                      </a:r>
                      <a:endParaRPr lang="en-US" sz="1400" dirty="0"/>
                    </a:p>
                  </a:txBody>
                  <a:tcPr marL="109728" marR="109728"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4EAF1"/>
                    </a:solidFill>
                  </a:tcPr>
                </a:tc>
                <a:tc>
                  <a:txBody>
                    <a:bodyPr/>
                    <a:lstStyle/>
                    <a:p>
                      <a:pPr indent="0" marL="0">
                        <a:buNone/>
                      </a:pPr>
                      <a:r>
                        <a:rPr lang="en-US" sz="1400" dirty="0">
                          <a:solidFill>
                            <a:srgbClr val="1B2A41"/>
                          </a:solidFill>
                        </a:rPr>
                        <a:t>most, przełącznik, router</a:t>
                      </a:r>
                      <a:endParaRPr lang="en-US" sz="1400" dirty="0"/>
                    </a:p>
                  </a:txBody>
                  <a:tcPr marL="109728" marR="109728"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tylko router (lub VLAN + routing)</a:t>
                      </a:r>
                      <a:endParaRPr lang="en-US" sz="1400" dirty="0"/>
                    </a:p>
                  </a:txBody>
                  <a:tcPr marL="109728" marR="109728"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0B2545"/>
                          </a:solidFill>
                        </a:rPr>
                        <a:t>Czego nie dzieli</a:t>
                      </a:r>
                      <a:endParaRPr lang="en-US" sz="1400" dirty="0"/>
                    </a:p>
                  </a:txBody>
                  <a:tcPr marL="109728" marR="109728"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4EAF1"/>
                    </a:solidFill>
                  </a:tcPr>
                </a:tc>
                <a:tc>
                  <a:txBody>
                    <a:bodyPr/>
                    <a:lstStyle/>
                    <a:p>
                      <a:pPr indent="0" marL="0">
                        <a:buNone/>
                      </a:pPr>
                      <a:r>
                        <a:rPr lang="en-US" sz="1400" dirty="0">
                          <a:solidFill>
                            <a:srgbClr val="1B2A41"/>
                          </a:solidFill>
                        </a:rPr>
                        <a:t>hub, repeater</a:t>
                      </a:r>
                      <a:endParaRPr lang="en-US" sz="1400" dirty="0"/>
                    </a:p>
                  </a:txBody>
                  <a:tcPr marL="109728" marR="109728"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EF3F8"/>
                    </a:solidFill>
                  </a:tcPr>
                </a:tc>
                <a:tc>
                  <a:txBody>
                    <a:bodyPr/>
                    <a:lstStyle/>
                    <a:p>
                      <a:pPr indent="0" marL="0">
                        <a:buNone/>
                      </a:pPr>
                      <a:r>
                        <a:rPr lang="en-US" sz="1400" dirty="0">
                          <a:solidFill>
                            <a:srgbClr val="1B2A41"/>
                          </a:solidFill>
                        </a:rPr>
                        <a:t>hub, most, przełącznik</a:t>
                      </a:r>
                      <a:endParaRPr lang="en-US" sz="1400" dirty="0"/>
                    </a:p>
                  </a:txBody>
                  <a:tcPr marL="109728" marR="109728"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EF3F8"/>
                    </a:solidFill>
                  </a:tcPr>
                </a:tc>
              </a:tr>
              <a:tr h="548640">
                <a:tc>
                  <a:txBody>
                    <a:bodyPr/>
                    <a:lstStyle/>
                    <a:p>
                      <a:pPr indent="0" marL="0">
                        <a:buNone/>
                      </a:pPr>
                      <a:r>
                        <a:rPr lang="en-US" sz="1400" b="1" dirty="0">
                          <a:solidFill>
                            <a:srgbClr val="0B2545"/>
                          </a:solidFill>
                        </a:rPr>
                        <a:t>Zagrożenie</a:t>
                      </a:r>
                      <a:endParaRPr lang="en-US" sz="1400" dirty="0"/>
                    </a:p>
                  </a:txBody>
                  <a:tcPr marL="109728" marR="109728"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4EAF1"/>
                    </a:solidFill>
                  </a:tcPr>
                </a:tc>
                <a:tc>
                  <a:txBody>
                    <a:bodyPr/>
                    <a:lstStyle/>
                    <a:p>
                      <a:pPr indent="0" marL="0">
                        <a:buNone/>
                      </a:pPr>
                      <a:r>
                        <a:rPr lang="en-US" sz="1400" dirty="0">
                          <a:solidFill>
                            <a:srgbClr val="1B2A41"/>
                          </a:solidFill>
                        </a:rPr>
                        <a:t>lawinowy wzrost kolizji (Half-Duplex)</a:t>
                      </a:r>
                      <a:endParaRPr lang="en-US" sz="1400" dirty="0"/>
                    </a:p>
                  </a:txBody>
                  <a:tcPr marL="109728" marR="109728"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nadmiar broadcastów, burza rozgłoszeniowa</a:t>
                      </a:r>
                      <a:endParaRPr lang="en-US" sz="1400" dirty="0"/>
                    </a:p>
                  </a:txBody>
                  <a:tcPr marL="109728" marR="109728"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0B2545"/>
                          </a:solidFill>
                        </a:rPr>
                        <a:t>Ile ich jest</a:t>
                      </a:r>
                      <a:endParaRPr lang="en-US" sz="1400" dirty="0"/>
                    </a:p>
                  </a:txBody>
                  <a:tcPr marL="109728" marR="109728"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4EAF1"/>
                    </a:solidFill>
                  </a:tcPr>
                </a:tc>
                <a:tc>
                  <a:txBody>
                    <a:bodyPr/>
                    <a:lstStyle/>
                    <a:p>
                      <a:pPr indent="0" marL="0">
                        <a:buNone/>
                      </a:pPr>
                      <a:r>
                        <a:rPr lang="en-US" sz="1400" dirty="0">
                          <a:solidFill>
                            <a:srgbClr val="1B2A41"/>
                          </a:solidFill>
                        </a:rPr>
                        <a:t>porty przełączników + 1 na każdy hub</a:t>
                      </a:r>
                      <a:endParaRPr lang="en-US" sz="1400" dirty="0"/>
                    </a:p>
                  </a:txBody>
                  <a:tcPr marL="109728" marR="109728"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EF3F8"/>
                    </a:solidFill>
                  </a:tcPr>
                </a:tc>
                <a:tc>
                  <a:txBody>
                    <a:bodyPr/>
                    <a:lstStyle/>
                    <a:p>
                      <a:pPr indent="0" marL="0">
                        <a:buNone/>
                      </a:pPr>
                      <a:r>
                        <a:rPr lang="en-US" sz="1400" dirty="0">
                          <a:solidFill>
                            <a:srgbClr val="1B2A41"/>
                          </a:solidFill>
                        </a:rPr>
                        <a:t>interfejsy routera lub liczba VLAN-ów</a:t>
                      </a:r>
                      <a:endParaRPr lang="en-US" sz="1400" dirty="0"/>
                    </a:p>
                  </a:txBody>
                  <a:tcPr marL="109728" marR="109728" marT="0" marB="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EEF3F8"/>
                    </a:solidFill>
                  </a:tcPr>
                </a:tc>
              </a:tr>
            </a:tbl>
          </a:graphicData>
        </a:graphic>
      </p:graphicFrame>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B2545"/>
                </a:solidFill>
              </a:rPr>
              <a:t>Segmentacja sieci i VLAN</a:t>
            </a:r>
            <a:endParaRPr lang="en-US" sz="3000" dirty="0"/>
          </a:p>
        </p:txBody>
      </p:sp>
      <p:sp>
        <p:nvSpPr>
          <p:cNvPr id="4" name="Shape 1"/>
          <p:cNvSpPr/>
          <p:nvPr/>
        </p:nvSpPr>
        <p:spPr>
          <a:xfrm>
            <a:off x="2651760" y="1691640"/>
            <a:ext cx="0" cy="502920"/>
          </a:xfrm>
          <a:prstGeom prst="line">
            <a:avLst/>
          </a:prstGeom>
          <a:noFill/>
          <a:ln w="38100">
            <a:solidFill>
              <a:srgbClr val="0E7C7B"/>
            </a:solidFill>
            <a:prstDash val="solid"/>
          </a:ln>
        </p:spPr>
      </p:sp>
      <p:sp>
        <p:nvSpPr>
          <p:cNvPr id="5" name="node-Router / L3"/>
          <p:cNvSpPr/>
          <p:nvPr/>
        </p:nvSpPr>
        <p:spPr>
          <a:xfrm>
            <a:off x="1920240" y="1188720"/>
            <a:ext cx="1463040" cy="502920"/>
          </a:xfrm>
          <a:prstGeom prst="roundRect">
            <a:avLst>
              <a:gd name="adj" fmla="val 14545"/>
            </a:avLst>
          </a:prstGeom>
          <a:solidFill>
            <a:srgbClr val="0B2545"/>
          </a:solidFill>
          <a:ln w="12700">
            <a:solidFill>
              <a:srgbClr val="0B2545"/>
            </a:solidFill>
            <a:prstDash val="solid"/>
          </a:ln>
        </p:spPr>
      </p:sp>
      <p:sp>
        <p:nvSpPr>
          <p:cNvPr id="6" name="Text 3"/>
          <p:cNvSpPr txBox="1"/>
          <p:nvPr/>
        </p:nvSpPr>
        <p:spPr>
          <a:xfrm>
            <a:off x="1920240" y="1188720"/>
            <a:ext cx="1463040" cy="502920"/>
          </a:xfrm>
          <a:prstGeom prst="rect">
            <a:avLst/>
          </a:prstGeom>
          <a:noFill/>
          <a:ln/>
        </p:spPr>
        <p:txBody>
          <a:bodyPr wrap="square" lIns="0" tIns="0" rIns="0" bIns="0" rtlCol="0" anchor="ctr"/>
          <a:lstStyle/>
          <a:p>
            <a:pPr algn="ctr" indent="0" marL="0">
              <a:buNone/>
            </a:pPr>
            <a:r>
              <a:rPr lang="en-US" sz="1400" b="1" dirty="0">
                <a:solidFill>
                  <a:srgbClr val="FFFFFF"/>
                </a:solidFill>
              </a:rPr>
              <a:t>Router / L3</a:t>
            </a:r>
            <a:endParaRPr lang="en-US" sz="1400" dirty="0"/>
          </a:p>
        </p:txBody>
      </p:sp>
      <p:sp>
        <p:nvSpPr>
          <p:cNvPr id="7" name="Text 4"/>
          <p:cNvSpPr txBox="1"/>
          <p:nvPr/>
        </p:nvSpPr>
        <p:spPr>
          <a:xfrm>
            <a:off x="2788920" y="1828800"/>
            <a:ext cx="1463040" cy="274320"/>
          </a:xfrm>
          <a:prstGeom prst="rect">
            <a:avLst/>
          </a:prstGeom>
          <a:noFill/>
          <a:ln/>
        </p:spPr>
        <p:txBody>
          <a:bodyPr wrap="square" lIns="0" tIns="0" rIns="0" bIns="0" rtlCol="0" anchor="t"/>
          <a:lstStyle/>
          <a:p>
            <a:pPr indent="0" marL="0">
              <a:buNone/>
            </a:pPr>
            <a:r>
              <a:rPr lang="en-US" sz="1200" dirty="0">
                <a:solidFill>
                  <a:srgbClr val="5C6B80"/>
                </a:solidFill>
              </a:rPr>
              <a:t>trunk 802.1Q</a:t>
            </a:r>
            <a:endParaRPr lang="en-US" sz="1200" dirty="0"/>
          </a:p>
        </p:txBody>
      </p:sp>
      <p:sp>
        <p:nvSpPr>
          <p:cNvPr id="8" name="node-Przełącznik zarządzalny"/>
          <p:cNvSpPr/>
          <p:nvPr/>
        </p:nvSpPr>
        <p:spPr>
          <a:xfrm>
            <a:off x="640080" y="2194560"/>
            <a:ext cx="4023360" cy="548640"/>
          </a:xfrm>
          <a:prstGeom prst="roundRect">
            <a:avLst>
              <a:gd name="adj" fmla="val 13333"/>
            </a:avLst>
          </a:prstGeom>
          <a:solidFill>
            <a:srgbClr val="0E7C7B"/>
          </a:solidFill>
          <a:ln w="12700">
            <a:solidFill>
              <a:srgbClr val="0E7C7B"/>
            </a:solidFill>
            <a:prstDash val="solid"/>
          </a:ln>
        </p:spPr>
      </p:sp>
      <p:sp>
        <p:nvSpPr>
          <p:cNvPr id="9" name="Text 6"/>
          <p:cNvSpPr txBox="1"/>
          <p:nvPr/>
        </p:nvSpPr>
        <p:spPr>
          <a:xfrm>
            <a:off x="640080" y="2194560"/>
            <a:ext cx="4023360" cy="548640"/>
          </a:xfrm>
          <a:prstGeom prst="rect">
            <a:avLst/>
          </a:prstGeom>
          <a:noFill/>
          <a:ln/>
        </p:spPr>
        <p:txBody>
          <a:bodyPr wrap="square" lIns="0" tIns="0" rIns="0" bIns="0" rtlCol="0" anchor="ctr"/>
          <a:lstStyle/>
          <a:p>
            <a:pPr algn="ctr" indent="0" marL="0">
              <a:buNone/>
            </a:pPr>
            <a:r>
              <a:rPr lang="en-US" sz="1400" b="1" dirty="0">
                <a:solidFill>
                  <a:srgbClr val="FFFFFF"/>
                </a:solidFill>
              </a:rPr>
              <a:t>Przełącznik zarządzalny</a:t>
            </a:r>
            <a:endParaRPr lang="en-US" sz="1400" dirty="0"/>
          </a:p>
        </p:txBody>
      </p:sp>
      <p:sp>
        <p:nvSpPr>
          <p:cNvPr id="10" name="Shape 7"/>
          <p:cNvSpPr/>
          <p:nvPr/>
        </p:nvSpPr>
        <p:spPr>
          <a:xfrm>
            <a:off x="1257300" y="2743200"/>
            <a:ext cx="0" cy="320040"/>
          </a:xfrm>
          <a:prstGeom prst="line">
            <a:avLst/>
          </a:prstGeom>
          <a:noFill/>
          <a:ln w="25400">
            <a:solidFill>
              <a:srgbClr val="6C7A89"/>
            </a:solidFill>
            <a:prstDash val="solid"/>
          </a:ln>
        </p:spPr>
      </p:sp>
      <p:sp>
        <p:nvSpPr>
          <p:cNvPr id="11" name="vlan-VLAN 10"/>
          <p:cNvSpPr/>
          <p:nvPr/>
        </p:nvSpPr>
        <p:spPr>
          <a:xfrm>
            <a:off x="640080" y="3063240"/>
            <a:ext cx="1234440" cy="1371600"/>
          </a:xfrm>
          <a:prstGeom prst="roundRect">
            <a:avLst>
              <a:gd name="adj" fmla="val 7407"/>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2" name="vlan-head-VLAN 10"/>
          <p:cNvSpPr/>
          <p:nvPr/>
        </p:nvSpPr>
        <p:spPr>
          <a:xfrm>
            <a:off x="640080" y="3063240"/>
            <a:ext cx="1234440" cy="411480"/>
          </a:xfrm>
          <a:prstGeom prst="roundRect">
            <a:avLst>
              <a:gd name="adj" fmla="val 17778"/>
            </a:avLst>
          </a:prstGeom>
          <a:solidFill>
            <a:srgbClr val="3A6EA5"/>
          </a:solidFill>
          <a:ln w="9525">
            <a:solidFill>
              <a:srgbClr val="3A6EA5"/>
            </a:solidFill>
            <a:prstDash val="solid"/>
          </a:ln>
        </p:spPr>
      </p:sp>
      <p:sp>
        <p:nvSpPr>
          <p:cNvPr id="13" name="Text 10"/>
          <p:cNvSpPr txBox="1"/>
          <p:nvPr/>
        </p:nvSpPr>
        <p:spPr>
          <a:xfrm>
            <a:off x="640080" y="3063240"/>
            <a:ext cx="1234440" cy="411480"/>
          </a:xfrm>
          <a:prstGeom prst="rect">
            <a:avLst/>
          </a:prstGeom>
          <a:noFill/>
          <a:ln/>
        </p:spPr>
        <p:txBody>
          <a:bodyPr wrap="square" lIns="0" tIns="0" rIns="0" bIns="0" rtlCol="0" anchor="ctr"/>
          <a:lstStyle/>
          <a:p>
            <a:pPr algn="ctr" indent="0" marL="0">
              <a:buNone/>
            </a:pPr>
            <a:r>
              <a:rPr lang="en-US" sz="1400" b="1" dirty="0">
                <a:solidFill>
                  <a:srgbClr val="FFFFFF"/>
                </a:solidFill>
              </a:rPr>
              <a:t>VLAN 10</a:t>
            </a:r>
            <a:endParaRPr lang="en-US" sz="1400" dirty="0"/>
          </a:p>
        </p:txBody>
      </p:sp>
      <p:sp>
        <p:nvSpPr>
          <p:cNvPr id="14" name="Text 11"/>
          <p:cNvSpPr txBox="1"/>
          <p:nvPr/>
        </p:nvSpPr>
        <p:spPr>
          <a:xfrm>
            <a:off x="640080" y="3566160"/>
            <a:ext cx="1234440" cy="274320"/>
          </a:xfrm>
          <a:prstGeom prst="rect">
            <a:avLst/>
          </a:prstGeom>
          <a:noFill/>
          <a:ln/>
        </p:spPr>
        <p:txBody>
          <a:bodyPr wrap="square" lIns="0" tIns="0" rIns="0" bIns="0" rtlCol="0" anchor="t"/>
          <a:lstStyle/>
          <a:p>
            <a:pPr algn="ctr" indent="0" marL="0">
              <a:buNone/>
            </a:pPr>
            <a:r>
              <a:rPr lang="en-US" sz="1400" b="1" dirty="0">
                <a:solidFill>
                  <a:srgbClr val="0B2545"/>
                </a:solidFill>
              </a:rPr>
              <a:t>Sprzedaż</a:t>
            </a:r>
            <a:endParaRPr lang="en-US" sz="1400" dirty="0"/>
          </a:p>
        </p:txBody>
      </p:sp>
      <p:sp>
        <p:nvSpPr>
          <p:cNvPr id="15" name="Text 12"/>
          <p:cNvSpPr txBox="1"/>
          <p:nvPr/>
        </p:nvSpPr>
        <p:spPr>
          <a:xfrm>
            <a:off x="640080" y="3931920"/>
            <a:ext cx="1234440" cy="274320"/>
          </a:xfrm>
          <a:prstGeom prst="rect">
            <a:avLst/>
          </a:prstGeom>
          <a:noFill/>
          <a:ln/>
        </p:spPr>
        <p:txBody>
          <a:bodyPr wrap="square" lIns="0" tIns="0" rIns="0" bIns="0" rtlCol="0" anchor="t"/>
          <a:lstStyle/>
          <a:p>
            <a:pPr algn="ctr" indent="0" marL="0">
              <a:buNone/>
            </a:pPr>
            <a:r>
              <a:rPr lang="en-US" sz="1400" dirty="0">
                <a:solidFill>
                  <a:srgbClr val="5C6B80"/>
                </a:solidFill>
              </a:rPr>
              <a:t>~40 hostów</a:t>
            </a:r>
            <a:endParaRPr lang="en-US" sz="1400" dirty="0"/>
          </a:p>
        </p:txBody>
      </p:sp>
      <p:sp>
        <p:nvSpPr>
          <p:cNvPr id="16" name="Shape 13"/>
          <p:cNvSpPr/>
          <p:nvPr/>
        </p:nvSpPr>
        <p:spPr>
          <a:xfrm>
            <a:off x="2651760" y="2743200"/>
            <a:ext cx="0" cy="320040"/>
          </a:xfrm>
          <a:prstGeom prst="line">
            <a:avLst/>
          </a:prstGeom>
          <a:noFill/>
          <a:ln w="25400">
            <a:solidFill>
              <a:srgbClr val="6C7A89"/>
            </a:solidFill>
            <a:prstDash val="solid"/>
          </a:ln>
        </p:spPr>
      </p:sp>
      <p:sp>
        <p:nvSpPr>
          <p:cNvPr id="17" name="vlan-VLAN 20"/>
          <p:cNvSpPr/>
          <p:nvPr/>
        </p:nvSpPr>
        <p:spPr>
          <a:xfrm>
            <a:off x="2034540" y="3063240"/>
            <a:ext cx="1234440" cy="1371600"/>
          </a:xfrm>
          <a:prstGeom prst="roundRect">
            <a:avLst>
              <a:gd name="adj" fmla="val 7407"/>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8" name="vlan-head-VLAN 20"/>
          <p:cNvSpPr/>
          <p:nvPr/>
        </p:nvSpPr>
        <p:spPr>
          <a:xfrm>
            <a:off x="2034540" y="3063240"/>
            <a:ext cx="1234440" cy="411480"/>
          </a:xfrm>
          <a:prstGeom prst="roundRect">
            <a:avLst>
              <a:gd name="adj" fmla="val 17778"/>
            </a:avLst>
          </a:prstGeom>
          <a:solidFill>
            <a:srgbClr val="F2A541"/>
          </a:solidFill>
          <a:ln w="9525">
            <a:solidFill>
              <a:srgbClr val="F2A541"/>
            </a:solidFill>
            <a:prstDash val="solid"/>
          </a:ln>
        </p:spPr>
      </p:sp>
      <p:sp>
        <p:nvSpPr>
          <p:cNvPr id="19" name="Text 16"/>
          <p:cNvSpPr txBox="1"/>
          <p:nvPr/>
        </p:nvSpPr>
        <p:spPr>
          <a:xfrm>
            <a:off x="2034540" y="3063240"/>
            <a:ext cx="1234440" cy="411480"/>
          </a:xfrm>
          <a:prstGeom prst="rect">
            <a:avLst/>
          </a:prstGeom>
          <a:noFill/>
          <a:ln/>
        </p:spPr>
        <p:txBody>
          <a:bodyPr wrap="square" lIns="0" tIns="0" rIns="0" bIns="0" rtlCol="0" anchor="ctr"/>
          <a:lstStyle/>
          <a:p>
            <a:pPr algn="ctr" indent="0" marL="0">
              <a:buNone/>
            </a:pPr>
            <a:r>
              <a:rPr lang="en-US" sz="1400" b="1" dirty="0">
                <a:solidFill>
                  <a:srgbClr val="0B2545"/>
                </a:solidFill>
              </a:rPr>
              <a:t>VLAN 20</a:t>
            </a:r>
            <a:endParaRPr lang="en-US" sz="1400" dirty="0"/>
          </a:p>
        </p:txBody>
      </p:sp>
      <p:sp>
        <p:nvSpPr>
          <p:cNvPr id="20" name="Text 17"/>
          <p:cNvSpPr txBox="1"/>
          <p:nvPr/>
        </p:nvSpPr>
        <p:spPr>
          <a:xfrm>
            <a:off x="2034540" y="3566160"/>
            <a:ext cx="1234440" cy="274320"/>
          </a:xfrm>
          <a:prstGeom prst="rect">
            <a:avLst/>
          </a:prstGeom>
          <a:noFill/>
          <a:ln/>
        </p:spPr>
        <p:txBody>
          <a:bodyPr wrap="square" lIns="0" tIns="0" rIns="0" bIns="0" rtlCol="0" anchor="t"/>
          <a:lstStyle/>
          <a:p>
            <a:pPr algn="ctr" indent="0" marL="0">
              <a:buNone/>
            </a:pPr>
            <a:r>
              <a:rPr lang="en-US" sz="1400" b="1" dirty="0">
                <a:solidFill>
                  <a:srgbClr val="0B2545"/>
                </a:solidFill>
              </a:rPr>
              <a:t>Księgowość</a:t>
            </a:r>
            <a:endParaRPr lang="en-US" sz="1400" dirty="0"/>
          </a:p>
        </p:txBody>
      </p:sp>
      <p:sp>
        <p:nvSpPr>
          <p:cNvPr id="21" name="Text 18"/>
          <p:cNvSpPr txBox="1"/>
          <p:nvPr/>
        </p:nvSpPr>
        <p:spPr>
          <a:xfrm>
            <a:off x="2034540" y="3931920"/>
            <a:ext cx="1234440" cy="274320"/>
          </a:xfrm>
          <a:prstGeom prst="rect">
            <a:avLst/>
          </a:prstGeom>
          <a:noFill/>
          <a:ln/>
        </p:spPr>
        <p:txBody>
          <a:bodyPr wrap="square" lIns="0" tIns="0" rIns="0" bIns="0" rtlCol="0" anchor="t"/>
          <a:lstStyle/>
          <a:p>
            <a:pPr algn="ctr" indent="0" marL="0">
              <a:buNone/>
            </a:pPr>
            <a:r>
              <a:rPr lang="en-US" sz="1400" dirty="0">
                <a:solidFill>
                  <a:srgbClr val="5C6B80"/>
                </a:solidFill>
              </a:rPr>
              <a:t>~40 hostów</a:t>
            </a:r>
            <a:endParaRPr lang="en-US" sz="1400" dirty="0"/>
          </a:p>
        </p:txBody>
      </p:sp>
      <p:sp>
        <p:nvSpPr>
          <p:cNvPr id="22" name="Shape 19"/>
          <p:cNvSpPr/>
          <p:nvPr/>
        </p:nvSpPr>
        <p:spPr>
          <a:xfrm>
            <a:off x="4046220" y="2743200"/>
            <a:ext cx="0" cy="320040"/>
          </a:xfrm>
          <a:prstGeom prst="line">
            <a:avLst/>
          </a:prstGeom>
          <a:noFill/>
          <a:ln w="25400">
            <a:solidFill>
              <a:srgbClr val="6C7A89"/>
            </a:solidFill>
            <a:prstDash val="solid"/>
          </a:ln>
        </p:spPr>
      </p:sp>
      <p:sp>
        <p:nvSpPr>
          <p:cNvPr id="23" name="vlan-VLAN 30"/>
          <p:cNvSpPr/>
          <p:nvPr/>
        </p:nvSpPr>
        <p:spPr>
          <a:xfrm>
            <a:off x="3429000" y="3063240"/>
            <a:ext cx="1234440" cy="1371600"/>
          </a:xfrm>
          <a:prstGeom prst="roundRect">
            <a:avLst>
              <a:gd name="adj" fmla="val 7407"/>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24" name="vlan-head-VLAN 30"/>
          <p:cNvSpPr/>
          <p:nvPr/>
        </p:nvSpPr>
        <p:spPr>
          <a:xfrm>
            <a:off x="3429000" y="3063240"/>
            <a:ext cx="1234440" cy="411480"/>
          </a:xfrm>
          <a:prstGeom prst="roundRect">
            <a:avLst>
              <a:gd name="adj" fmla="val 17778"/>
            </a:avLst>
          </a:prstGeom>
          <a:solidFill>
            <a:srgbClr val="6C7A89"/>
          </a:solidFill>
          <a:ln w="9525">
            <a:solidFill>
              <a:srgbClr val="6C7A89"/>
            </a:solidFill>
            <a:prstDash val="solid"/>
          </a:ln>
        </p:spPr>
      </p:sp>
      <p:sp>
        <p:nvSpPr>
          <p:cNvPr id="25" name="Text 22"/>
          <p:cNvSpPr txBox="1"/>
          <p:nvPr/>
        </p:nvSpPr>
        <p:spPr>
          <a:xfrm>
            <a:off x="3429000" y="3063240"/>
            <a:ext cx="1234440" cy="411480"/>
          </a:xfrm>
          <a:prstGeom prst="rect">
            <a:avLst/>
          </a:prstGeom>
          <a:noFill/>
          <a:ln/>
        </p:spPr>
        <p:txBody>
          <a:bodyPr wrap="square" lIns="0" tIns="0" rIns="0" bIns="0" rtlCol="0" anchor="ctr"/>
          <a:lstStyle/>
          <a:p>
            <a:pPr algn="ctr" indent="0" marL="0">
              <a:buNone/>
            </a:pPr>
            <a:r>
              <a:rPr lang="en-US" sz="1400" b="1" dirty="0">
                <a:solidFill>
                  <a:srgbClr val="FFFFFF"/>
                </a:solidFill>
              </a:rPr>
              <a:t>VLAN 30</a:t>
            </a:r>
            <a:endParaRPr lang="en-US" sz="1400" dirty="0"/>
          </a:p>
        </p:txBody>
      </p:sp>
      <p:sp>
        <p:nvSpPr>
          <p:cNvPr id="26" name="Text 23"/>
          <p:cNvSpPr txBox="1"/>
          <p:nvPr/>
        </p:nvSpPr>
        <p:spPr>
          <a:xfrm>
            <a:off x="3429000" y="3566160"/>
            <a:ext cx="1234440" cy="274320"/>
          </a:xfrm>
          <a:prstGeom prst="rect">
            <a:avLst/>
          </a:prstGeom>
          <a:noFill/>
          <a:ln/>
        </p:spPr>
        <p:txBody>
          <a:bodyPr wrap="square" lIns="0" tIns="0" rIns="0" bIns="0" rtlCol="0" anchor="t"/>
          <a:lstStyle/>
          <a:p>
            <a:pPr algn="ctr" indent="0" marL="0">
              <a:buNone/>
            </a:pPr>
            <a:r>
              <a:rPr lang="en-US" sz="1400" b="1" dirty="0">
                <a:solidFill>
                  <a:srgbClr val="0B2545"/>
                </a:solidFill>
              </a:rPr>
              <a:t>IT</a:t>
            </a:r>
            <a:endParaRPr lang="en-US" sz="1400" dirty="0"/>
          </a:p>
        </p:txBody>
      </p:sp>
      <p:sp>
        <p:nvSpPr>
          <p:cNvPr id="27" name="Text 24"/>
          <p:cNvSpPr txBox="1"/>
          <p:nvPr/>
        </p:nvSpPr>
        <p:spPr>
          <a:xfrm>
            <a:off x="3429000" y="3931920"/>
            <a:ext cx="1234440" cy="274320"/>
          </a:xfrm>
          <a:prstGeom prst="rect">
            <a:avLst/>
          </a:prstGeom>
          <a:noFill/>
          <a:ln/>
        </p:spPr>
        <p:txBody>
          <a:bodyPr wrap="square" lIns="0" tIns="0" rIns="0" bIns="0" rtlCol="0" anchor="t"/>
          <a:lstStyle/>
          <a:p>
            <a:pPr algn="ctr" indent="0" marL="0">
              <a:buNone/>
            </a:pPr>
            <a:r>
              <a:rPr lang="en-US" sz="1400" dirty="0">
                <a:solidFill>
                  <a:srgbClr val="5C6B80"/>
                </a:solidFill>
              </a:rPr>
              <a:t>~40 hostów</a:t>
            </a:r>
            <a:endParaRPr lang="en-US" sz="1400" dirty="0"/>
          </a:p>
        </p:txBody>
      </p:sp>
      <p:sp>
        <p:nvSpPr>
          <p:cNvPr id="28" name="Text 25"/>
          <p:cNvSpPr txBox="1"/>
          <p:nvPr/>
        </p:nvSpPr>
        <p:spPr>
          <a:xfrm>
            <a:off x="5212080" y="1188720"/>
            <a:ext cx="3474720" cy="365760"/>
          </a:xfrm>
          <a:prstGeom prst="rect">
            <a:avLst/>
          </a:prstGeom>
          <a:noFill/>
          <a:ln/>
        </p:spPr>
        <p:txBody>
          <a:bodyPr wrap="square" lIns="0" tIns="0" rIns="0" bIns="0" rtlCol="0" anchor="t"/>
          <a:lstStyle/>
          <a:p>
            <a:pPr indent="0" marL="0">
              <a:buNone/>
            </a:pPr>
            <a:r>
              <a:rPr lang="en-US" sz="1800" b="1" dirty="0">
                <a:solidFill>
                  <a:srgbClr val="0E7C7B"/>
                </a:solidFill>
              </a:rPr>
              <a:t>Po co segmentować?</a:t>
            </a:r>
            <a:endParaRPr lang="en-US" sz="1800" dirty="0"/>
          </a:p>
        </p:txBody>
      </p:sp>
      <p:sp>
        <p:nvSpPr>
          <p:cNvPr id="29" name="Text 26"/>
          <p:cNvSpPr txBox="1"/>
          <p:nvPr/>
        </p:nvSpPr>
        <p:spPr>
          <a:xfrm>
            <a:off x="5212080" y="1645920"/>
            <a:ext cx="347472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A41"/>
                </a:solidFill>
              </a:rPr>
              <a:t>Mniejsze domeny rozgłoszeniowe</a:t>
            </a:r>
            <a:endParaRPr lang="en-US" sz="1500" dirty="0"/>
          </a:p>
          <a:p>
            <a:pPr marL="342900" indent="-342900">
              <a:spcAft>
                <a:spcPts val="600"/>
              </a:spcAft>
              <a:buSzPct val="100000"/>
              <a:buChar char="•"/>
            </a:pPr>
            <a:r>
              <a:rPr lang="en-US" sz="1500" dirty="0">
                <a:solidFill>
                  <a:srgbClr val="1B2A41"/>
                </a:solidFill>
              </a:rPr>
              <a:t>Bezpieczeństwo i listy ACL</a:t>
            </a:r>
            <a:endParaRPr lang="en-US" sz="1500" dirty="0"/>
          </a:p>
          <a:p>
            <a:pPr marL="342900" indent="-342900">
              <a:spcAft>
                <a:spcPts val="600"/>
              </a:spcAft>
              <a:buSzPct val="100000"/>
              <a:buChar char="•"/>
            </a:pPr>
            <a:r>
              <a:rPr lang="en-US" sz="1500" dirty="0">
                <a:solidFill>
                  <a:srgbClr val="1B2A41"/>
                </a:solidFill>
              </a:rPr>
              <a:t>Wydajność: VoIP osobno od plików</a:t>
            </a:r>
            <a:endParaRPr lang="en-US" sz="1500" dirty="0"/>
          </a:p>
          <a:p>
            <a:pPr marL="342900" indent="-342900">
              <a:spcAft>
                <a:spcPts val="600"/>
              </a:spcAft>
              <a:buSzPct val="100000"/>
              <a:buChar char="•"/>
            </a:pPr>
            <a:r>
              <a:rPr lang="en-US" sz="1500" dirty="0">
                <a:solidFill>
                  <a:srgbClr val="1B2A41"/>
                </a:solidFill>
              </a:rPr>
              <a:t>Odwzorowanie struktury firmy</a:t>
            </a:r>
            <a:endParaRPr lang="en-US" sz="1500" dirty="0"/>
          </a:p>
          <a:p>
            <a:pPr marL="342900" indent="-342900">
              <a:buSzPct val="100000"/>
              <a:buChar char="•"/>
            </a:pPr>
            <a:r>
              <a:rPr lang="en-US" sz="1500" dirty="0">
                <a:solidFill>
                  <a:srgbClr val="1B2A41"/>
                </a:solidFill>
              </a:rPr>
              <a:t>Zgodność z regulacjami, np. PCI DSS</a:t>
            </a:r>
            <a:endParaRPr lang="en-US" sz="1500" dirty="0"/>
          </a:p>
        </p:txBody>
      </p:sp>
      <p:sp>
        <p:nvSpPr>
          <p:cNvPr id="30" name="office-callout"/>
          <p:cNvSpPr/>
          <p:nvPr/>
        </p:nvSpPr>
        <p:spPr>
          <a:xfrm>
            <a:off x="5212080" y="3703320"/>
            <a:ext cx="3474720" cy="731520"/>
          </a:xfrm>
          <a:prstGeom prst="roundRect">
            <a:avLst>
              <a:gd name="adj" fmla="val 10000"/>
            </a:avLst>
          </a:prstGeom>
          <a:solidFill>
            <a:srgbClr val="D5EFEE"/>
          </a:solidFill>
          <a:ln w="9525">
            <a:solidFill>
              <a:srgbClr val="0E7C7B"/>
            </a:solidFill>
            <a:prstDash val="solid"/>
          </a:ln>
        </p:spPr>
      </p:sp>
      <p:sp>
        <p:nvSpPr>
          <p:cNvPr id="31" name="Text 28"/>
          <p:cNvSpPr txBox="1"/>
          <p:nvPr/>
        </p:nvSpPr>
        <p:spPr>
          <a:xfrm>
            <a:off x="5349240" y="3703320"/>
            <a:ext cx="3200400" cy="731520"/>
          </a:xfrm>
          <a:prstGeom prst="rect">
            <a:avLst/>
          </a:prstGeom>
          <a:noFill/>
          <a:ln/>
        </p:spPr>
        <p:txBody>
          <a:bodyPr wrap="square" lIns="0" tIns="0" rIns="0" bIns="0" rtlCol="0" anchor="ctr"/>
          <a:lstStyle/>
          <a:p>
            <a:pPr indent="0" marL="0">
              <a:buNone/>
            </a:pPr>
            <a:r>
              <a:rPr lang="en-US" sz="1400" b="1" dirty="0">
                <a:solidFill>
                  <a:srgbClr val="0B2545"/>
                </a:solidFill>
              </a:rPr>
              <a:t>Biuro: 1 domena na 120 stacji zamienia się w 3 VLAN-y po ok. 40</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8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Podsumowanie i zadanie</a:t>
            </a:r>
            <a:endParaRPr lang="en-US" sz="3000" dirty="0"/>
          </a:p>
        </p:txBody>
      </p:sp>
      <p:sp>
        <p:nvSpPr>
          <p:cNvPr id="4" name="Shape 1"/>
          <p:cNvSpPr/>
          <p:nvPr/>
        </p:nvSpPr>
        <p:spPr>
          <a:xfrm>
            <a:off x="457200" y="1371600"/>
            <a:ext cx="502920" cy="502920"/>
          </a:xfrm>
          <a:prstGeom prst="ellipse">
            <a:avLst/>
          </a:prstGeom>
          <a:solidFill>
            <a:srgbClr val="0E7C7B"/>
          </a:solidFill>
          <a:ln w="12700">
            <a:solidFill>
              <a:srgbClr val="5FD0CB"/>
            </a:solidFill>
            <a:prstDash val="solid"/>
          </a:ln>
        </p:spPr>
      </p:sp>
      <p:sp>
        <p:nvSpPr>
          <p:cNvPr id="5" name="Text 2"/>
          <p:cNvSpPr txBox="1"/>
          <p:nvPr/>
        </p:nvSpPr>
        <p:spPr>
          <a:xfrm>
            <a:off x="457200" y="13716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3"/>
          <p:cNvSpPr txBox="1"/>
          <p:nvPr/>
        </p:nvSpPr>
        <p:spPr>
          <a:xfrm>
            <a:off x="1143000" y="1280160"/>
            <a:ext cx="3291840" cy="731520"/>
          </a:xfrm>
          <a:prstGeom prst="rect">
            <a:avLst/>
          </a:prstGeom>
          <a:noFill/>
          <a:ln/>
        </p:spPr>
        <p:txBody>
          <a:bodyPr wrap="square" lIns="0" tIns="0" rIns="0" bIns="0" rtlCol="0" anchor="ctr"/>
          <a:lstStyle/>
          <a:p>
            <a:pPr indent="0" marL="0">
              <a:buNone/>
            </a:pPr>
            <a:r>
              <a:rPr lang="en-US" sz="1600" dirty="0">
                <a:solidFill>
                  <a:srgbClr val="FFFFFF"/>
                </a:solidFill>
              </a:rPr>
              <a:t>Hub widzi bity: kopiuje wszystko wszędzie</a:t>
            </a:r>
            <a:endParaRPr lang="en-US" sz="1600" dirty="0"/>
          </a:p>
        </p:txBody>
      </p:sp>
      <p:sp>
        <p:nvSpPr>
          <p:cNvPr id="7" name="Shape 4"/>
          <p:cNvSpPr/>
          <p:nvPr/>
        </p:nvSpPr>
        <p:spPr>
          <a:xfrm>
            <a:off x="457200" y="2423160"/>
            <a:ext cx="502920" cy="502920"/>
          </a:xfrm>
          <a:prstGeom prst="ellipse">
            <a:avLst/>
          </a:prstGeom>
          <a:solidFill>
            <a:srgbClr val="0E7C7B"/>
          </a:solidFill>
          <a:ln w="12700">
            <a:solidFill>
              <a:srgbClr val="5FD0CB"/>
            </a:solidFill>
            <a:prstDash val="solid"/>
          </a:ln>
        </p:spPr>
      </p:sp>
      <p:sp>
        <p:nvSpPr>
          <p:cNvPr id="8" name="Text 5"/>
          <p:cNvSpPr txBox="1"/>
          <p:nvPr/>
        </p:nvSpPr>
        <p:spPr>
          <a:xfrm>
            <a:off x="457200" y="24231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9" name="Text 6"/>
          <p:cNvSpPr txBox="1"/>
          <p:nvPr/>
        </p:nvSpPr>
        <p:spPr>
          <a:xfrm>
            <a:off x="1143000" y="2331720"/>
            <a:ext cx="3291840" cy="731520"/>
          </a:xfrm>
          <a:prstGeom prst="rect">
            <a:avLst/>
          </a:prstGeom>
          <a:noFill/>
          <a:ln/>
        </p:spPr>
        <p:txBody>
          <a:bodyPr wrap="square" lIns="0" tIns="0" rIns="0" bIns="0" rtlCol="0" anchor="ctr"/>
          <a:lstStyle/>
          <a:p>
            <a:pPr indent="0" marL="0">
              <a:buNone/>
            </a:pPr>
            <a:r>
              <a:rPr lang="en-US" sz="1600" dirty="0">
                <a:solidFill>
                  <a:srgbClr val="FFFFFF"/>
                </a:solidFill>
              </a:rPr>
              <a:t>Most i przełącznik czytają MAC: dzielą domeny kolizyjne</a:t>
            </a:r>
            <a:endParaRPr lang="en-US" sz="1600" dirty="0"/>
          </a:p>
        </p:txBody>
      </p:sp>
      <p:sp>
        <p:nvSpPr>
          <p:cNvPr id="10" name="Shape 7"/>
          <p:cNvSpPr/>
          <p:nvPr/>
        </p:nvSpPr>
        <p:spPr>
          <a:xfrm>
            <a:off x="457200" y="3474720"/>
            <a:ext cx="502920" cy="502920"/>
          </a:xfrm>
          <a:prstGeom prst="ellipse">
            <a:avLst/>
          </a:prstGeom>
          <a:solidFill>
            <a:srgbClr val="0E7C7B"/>
          </a:solidFill>
          <a:ln w="12700">
            <a:solidFill>
              <a:srgbClr val="5FD0CB"/>
            </a:solidFill>
            <a:prstDash val="solid"/>
          </a:ln>
        </p:spPr>
      </p:sp>
      <p:sp>
        <p:nvSpPr>
          <p:cNvPr id="11" name="Text 8"/>
          <p:cNvSpPr txBox="1"/>
          <p:nvPr/>
        </p:nvSpPr>
        <p:spPr>
          <a:xfrm>
            <a:off x="457200" y="34747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2" name="Text 9"/>
          <p:cNvSpPr txBox="1"/>
          <p:nvPr/>
        </p:nvSpPr>
        <p:spPr>
          <a:xfrm>
            <a:off x="1143000" y="3383280"/>
            <a:ext cx="3291840" cy="731520"/>
          </a:xfrm>
          <a:prstGeom prst="rect">
            <a:avLst/>
          </a:prstGeom>
          <a:noFill/>
          <a:ln/>
        </p:spPr>
        <p:txBody>
          <a:bodyPr wrap="square" lIns="0" tIns="0" rIns="0" bIns="0" rtlCol="0" anchor="ctr"/>
          <a:lstStyle/>
          <a:p>
            <a:pPr indent="0" marL="0">
              <a:buNone/>
            </a:pPr>
            <a:r>
              <a:rPr lang="en-US" sz="1600" dirty="0">
                <a:solidFill>
                  <a:srgbClr val="FFFFFF"/>
                </a:solidFill>
              </a:rPr>
              <a:t>Router (lub VLAN + routing) dzieli domeny rozgłoszeniowe</a:t>
            </a:r>
            <a:endParaRPr lang="en-US" sz="1600" dirty="0"/>
          </a:p>
        </p:txBody>
      </p:sp>
      <p:sp>
        <p:nvSpPr>
          <p:cNvPr id="13" name="exercise-card"/>
          <p:cNvSpPr/>
          <p:nvPr/>
        </p:nvSpPr>
        <p:spPr>
          <a:xfrm>
            <a:off x="4754880" y="1188720"/>
            <a:ext cx="3931920" cy="3337560"/>
          </a:xfrm>
          <a:prstGeom prst="roundRect">
            <a:avLst>
              <a:gd name="adj" fmla="val 2740"/>
            </a:avLst>
          </a:prstGeom>
          <a:solidFill>
            <a:srgbClr val="FFFFFF"/>
          </a:solidFill>
          <a:ln w="9525">
            <a:solidFill>
              <a:srgbClr val="DCE4EE"/>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4983480" y="1298448"/>
            <a:ext cx="3474720" cy="365760"/>
          </a:xfrm>
          <a:prstGeom prst="rect">
            <a:avLst/>
          </a:prstGeom>
          <a:noFill/>
          <a:ln/>
        </p:spPr>
        <p:txBody>
          <a:bodyPr wrap="square" lIns="0" tIns="0" rIns="0" bIns="0" rtlCol="0" anchor="t"/>
          <a:lstStyle/>
          <a:p>
            <a:pPr indent="0" marL="0">
              <a:buNone/>
            </a:pPr>
            <a:r>
              <a:rPr lang="en-US" sz="2000" b="1" dirty="0">
                <a:solidFill>
                  <a:srgbClr val="0E7C7B"/>
                </a:solidFill>
              </a:rPr>
              <a:t>Zadanie</a:t>
            </a:r>
            <a:endParaRPr lang="en-US" sz="2000" dirty="0"/>
          </a:p>
        </p:txBody>
      </p:sp>
      <p:sp>
        <p:nvSpPr>
          <p:cNvPr id="15" name="Text 12"/>
          <p:cNvSpPr txBox="1"/>
          <p:nvPr/>
        </p:nvSpPr>
        <p:spPr>
          <a:xfrm>
            <a:off x="4983480" y="1737360"/>
            <a:ext cx="3474720" cy="1554480"/>
          </a:xfrm>
          <a:prstGeom prst="rect">
            <a:avLst/>
          </a:prstGeom>
          <a:noFill/>
          <a:ln/>
        </p:spPr>
        <p:txBody>
          <a:bodyPr wrap="square" lIns="0" tIns="0" rIns="0" bIns="0" rtlCol="0" anchor="t"/>
          <a:lstStyle/>
          <a:p>
            <a:pPr indent="0" marL="0">
              <a:buNone/>
            </a:pPr>
            <a:r>
              <a:rPr lang="en-US" sz="1500" dirty="0">
                <a:solidFill>
                  <a:srgbClr val="1B2A41"/>
                </a:solidFill>
              </a:rPr>
              <a:t>1 router, 2 przełączniki po 8 portów Full-Duplex, 1 hub z 3 komputerami podłączony do przełącznika 1. Ile jest domen rozgłoszeniowych i kolizyjnych?</a:t>
            </a:r>
            <a:endParaRPr lang="en-US" sz="1500" dirty="0"/>
          </a:p>
        </p:txBody>
      </p:sp>
      <p:sp>
        <p:nvSpPr>
          <p:cNvPr id="16" name="answer"/>
          <p:cNvSpPr/>
          <p:nvPr/>
        </p:nvSpPr>
        <p:spPr>
          <a:xfrm>
            <a:off x="4983480" y="3474720"/>
            <a:ext cx="3474720" cy="868680"/>
          </a:xfrm>
          <a:prstGeom prst="roundRect">
            <a:avLst>
              <a:gd name="adj" fmla="val 8421"/>
            </a:avLst>
          </a:prstGeom>
          <a:solidFill>
            <a:srgbClr val="D5EFEE"/>
          </a:solidFill>
          <a:ln w="9525">
            <a:solidFill>
              <a:srgbClr val="0E7C7B"/>
            </a:solidFill>
            <a:prstDash val="solid"/>
          </a:ln>
        </p:spPr>
      </p:sp>
      <p:sp>
        <p:nvSpPr>
          <p:cNvPr id="17" name="Text 14"/>
          <p:cNvSpPr txBox="1"/>
          <p:nvPr/>
        </p:nvSpPr>
        <p:spPr>
          <a:xfrm>
            <a:off x="5120640" y="3474720"/>
            <a:ext cx="3200400" cy="868680"/>
          </a:xfrm>
          <a:prstGeom prst="rect">
            <a:avLst/>
          </a:prstGeom>
          <a:noFill/>
          <a:ln/>
        </p:spPr>
        <p:txBody>
          <a:bodyPr wrap="square" lIns="0" tIns="0" rIns="0" bIns="0" rtlCol="0" anchor="ctr"/>
          <a:lstStyle/>
          <a:p>
            <a:pPr indent="0" marL="0">
              <a:buNone/>
            </a:pPr>
            <a:r>
              <a:rPr lang="en-US" sz="1400" b="1" dirty="0">
                <a:solidFill>
                  <a:srgbClr val="0B2545"/>
                </a:solidFill>
              </a:rPr>
              <a:t>Odpowiedź: </a:t>
            </a:r>
            <a:pPr indent="0" marL="0">
              <a:buNone/>
            </a:pPr>
            <a:r>
              <a:rPr lang="en-US" sz="1400" dirty="0">
                <a:solidFill>
                  <a:srgbClr val="0B2545"/>
                </a:solidFill>
              </a:rPr>
              <a:t>1 domena rozgłoszeniowa, 16 kolizyjnych (7 + 1 + 8)</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F"/>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Sieci dostepowe">
  <a:themeElements>
    <a:clrScheme name="Sieci dostepowe">
      <a:dk1>
        <a:srgbClr val="1B2A41"/>
      </a:dk1>
      <a:lt1>
        <a:srgbClr val="FFFFFF"/>
      </a:lt1>
      <a:dk2>
        <a:srgbClr val="0B2545"/>
      </a:dk2>
      <a:lt2>
        <a:srgbClr val="F4F7FA"/>
      </a:lt2>
      <a:accent1>
        <a:srgbClr val="0E7C7B"/>
      </a:accent1>
      <a:accent2>
        <a:srgbClr val="F2A541"/>
      </a:accent2>
      <a:accent3>
        <a:srgbClr val="C8442F"/>
      </a:accent3>
      <a:accent4>
        <a:srgbClr val="3A6EA5"/>
      </a:accent4>
      <a:accent5>
        <a:srgbClr val="6C7A89"/>
      </a:accent5>
      <a:accent6>
        <a:srgbClr val="8FB8DE"/>
      </a:accent6>
      <a:hlink>
        <a:srgbClr val="0E7C7B"/>
      </a:hlink>
      <a:folHlink>
        <a:srgbClr val="5C6B80"/>
      </a:folHlink>
    </a:clrScheme>
    <a:fontScheme name="Sieci dostepow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Urządzenia warstwy dostępu do sieci</dc:title>
  <dc:subject>PptxGenJS Presentation</dc:subject>
  <dc:creator>Prezentacja</dc:creator>
  <cp:lastModifiedBy>Prezentacja</cp:lastModifiedBy>
  <cp:revision>1</cp:revision>
  <dcterms:created xsi:type="dcterms:W3CDTF">2026-10-03T18:36:28Z</dcterms:created>
  <dcterms:modified xsi:type="dcterms:W3CDTF">2026-10-03T18:36:28Z</dcterms:modified>
</cp:coreProperties>
</file>