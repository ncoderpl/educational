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prowadzenie" id="{8d8cc8fa-922e-8b57-5926-3a009cb1878a}">
          <p14:sldIdLst>
            <p14:sldId id="256"/>
            <p14:sldId id="257"/>
            <p14:sldId id="258"/>
            <p14:sldId id="259"/>
          </p14:sldIdLst>
        </p14:section>
        <p14:section name="Adresacja IPv4" id="{96230d86-136f-e289-8620-16c4ddb5707e}">
          <p14:sldIdLst>
            <p14:sldId id="260"/>
            <p14:sldId id="261"/>
            <p14:sldId id="262"/>
            <p14:sldId id="263"/>
          </p14:sldIdLst>
        </p14:section>
        <p14:section name="Nagłówek IPv4" id="{2cf7dfb3-b781-2c03-65b8-308d9499d987}">
          <p14:sldIdLst>
            <p14:sldId id="264"/>
            <p14:sldId id="265"/>
            <p14:sldId id="266"/>
            <p14:sldId id="267"/>
          </p14:sldIdLst>
        </p14:section>
        <p14:section name="Fragmentacja i TTL" id="{8acc8b8e-fb55-946e-a613-2d5c8e24d85f}">
          <p14:sldIdLst>
            <p14:sldId id="268"/>
            <p14:sldId id="269"/>
            <p14:sldId id="270"/>
            <p14:sldId id="271"/>
          </p14:sldIdLst>
        </p14:section>
        <p14:section name="IPv6" id="{178407df-d20c-7bdd-93cc-298be07b6062}">
          <p14:sldIdLst>
            <p14:sldId id="272"/>
            <p14:sldId id="273"/>
            <p14:sldId id="274"/>
          </p14:sldIdLst>
        </p14:section>
        <p14:section name="Podsumowanie" id="{64f16b01-2298-2a10-2e26-028eb5e6a6c3}">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wszystkim. Dzisiaj zajmiemy się warstwą sieciową, a więc miejscem, w którym z wielu małych, odrębnych sieci lokalnych powstaje jedna wielka sieć, czyli internet. Gdy wysyłacie wiadomość z laptopa w Warszawie do serwera w Tokio, ta wiadomość przechodzi przez dziesiątki sieci, technologii łączy i administratorów. Żaden z nich nie musi wiedzieć nic o pozostałych. Każdy musi jedynie umieć przekazać pakiet o krok bliżej celu. I to właśnie robi protokół IP, który jest takim klejem całego internetu. W ciągu najbliższych trzydziestu minut przejdziemy przez trzy duże tematy. Najpierw rola warstwy sieciowej i adresacja IPv4, łącznie z podsieciami. Potem najważniejsza część, czyli nagłówek IPv4 analizowany pole po polu, ze szczególnym uwzględnieniem długości nagłówka, typu usługi, czasu życia, fragmentacji i pola protokołu. Na końcu porównamy to z IPv6 i zobaczymy, jak projektanci poprawili to, co w poprzedniku okazało się kłopotliwe. Obiecuję, że będą też obliczenia, ale takie, które da się zrobić w głowie. Zaczynajmy. Jeśli w trakcie pojawią się pytania, śmiało przerywajcie. To temat, który najlepiej się układa, gdy można go zderzyć z własnym doświadczeniem, na przykład z tym, co widzieliście w poleceniach ping czy traceroute.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Spójrzmy na plan. Mamy sześć bloków. W pierwszym omówimy rolę warstwy trzeciej: co ona robi, a czego celowo nie robi. W drugim zajmiemy się adresacją logiczną w IPv4, czyli klasami, CIDR-em, adresami prywatnymi i podsieciowaniem. Trzeci blok to serce wykładu: nagłówek IPv4, w którym przejdziemy przez wszystkie istotne pola. Czwarty to fragmentacja, bo to ona jest najbardziej podatna na nieporozumienia, więc zrobimy pełny przykład z obliczeniami. Piąty to TTL i traceroute, czyli piękny przykład na to, jak mechanizm zaprojektowany do jednego celu zaczyna służyć do czegoś zupełnie innego. A szósty to IPv6 i porównanie obu wersji. Jedną rzecz proszę zapamiętać na starcie. Cały czas będziemy wracać do jednego wątku: IPv4 powstał w 1981 roku, a wciąż niesie większość światowego ruchu. Każde pole jego nagłówka jest więc wynikiem jakiejś przemyślanej decyzji, i jeśli zrozumiemy te decyzje, to nagłówek przestanie być listą pól do wykucia, a stanie się logiczną historią. Na koniec będą zadania sprawdzające. A jeśli ktoś woli myśleć praktycznie: po tym wykładzie powinniście umieć policzyć podsieć, przeczytać nagłówek w Wiresharku i wyjaśnić, dlaczego pakiet o rozmiarze tysiąca pięciuset bajtów czasem nie przechodzi przez tunel VPN.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Zacznijmy od pytania, co właściwie robi warstwa sieciowa. Jej zadaniem jest dostarczenie danych od hosta źródłowego do hosta docelowego, przez potencjalnie wiele pośredniczących sieci, niezależnie od technologii warstwy drugiej w każdej z nich. Na slajdzie widzicie sześć zadań. Pierwsze to adresacja logiczna, czyli nadanie każdemu urządzeniu adresu niezależnego od sprzętu. Drugie to routing, czyli wybór ścieżki, na podstawie tablic budowanych statycznie albo dynamicznie, na przykład przez OSPF czy BGP. Trzecie to forwarding, czyli to, co router robi dla każdego pakietu w locie: odbiera, sprawdza adres docelowy w tablicy i wysyła na właściwy interfejs. Czwarte to fragmentacja, czyli dopasowanie rozmiaru pakietu do MTU kolejnych łączy. Piąte to opcjonalne oznaczanie klasy usługi, wykorzystywane przez mechanizmy QoS. I szóste to kontrola czasu życia pakietu, która zapobiega krążeniu w pętlach. Teraz ważna uwaga. Warstwa sieciowa nie zajmuje się niezawodnością, kontrolą przepływu ani zachowaniem kolejności. Jeśli te rzeczy są potrzebne, zajmuje się nimi TCP albo aplikacja używająca UDP. Ta pozorna skromność to nie wada, tylko świadoma decyzja projektowa, o której zaraz powiem. Warto zauważyć, że routing i forwarding to nie to samo. Routing to budowanie tablic, czyli planowanie trasy, a forwarding to wykonywanie jej dla każdego pakietu. Pierwsze dzieje się powoli i rzadko, drugie miliardy razy na sekundę.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Protokół IP, i w wersji czwartej, i w szóstej, to usługa bezpołączeniowa, nazywana też best-effort, czyli najlepszy możliwy wysiłek, ale bez gwarancji. Co to oznacza w praktyce? Każdy datagram jest przetwarzany niezależnie od poprzednich i następnych. Router nie pamięta żadnej rozmowy. Kolejne datagramy tej samej komunikacji mogą pójść różnymi trasami i dotrzeć w innej kolejności. Datagram może zostać odrzucony, na przykład przy przeciążeniu albo po wygaśnięciu TTL, i nikt nie musi o tym poinformować nadawcy. Nie ma potwierdzeń ani retransmisji. Jeśli aplikacja potrzebuje niezawodności, korzysta z TCP, który buduje ją na zawodnej usłudze IP. Ta filozofia nazywa się zasadą end-to-end: prosty rdzeń sieci i inteligentne brzegi. Dzięki temu routery szkieletowe nie muszą pamiętać nic o pojedynczych połączeniach i mogą działać błyskawicznie. To jedna z decyzji, które pozwoliły internetowi urosnąć do miliardów urządzeń. A po prawej widzicie enkapsulację, czyli matrioszkę. Ramka Ethernet zawiera nagłówek IP, ten zawiera nagłówek TCP albo UDP, a w środku są dane aplikacji. Pole EtherType, 0x0800 dla IPv4 i 0x86DD dla IPv6, mówi odbiorcy, że ramkę trzeba przekazać do modułu IP. Zwróćcie uwagę, że ta prostota ma też cenę: sieć nie obiecuje nic. Dlatego tak ważne jest, kto pilnuje niezawodności. W modelu end-to-end robią to hosty, a nie routery, i to był kluczowy zakład projektantów internetu.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Ktoś mógłby zapytać: po co nam adres IP, skoro każda karta sieciowa ma już adres MAC? Odpowiedź brzmi: bo MAC jest płaski. Jest przypisany na stałe do interfejsu przez producenta i nie niesie żadnej informacji o tym, gdzie urządzenie znajduje się w sieci. Gdyby internet trasował ruch po adresach MAC, każdy router szkieletowy musiałby mieć w tablicy wpis dla każdego z miliardów urządzeń na świecie. To jest po prostu niewykonalne. Adres IP rozwiązuje ten problem przez hierarchię. Wyobraźcie sobie adres pocztowy: kraj, miasto, ulica, numer domu. Adres IP działa tak samo. Ma część sieciową, która odpowiada miastu, i część hosta, która odpowiada numerowi domu. Dzięki temu router szkieletowy musi znać trasę tylko do całych sieci, czyli agregowanych bloków adresów, a nie do każdego komputera z osobna. To właśnie czyni routing skalowalnym. Druga różnica jest równie ważna. MAC jest związany ze sprzętem i nie zmienia się, gdy przeniesiecie laptopa do innej sieci. Adres IP jest związany z lokalizacją w topologii, więc po przeniesieniu do innej sieci musi się zmienić, chyba że zastosujemy specjalne mechanizmy, jak Mobile IP. Mała uwaga na marginesie: nawet po zmianie adresu IP adres MAC pozostaje ten sam. Oba adresy współpracują, bo w sieci lokalnej do ostatniego odcinka drogi i tak potrzebny jest MAC, ale to zagadnienie dla protokołu 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Adres IPv4 to liczba trzydziestodwubitowa, zapisywana w notacji dziesiętnej kropkowanej: cztery liczby od zera do dwustu pięćdziesięciu pięciu, każda odpowiada jednemu oktetowi. Na przykład 192.168.1.10. Adres dzieli się na prefiks sieciowy i identyfikator hosta, ale granica między nimi nie jest zapisana w samym adresie. Początkowo, w RFC 791 z 1981 roku, granicę ustalano sztywno, na podstawie pierwszych bitów. To był model klasowy. Klasa A to prefiks osiem bitów i ponad szesnaście milionów hostów. Klasa B to szesnaście bitów i około sześćdziesięciu pięciu tysięcy hostów. Klasa C to dwadzieścia cztery bity i dwieście pięćdziesiąt cztery hosty. Klasa D to multicast, a E jest zarezerwowana. Problem był oczywisty. Firma potrzebująca trzystu adresów musiała dostać całą klasę B i zmarnować resztę. Dlatego w 1993 roku wprowadzono CIDR, czyli bezklasowy routing międzydomenowy. Pozwala on ustawić granicę w dowolnym miejscu, wyrażoną maską podsieci albo notacją prefiksową, jak slash dwadzieścia cztery. Liczba adresów to dwa do potęgi trzydzieści dwa minus n, a użytecznych jest o dwa mniej: adres sieci i adres rozgłoszeniowy. Klasy dziś mają już tylko znaczenie historyczne. Przykład szybkiego liczenia: prefiks dwadzieścia sześć zostawia sześć bitów na hosta, czyli sześćdziesiąt cztery adresy. Odejmujemy dwa i mamy sześćdziesiąt dwa użyteczne. Ten schemat będzie nam potrzebny za chwilę, w zadaniu z podsieciami.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przestrzeni adresowej są zakresy, które mają specjalne znaczenie, i warto je znać na pamięć. Zacznijmy od prywatnych, opisanych w RFC 1918. Dziesięć zero zero zero, slash osiem. Sto siedemdziesiąt dwa szesnaście, slash dwanaście. I sto dziewięćdziesiąt dwa sto sześćdziesiąt osiem, slash szesnaście, najpopularniejszy w sieciach domowych. Routery szkieletowe internetu nigdy nie przekazują pakietów z takimi adresami docelowymi dalej niż do najbliższego routera brzegowego z NAT-em. Dzięki temu miliony sieci domowych mogą jednocześnie używać identycznego zakresu 192.168.1.0/24 i nie ma żadnego konfliktu. Dalej, adres 127.0.0.1 to pętla zwrotna, komunikacja procesu z samym sobą. Zakres 169.254, czyli link-local albo APIPA, nadaje się automatycznie, gdy DHCP zawiedzie, i działa tylko w obrębie jednego segmentu. Jeśli widzicie taki adres na komputerze, to znaczy zwykle, że nie dogadał się z serwerem DHCP. Zakres 0.0.0.0 oznacza adres nieokreślony, na przykład host w trakcie DHCP. 224.0.0.0/4 to multicast. 255.255.255.255 to ograniczony broadcast, który nigdy nie wychodzi poza segment. I wreszcie 100.64.0.0/10, przestrzeń dla operatorów, którzy robią NAT na dużą skalę, na przykład w sieciach mobilnych. Jeśli pamiętacie tylko jedno, zapamiętajcie, że adresy prywatne są wielokrotnego użytku, a to właśnie NAT sprawił, że internet IPv4 przetrwał do dziś mimo wyczerpania publicznej puli adresów.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Podsieciowanie, czyli subnetting, to dzielenie jednej większej sieci na mniejsze przez pożyczenie bitów z części hosta i oddanie ich części sieciowej. Spójrzmy na przykład. Firma ma sieć 192.168.10.0/24, czyli dwieście pięćdziesiąt cztery adresy użyteczne, i chce czterech równych podsieci dla czterech działów. Cztery to dwa do potęgi dwa, więc potrzebujemy dwóch dodatkowych bitów sieciowych. Prefiks rośnie z dwudziestu czterech do dwudziestu sześciu. Każda podsieć ma sześć bitów hosta, czyli sześćdziesiąt cztery adresy, z czego sześćdziesiąt dwa użyteczne. Tabela pokazuje wynik: pierwsza podsieć zaczyna się od zera, druga od sześćdziesięciu czterech, trzecia od stu dwudziestu ośmiu, czwarta od stu dziewięćdziesięciu dwóch. Zauważcie wzór: skok jest równy rozmiarowi podsieci, czyli sześćdziesiąt cztery. Adres rozgłoszeniowy to zawsze ostatni adres przed następną podsiecią. Zwróćcie też uwagę na koszt. Z dwustu pięćdziesięciu czterech adresów użytecznych zostało nam dwieście czterdzieści osiem, bo w każdej podsieci tracimy dwa adresy. To typowy kompromis: więcej mniejszych podsieci oznacza mniej adresów hostów, ale lepszą segmentację i mniejsze domeny rozgłoszeniowe. Gdybyście mieli policzyć to na kartce, schemat jest zawsze ten sam: ile podsieci, ile bitów pożyczyć, jaki skok, jakie adresy graniczne. Po kilku ćwiczeniach robi się to niemal automatycznie.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Przechodzimy do głównej części. Nagłówek IPv4, opisany w RFC 791, ma zmienną długość, od dwudziestu do sześćdziesięciu bajtów. Składa się z trzynastu pól obowiązkowych, mieszczących się w pierwszych pięciu słowach trzydziestodwubitowych, czyli w dwudziestu bajtach, oraz opcjonalnego pola Opcje. Na diagramie widzicie, jak to wygląda. Każdy wiersz to jedno słowo trzydziestodwubitowe. W pierwszym wierszu mamy wersję i IHL po cztery bity, typ usługi osiem bitów i całkowitą długość szesnaście bitów. W drugim wierszu jest identyfikacja, flagi i przesunięcie fragmentu, czyli cały mechanizm fragmentacji. W trzecim jest TTL, protokół i suma kontrolna. Potem dwa pełne wiersze na adres źródłowy i docelowy. I na końcu opcje z dopełnieniem. Proponuję spojrzeć na ten diagram jako na mapę, bo za chwilę przejdziemy po każdym fragmencie tej mapy po kolei. Zwróćcie uwagę, że pola nie są ułożone przypadkowo. Na początku stoi to, czego odbiorca potrzebuje, żeby w ogóle zacząć parsowanie, czyli wersja i długość nagłówka. Potem rzeczy potrzebne routerom, a na końcu adresy. Dla ułatwienia: kiedy otworzycie w Wiresharku dowolny pakiet IP, zobaczycie dokładnie te same pola, pod tymi samymi nazwami, i będziecie mogli rozwinąć każde z nich na poziomie bitów.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Trzy pierwsze pola, które omówimy, to wersja, IHL i całkowita długość. Wersja to cztery bity, dla IPv4 zawsze wartość cztery, binarnie zero jeden zero zero. Dzięki niej stos sieciowy od razu wie, jakim algorytmem parsować resztę, bo IPv6 ma zupełnie inną strukturę. Drugie pole to IHL, Internet Header Length. Określa długość nagłówka, ale w jednostkach czterobajtowych, a nie w bajtach. Minimalna wartość to pięć, czyli dwadzieścia bajtów, nagłówek bez opcji, i tak wygląda zdecydowana większość ruchu. Maksymalna to piętnaście, czyli sześćdziesiąt bajtów. Dlaczego słowa, a nie bajty? Bo cztery bity pozwalają zapisać tylko liczby do piętnastu, i dopiero z jednostką czterech bajtów pokrywają pełny zakres do sześćdziesięciu. To też tłumaczy, dlaczego pole Opcje musi być dopełnione do wielokrotności czterech bajtów. Trzecie pole to Total Length, szesnaście bitów, wyrażone wprost w bajtach i obejmujące nagłówek razem z danymi. Maksimum to sześćdziesiąt pięć tysięcy pięćset trzydzieści pięć bajtów. Długość danych liczymy jako Total Length minus IHL razy cztery. Na przykład dla tysiąca pięciuset bajtów i IHL równego pięć mamy tysiąc czterysta osiemdziesiąt bajtów danych. Pamiętajcie, że IHL pozwala odbiorcy zlokalizować początek danych, więc to pierwsza operacja parsowania po sprawdzeniu wersji. Jeśli ktoś źle ustawi to pole, cała reszta pakietu zostanie odczytana nie tak, jak trzeba.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Kolejne pole to typ usługi, osiem bitów. Pierwotnie w RFC 791 nazywało się ToS. Trzy bity to Precedence, czyli priorytet od zera do siedmiu, potem flagi D, T i R, czyli preferencja niskiego opóźnienia, wysokiej przepustowości i niezawodności, oraz dwa bity zarezerwowane. W praktyce prawie nikt tego nie używał, więc w 1998 roku, w RFC 2474, te same osiem bitów przedefiniowano. Sześć najstarszych bitów to teraz DSCP, Differentiated Services Code Point. Pozwala zakwalifikować pakiet do jednej z sześćdziesięciu czterech klas obsługi, a routery na trasie mogą na tej podstawie różnicować kolejkowanie i prawdopodobieństwo odrzucenia. Spójrzcie na typowe wartości. CS0, czyli zero, to zwykły ruch best-effort. AF41, czyli trzydzieści cztery, to na przykład wideokonferencje. EF, czyli czterdzieści sześć, to ruch o najniższym opóźnieniu i jitterze, typowo VoIP. CS6 i CS7 to sygnalizacja sieciowa. Dwa najmłodsze bity to ECN, czyli jawna notyfikacja o przeciążeniu. Router zamiast odrzucać pakiet, oznacza go, odbiorca informuje o tym nadawcę, a ten zwalnia, zanim dojdzie do strat. Pamiętajcie: DiffServ działa lokalnie, per pakiet, i nie rezerwuje zasobów end-to-end, jak próbował robić starszy IntServ. W praktyce to administrator, na przykład na przełączniku albo routerze, ustawia lub zmienia DSCP dla danego typu ruchu. Telefon IP zwykle sam oznacza swoje pakiety jako EF, a router po drodze tylko respektuje to oznaczenie.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Teraz trzy pola, które współpracują ze sobą przy fragmentacji. Pierwsze to Identification, szesnaście bitów. Nadawca przypisuje każdemu datagramowi liczbę, zwykle zwiększaną o jeden. Jej kluczowa funkcja ujawnia się przy fragmentacji: wszystkie fragmenty jednego oryginalnego datagramu dostają identyczną wartość. Dzięki temu odbiorca może je zgrupować, nawet jeśli dotrą wymieszane z fragmentami innych datagramów. Współczesne systemy często losują tę wartość, żeby utrudnić pewne ataki. Drugie pole to Flags, trzy bity. Pierwszy jest zarezerwowany i zawsze zero. Był kiedyś żartobliwy RFC 3514 z tak zwanym evil bit, ale to był prima aprilis. Drugi bit to DF, Don't Fragment: zabrania fragmentacji, a jeśli datagram nie mieści się w MTU, router go odrzuca i odsyła komunikat ICMP. Trzeci to MF, More Fragments: jedynka oznacza, że będą kolejne fragmenty, zero oznacza ostatni fragment albo datagram bez fragmentacji. Trzecie pole to Fragment Offset, trzynaście bitów, wyrażone w jednostkach ośmiobajtowych. Mnożymy wartość przez osiem i dostajemy pozycję w oryginalnych danych. Maksymalnie osiem tysięcy sto dziewięćdziesiąt jeden razy osiem, czyli sześćdziesiąt pięć tysięcy pięćset dwadzieścia osiem bajtów. Stąd reguła: dane każdego fragmentu poza ostatnim muszą mieć rozmiar wielokrotności ośmiu. Ten podział na trzy pola wygląda na skomplikowany, ale jest bardzo ekonomiczny. Wystarczy trzydzieści dwa bity w sumie, żeby opisać dowolną fragmentację, bez żadnego dodatkowego stanu w routerze.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Zróbmy teraz pełny przykład obliczeniowy. Mamy datagram z czterema tysiącami bajtów danych i dwudziestobajtowym nagłówkiem, czyli Total Length cztery tysiące dwadzieścia, z Identification równym 51 200. Musi przejść przez łącze o MTU tysiąc pięćset. Krok pierwszy: ile danych zmieści się w jednym fragmencie? Tysiąc pięćset minus dwadzieścia daje tysiąc czterysta osiemdziesiąt. Czy to wielokrotność ośmiu? Tak, sto osiemdziesiąt pięć razy osiem. Więc zaokrąglenie nic nie zmienia. Krok drugi: ile fragmentów? Cztery tysiące podzielić przez tysiąc czterysta osiemdziesiąt to dwa i siedem dziesiątych, zaokrąglamy w górę do trzech. Krok trzeci: konstruujemy fragmenty. Pierwszy niesie bajty od zera do tysiąca czterystu siedemdziesięciu dziewięciu, offset zero, MF jeden. Drugi niesie kolejne tysiąc czterysta osiemdziesiąt bajtów, offset to tysiąc czterysta osiemdziesiąt podzielić przez osiem, czyli sto osiemdziesiąt pięć, MF jeden. Trzeci niesie pozostałe tysiąc czterdzieści bajtów, offset trzysta siedemdziesiąt, MF zero, a jego Total Length to tysiąc sześćdziesiąt. Wszystkie trzy mają to samo Identification. I sprawdzamy: tysiąc czterysta osiemdziesiąt, dwa razy, plus tysiąc czterdzieści daje cztery tysiące. Zgadza się. Jeśli chcecie sprawdzić swoje zrozumienie, spróbujcie sami policzyć ten przykład z inną wartością MTU. Na końcu wystarczy zawsze sprawdzić, czy suma danych w fragmentach zgadza się z oryginałem.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 dzieje się z fragmentami dalej? Tu jest zasada, o której często się zapomina. Fragmenty składa wyłącznie host docelowy, nigdy routery pośredniczące. Router po prostu przekazuje każdy fragment jako niezależny datagram, na podstawie adresu docelowego. Host rozpoznaje fragmenty po trójce: adres źródłowy, adres docelowy i Identification, a czasem też protokół. Wkłada je do bufora, ustala położenie dzięki Fragment Offset i kończy, gdy ma fragment z MF równym zero oraz brak dziur pomiędzy. Jeśli w ciągu około trzydziestu do sześćdziesięciu sekund nie uda się skompletować wszystkich, odrzuca cały datagram, bo na poziomie IP nie ma retransmisji pojedynczego fragmentu. Fragmentacja ma wady wydajnościowe i bezpieczeństwa, bo fragmenty wykorzystywano do obchodzenia zapór. Dlatego stosuje się Path MTU Discovery z RFC 1191. Nadawca ustawia DF. Router z mniejszym MTU odrzuca datagram i odsyła ICMP Destination Unreachable, kod cztery, z informacją o swoim MTU. Nadawca zmniejsza rozmiar i próbuje ponownie, aż znajdzie najmniejsze MTU na trasie. Słabość: jeśli zapora blokuje ICMP, nadawca nigdy się nie dowie. To jest PMTUD black hole, więc ICMP typu Destination Unreachable zawsze przepuszczajmy. Jeśli kiedyś zobaczycie, że strona internetowa się łączy, ale nie ładuje większych elementów, to jest klasyczny objaw blokowanego ICMP i problemu z Path MTU. Wiele godzin debugowania skończyło się na tej jednej regule zapory.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Przechodzimy do pola TTL, czyli czasu życia. Zacznijmy od problemu. W wielkiej sieci zarządzanej przez wielu administratorów pętle routingu zdarzają się nieuchronnie. Router A kieruje ruch do B, a B z powrotem do A. Bez żadnego ograniczenia pakiet krążyłby w nieskończoność i zapychał sieć, podobnie jak burza rozgłoszeniowa w warstwie drugiej. TTL rozwiązuje to prosto. Mimo nazwy to nie sekundy, tylko licznik przeskoków. Nadawca ustawia wartość początkową: sześćdziesiąt cztery w Linuksie i macOS, sto dwadzieścia osiem w Windowsie, dwieście pięćdziesiąt pięć w niektórych urządzeniach sieciowych. Każdy router zmniejsza ją o jeden. Gdy dojdzie do zera, router odrzuca datagram i odsyła ICMP Time Exceeded, typ jedenaście. Na diagramie widzicie przykład z TTL równym trzy. Teraz piękna część: traceroute. Wysyła pakiet z TTL jeden, pierwszy router go odrzuca i odpowiada, więc poznajemy adres pierwszego przeskoku. Potem TTL dwa, i poznajemy drugi router. I tak dalej, aż pakiet dotrze do celu. W ten sposób mechanizm zaprojektowany wyłącznie przeciw pętlom pozwala odtworzyć całą trasę. Zwykle wysyłane są trzy próby na każdy TTL, żeby uśrednić opóźnienie. Wartość TTL w odebranym pakiecie bywa używana do zgrubnego odgadywania systemu nadawcy i liczby przeskoków, ale to metoda zawodna, bo administrator może zmienić wartość domyślną. Traktujmy ją jako ciekawostkę diagnostyczną.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Zostały dwa pola. Pierwsze to Protokół, osiem bitów. Mówi, do którego protokołu warstwy wyższej przekazać dane po dotarciu do hosta. Pełni dokładnie tę samą funkcję co EtherType w Ethernecie, tylko poziom wyżej. Wartości zarządza IANA. Najważniejsze: jeden to ICMP, sześć to TCP, siedemnaście to UDP, czterdzieści jeden to tunelowany IPv6, pięćdziesiąt to ESP z IPsec, osiemdziesiąt dziewięć to OSPF. Drugie pole to suma kontrolna nagłówka, szesnaście bitów, obejmująca wyłącznie nagłówek, a nie dane. Algorytm jest prosty: zerujemy pole, sumujemy cały nagłówek jako słowa szesnastobitowe metodą dopełnienia do jedynki, z zawijaniem przeniesienia, i negujemy wynik. Przykład: cztery słowa 4500, 003C, 1C46 i 4000 dają sumę A182. Po negacji mamy 5E7D. Odbiorca sumuje wszystko razem z checksumem: A182 plus 5E7D daje FFFF, same jedynki, czyli brak błędu. Ponieważ TTL zmienia się na każdym routerze, każdy router musi przeliczyć sumę. Robi to przyrostowo, według RFC 1624, korzystając ze starej wartości i tylko zmienionego pola, bez sumowania od nowa. Zapamiętajcie ten koszt, bo IPv6 postanowił się go pozbyć. Jeśli ktoś ustawi w polu Protokół niewłaściwą wartość, na przykład siedemnaście zamiast sześć, odbiorca przekaże dane do UDP zamiast do TCP i aplikacja nigdy ich nie zrozumie. Stąd waga tego pola.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na IPv6. Motywacja jest prosta: trzydzieści dwa bity to nieco ponad cztery miliardy adresów, co przy eksplozji telefonów i internetu rzeczy okazało się dalece za mało. IPv6, opisany w RFC 8200, zaprojektowano od podstaw, aby rozwiązać ten problem i przy okazji uprościć wiele mechanizmów. Najbardziej widoczna zmiana: nagłówek stały ma zawsze dokładnie czterdzieści bajtów i tylko osiem pól. Zobaczcie diagram. Wersja, zawsze sześć. Klasa ruchu, osiem bitów, czyli to samo co DSCP z ECN. Etykieta przepływu, dwadzieścia bitów, pole zupełnie nowe, które oznacza pakiety jednej sesji tą samą wartością, więc routery mogą je spójnie traktować, na przykład przy równoważeniu obciążenia, bez zaglądania w porty. Długość danych, szesnaście bitów, ale liczy tylko dane, bo nagłówek ma stałą długość. Następny nagłówek, odpowiednik pola Protokół. Limit przeskoków, odpowiednik TTL. I dwa adresy po sto dwadzieścia osiem bitów. Zniknęły: IHL, bo długość jest stała, pola fragmentacji i suma kontrolna. Efekt to nagłówek, który routerom jest znacznie łatwiej przetwarzać sprzętowo. Warto zauważyć, że czterokrotnie dłuższy adres nie daje czterokrotnie dłuższego nagłówka. Dwadzieścia bajtów w IPv4 zamieniło się w czterdzieści w IPv6, bo reszta pól została odchudzona.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Zatrzymajmy się przy trzech decyzjach projektantów IPv6. Pierwsza: rezygnacja z sumy kontrolnej nagłówka. Powody są trzy. Redundancja: Ethernet ma FCS, a TCP i UDP mają własne sumy, obejmujące nawet adresy z nagłówka IP przez pseudo-nagłówek. Koszt: przy dziesiątkach czy setkach gigabitów, i miliardach pakietów na sekundę, przeliczanie sumy na każdym routerze to realne obciążenie. I filozofia end-to-end: integralność lepiej pilnować na brzegach. Druga decyzja: nagłówki rozszerzeń zamiast pola Opcje. To łańcuch dodatkowych nagłówków między stałym nagłówkiem a transportowym, połączonych polami Next Header. Mamy Hop-by-Hop, Routing, Fragment, a także AH i ESP z IPsec. Zaleta: routery przetwarzają tylko te nagłówki, które ich dotyczą, a zwykle żadnych, więc przekazują pakiet od razu. Trzecia decyzja: fragmentacja. W IPv6 routery nigdy nie fragmentują. Robi to tylko host źródłowy, z nagłówkiem Fragment. Router zbyt dużego pakietu odrzuca i wysyła ICMPv6 Packet Too Big. Dlatego Path MTU Discovery jest tu obowiązkowe. Do tego każde łącze musi mieć MTU co najmniej tysiąc dwieście osiemdziesiąt bajtów, więc taki pakiet zawsze przejdzie. Pamiętajcie więc o praktycznej konsekwencji: w sieciach IPv6 nie wolno ślepo blokować wszystkich komunikatów ICMPv6, bo bez Packet Too Big komunikacja potrafi po cichu się zawieszać.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Zestawmy teraz obie wersje w jednej tabeli, bo to świetna ściągawka. Adres: trzydzieści dwa bity kontra sto dwadzieścia osiem. Nagłówek: zmienny, dwadzieścia do sześćdziesięciu bajtów, kontra stały, czterdzieści bajtów. IHL: istnieje w IPv4, w IPv6 nie ma go wcale. Suma kontrolna: w IPv4 przeliczana na każdym routerze, w IPv6 usunięta. Fragmentacja: w IPv4 dopuszczalna na routerach, jeśli nie ma DF, w IPv6 wyłącznie na hoście źródłowym. Minimalne MTU: w IPv4 brak formalnego wymogu, w IPv6 tysiąc dwieście osiemdziesiąt bajtów. Opcje: w IPv4 pole Options, w IPv6 łańcuch nagłówków rozszerzeń. Priorytety: w IPv4 ToS z DSCP i ECN, w IPv6 Traffic Class, koncepcyjnie to samo, plus nowa etykieta przepływu. Licznik: TTL kontra Hop Limit, identyczna funkcja. Pole protokołu: Protocol kontra Next Header. Są jeszcze dwie ważne różnice, których nie zmieściłem w tabeli. W IPv6 nie istnieje broadcast, zastąpiony przez multicast. I jest wbudowana autokonfiguracja SLAAC, czyli adres bez serwera DHCP, podczas gdy IPv4 ma tylko link-local APIPA. Widać, że wiele pól zostało po prostu przeniesionych, a zmiany dotyczą tego, co było kłopotliwe. To zestawienie dobrze pokazuje filozofię: IPv6 nie jest rewolucją w idei, tylko ewolucją, która usuwa to, co w praktyce okazało się niepotrzebne albo kosztowne.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Podsumujmy. Warstwa sieciowa to kręgosłup, dzięki któremu miliardy niezależnych sieci tworzą internet, a kluczem jest hierarchiczna adresacja, pozwalająca routerom działać na blokach, a nie na pojedynczych urządzeniach. Nagłówek IPv4 pokazuje, ile przemyślanych decyzji mieści się w dwudziestu bajtach z 1981 roku: IHL w słowach, ToS przekształcony w DiffServ i ECN, TTL przeciw pętlom i do traceroute, fragmentacja oparta na trzech współpracujących polach i pole Protokół jako adres w obrębie stosu hosta. IPv6 pokazuje alternatywę: stały nagłówek, brak sumy, fragmentacja tylko na hoście i elastyczne nagłówki rozszerzeń. Teraz trzy zadania. Zadanie pierwsze: datagram z Total Length pięć tysięcy dziewięćset czterdzieści, MTU tysiąc pięćset. Dane to pięć tysięcy dziewięćset dwadzieścia, fragmentów cztery, offsety zero, sto osiemdziesiąt pięć, trzysta siedemdziesiąt i pięćset pięćdziesiąt pięć, MF jeden, jeden, jeden i zero. Zadanie drugie: TTL sześćdziesiąt cztery, jedenaście przeskoków. Serwer odczyta pięćdziesiąt trzy. Pakiet przeszedłby jeszcze pięćdziesiąt dwa routery, a odrzucony zostałby na pięćdziesiątym trzecim. Zadanie trzecie: sieć 10.20.30.0/23 na osiem podsieci. Prefiks dwadzieścia sześć, sześćdziesiąt dwa hosty, trzecia podsieć to 10.20.30.128 z broadcastem 10.20.30.191. Dziękuję za uwagę, zapraszam do pytań. Gdybym miał zostawić Państwu jedno zdanie z całego wykładu, brzmiałoby ono tak: warstwa sieciowa jest prosta i bezstanowa celowo, a cała jej siła bierze się z przemyślanych szczegółów nagłówka.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B254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7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rgbClr val="0B2545"/>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F"/>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1097280"/>
            <a:ext cx="4937760" cy="320040"/>
          </a:xfrm>
          <a:prstGeom prst="rect">
            <a:avLst/>
          </a:prstGeom>
          <a:noFill/>
          <a:ln/>
        </p:spPr>
        <p:txBody>
          <a:bodyPr wrap="square" lIns="0" tIns="0" rIns="0" bIns="0" rtlCol="0" anchor="t"/>
          <a:lstStyle/>
          <a:p>
            <a:pPr indent="0" marL="0">
              <a:buNone/>
            </a:pPr>
            <a:r>
              <a:rPr lang="en-US" sz="1200" b="1" spc="300" kern="0" dirty="0">
                <a:solidFill>
                  <a:srgbClr val="F2A541"/>
                </a:solidFill>
              </a:rPr>
              <a:t>WARSTWA SIECIOWA MODELU OSI</a:t>
            </a:r>
            <a:endParaRPr lang="en-US" sz="1200" dirty="0"/>
          </a:p>
        </p:txBody>
      </p:sp>
      <p:sp>
        <p:nvSpPr>
          <p:cNvPr id="4" name="Text 1"/>
          <p:cNvSpPr txBox="1"/>
          <p:nvPr/>
        </p:nvSpPr>
        <p:spPr>
          <a:xfrm>
            <a:off x="548640" y="1554480"/>
            <a:ext cx="4846320" cy="1371600"/>
          </a:xfrm>
          <a:prstGeom prst="rect">
            <a:avLst/>
          </a:prstGeom>
          <a:noFill/>
          <a:ln/>
        </p:spPr>
        <p:txBody>
          <a:bodyPr wrap="square" lIns="0" tIns="0" rIns="0" bIns="0" rtlCol="0" anchor="t"/>
          <a:lstStyle/>
          <a:p>
            <a:pPr indent="0" marL="0">
              <a:buNone/>
            </a:pPr>
            <a:r>
              <a:rPr lang="en-US" sz="4000" b="1" dirty="0">
                <a:solidFill>
                  <a:srgbClr val="FFFFFF"/>
                </a:solidFill>
              </a:rPr>
              <a:t>Protokoły IPv4 i IPv6</a:t>
            </a:r>
            <a:endParaRPr lang="en-US" sz="4000" dirty="0"/>
          </a:p>
        </p:txBody>
      </p:sp>
      <p:sp>
        <p:nvSpPr>
          <p:cNvPr id="5" name="Text 2"/>
          <p:cNvSpPr txBox="1"/>
          <p:nvPr/>
        </p:nvSpPr>
        <p:spPr>
          <a:xfrm>
            <a:off x="548640" y="3108960"/>
            <a:ext cx="4572000" cy="822960"/>
          </a:xfrm>
          <a:prstGeom prst="rect">
            <a:avLst/>
          </a:prstGeom>
          <a:noFill/>
          <a:ln/>
        </p:spPr>
        <p:txBody>
          <a:bodyPr wrap="square" lIns="0" tIns="0" rIns="0" bIns="0" rtlCol="0" anchor="t"/>
          <a:lstStyle/>
          <a:p>
            <a:pPr indent="0" marL="0">
              <a:buNone/>
            </a:pPr>
            <a:r>
              <a:rPr lang="en-US" sz="1800" dirty="0">
                <a:solidFill>
                  <a:srgbClr val="B8CCE4"/>
                </a:solidFill>
              </a:rPr>
              <a:t>Adresacja, nagłówek pole po polu, fragmentacja i TTL</a:t>
            </a:r>
            <a:endParaRPr lang="en-US" sz="1800" dirty="0"/>
          </a:p>
        </p:txBody>
      </p:sp>
      <p:sp>
        <p:nvSpPr>
          <p:cNvPr id="6" name="bit-cell-0"/>
          <p:cNvSpPr/>
          <p:nvPr/>
        </p:nvSpPr>
        <p:spPr>
          <a:xfrm>
            <a:off x="5760720" y="1097280"/>
            <a:ext cx="1005840" cy="457200"/>
          </a:xfrm>
          <a:prstGeom prst="rect">
            <a:avLst/>
          </a:prstGeom>
          <a:solidFill>
            <a:srgbClr val="0E7C7B"/>
          </a:solidFill>
          <a:ln w="25400">
            <a:solidFill>
              <a:srgbClr val="0B2545"/>
            </a:solidFill>
            <a:prstDash val="solid"/>
          </a:ln>
        </p:spPr>
      </p:sp>
      <p:sp>
        <p:nvSpPr>
          <p:cNvPr id="7" name="bit-cell-1"/>
          <p:cNvSpPr/>
          <p:nvPr/>
        </p:nvSpPr>
        <p:spPr>
          <a:xfrm>
            <a:off x="6812280" y="1097280"/>
            <a:ext cx="1005840" cy="457200"/>
          </a:xfrm>
          <a:prstGeom prst="rect">
            <a:avLst/>
          </a:prstGeom>
          <a:solidFill>
            <a:srgbClr val="1F4E79"/>
          </a:solidFill>
          <a:ln w="25400">
            <a:solidFill>
              <a:srgbClr val="0B2545"/>
            </a:solidFill>
            <a:prstDash val="solid"/>
          </a:ln>
        </p:spPr>
      </p:sp>
      <p:sp>
        <p:nvSpPr>
          <p:cNvPr id="8" name="bit-cell-2"/>
          <p:cNvSpPr/>
          <p:nvPr/>
        </p:nvSpPr>
        <p:spPr>
          <a:xfrm>
            <a:off x="7863840" y="1097280"/>
            <a:ext cx="822960" cy="457200"/>
          </a:xfrm>
          <a:prstGeom prst="rect">
            <a:avLst/>
          </a:prstGeom>
          <a:solidFill>
            <a:srgbClr val="1F4E79"/>
          </a:solidFill>
          <a:ln w="25400">
            <a:solidFill>
              <a:srgbClr val="0B2545"/>
            </a:solidFill>
            <a:prstDash val="solid"/>
          </a:ln>
        </p:spPr>
      </p:sp>
      <p:sp>
        <p:nvSpPr>
          <p:cNvPr id="9" name="bit-cell-3"/>
          <p:cNvSpPr/>
          <p:nvPr/>
        </p:nvSpPr>
        <p:spPr>
          <a:xfrm>
            <a:off x="5760720" y="1645920"/>
            <a:ext cx="1828800" cy="457200"/>
          </a:xfrm>
          <a:prstGeom prst="rect">
            <a:avLst/>
          </a:prstGeom>
          <a:solidFill>
            <a:srgbClr val="1F4E79"/>
          </a:solidFill>
          <a:ln w="25400">
            <a:solidFill>
              <a:srgbClr val="0B2545"/>
            </a:solidFill>
            <a:prstDash val="solid"/>
          </a:ln>
        </p:spPr>
      </p:sp>
      <p:sp>
        <p:nvSpPr>
          <p:cNvPr id="10" name="bit-cell-4"/>
          <p:cNvSpPr/>
          <p:nvPr/>
        </p:nvSpPr>
        <p:spPr>
          <a:xfrm>
            <a:off x="7635240" y="1645920"/>
            <a:ext cx="1051560" cy="457200"/>
          </a:xfrm>
          <a:prstGeom prst="rect">
            <a:avLst/>
          </a:prstGeom>
          <a:solidFill>
            <a:srgbClr val="F2A541"/>
          </a:solidFill>
          <a:ln w="25400">
            <a:solidFill>
              <a:srgbClr val="0B2545"/>
            </a:solidFill>
            <a:prstDash val="solid"/>
          </a:ln>
        </p:spPr>
      </p:sp>
      <p:sp>
        <p:nvSpPr>
          <p:cNvPr id="11" name="bit-cell-5"/>
          <p:cNvSpPr/>
          <p:nvPr/>
        </p:nvSpPr>
        <p:spPr>
          <a:xfrm>
            <a:off x="5760720" y="2194560"/>
            <a:ext cx="914400" cy="457200"/>
          </a:xfrm>
          <a:prstGeom prst="rect">
            <a:avLst/>
          </a:prstGeom>
          <a:solidFill>
            <a:srgbClr val="F2A541"/>
          </a:solidFill>
          <a:ln w="25400">
            <a:solidFill>
              <a:srgbClr val="0B2545"/>
            </a:solidFill>
            <a:prstDash val="solid"/>
          </a:ln>
        </p:spPr>
      </p:sp>
      <p:sp>
        <p:nvSpPr>
          <p:cNvPr id="12" name="bit-cell-6"/>
          <p:cNvSpPr/>
          <p:nvPr/>
        </p:nvSpPr>
        <p:spPr>
          <a:xfrm>
            <a:off x="6720840" y="2194560"/>
            <a:ext cx="914400" cy="457200"/>
          </a:xfrm>
          <a:prstGeom prst="rect">
            <a:avLst/>
          </a:prstGeom>
          <a:solidFill>
            <a:srgbClr val="0E7C7B"/>
          </a:solidFill>
          <a:ln w="25400">
            <a:solidFill>
              <a:srgbClr val="0B2545"/>
            </a:solidFill>
            <a:prstDash val="solid"/>
          </a:ln>
        </p:spPr>
      </p:sp>
      <p:sp>
        <p:nvSpPr>
          <p:cNvPr id="13" name="bit-cell-7"/>
          <p:cNvSpPr/>
          <p:nvPr/>
        </p:nvSpPr>
        <p:spPr>
          <a:xfrm>
            <a:off x="7680960" y="2194560"/>
            <a:ext cx="1005840" cy="457200"/>
          </a:xfrm>
          <a:prstGeom prst="rect">
            <a:avLst/>
          </a:prstGeom>
          <a:solidFill>
            <a:srgbClr val="1F4E79"/>
          </a:solidFill>
          <a:ln w="25400">
            <a:solidFill>
              <a:srgbClr val="0B2545"/>
            </a:solidFill>
            <a:prstDash val="solid"/>
          </a:ln>
        </p:spPr>
      </p:sp>
      <p:sp>
        <p:nvSpPr>
          <p:cNvPr id="14" name="bit-cell-8"/>
          <p:cNvSpPr/>
          <p:nvPr/>
        </p:nvSpPr>
        <p:spPr>
          <a:xfrm>
            <a:off x="5760720" y="2743200"/>
            <a:ext cx="2926080" cy="457200"/>
          </a:xfrm>
          <a:prstGeom prst="rect">
            <a:avLst/>
          </a:prstGeom>
          <a:solidFill>
            <a:srgbClr val="0E7C7B"/>
          </a:solidFill>
          <a:ln w="25400">
            <a:solidFill>
              <a:srgbClr val="0B2545"/>
            </a:solidFill>
            <a:prstDash val="solid"/>
          </a:ln>
        </p:spPr>
      </p:sp>
      <p:sp>
        <p:nvSpPr>
          <p:cNvPr id="15" name="bit-cell-9"/>
          <p:cNvSpPr/>
          <p:nvPr/>
        </p:nvSpPr>
        <p:spPr>
          <a:xfrm>
            <a:off x="5760720" y="3291840"/>
            <a:ext cx="2926080" cy="457200"/>
          </a:xfrm>
          <a:prstGeom prst="rect">
            <a:avLst/>
          </a:prstGeom>
          <a:solidFill>
            <a:srgbClr val="1F4E79"/>
          </a:solidFill>
          <a:ln w="25400">
            <a:solidFill>
              <a:srgbClr val="0B2545"/>
            </a:solidFill>
            <a:prstDash val="solid"/>
          </a:ln>
        </p:spPr>
      </p:sp>
      <p:sp>
        <p:nvSpPr>
          <p:cNvPr id="16" name="bit-cell-10"/>
          <p:cNvSpPr/>
          <p:nvPr/>
        </p:nvSpPr>
        <p:spPr>
          <a:xfrm>
            <a:off x="5760720" y="3840480"/>
            <a:ext cx="1828800" cy="457200"/>
          </a:xfrm>
          <a:prstGeom prst="rect">
            <a:avLst/>
          </a:prstGeom>
          <a:solidFill>
            <a:srgbClr val="2F5D8C"/>
          </a:solidFill>
          <a:ln w="25400">
            <a:solidFill>
              <a:srgbClr val="0B2545"/>
            </a:solidFill>
            <a:prstDash val="solid"/>
          </a:ln>
        </p:spPr>
      </p:sp>
      <p:sp>
        <p:nvSpPr>
          <p:cNvPr id="17" name="bit-cell-11"/>
          <p:cNvSpPr/>
          <p:nvPr/>
        </p:nvSpPr>
        <p:spPr>
          <a:xfrm>
            <a:off x="7635240" y="3840480"/>
            <a:ext cx="1051560" cy="457200"/>
          </a:xfrm>
          <a:prstGeom prst="rect">
            <a:avLst/>
          </a:prstGeom>
          <a:solidFill>
            <a:srgbClr val="F2A541"/>
          </a:solidFill>
          <a:ln w="25400">
            <a:solidFill>
              <a:srgbClr val="0B2545"/>
            </a:solidFill>
            <a:prstDash val="solid"/>
          </a:ln>
        </p:spPr>
      </p:sp>
      <p:sp>
        <p:nvSpPr>
          <p:cNvPr id="18" name="Text 15"/>
          <p:cNvSpPr txBox="1"/>
          <p:nvPr/>
        </p:nvSpPr>
        <p:spPr>
          <a:xfrm>
            <a:off x="5760720" y="2743200"/>
            <a:ext cx="2926080" cy="457200"/>
          </a:xfrm>
          <a:prstGeom prst="rect">
            <a:avLst/>
          </a:prstGeom>
          <a:noFill/>
          <a:ln/>
        </p:spPr>
        <p:txBody>
          <a:bodyPr wrap="square" lIns="0" tIns="0" rIns="0" bIns="0" rtlCol="0" anchor="ctr"/>
          <a:lstStyle/>
          <a:p>
            <a:pPr algn="ctr" indent="0" marL="0">
              <a:buNone/>
            </a:pPr>
            <a:r>
              <a:rPr lang="en-US" sz="1800" b="1" dirty="0">
                <a:solidFill>
                  <a:srgbClr val="FFFFFF"/>
                </a:solidFill>
              </a:rPr>
              <a:t>IPv4</a:t>
            </a:r>
            <a:endParaRPr lang="en-US" sz="1800" dirty="0"/>
          </a:p>
        </p:txBody>
      </p:sp>
      <p:sp>
        <p:nvSpPr>
          <p:cNvPr id="19" name="Text 16"/>
          <p:cNvSpPr txBox="1"/>
          <p:nvPr/>
        </p:nvSpPr>
        <p:spPr>
          <a:xfrm>
            <a:off x="5760720" y="3291840"/>
            <a:ext cx="2926080" cy="457200"/>
          </a:xfrm>
          <a:prstGeom prst="rect">
            <a:avLst/>
          </a:prstGeom>
          <a:noFill/>
          <a:ln/>
        </p:spPr>
        <p:txBody>
          <a:bodyPr wrap="square" lIns="0" tIns="0" rIns="0" bIns="0" rtlCol="0" anchor="ctr"/>
          <a:lstStyle/>
          <a:p>
            <a:pPr algn="ctr" indent="0" marL="0">
              <a:buNone/>
            </a:pPr>
            <a:r>
              <a:rPr lang="en-US" sz="1800" b="1" dirty="0">
                <a:solidFill>
                  <a:srgbClr val="FFFFFF"/>
                </a:solidFill>
              </a:rPr>
              <a:t>IPv6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Plan prezentacji</a:t>
            </a:r>
            <a:endParaRPr lang="en-US" sz="3000" dirty="0"/>
          </a:p>
        </p:txBody>
      </p:sp>
      <p:sp>
        <p:nvSpPr>
          <p:cNvPr id="4" name="plan-card-1"/>
          <p:cNvSpPr/>
          <p:nvPr/>
        </p:nvSpPr>
        <p:spPr>
          <a:xfrm>
            <a:off x="457200" y="123444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685800" y="1435608"/>
            <a:ext cx="457200" cy="457200"/>
          </a:xfrm>
          <a:prstGeom prst="ellipse">
            <a:avLst/>
          </a:prstGeom>
          <a:solidFill>
            <a:srgbClr val="0E7C7B"/>
          </a:solidFill>
          <a:ln w="6350">
            <a:solidFill>
              <a:srgbClr val="0E7C7B"/>
            </a:solidFill>
            <a:prstDash val="solid"/>
          </a:ln>
        </p:spPr>
      </p:sp>
      <p:sp>
        <p:nvSpPr>
          <p:cNvPr id="6" name="Text 3"/>
          <p:cNvSpPr txBox="1"/>
          <p:nvPr/>
        </p:nvSpPr>
        <p:spPr>
          <a:xfrm>
            <a:off x="685800" y="14356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4"/>
          <p:cNvSpPr txBox="1"/>
          <p:nvPr/>
        </p:nvSpPr>
        <p:spPr>
          <a:xfrm>
            <a:off x="685800" y="205740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Rola warstwy 3</a:t>
            </a:r>
            <a:endParaRPr lang="en-US" sz="1600" dirty="0"/>
          </a:p>
        </p:txBody>
      </p:sp>
      <p:sp>
        <p:nvSpPr>
          <p:cNvPr id="8" name="Text 5"/>
          <p:cNvSpPr txBox="1"/>
          <p:nvPr/>
        </p:nvSpPr>
        <p:spPr>
          <a:xfrm>
            <a:off x="685800" y="2377440"/>
            <a:ext cx="2194560" cy="320040"/>
          </a:xfrm>
          <a:prstGeom prst="rect">
            <a:avLst/>
          </a:prstGeom>
          <a:noFill/>
          <a:ln/>
        </p:spPr>
        <p:txBody>
          <a:bodyPr wrap="square" lIns="0" tIns="0" rIns="0" bIns="0" rtlCol="0" anchor="t"/>
          <a:lstStyle/>
          <a:p>
            <a:pPr indent="0" marL="0">
              <a:buNone/>
            </a:pPr>
            <a:r>
              <a:rPr lang="en-US" sz="1400" dirty="0">
                <a:solidFill>
                  <a:srgbClr val="5C6B80"/>
                </a:solidFill>
              </a:rPr>
              <a:t>Zadania i model best-effort</a:t>
            </a:r>
            <a:endParaRPr lang="en-US" sz="1400" dirty="0"/>
          </a:p>
        </p:txBody>
      </p:sp>
      <p:sp>
        <p:nvSpPr>
          <p:cNvPr id="9" name="plan-card-2"/>
          <p:cNvSpPr/>
          <p:nvPr/>
        </p:nvSpPr>
        <p:spPr>
          <a:xfrm>
            <a:off x="3268980" y="123444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497580" y="1435608"/>
            <a:ext cx="457200" cy="457200"/>
          </a:xfrm>
          <a:prstGeom prst="ellipse">
            <a:avLst/>
          </a:prstGeom>
          <a:solidFill>
            <a:srgbClr val="0E7C7B"/>
          </a:solidFill>
          <a:ln w="6350">
            <a:solidFill>
              <a:srgbClr val="0E7C7B"/>
            </a:solidFill>
            <a:prstDash val="solid"/>
          </a:ln>
        </p:spPr>
      </p:sp>
      <p:sp>
        <p:nvSpPr>
          <p:cNvPr id="11" name="Text 8"/>
          <p:cNvSpPr txBox="1"/>
          <p:nvPr/>
        </p:nvSpPr>
        <p:spPr>
          <a:xfrm>
            <a:off x="3497580" y="14356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Text 9"/>
          <p:cNvSpPr txBox="1"/>
          <p:nvPr/>
        </p:nvSpPr>
        <p:spPr>
          <a:xfrm>
            <a:off x="3497580" y="205740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Adresacja IPv4</a:t>
            </a:r>
            <a:endParaRPr lang="en-US" sz="1600" dirty="0"/>
          </a:p>
        </p:txBody>
      </p:sp>
      <p:sp>
        <p:nvSpPr>
          <p:cNvPr id="13" name="Text 10"/>
          <p:cNvSpPr txBox="1"/>
          <p:nvPr/>
        </p:nvSpPr>
        <p:spPr>
          <a:xfrm>
            <a:off x="3497580" y="2377440"/>
            <a:ext cx="2194560" cy="320040"/>
          </a:xfrm>
          <a:prstGeom prst="rect">
            <a:avLst/>
          </a:prstGeom>
          <a:noFill/>
          <a:ln/>
        </p:spPr>
        <p:txBody>
          <a:bodyPr wrap="square" lIns="0" tIns="0" rIns="0" bIns="0" rtlCol="0" anchor="t"/>
          <a:lstStyle/>
          <a:p>
            <a:pPr indent="0" marL="0">
              <a:buNone/>
            </a:pPr>
            <a:r>
              <a:rPr lang="en-US" sz="1400" dirty="0">
                <a:solidFill>
                  <a:srgbClr val="5C6B80"/>
                </a:solidFill>
              </a:rPr>
              <a:t>Klasy, CIDR, podsieci</a:t>
            </a:r>
            <a:endParaRPr lang="en-US" sz="1400" dirty="0"/>
          </a:p>
        </p:txBody>
      </p:sp>
      <p:sp>
        <p:nvSpPr>
          <p:cNvPr id="14" name="plan-card-3"/>
          <p:cNvSpPr/>
          <p:nvPr/>
        </p:nvSpPr>
        <p:spPr>
          <a:xfrm>
            <a:off x="6080760" y="123444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309360" y="1435608"/>
            <a:ext cx="457200" cy="457200"/>
          </a:xfrm>
          <a:prstGeom prst="ellipse">
            <a:avLst/>
          </a:prstGeom>
          <a:solidFill>
            <a:srgbClr val="0E7C7B"/>
          </a:solidFill>
          <a:ln w="6350">
            <a:solidFill>
              <a:srgbClr val="0E7C7B"/>
            </a:solidFill>
            <a:prstDash val="solid"/>
          </a:ln>
        </p:spPr>
      </p:sp>
      <p:sp>
        <p:nvSpPr>
          <p:cNvPr id="16" name="Text 13"/>
          <p:cNvSpPr txBox="1"/>
          <p:nvPr/>
        </p:nvSpPr>
        <p:spPr>
          <a:xfrm>
            <a:off x="6309360" y="14356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7" name="Text 14"/>
          <p:cNvSpPr txBox="1"/>
          <p:nvPr/>
        </p:nvSpPr>
        <p:spPr>
          <a:xfrm>
            <a:off x="6309360" y="205740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Nagłówek IPv4</a:t>
            </a:r>
            <a:endParaRPr lang="en-US" sz="1600" dirty="0"/>
          </a:p>
        </p:txBody>
      </p:sp>
      <p:sp>
        <p:nvSpPr>
          <p:cNvPr id="18" name="Text 15"/>
          <p:cNvSpPr txBox="1"/>
          <p:nvPr/>
        </p:nvSpPr>
        <p:spPr>
          <a:xfrm>
            <a:off x="6309360" y="2377440"/>
            <a:ext cx="2194560" cy="320040"/>
          </a:xfrm>
          <a:prstGeom prst="rect">
            <a:avLst/>
          </a:prstGeom>
          <a:noFill/>
          <a:ln/>
        </p:spPr>
        <p:txBody>
          <a:bodyPr wrap="square" lIns="0" tIns="0" rIns="0" bIns="0" rtlCol="0" anchor="t"/>
          <a:lstStyle/>
          <a:p>
            <a:pPr indent="0" marL="0">
              <a:buNone/>
            </a:pPr>
            <a:r>
              <a:rPr lang="en-US" sz="1400" dirty="0">
                <a:solidFill>
                  <a:srgbClr val="5C6B80"/>
                </a:solidFill>
              </a:rPr>
              <a:t>Pole po polu</a:t>
            </a:r>
            <a:endParaRPr lang="en-US" sz="1400" dirty="0"/>
          </a:p>
        </p:txBody>
      </p:sp>
      <p:sp>
        <p:nvSpPr>
          <p:cNvPr id="19" name="plan-card-4"/>
          <p:cNvSpPr/>
          <p:nvPr/>
        </p:nvSpPr>
        <p:spPr>
          <a:xfrm>
            <a:off x="457200" y="301752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685800" y="3218688"/>
            <a:ext cx="457200" cy="457200"/>
          </a:xfrm>
          <a:prstGeom prst="ellipse">
            <a:avLst/>
          </a:prstGeom>
          <a:solidFill>
            <a:srgbClr val="0E7C7B"/>
          </a:solidFill>
          <a:ln w="6350">
            <a:solidFill>
              <a:srgbClr val="0E7C7B"/>
            </a:solidFill>
            <a:prstDash val="solid"/>
          </a:ln>
        </p:spPr>
      </p:sp>
      <p:sp>
        <p:nvSpPr>
          <p:cNvPr id="21" name="Text 18"/>
          <p:cNvSpPr txBox="1"/>
          <p:nvPr/>
        </p:nvSpPr>
        <p:spPr>
          <a:xfrm>
            <a:off x="685800" y="32186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2" name="Text 19"/>
          <p:cNvSpPr txBox="1"/>
          <p:nvPr/>
        </p:nvSpPr>
        <p:spPr>
          <a:xfrm>
            <a:off x="685800" y="384048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Fragmentacja</a:t>
            </a:r>
            <a:endParaRPr lang="en-US" sz="1600" dirty="0"/>
          </a:p>
        </p:txBody>
      </p:sp>
      <p:sp>
        <p:nvSpPr>
          <p:cNvPr id="23" name="Text 20"/>
          <p:cNvSpPr txBox="1"/>
          <p:nvPr/>
        </p:nvSpPr>
        <p:spPr>
          <a:xfrm>
            <a:off x="685800" y="4160520"/>
            <a:ext cx="2194560" cy="320040"/>
          </a:xfrm>
          <a:prstGeom prst="rect">
            <a:avLst/>
          </a:prstGeom>
          <a:noFill/>
          <a:ln/>
        </p:spPr>
        <p:txBody>
          <a:bodyPr wrap="square" lIns="0" tIns="0" rIns="0" bIns="0" rtlCol="0" anchor="t"/>
          <a:lstStyle/>
          <a:p>
            <a:pPr indent="0" marL="0">
              <a:buNone/>
            </a:pPr>
            <a:r>
              <a:rPr lang="en-US" sz="1400" dirty="0">
                <a:solidFill>
                  <a:srgbClr val="5C6B80"/>
                </a:solidFill>
              </a:rPr>
              <a:t>MTU i Path MTU Discovery</a:t>
            </a:r>
            <a:endParaRPr lang="en-US" sz="1400" dirty="0"/>
          </a:p>
        </p:txBody>
      </p:sp>
      <p:sp>
        <p:nvSpPr>
          <p:cNvPr id="24" name="plan-card-5"/>
          <p:cNvSpPr/>
          <p:nvPr/>
        </p:nvSpPr>
        <p:spPr>
          <a:xfrm>
            <a:off x="3268980" y="301752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5" name="Shape 22"/>
          <p:cNvSpPr/>
          <p:nvPr/>
        </p:nvSpPr>
        <p:spPr>
          <a:xfrm>
            <a:off x="3497580" y="3218688"/>
            <a:ext cx="457200" cy="457200"/>
          </a:xfrm>
          <a:prstGeom prst="ellipse">
            <a:avLst/>
          </a:prstGeom>
          <a:solidFill>
            <a:srgbClr val="0E7C7B"/>
          </a:solidFill>
          <a:ln w="6350">
            <a:solidFill>
              <a:srgbClr val="0E7C7B"/>
            </a:solidFill>
            <a:prstDash val="solid"/>
          </a:ln>
        </p:spPr>
      </p:sp>
      <p:sp>
        <p:nvSpPr>
          <p:cNvPr id="26" name="Text 23"/>
          <p:cNvSpPr txBox="1"/>
          <p:nvPr/>
        </p:nvSpPr>
        <p:spPr>
          <a:xfrm>
            <a:off x="3497580" y="32186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7" name="Text 24"/>
          <p:cNvSpPr txBox="1"/>
          <p:nvPr/>
        </p:nvSpPr>
        <p:spPr>
          <a:xfrm>
            <a:off x="3497580" y="384048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TTL i traceroute</a:t>
            </a:r>
            <a:endParaRPr lang="en-US" sz="1600" dirty="0"/>
          </a:p>
        </p:txBody>
      </p:sp>
      <p:sp>
        <p:nvSpPr>
          <p:cNvPr id="28" name="Text 25"/>
          <p:cNvSpPr txBox="1"/>
          <p:nvPr/>
        </p:nvSpPr>
        <p:spPr>
          <a:xfrm>
            <a:off x="3497580" y="4160520"/>
            <a:ext cx="2194560" cy="320040"/>
          </a:xfrm>
          <a:prstGeom prst="rect">
            <a:avLst/>
          </a:prstGeom>
          <a:noFill/>
          <a:ln/>
        </p:spPr>
        <p:txBody>
          <a:bodyPr wrap="square" lIns="0" tIns="0" rIns="0" bIns="0" rtlCol="0" anchor="t"/>
          <a:lstStyle/>
          <a:p>
            <a:pPr indent="0" marL="0">
              <a:buNone/>
            </a:pPr>
            <a:r>
              <a:rPr lang="en-US" sz="1400" dirty="0">
                <a:solidFill>
                  <a:srgbClr val="5C6B80"/>
                </a:solidFill>
              </a:rPr>
              <a:t>Ochrona przed pętlami</a:t>
            </a:r>
            <a:endParaRPr lang="en-US" sz="1400" dirty="0"/>
          </a:p>
        </p:txBody>
      </p:sp>
      <p:sp>
        <p:nvSpPr>
          <p:cNvPr id="29" name="plan-card-6"/>
          <p:cNvSpPr/>
          <p:nvPr/>
        </p:nvSpPr>
        <p:spPr>
          <a:xfrm>
            <a:off x="6080760" y="301752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30" name="Shape 27"/>
          <p:cNvSpPr/>
          <p:nvPr/>
        </p:nvSpPr>
        <p:spPr>
          <a:xfrm>
            <a:off x="6309360" y="3218688"/>
            <a:ext cx="457200" cy="457200"/>
          </a:xfrm>
          <a:prstGeom prst="ellipse">
            <a:avLst/>
          </a:prstGeom>
          <a:solidFill>
            <a:srgbClr val="F2A541"/>
          </a:solidFill>
          <a:ln w="6350">
            <a:solidFill>
              <a:srgbClr val="F2A541"/>
            </a:solidFill>
            <a:prstDash val="solid"/>
          </a:ln>
        </p:spPr>
      </p:sp>
      <p:sp>
        <p:nvSpPr>
          <p:cNvPr id="31" name="Text 28"/>
          <p:cNvSpPr txBox="1"/>
          <p:nvPr/>
        </p:nvSpPr>
        <p:spPr>
          <a:xfrm>
            <a:off x="6309360" y="3218688"/>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rPr>
              <a:t>6</a:t>
            </a:r>
            <a:endParaRPr lang="en-US" sz="1800" dirty="0"/>
          </a:p>
        </p:txBody>
      </p:sp>
      <p:sp>
        <p:nvSpPr>
          <p:cNvPr id="32" name="Text 29"/>
          <p:cNvSpPr txBox="1"/>
          <p:nvPr/>
        </p:nvSpPr>
        <p:spPr>
          <a:xfrm>
            <a:off x="6309360" y="384048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IPv6</a:t>
            </a:r>
            <a:endParaRPr lang="en-US" sz="1600" dirty="0"/>
          </a:p>
        </p:txBody>
      </p:sp>
      <p:sp>
        <p:nvSpPr>
          <p:cNvPr id="33" name="Text 30"/>
          <p:cNvSpPr txBox="1"/>
          <p:nvPr/>
        </p:nvSpPr>
        <p:spPr>
          <a:xfrm>
            <a:off x="6309360" y="4160520"/>
            <a:ext cx="2194560" cy="320040"/>
          </a:xfrm>
          <a:prstGeom prst="rect">
            <a:avLst/>
          </a:prstGeom>
          <a:noFill/>
          <a:ln/>
        </p:spPr>
        <p:txBody>
          <a:bodyPr wrap="square" lIns="0" tIns="0" rIns="0" bIns="0" rtlCol="0" anchor="t"/>
          <a:lstStyle/>
          <a:p>
            <a:pPr indent="0" marL="0">
              <a:buNone/>
            </a:pPr>
            <a:r>
              <a:rPr lang="en-US" sz="1400" dirty="0">
                <a:solidFill>
                  <a:srgbClr val="5C6B80"/>
                </a:solidFill>
              </a:rPr>
              <a:t>Nagłówek i różnice</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Rola warstwy sieciowej</a:t>
            </a:r>
            <a:endParaRPr lang="en-US" sz="3000" dirty="0"/>
          </a:p>
        </p:txBody>
      </p:sp>
      <p:sp>
        <p:nvSpPr>
          <p:cNvPr id="4" name="task-1"/>
          <p:cNvSpPr/>
          <p:nvPr/>
        </p:nvSpPr>
        <p:spPr>
          <a:xfrm>
            <a:off x="457200" y="1143000"/>
            <a:ext cx="2606040" cy="1325880"/>
          </a:xfrm>
          <a:prstGeom prst="roundRect">
            <a:avLst>
              <a:gd name="adj" fmla="val 689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icon-bg-FaIdCard"/>
          <p:cNvSpPr/>
          <p:nvPr/>
        </p:nvSpPr>
        <p:spPr>
          <a:xfrm>
            <a:off x="640080" y="1325880"/>
            <a:ext cx="502920" cy="502920"/>
          </a:xfrm>
          <a:prstGeom prst="ellipse">
            <a:avLst/>
          </a:prstGeom>
          <a:solidFill>
            <a:srgbClr val="0E7C7B"/>
          </a:solidFill>
          <a:ln w="6350">
            <a:solidFill>
              <a:srgbClr val="0E7C7B"/>
            </a:solidFill>
            <a:prstDash val="solid"/>
          </a:ln>
        </p:spPr>
      </p:sp>
      <p:pic>
        <p:nvPicPr>
          <p:cNvPr id="6" name="Image 0" descr="FaIdCard">    </p:cNvPr>
          <p:cNvPicPr>
            <a:picLocks noChangeAspect="1"/>
          </p:cNvPicPr>
          <p:nvPr/>
        </p:nvPicPr>
        <p:blipFill>
          <a:blip r:embed="rId1"/>
          <a:stretch>
            <a:fillRect/>
          </a:stretch>
        </p:blipFill>
        <p:spPr>
          <a:xfrm>
            <a:off x="765810" y="1451610"/>
            <a:ext cx="251460" cy="251460"/>
          </a:xfrm>
          <a:prstGeom prst="rect">
            <a:avLst/>
          </a:prstGeom>
        </p:spPr>
      </p:pic>
      <p:sp>
        <p:nvSpPr>
          <p:cNvPr id="7" name="Text 3"/>
          <p:cNvSpPr txBox="1"/>
          <p:nvPr/>
        </p:nvSpPr>
        <p:spPr>
          <a:xfrm>
            <a:off x="1280160" y="1325880"/>
            <a:ext cx="1691640" cy="502920"/>
          </a:xfrm>
          <a:prstGeom prst="rect">
            <a:avLst/>
          </a:prstGeom>
          <a:noFill/>
          <a:ln/>
        </p:spPr>
        <p:txBody>
          <a:bodyPr wrap="square" lIns="0" tIns="0" rIns="0" bIns="0" rtlCol="0" anchor="ctr"/>
          <a:lstStyle/>
          <a:p>
            <a:pPr indent="0" marL="0">
              <a:buNone/>
            </a:pPr>
            <a:r>
              <a:rPr lang="en-US" sz="1600" b="1" dirty="0">
                <a:solidFill>
                  <a:srgbClr val="0B2545"/>
                </a:solidFill>
              </a:rPr>
              <a:t>Adresacja logiczna</a:t>
            </a:r>
            <a:endParaRPr lang="en-US" sz="1600" dirty="0"/>
          </a:p>
        </p:txBody>
      </p:sp>
      <p:sp>
        <p:nvSpPr>
          <p:cNvPr id="8" name="Text 4"/>
          <p:cNvSpPr txBox="1"/>
          <p:nvPr/>
        </p:nvSpPr>
        <p:spPr>
          <a:xfrm>
            <a:off x="640080" y="1965960"/>
            <a:ext cx="2286000" cy="457200"/>
          </a:xfrm>
          <a:prstGeom prst="rect">
            <a:avLst/>
          </a:prstGeom>
          <a:noFill/>
          <a:ln/>
        </p:spPr>
        <p:txBody>
          <a:bodyPr wrap="square" lIns="0" tIns="0" rIns="0" bIns="0" rtlCol="0" anchor="t"/>
          <a:lstStyle/>
          <a:p>
            <a:pPr indent="0" marL="0">
              <a:buNone/>
            </a:pPr>
            <a:r>
              <a:rPr lang="en-US" sz="1400" dirty="0">
                <a:solidFill>
                  <a:srgbClr val="1B2A41"/>
                </a:solidFill>
              </a:rPr>
              <a:t>Unikalny adres niezależny od łącza</a:t>
            </a:r>
            <a:endParaRPr lang="en-US" sz="1400" dirty="0"/>
          </a:p>
        </p:txBody>
      </p:sp>
      <p:sp>
        <p:nvSpPr>
          <p:cNvPr id="9" name="task-2"/>
          <p:cNvSpPr/>
          <p:nvPr/>
        </p:nvSpPr>
        <p:spPr>
          <a:xfrm>
            <a:off x="3268980" y="1143000"/>
            <a:ext cx="2606040" cy="1325880"/>
          </a:xfrm>
          <a:prstGeom prst="roundRect">
            <a:avLst>
              <a:gd name="adj" fmla="val 689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0" name="icon-bg-FaRoute"/>
          <p:cNvSpPr/>
          <p:nvPr/>
        </p:nvSpPr>
        <p:spPr>
          <a:xfrm>
            <a:off x="3451860" y="1325880"/>
            <a:ext cx="502920" cy="502920"/>
          </a:xfrm>
          <a:prstGeom prst="ellipse">
            <a:avLst/>
          </a:prstGeom>
          <a:solidFill>
            <a:srgbClr val="0E7C7B"/>
          </a:solidFill>
          <a:ln w="6350">
            <a:solidFill>
              <a:srgbClr val="0E7C7B"/>
            </a:solidFill>
            <a:prstDash val="solid"/>
          </a:ln>
        </p:spPr>
      </p:sp>
      <p:pic>
        <p:nvPicPr>
          <p:cNvPr id="11" name="Image 1" descr="FaRoute">    </p:cNvPr>
          <p:cNvPicPr>
            <a:picLocks noChangeAspect="1"/>
          </p:cNvPicPr>
          <p:nvPr/>
        </p:nvPicPr>
        <p:blipFill>
          <a:blip r:embed="rId2"/>
          <a:stretch>
            <a:fillRect/>
          </a:stretch>
        </p:blipFill>
        <p:spPr>
          <a:xfrm>
            <a:off x="3577590" y="1451610"/>
            <a:ext cx="251460" cy="251460"/>
          </a:xfrm>
          <a:prstGeom prst="rect">
            <a:avLst/>
          </a:prstGeom>
        </p:spPr>
      </p:pic>
      <p:sp>
        <p:nvSpPr>
          <p:cNvPr id="12" name="Text 7"/>
          <p:cNvSpPr txBox="1"/>
          <p:nvPr/>
        </p:nvSpPr>
        <p:spPr>
          <a:xfrm>
            <a:off x="4091940" y="1325880"/>
            <a:ext cx="1691640" cy="502920"/>
          </a:xfrm>
          <a:prstGeom prst="rect">
            <a:avLst/>
          </a:prstGeom>
          <a:noFill/>
          <a:ln/>
        </p:spPr>
        <p:txBody>
          <a:bodyPr wrap="square" lIns="0" tIns="0" rIns="0" bIns="0" rtlCol="0" anchor="ctr"/>
          <a:lstStyle/>
          <a:p>
            <a:pPr indent="0" marL="0">
              <a:buNone/>
            </a:pPr>
            <a:r>
              <a:rPr lang="en-US" sz="1600" b="1" dirty="0">
                <a:solidFill>
                  <a:srgbClr val="0B2545"/>
                </a:solidFill>
              </a:rPr>
              <a:t>Routing</a:t>
            </a:r>
            <a:endParaRPr lang="en-US" sz="1600" dirty="0"/>
          </a:p>
        </p:txBody>
      </p:sp>
      <p:sp>
        <p:nvSpPr>
          <p:cNvPr id="13" name="Text 8"/>
          <p:cNvSpPr txBox="1"/>
          <p:nvPr/>
        </p:nvSpPr>
        <p:spPr>
          <a:xfrm>
            <a:off x="3451860" y="1965960"/>
            <a:ext cx="2286000" cy="457200"/>
          </a:xfrm>
          <a:prstGeom prst="rect">
            <a:avLst/>
          </a:prstGeom>
          <a:noFill/>
          <a:ln/>
        </p:spPr>
        <p:txBody>
          <a:bodyPr wrap="square" lIns="0" tIns="0" rIns="0" bIns="0" rtlCol="0" anchor="t"/>
          <a:lstStyle/>
          <a:p>
            <a:pPr indent="0" marL="0">
              <a:buNone/>
            </a:pPr>
            <a:r>
              <a:rPr lang="en-US" sz="1400" dirty="0">
                <a:solidFill>
                  <a:srgbClr val="1B2A41"/>
                </a:solidFill>
              </a:rPr>
              <a:t>Wybór ścieżki: tablice, OSPF, BGP</a:t>
            </a:r>
            <a:endParaRPr lang="en-US" sz="1400" dirty="0"/>
          </a:p>
        </p:txBody>
      </p:sp>
      <p:sp>
        <p:nvSpPr>
          <p:cNvPr id="14" name="task-3"/>
          <p:cNvSpPr/>
          <p:nvPr/>
        </p:nvSpPr>
        <p:spPr>
          <a:xfrm>
            <a:off x="6080760" y="1143000"/>
            <a:ext cx="2606040" cy="1325880"/>
          </a:xfrm>
          <a:prstGeom prst="roundRect">
            <a:avLst>
              <a:gd name="adj" fmla="val 689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icon-bg-FaExchangeAlt"/>
          <p:cNvSpPr/>
          <p:nvPr/>
        </p:nvSpPr>
        <p:spPr>
          <a:xfrm>
            <a:off x="6263640" y="1325880"/>
            <a:ext cx="502920" cy="502920"/>
          </a:xfrm>
          <a:prstGeom prst="ellipse">
            <a:avLst/>
          </a:prstGeom>
          <a:solidFill>
            <a:srgbClr val="0E7C7B"/>
          </a:solidFill>
          <a:ln w="6350">
            <a:solidFill>
              <a:srgbClr val="0E7C7B"/>
            </a:solidFill>
            <a:prstDash val="solid"/>
          </a:ln>
        </p:spPr>
      </p:sp>
      <p:pic>
        <p:nvPicPr>
          <p:cNvPr id="16" name="Image 2" descr="FaExchangeAlt">    </p:cNvPr>
          <p:cNvPicPr>
            <a:picLocks noChangeAspect="1"/>
          </p:cNvPicPr>
          <p:nvPr/>
        </p:nvPicPr>
        <p:blipFill>
          <a:blip r:embed="rId3"/>
          <a:stretch>
            <a:fillRect/>
          </a:stretch>
        </p:blipFill>
        <p:spPr>
          <a:xfrm>
            <a:off x="6389370" y="1451610"/>
            <a:ext cx="251460" cy="251460"/>
          </a:xfrm>
          <a:prstGeom prst="rect">
            <a:avLst/>
          </a:prstGeom>
        </p:spPr>
      </p:pic>
      <p:sp>
        <p:nvSpPr>
          <p:cNvPr id="17" name="Text 11"/>
          <p:cNvSpPr txBox="1"/>
          <p:nvPr/>
        </p:nvSpPr>
        <p:spPr>
          <a:xfrm>
            <a:off x="6903720" y="1325880"/>
            <a:ext cx="1691640" cy="502920"/>
          </a:xfrm>
          <a:prstGeom prst="rect">
            <a:avLst/>
          </a:prstGeom>
          <a:noFill/>
          <a:ln/>
        </p:spPr>
        <p:txBody>
          <a:bodyPr wrap="square" lIns="0" tIns="0" rIns="0" bIns="0" rtlCol="0" anchor="ctr"/>
          <a:lstStyle/>
          <a:p>
            <a:pPr indent="0" marL="0">
              <a:buNone/>
            </a:pPr>
            <a:r>
              <a:rPr lang="en-US" sz="1600" b="1" dirty="0">
                <a:solidFill>
                  <a:srgbClr val="0B2545"/>
                </a:solidFill>
              </a:rPr>
              <a:t>Forwarding</a:t>
            </a:r>
            <a:endParaRPr lang="en-US" sz="1600" dirty="0"/>
          </a:p>
        </p:txBody>
      </p:sp>
      <p:sp>
        <p:nvSpPr>
          <p:cNvPr id="18" name="Text 12"/>
          <p:cNvSpPr txBox="1"/>
          <p:nvPr/>
        </p:nvSpPr>
        <p:spPr>
          <a:xfrm>
            <a:off x="6263640" y="1965960"/>
            <a:ext cx="2286000" cy="457200"/>
          </a:xfrm>
          <a:prstGeom prst="rect">
            <a:avLst/>
          </a:prstGeom>
          <a:noFill/>
          <a:ln/>
        </p:spPr>
        <p:txBody>
          <a:bodyPr wrap="square" lIns="0" tIns="0" rIns="0" bIns="0" rtlCol="0" anchor="t"/>
          <a:lstStyle/>
          <a:p>
            <a:pPr indent="0" marL="0">
              <a:buNone/>
            </a:pPr>
            <a:r>
              <a:rPr lang="en-US" sz="1400" dirty="0">
                <a:solidFill>
                  <a:srgbClr val="1B2A41"/>
                </a:solidFill>
              </a:rPr>
              <a:t>Odbiór, tablica, interfejs wyjściowy</a:t>
            </a:r>
            <a:endParaRPr lang="en-US" sz="1400" dirty="0"/>
          </a:p>
        </p:txBody>
      </p:sp>
      <p:sp>
        <p:nvSpPr>
          <p:cNvPr id="19" name="task-4"/>
          <p:cNvSpPr/>
          <p:nvPr/>
        </p:nvSpPr>
        <p:spPr>
          <a:xfrm>
            <a:off x="457200" y="2606040"/>
            <a:ext cx="2606040" cy="1325880"/>
          </a:xfrm>
          <a:prstGeom prst="roundRect">
            <a:avLst>
              <a:gd name="adj" fmla="val 689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0" name="icon-bg-FaCut"/>
          <p:cNvSpPr/>
          <p:nvPr/>
        </p:nvSpPr>
        <p:spPr>
          <a:xfrm>
            <a:off x="640080" y="2788920"/>
            <a:ext cx="502920" cy="502920"/>
          </a:xfrm>
          <a:prstGeom prst="ellipse">
            <a:avLst/>
          </a:prstGeom>
          <a:solidFill>
            <a:srgbClr val="0E7C7B"/>
          </a:solidFill>
          <a:ln w="6350">
            <a:solidFill>
              <a:srgbClr val="0E7C7B"/>
            </a:solidFill>
            <a:prstDash val="solid"/>
          </a:ln>
        </p:spPr>
      </p:sp>
      <p:pic>
        <p:nvPicPr>
          <p:cNvPr id="21" name="Image 3" descr="FaCut">    </p:cNvPr>
          <p:cNvPicPr>
            <a:picLocks noChangeAspect="1"/>
          </p:cNvPicPr>
          <p:nvPr/>
        </p:nvPicPr>
        <p:blipFill>
          <a:blip r:embed="rId4"/>
          <a:stretch>
            <a:fillRect/>
          </a:stretch>
        </p:blipFill>
        <p:spPr>
          <a:xfrm>
            <a:off x="765810" y="2914650"/>
            <a:ext cx="251460" cy="251460"/>
          </a:xfrm>
          <a:prstGeom prst="rect">
            <a:avLst/>
          </a:prstGeom>
        </p:spPr>
      </p:pic>
      <p:sp>
        <p:nvSpPr>
          <p:cNvPr id="22" name="Text 15"/>
          <p:cNvSpPr txBox="1"/>
          <p:nvPr/>
        </p:nvSpPr>
        <p:spPr>
          <a:xfrm>
            <a:off x="1280160" y="2788920"/>
            <a:ext cx="1691640" cy="502920"/>
          </a:xfrm>
          <a:prstGeom prst="rect">
            <a:avLst/>
          </a:prstGeom>
          <a:noFill/>
          <a:ln/>
        </p:spPr>
        <p:txBody>
          <a:bodyPr wrap="square" lIns="0" tIns="0" rIns="0" bIns="0" rtlCol="0" anchor="ctr"/>
          <a:lstStyle/>
          <a:p>
            <a:pPr indent="0" marL="0">
              <a:buNone/>
            </a:pPr>
            <a:r>
              <a:rPr lang="en-US" sz="1600" b="1" dirty="0">
                <a:solidFill>
                  <a:srgbClr val="0B2545"/>
                </a:solidFill>
              </a:rPr>
              <a:t>Fragmentacja</a:t>
            </a:r>
            <a:endParaRPr lang="en-US" sz="1600" dirty="0"/>
          </a:p>
        </p:txBody>
      </p:sp>
      <p:sp>
        <p:nvSpPr>
          <p:cNvPr id="23" name="Text 16"/>
          <p:cNvSpPr txBox="1"/>
          <p:nvPr/>
        </p:nvSpPr>
        <p:spPr>
          <a:xfrm>
            <a:off x="640080" y="3429000"/>
            <a:ext cx="2286000" cy="457200"/>
          </a:xfrm>
          <a:prstGeom prst="rect">
            <a:avLst/>
          </a:prstGeom>
          <a:noFill/>
          <a:ln/>
        </p:spPr>
        <p:txBody>
          <a:bodyPr wrap="square" lIns="0" tIns="0" rIns="0" bIns="0" rtlCol="0" anchor="t"/>
          <a:lstStyle/>
          <a:p>
            <a:pPr indent="0" marL="0">
              <a:buNone/>
            </a:pPr>
            <a:r>
              <a:rPr lang="en-US" sz="1400" dirty="0">
                <a:solidFill>
                  <a:srgbClr val="1B2A41"/>
                </a:solidFill>
              </a:rPr>
              <a:t>Dopasowanie do MTU łączy</a:t>
            </a:r>
            <a:endParaRPr lang="en-US" sz="1400" dirty="0"/>
          </a:p>
        </p:txBody>
      </p:sp>
      <p:sp>
        <p:nvSpPr>
          <p:cNvPr id="24" name="task-5"/>
          <p:cNvSpPr/>
          <p:nvPr/>
        </p:nvSpPr>
        <p:spPr>
          <a:xfrm>
            <a:off x="3268980" y="2606040"/>
            <a:ext cx="2606040" cy="1325880"/>
          </a:xfrm>
          <a:prstGeom prst="roundRect">
            <a:avLst>
              <a:gd name="adj" fmla="val 689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5" name="icon-bg-FaTags"/>
          <p:cNvSpPr/>
          <p:nvPr/>
        </p:nvSpPr>
        <p:spPr>
          <a:xfrm>
            <a:off x="3451860" y="2788920"/>
            <a:ext cx="502920" cy="502920"/>
          </a:xfrm>
          <a:prstGeom prst="ellipse">
            <a:avLst/>
          </a:prstGeom>
          <a:solidFill>
            <a:srgbClr val="0E7C7B"/>
          </a:solidFill>
          <a:ln w="6350">
            <a:solidFill>
              <a:srgbClr val="0E7C7B"/>
            </a:solidFill>
            <a:prstDash val="solid"/>
          </a:ln>
        </p:spPr>
      </p:sp>
      <p:pic>
        <p:nvPicPr>
          <p:cNvPr id="26" name="Image 4" descr="FaTags">    </p:cNvPr>
          <p:cNvPicPr>
            <a:picLocks noChangeAspect="1"/>
          </p:cNvPicPr>
          <p:nvPr/>
        </p:nvPicPr>
        <p:blipFill>
          <a:blip r:embed="rId5"/>
          <a:stretch>
            <a:fillRect/>
          </a:stretch>
        </p:blipFill>
        <p:spPr>
          <a:xfrm>
            <a:off x="3577590" y="2914650"/>
            <a:ext cx="251460" cy="251460"/>
          </a:xfrm>
          <a:prstGeom prst="rect">
            <a:avLst/>
          </a:prstGeom>
        </p:spPr>
      </p:pic>
      <p:sp>
        <p:nvSpPr>
          <p:cNvPr id="27" name="Text 19"/>
          <p:cNvSpPr txBox="1"/>
          <p:nvPr/>
        </p:nvSpPr>
        <p:spPr>
          <a:xfrm>
            <a:off x="4091940" y="2788920"/>
            <a:ext cx="1691640" cy="502920"/>
          </a:xfrm>
          <a:prstGeom prst="rect">
            <a:avLst/>
          </a:prstGeom>
          <a:noFill/>
          <a:ln/>
        </p:spPr>
        <p:txBody>
          <a:bodyPr wrap="square" lIns="0" tIns="0" rIns="0" bIns="0" rtlCol="0" anchor="ctr"/>
          <a:lstStyle/>
          <a:p>
            <a:pPr indent="0" marL="0">
              <a:buNone/>
            </a:pPr>
            <a:r>
              <a:rPr lang="en-US" sz="1600" b="1" dirty="0">
                <a:solidFill>
                  <a:srgbClr val="0B2545"/>
                </a:solidFill>
              </a:rPr>
              <a:t>Klasa usługi</a:t>
            </a:r>
            <a:endParaRPr lang="en-US" sz="1600" dirty="0"/>
          </a:p>
        </p:txBody>
      </p:sp>
      <p:sp>
        <p:nvSpPr>
          <p:cNvPr id="28" name="Text 20"/>
          <p:cNvSpPr txBox="1"/>
          <p:nvPr/>
        </p:nvSpPr>
        <p:spPr>
          <a:xfrm>
            <a:off x="3451860" y="3429000"/>
            <a:ext cx="2286000" cy="457200"/>
          </a:xfrm>
          <a:prstGeom prst="rect">
            <a:avLst/>
          </a:prstGeom>
          <a:noFill/>
          <a:ln/>
        </p:spPr>
        <p:txBody>
          <a:bodyPr wrap="square" lIns="0" tIns="0" rIns="0" bIns="0" rtlCol="0" anchor="t"/>
          <a:lstStyle/>
          <a:p>
            <a:pPr indent="0" marL="0">
              <a:buNone/>
            </a:pPr>
            <a:r>
              <a:rPr lang="en-US" sz="1400" dirty="0">
                <a:solidFill>
                  <a:srgbClr val="1B2A41"/>
                </a:solidFill>
              </a:rPr>
              <a:t>Opcjonalny priorytet dla QoS</a:t>
            </a:r>
            <a:endParaRPr lang="en-US" sz="1400" dirty="0"/>
          </a:p>
        </p:txBody>
      </p:sp>
      <p:sp>
        <p:nvSpPr>
          <p:cNvPr id="29" name="task-6"/>
          <p:cNvSpPr/>
          <p:nvPr/>
        </p:nvSpPr>
        <p:spPr>
          <a:xfrm>
            <a:off x="6080760" y="2606040"/>
            <a:ext cx="2606040" cy="1325880"/>
          </a:xfrm>
          <a:prstGeom prst="roundRect">
            <a:avLst>
              <a:gd name="adj" fmla="val 689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30" name="icon-bg-FaHourglassHalf"/>
          <p:cNvSpPr/>
          <p:nvPr/>
        </p:nvSpPr>
        <p:spPr>
          <a:xfrm>
            <a:off x="6263640" y="2788920"/>
            <a:ext cx="502920" cy="502920"/>
          </a:xfrm>
          <a:prstGeom prst="ellipse">
            <a:avLst/>
          </a:prstGeom>
          <a:solidFill>
            <a:srgbClr val="0E7C7B"/>
          </a:solidFill>
          <a:ln w="6350">
            <a:solidFill>
              <a:srgbClr val="0E7C7B"/>
            </a:solidFill>
            <a:prstDash val="solid"/>
          </a:ln>
        </p:spPr>
      </p:sp>
      <p:pic>
        <p:nvPicPr>
          <p:cNvPr id="31" name="Image 5" descr="FaHourglassHalf">    </p:cNvPr>
          <p:cNvPicPr>
            <a:picLocks noChangeAspect="1"/>
          </p:cNvPicPr>
          <p:nvPr/>
        </p:nvPicPr>
        <p:blipFill>
          <a:blip r:embed="rId6"/>
          <a:stretch>
            <a:fillRect/>
          </a:stretch>
        </p:blipFill>
        <p:spPr>
          <a:xfrm>
            <a:off x="6389370" y="2914650"/>
            <a:ext cx="251460" cy="251460"/>
          </a:xfrm>
          <a:prstGeom prst="rect">
            <a:avLst/>
          </a:prstGeom>
        </p:spPr>
      </p:pic>
      <p:sp>
        <p:nvSpPr>
          <p:cNvPr id="32" name="Text 23"/>
          <p:cNvSpPr txBox="1"/>
          <p:nvPr/>
        </p:nvSpPr>
        <p:spPr>
          <a:xfrm>
            <a:off x="6903720" y="2788920"/>
            <a:ext cx="1691640" cy="502920"/>
          </a:xfrm>
          <a:prstGeom prst="rect">
            <a:avLst/>
          </a:prstGeom>
          <a:noFill/>
          <a:ln/>
        </p:spPr>
        <p:txBody>
          <a:bodyPr wrap="square" lIns="0" tIns="0" rIns="0" bIns="0" rtlCol="0" anchor="ctr"/>
          <a:lstStyle/>
          <a:p>
            <a:pPr indent="0" marL="0">
              <a:buNone/>
            </a:pPr>
            <a:r>
              <a:rPr lang="en-US" sz="1600" b="1" dirty="0">
                <a:solidFill>
                  <a:srgbClr val="0B2545"/>
                </a:solidFill>
              </a:rPr>
              <a:t>Czas życia</a:t>
            </a:r>
            <a:endParaRPr lang="en-US" sz="1600" dirty="0"/>
          </a:p>
        </p:txBody>
      </p:sp>
      <p:sp>
        <p:nvSpPr>
          <p:cNvPr id="33" name="Text 24"/>
          <p:cNvSpPr txBox="1"/>
          <p:nvPr/>
        </p:nvSpPr>
        <p:spPr>
          <a:xfrm>
            <a:off x="6263640" y="3429000"/>
            <a:ext cx="2286000" cy="457200"/>
          </a:xfrm>
          <a:prstGeom prst="rect">
            <a:avLst/>
          </a:prstGeom>
          <a:noFill/>
          <a:ln/>
        </p:spPr>
        <p:txBody>
          <a:bodyPr wrap="square" lIns="0" tIns="0" rIns="0" bIns="0" rtlCol="0" anchor="t"/>
          <a:lstStyle/>
          <a:p>
            <a:pPr indent="0" marL="0">
              <a:buNone/>
            </a:pPr>
            <a:r>
              <a:rPr lang="en-US" sz="1400" dirty="0">
                <a:solidFill>
                  <a:srgbClr val="1B2A41"/>
                </a:solidFill>
              </a:rPr>
              <a:t>Koniec nieskończonych pętli</a:t>
            </a:r>
            <a:endParaRPr lang="en-US" sz="1400" dirty="0"/>
          </a:p>
        </p:txBody>
      </p:sp>
      <p:sp>
        <p:nvSpPr>
          <p:cNvPr id="34" name="not-callout"/>
          <p:cNvSpPr/>
          <p:nvPr/>
        </p:nvSpPr>
        <p:spPr>
          <a:xfrm>
            <a:off x="457200" y="4114800"/>
            <a:ext cx="8229600" cy="502920"/>
          </a:xfrm>
          <a:prstGeom prst="roundRect">
            <a:avLst>
              <a:gd name="adj" fmla="val 10909"/>
            </a:avLst>
          </a:prstGeom>
          <a:solidFill>
            <a:srgbClr val="FDEBCF"/>
          </a:solidFill>
          <a:ln w="9525">
            <a:solidFill>
              <a:srgbClr val="F2A541"/>
            </a:solidFill>
            <a:prstDash val="solid"/>
          </a:ln>
        </p:spPr>
      </p:sp>
      <p:sp>
        <p:nvSpPr>
          <p:cNvPr id="35" name="Text 26"/>
          <p:cNvSpPr txBox="1"/>
          <p:nvPr/>
        </p:nvSpPr>
        <p:spPr>
          <a:xfrm>
            <a:off x="457200" y="4114800"/>
            <a:ext cx="8229600" cy="502920"/>
          </a:xfrm>
          <a:prstGeom prst="rect">
            <a:avLst/>
          </a:prstGeom>
          <a:noFill/>
          <a:ln/>
        </p:spPr>
        <p:txBody>
          <a:bodyPr wrap="square" lIns="0" tIns="0" rIns="0" bIns="0" rtlCol="0" anchor="ctr"/>
          <a:lstStyle/>
          <a:p>
            <a:pPr algn="ctr" indent="0" marL="0">
              <a:buNone/>
            </a:pPr>
            <a:r>
              <a:rPr lang="en-US" sz="1400" b="1" dirty="0">
                <a:solidFill>
                  <a:srgbClr val="0B2545"/>
                </a:solidFill>
              </a:rPr>
              <a:t>Nie zajmuje się: niezawodnością, kontrolą przepływu ani kolejnością (to TCP lub aplikacja)</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Best-effort i enkapsulacja</a:t>
            </a:r>
            <a:endParaRPr lang="en-US" sz="3000" dirty="0"/>
          </a:p>
        </p:txBody>
      </p:sp>
      <p:sp>
        <p:nvSpPr>
          <p:cNvPr id="4" name="Text 1"/>
          <p:cNvSpPr txBox="1"/>
          <p:nvPr/>
        </p:nvSpPr>
        <p:spPr>
          <a:xfrm>
            <a:off x="457200" y="1188720"/>
            <a:ext cx="393192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2A41"/>
                </a:solidFill>
              </a:rPr>
              <a:t>Każdy datagram przetwarzany niezależnie</a:t>
            </a:r>
            <a:endParaRPr lang="en-US" sz="1600" dirty="0"/>
          </a:p>
          <a:p>
            <a:pPr marL="342900" indent="-342900">
              <a:spcAft>
                <a:spcPts val="800"/>
              </a:spcAft>
              <a:buSzPct val="100000"/>
              <a:buChar char="•"/>
            </a:pPr>
            <a:r>
              <a:rPr lang="en-US" sz="1600" dirty="0">
                <a:solidFill>
                  <a:srgbClr val="1B2A41"/>
                </a:solidFill>
              </a:rPr>
              <a:t>Różne trasy i inna kolejność</a:t>
            </a:r>
            <a:endParaRPr lang="en-US" sz="1600" dirty="0"/>
          </a:p>
          <a:p>
            <a:pPr marL="342900" indent="-342900">
              <a:spcAft>
                <a:spcPts val="800"/>
              </a:spcAft>
              <a:buSzPct val="100000"/>
              <a:buChar char="•"/>
            </a:pPr>
            <a:r>
              <a:rPr lang="en-US" sz="1600" dirty="0">
                <a:solidFill>
                  <a:srgbClr val="1B2A41"/>
                </a:solidFill>
              </a:rPr>
              <a:t>Brak gwarancji, potwierdzeń i retransmisji</a:t>
            </a:r>
            <a:endParaRPr lang="en-US" sz="1600" dirty="0"/>
          </a:p>
          <a:p>
            <a:pPr marL="342900" indent="-342900">
              <a:spcAft>
                <a:spcPts val="800"/>
              </a:spcAft>
              <a:buSzPct val="100000"/>
              <a:buChar char="•"/>
            </a:pPr>
            <a:r>
              <a:rPr lang="en-US" sz="1600" dirty="0">
                <a:solidFill>
                  <a:srgbClr val="1B2A41"/>
                </a:solidFill>
              </a:rPr>
              <a:t>Niezawodność dokłada TCP na brzegach</a:t>
            </a:r>
            <a:endParaRPr lang="en-US" sz="1600" dirty="0"/>
          </a:p>
        </p:txBody>
      </p:sp>
      <p:sp>
        <p:nvSpPr>
          <p:cNvPr id="5" name="e2e"/>
          <p:cNvSpPr/>
          <p:nvPr/>
        </p:nvSpPr>
        <p:spPr>
          <a:xfrm>
            <a:off x="457200" y="3657600"/>
            <a:ext cx="3931920" cy="777240"/>
          </a:xfrm>
          <a:prstGeom prst="roundRect">
            <a:avLst>
              <a:gd name="adj" fmla="val 7059"/>
            </a:avLst>
          </a:prstGeom>
          <a:solidFill>
            <a:srgbClr val="D5EFEE"/>
          </a:solidFill>
          <a:ln w="9525">
            <a:solidFill>
              <a:srgbClr val="0E7C7B"/>
            </a:solidFill>
            <a:prstDash val="solid"/>
          </a:ln>
        </p:spPr>
      </p:sp>
      <p:sp>
        <p:nvSpPr>
          <p:cNvPr id="6" name="Text 3"/>
          <p:cNvSpPr txBox="1"/>
          <p:nvPr/>
        </p:nvSpPr>
        <p:spPr>
          <a:xfrm>
            <a:off x="594360" y="3657600"/>
            <a:ext cx="3657600" cy="777240"/>
          </a:xfrm>
          <a:prstGeom prst="rect">
            <a:avLst/>
          </a:prstGeom>
          <a:noFill/>
          <a:ln/>
        </p:spPr>
        <p:txBody>
          <a:bodyPr wrap="square" lIns="0" tIns="0" rIns="0" bIns="0" rtlCol="0" anchor="ctr"/>
          <a:lstStyle/>
          <a:p>
            <a:pPr indent="0" marL="0">
              <a:buNone/>
            </a:pPr>
            <a:r>
              <a:rPr lang="en-US" sz="1500" b="1" dirty="0">
                <a:solidFill>
                  <a:srgbClr val="0B2545"/>
                </a:solidFill>
              </a:rPr>
              <a:t>Zasada end-to-end: prosty rdzeń, inteligentne brzegi</a:t>
            </a:r>
            <a:endParaRPr lang="en-US" sz="1500" dirty="0"/>
          </a:p>
        </p:txBody>
      </p:sp>
      <p:sp>
        <p:nvSpPr>
          <p:cNvPr id="7" name="layer-0"/>
          <p:cNvSpPr/>
          <p:nvPr/>
        </p:nvSpPr>
        <p:spPr>
          <a:xfrm>
            <a:off x="4663440" y="1143000"/>
            <a:ext cx="4023360" cy="3383280"/>
          </a:xfrm>
          <a:prstGeom prst="roundRect">
            <a:avLst>
              <a:gd name="adj" fmla="val 2162"/>
            </a:avLst>
          </a:prstGeom>
          <a:solidFill>
            <a:srgbClr val="0B2545"/>
          </a:solidFill>
          <a:ln w="19050">
            <a:solidFill>
              <a:srgbClr val="FFFFFF"/>
            </a:solidFill>
            <a:prstDash val="solid"/>
          </a:ln>
        </p:spPr>
      </p:sp>
      <p:sp>
        <p:nvSpPr>
          <p:cNvPr id="8" name="Text 5"/>
          <p:cNvSpPr txBox="1"/>
          <p:nvPr/>
        </p:nvSpPr>
        <p:spPr>
          <a:xfrm>
            <a:off x="4800600" y="1216152"/>
            <a:ext cx="3749040" cy="274320"/>
          </a:xfrm>
          <a:prstGeom prst="rect">
            <a:avLst/>
          </a:prstGeom>
          <a:noFill/>
          <a:ln/>
        </p:spPr>
        <p:txBody>
          <a:bodyPr wrap="square" lIns="0" tIns="0" rIns="0" bIns="0" rtlCol="0" anchor="t"/>
          <a:lstStyle/>
          <a:p>
            <a:pPr algn="l" indent="0" marL="0">
              <a:buNone/>
            </a:pPr>
            <a:r>
              <a:rPr lang="en-US" sz="1400" b="1" dirty="0">
                <a:solidFill>
                  <a:srgbClr val="FFFFFF"/>
                </a:solidFill>
              </a:rPr>
              <a:t>Ramka Ethernet</a:t>
            </a:r>
            <a:endParaRPr lang="en-US" sz="1400" dirty="0"/>
          </a:p>
        </p:txBody>
      </p:sp>
      <p:sp>
        <p:nvSpPr>
          <p:cNvPr id="9" name="layer-1"/>
          <p:cNvSpPr/>
          <p:nvPr/>
        </p:nvSpPr>
        <p:spPr>
          <a:xfrm>
            <a:off x="4846320" y="1874520"/>
            <a:ext cx="3657600" cy="2377440"/>
          </a:xfrm>
          <a:prstGeom prst="roundRect">
            <a:avLst>
              <a:gd name="adj" fmla="val 3077"/>
            </a:avLst>
          </a:prstGeom>
          <a:solidFill>
            <a:srgbClr val="3A6EA5"/>
          </a:solidFill>
          <a:ln w="19050">
            <a:solidFill>
              <a:srgbClr val="FFFFFF"/>
            </a:solidFill>
            <a:prstDash val="solid"/>
          </a:ln>
        </p:spPr>
      </p:sp>
      <p:sp>
        <p:nvSpPr>
          <p:cNvPr id="10" name="Text 7"/>
          <p:cNvSpPr txBox="1"/>
          <p:nvPr/>
        </p:nvSpPr>
        <p:spPr>
          <a:xfrm>
            <a:off x="4983480" y="1947672"/>
            <a:ext cx="3383280" cy="274320"/>
          </a:xfrm>
          <a:prstGeom prst="rect">
            <a:avLst/>
          </a:prstGeom>
          <a:noFill/>
          <a:ln/>
        </p:spPr>
        <p:txBody>
          <a:bodyPr wrap="square" lIns="0" tIns="0" rIns="0" bIns="0" rtlCol="0" anchor="t"/>
          <a:lstStyle/>
          <a:p>
            <a:pPr algn="l" indent="0" marL="0">
              <a:buNone/>
            </a:pPr>
            <a:r>
              <a:rPr lang="en-US" sz="1400" b="1" dirty="0">
                <a:solidFill>
                  <a:srgbClr val="FFFFFF"/>
                </a:solidFill>
              </a:rPr>
              <a:t>Nagłówek IP</a:t>
            </a:r>
            <a:endParaRPr lang="en-US" sz="1400" dirty="0"/>
          </a:p>
        </p:txBody>
      </p:sp>
      <p:sp>
        <p:nvSpPr>
          <p:cNvPr id="11" name="layer-2"/>
          <p:cNvSpPr/>
          <p:nvPr/>
        </p:nvSpPr>
        <p:spPr>
          <a:xfrm>
            <a:off x="5029200" y="2560320"/>
            <a:ext cx="3291840" cy="1508760"/>
          </a:xfrm>
          <a:prstGeom prst="roundRect">
            <a:avLst>
              <a:gd name="adj" fmla="val 4848"/>
            </a:avLst>
          </a:prstGeom>
          <a:solidFill>
            <a:srgbClr val="0E7C7B"/>
          </a:solidFill>
          <a:ln w="19050">
            <a:solidFill>
              <a:srgbClr val="FFFFFF"/>
            </a:solidFill>
            <a:prstDash val="solid"/>
          </a:ln>
        </p:spPr>
      </p:sp>
      <p:sp>
        <p:nvSpPr>
          <p:cNvPr id="12" name="Text 9"/>
          <p:cNvSpPr txBox="1"/>
          <p:nvPr/>
        </p:nvSpPr>
        <p:spPr>
          <a:xfrm>
            <a:off x="5166360" y="2633472"/>
            <a:ext cx="3017520" cy="274320"/>
          </a:xfrm>
          <a:prstGeom prst="rect">
            <a:avLst/>
          </a:prstGeom>
          <a:noFill/>
          <a:ln/>
        </p:spPr>
        <p:txBody>
          <a:bodyPr wrap="square" lIns="0" tIns="0" rIns="0" bIns="0" rtlCol="0" anchor="t"/>
          <a:lstStyle/>
          <a:p>
            <a:pPr algn="l" indent="0" marL="0">
              <a:buNone/>
            </a:pPr>
            <a:r>
              <a:rPr lang="en-US" sz="1400" b="1" dirty="0">
                <a:solidFill>
                  <a:srgbClr val="FFFFFF"/>
                </a:solidFill>
              </a:rPr>
              <a:t>Nagłówek TCP / UDP</a:t>
            </a:r>
            <a:endParaRPr lang="en-US" sz="1400" dirty="0"/>
          </a:p>
        </p:txBody>
      </p:sp>
      <p:sp>
        <p:nvSpPr>
          <p:cNvPr id="13" name="layer-3"/>
          <p:cNvSpPr/>
          <p:nvPr/>
        </p:nvSpPr>
        <p:spPr>
          <a:xfrm>
            <a:off x="5212080" y="3246120"/>
            <a:ext cx="2926080" cy="640080"/>
          </a:xfrm>
          <a:prstGeom prst="roundRect">
            <a:avLst>
              <a:gd name="adj" fmla="val 11429"/>
            </a:avLst>
          </a:prstGeom>
          <a:solidFill>
            <a:srgbClr val="F2A541"/>
          </a:solidFill>
          <a:ln w="19050">
            <a:solidFill>
              <a:srgbClr val="FFFFFF"/>
            </a:solidFill>
            <a:prstDash val="solid"/>
          </a:ln>
        </p:spPr>
      </p:sp>
      <p:sp>
        <p:nvSpPr>
          <p:cNvPr id="14" name="Text 11"/>
          <p:cNvSpPr txBox="1"/>
          <p:nvPr/>
        </p:nvSpPr>
        <p:spPr>
          <a:xfrm>
            <a:off x="5349240" y="3319272"/>
            <a:ext cx="2651760" cy="493776"/>
          </a:xfrm>
          <a:prstGeom prst="rect">
            <a:avLst/>
          </a:prstGeom>
          <a:noFill/>
          <a:ln/>
        </p:spPr>
        <p:txBody>
          <a:bodyPr wrap="square" lIns="0" tIns="0" rIns="0" bIns="0" rtlCol="0" anchor="ctr"/>
          <a:lstStyle/>
          <a:p>
            <a:pPr algn="ctr" indent="0" marL="0">
              <a:buNone/>
            </a:pPr>
            <a:r>
              <a:rPr lang="en-US" sz="1400" b="1" dirty="0">
                <a:solidFill>
                  <a:srgbClr val="0B2545"/>
                </a:solidFill>
              </a:rPr>
              <a:t>Dane aplikacji</a:t>
            </a:r>
            <a:endParaRPr lang="en-US" sz="1400" dirty="0"/>
          </a:p>
        </p:txBody>
      </p:sp>
      <p:sp>
        <p:nvSpPr>
          <p:cNvPr id="15" name="Text 12"/>
          <p:cNvSpPr txBox="1"/>
          <p:nvPr/>
        </p:nvSpPr>
        <p:spPr>
          <a:xfrm>
            <a:off x="4800600" y="1444752"/>
            <a:ext cx="3749040" cy="274320"/>
          </a:xfrm>
          <a:prstGeom prst="rect">
            <a:avLst/>
          </a:prstGeom>
          <a:noFill/>
          <a:ln/>
        </p:spPr>
        <p:txBody>
          <a:bodyPr wrap="square" lIns="0" tIns="0" rIns="0" bIns="0" rtlCol="0" anchor="t"/>
          <a:lstStyle/>
          <a:p>
            <a:pPr indent="0" marL="0">
              <a:buNone/>
            </a:pPr>
            <a:r>
              <a:rPr lang="en-US" sz="1200" dirty="0">
                <a:solidFill>
                  <a:srgbClr val="B8CCE4"/>
                </a:solidFill>
              </a:rPr>
              <a:t>0x0800 IPv4, 0x86DD IPv6</a:t>
            </a:r>
            <a:endParaRPr lang="en-US" sz="1200" dirty="0"/>
          </a:p>
        </p:txBody>
      </p:sp>
      <p:sp>
        <p:nvSpPr>
          <p:cNvPr id="16" name="Text 13"/>
          <p:cNvSpPr txBox="1"/>
          <p:nvPr/>
        </p:nvSpPr>
        <p:spPr>
          <a:xfrm>
            <a:off x="4983480" y="2176272"/>
            <a:ext cx="3383280" cy="274320"/>
          </a:xfrm>
          <a:prstGeom prst="rect">
            <a:avLst/>
          </a:prstGeom>
          <a:noFill/>
          <a:ln/>
        </p:spPr>
        <p:txBody>
          <a:bodyPr wrap="square" lIns="0" tIns="0" rIns="0" bIns="0" rtlCol="0" anchor="t"/>
          <a:lstStyle/>
          <a:p>
            <a:pPr indent="0" marL="0">
              <a:buNone/>
            </a:pPr>
            <a:r>
              <a:rPr lang="en-US" sz="1200" dirty="0">
                <a:solidFill>
                  <a:srgbClr val="D5E4F5"/>
                </a:solidFill>
              </a:rPr>
              <a:t>wskazuje: TCP, UDP, ICMP</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Dlaczego adres logiczny, skoro jest MAC?</a:t>
            </a:r>
            <a:endParaRPr lang="en-US" sz="3000" dirty="0"/>
          </a:p>
        </p:txBody>
      </p:sp>
      <p:sp>
        <p:nvSpPr>
          <p:cNvPr id="4" name="cmp-Adres MAC"/>
          <p:cNvSpPr/>
          <p:nvPr/>
        </p:nvSpPr>
        <p:spPr>
          <a:xfrm>
            <a:off x="457200" y="1143000"/>
            <a:ext cx="3931920" cy="2514600"/>
          </a:xfrm>
          <a:prstGeom prst="roundRect">
            <a:avLst>
              <a:gd name="adj" fmla="val 3636"/>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cmp-head-Adres MAC"/>
          <p:cNvSpPr/>
          <p:nvPr/>
        </p:nvSpPr>
        <p:spPr>
          <a:xfrm>
            <a:off x="457200" y="1143000"/>
            <a:ext cx="3931920" cy="548640"/>
          </a:xfrm>
          <a:prstGeom prst="roundRect">
            <a:avLst>
              <a:gd name="adj" fmla="val 10000"/>
            </a:avLst>
          </a:prstGeom>
          <a:solidFill>
            <a:srgbClr val="6C7A89"/>
          </a:solidFill>
          <a:ln w="9525">
            <a:solidFill>
              <a:srgbClr val="6C7A89"/>
            </a:solidFill>
            <a:prstDash val="solid"/>
          </a:ln>
        </p:spPr>
      </p:sp>
      <p:sp>
        <p:nvSpPr>
          <p:cNvPr id="6" name="Text 3"/>
          <p:cNvSpPr txBox="1"/>
          <p:nvPr/>
        </p:nvSpPr>
        <p:spPr>
          <a:xfrm>
            <a:off x="685800" y="1143000"/>
            <a:ext cx="3474720" cy="548640"/>
          </a:xfrm>
          <a:prstGeom prst="rect">
            <a:avLst/>
          </a:prstGeom>
          <a:noFill/>
          <a:ln/>
        </p:spPr>
        <p:txBody>
          <a:bodyPr wrap="square" lIns="0" tIns="0" rIns="0" bIns="0" rtlCol="0" anchor="ctr"/>
          <a:lstStyle/>
          <a:p>
            <a:pPr indent="0" marL="0">
              <a:buNone/>
            </a:pPr>
            <a:r>
              <a:rPr lang="en-US" sz="1800" b="1" dirty="0">
                <a:solidFill>
                  <a:srgbClr val="FFFFFF"/>
                </a:solidFill>
              </a:rPr>
              <a:t>Adres MAC</a:t>
            </a:r>
            <a:endParaRPr lang="en-US" sz="1800" dirty="0"/>
          </a:p>
        </p:txBody>
      </p:sp>
      <p:sp>
        <p:nvSpPr>
          <p:cNvPr id="7" name="Text 4"/>
          <p:cNvSpPr txBox="1"/>
          <p:nvPr/>
        </p:nvSpPr>
        <p:spPr>
          <a:xfrm>
            <a:off x="685800" y="1874520"/>
            <a:ext cx="347472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A41"/>
                </a:solidFill>
              </a:rPr>
              <a:t>Płaski, bez hierarchii</a:t>
            </a:r>
            <a:endParaRPr lang="en-US" sz="1400" dirty="0"/>
          </a:p>
          <a:p>
            <a:pPr marL="342900" indent="-342900">
              <a:spcAft>
                <a:spcPts val="800"/>
              </a:spcAft>
              <a:buSzPct val="100000"/>
              <a:buChar char="•"/>
            </a:pPr>
            <a:r>
              <a:rPr lang="en-US" sz="1400" dirty="0">
                <a:solidFill>
                  <a:srgbClr val="1B2A41"/>
                </a:solidFill>
              </a:rPr>
              <a:t>Na stałe w sprzęcie</a:t>
            </a:r>
            <a:endParaRPr lang="en-US" sz="1400" dirty="0"/>
          </a:p>
          <a:p>
            <a:pPr marL="342900" indent="-342900">
              <a:spcAft>
                <a:spcPts val="800"/>
              </a:spcAft>
              <a:buSzPct val="100000"/>
              <a:buChar char="•"/>
            </a:pPr>
            <a:r>
              <a:rPr lang="en-US" sz="1400" dirty="0">
                <a:solidFill>
                  <a:srgbClr val="1B2A41"/>
                </a:solidFill>
              </a:rPr>
              <a:t>Nie niesie lokalizacji</a:t>
            </a:r>
            <a:endParaRPr lang="en-US" sz="1400" dirty="0"/>
          </a:p>
          <a:p>
            <a:pPr marL="342900" indent="-342900">
              <a:spcAft>
                <a:spcPts val="800"/>
              </a:spcAft>
              <a:buSzPct val="100000"/>
              <a:buChar char="•"/>
            </a:pPr>
            <a:r>
              <a:rPr lang="en-US" sz="1400" dirty="0">
                <a:solidFill>
                  <a:srgbClr val="1B2A41"/>
                </a:solidFill>
              </a:rPr>
              <a:t>Routing = wpis dla każdego urządzenia</a:t>
            </a:r>
            <a:endParaRPr lang="en-US" sz="1400" dirty="0"/>
          </a:p>
        </p:txBody>
      </p:sp>
      <p:sp>
        <p:nvSpPr>
          <p:cNvPr id="8" name="cmp-Adres IP"/>
          <p:cNvSpPr/>
          <p:nvPr/>
        </p:nvSpPr>
        <p:spPr>
          <a:xfrm>
            <a:off x="4754880" y="1143000"/>
            <a:ext cx="3931920" cy="2514600"/>
          </a:xfrm>
          <a:prstGeom prst="roundRect">
            <a:avLst>
              <a:gd name="adj" fmla="val 3636"/>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9" name="cmp-head-Adres IP"/>
          <p:cNvSpPr/>
          <p:nvPr/>
        </p:nvSpPr>
        <p:spPr>
          <a:xfrm>
            <a:off x="4754880" y="1143000"/>
            <a:ext cx="3931920" cy="548640"/>
          </a:xfrm>
          <a:prstGeom prst="roundRect">
            <a:avLst>
              <a:gd name="adj" fmla="val 10000"/>
            </a:avLst>
          </a:prstGeom>
          <a:solidFill>
            <a:srgbClr val="0E7C7B"/>
          </a:solidFill>
          <a:ln w="9525">
            <a:solidFill>
              <a:srgbClr val="0E7C7B"/>
            </a:solidFill>
            <a:prstDash val="solid"/>
          </a:ln>
        </p:spPr>
      </p:sp>
      <p:sp>
        <p:nvSpPr>
          <p:cNvPr id="10" name="Text 7"/>
          <p:cNvSpPr txBox="1"/>
          <p:nvPr/>
        </p:nvSpPr>
        <p:spPr>
          <a:xfrm>
            <a:off x="4983480" y="1143000"/>
            <a:ext cx="3474720" cy="548640"/>
          </a:xfrm>
          <a:prstGeom prst="rect">
            <a:avLst/>
          </a:prstGeom>
          <a:noFill/>
          <a:ln/>
        </p:spPr>
        <p:txBody>
          <a:bodyPr wrap="square" lIns="0" tIns="0" rIns="0" bIns="0" rtlCol="0" anchor="ctr"/>
          <a:lstStyle/>
          <a:p>
            <a:pPr indent="0" marL="0">
              <a:buNone/>
            </a:pPr>
            <a:r>
              <a:rPr lang="en-US" sz="1800" b="1" dirty="0">
                <a:solidFill>
                  <a:srgbClr val="FFFFFF"/>
                </a:solidFill>
              </a:rPr>
              <a:t>Adres IP</a:t>
            </a:r>
            <a:endParaRPr lang="en-US" sz="1800" dirty="0"/>
          </a:p>
        </p:txBody>
      </p:sp>
      <p:sp>
        <p:nvSpPr>
          <p:cNvPr id="11" name="Text 8"/>
          <p:cNvSpPr txBox="1"/>
          <p:nvPr/>
        </p:nvSpPr>
        <p:spPr>
          <a:xfrm>
            <a:off x="4983480" y="1874520"/>
            <a:ext cx="347472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A41"/>
                </a:solidFill>
              </a:rPr>
              <a:t>Hierarchiczny: sieć + host</a:t>
            </a:r>
            <a:endParaRPr lang="en-US" sz="1400" dirty="0"/>
          </a:p>
          <a:p>
            <a:pPr marL="342900" indent="-342900">
              <a:spcAft>
                <a:spcPts val="800"/>
              </a:spcAft>
              <a:buSzPct val="100000"/>
              <a:buChar char="•"/>
            </a:pPr>
            <a:r>
              <a:rPr lang="en-US" sz="1400" dirty="0">
                <a:solidFill>
                  <a:srgbClr val="1B2A41"/>
                </a:solidFill>
              </a:rPr>
              <a:t>Związany z lokalizacją</a:t>
            </a:r>
            <a:endParaRPr lang="en-US" sz="1400" dirty="0"/>
          </a:p>
          <a:p>
            <a:pPr marL="342900" indent="-342900">
              <a:spcAft>
                <a:spcPts val="800"/>
              </a:spcAft>
              <a:buSzPct val="100000"/>
              <a:buChar char="•"/>
            </a:pPr>
            <a:r>
              <a:rPr lang="en-US" sz="1400" dirty="0">
                <a:solidFill>
                  <a:srgbClr val="1B2A41"/>
                </a:solidFill>
              </a:rPr>
              <a:t>Zmienia się z siecią</a:t>
            </a:r>
            <a:endParaRPr lang="en-US" sz="1400" dirty="0"/>
          </a:p>
          <a:p>
            <a:pPr marL="342900" indent="-342900">
              <a:spcAft>
                <a:spcPts val="800"/>
              </a:spcAft>
              <a:buSzPct val="100000"/>
              <a:buChar char="•"/>
            </a:pPr>
            <a:r>
              <a:rPr lang="en-US" sz="1400" dirty="0">
                <a:solidFill>
                  <a:srgbClr val="1B2A41"/>
                </a:solidFill>
              </a:rPr>
              <a:t>Routing po blokach adresów</a:t>
            </a:r>
            <a:endParaRPr lang="en-US" sz="1400" dirty="0"/>
          </a:p>
        </p:txBody>
      </p:sp>
      <p:sp>
        <p:nvSpPr>
          <p:cNvPr id="12" name="post"/>
          <p:cNvSpPr/>
          <p:nvPr/>
        </p:nvSpPr>
        <p:spPr>
          <a:xfrm>
            <a:off x="457200" y="3840480"/>
            <a:ext cx="8229600" cy="685800"/>
          </a:xfrm>
          <a:prstGeom prst="roundRect">
            <a:avLst>
              <a:gd name="adj" fmla="val 8000"/>
            </a:avLst>
          </a:prstGeom>
          <a:solidFill>
            <a:srgbClr val="0B2545"/>
          </a:solidFill>
          <a:ln w="9525">
            <a:solidFill>
              <a:srgbClr val="0B2545"/>
            </a:solidFill>
            <a:prstDash val="solid"/>
          </a:ln>
        </p:spPr>
      </p:sp>
      <p:sp>
        <p:nvSpPr>
          <p:cNvPr id="13" name="Text 10"/>
          <p:cNvSpPr txBox="1"/>
          <p:nvPr/>
        </p:nvSpPr>
        <p:spPr>
          <a:xfrm>
            <a:off x="457200" y="3840480"/>
            <a:ext cx="8229600" cy="685800"/>
          </a:xfrm>
          <a:prstGeom prst="rect">
            <a:avLst/>
          </a:prstGeom>
          <a:noFill/>
          <a:ln/>
        </p:spPr>
        <p:txBody>
          <a:bodyPr wrap="square" lIns="0" tIns="0" rIns="0" bIns="0" rtlCol="0" anchor="ctr"/>
          <a:lstStyle/>
          <a:p>
            <a:pPr algn="ctr" indent="0" marL="0">
              <a:buNone/>
            </a:pPr>
            <a:r>
              <a:rPr lang="en-US" sz="1800" b="1" dirty="0">
                <a:solidFill>
                  <a:srgbClr val="FFFFFF"/>
                </a:solidFill>
              </a:rPr>
              <a:t>Jak adres pocztowy: </a:t>
            </a:r>
            <a:pPr algn="ctr" indent="0" marL="0">
              <a:buNone/>
            </a:pPr>
            <a:r>
              <a:rPr lang="en-US" sz="1800" b="1" dirty="0">
                <a:solidFill>
                  <a:srgbClr val="F2A541"/>
                </a:solidFill>
              </a:rPr>
              <a:t>miasto</a:t>
            </a:r>
            <a:pPr algn="ctr" indent="0" marL="0">
              <a:buNone/>
            </a:pPr>
            <a:r>
              <a:rPr lang="en-US" sz="1800" b="1" dirty="0">
                <a:solidFill>
                  <a:srgbClr val="FFFFFF"/>
                </a:solidFill>
              </a:rPr>
              <a:t> = część sieciowa, </a:t>
            </a:r>
            <a:pPr algn="ctr" indent="0" marL="0">
              <a:buNone/>
            </a:pPr>
            <a:r>
              <a:rPr lang="en-US" sz="1800" b="1" dirty="0">
                <a:solidFill>
                  <a:srgbClr val="F2A541"/>
                </a:solidFill>
              </a:rPr>
              <a:t>numer domu</a:t>
            </a:r>
            <a:pPr algn="ctr" indent="0" marL="0">
              <a:buNone/>
            </a:pPr>
            <a:r>
              <a:rPr lang="en-US" sz="1800" b="1" dirty="0">
                <a:solidFill>
                  <a:srgbClr val="FFFFFF"/>
                </a:solidFill>
              </a:rPr>
              <a:t> = część hosta</a:t>
            </a:r>
            <a:endParaRPr lang="en-US" sz="18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Klasy adresowe i CIDR</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4846320" cy="914400"/>
        </p:xfrm>
        <a:graphic>
          <a:graphicData uri="http://schemas.openxmlformats.org/drawingml/2006/table">
            <a:tbl>
              <a:tblPr/>
              <a:tblGrid>
                <a:gridCol w="731520"/>
                <a:gridCol w="731520"/>
                <a:gridCol w="1097280"/>
                <a:gridCol w="1097280"/>
                <a:gridCol w="1188720"/>
              </a:tblGrid>
              <a:tr h="457200">
                <a:tc>
                  <a:txBody>
                    <a:bodyPr/>
                    <a:lstStyle/>
                    <a:p>
                      <a:pPr indent="0" marL="0">
                        <a:buNone/>
                      </a:pPr>
                      <a:r>
                        <a:rPr lang="en-US" sz="1400" b="1" dirty="0">
                          <a:solidFill>
                            <a:srgbClr val="FFFFFF"/>
                          </a:solidFill>
                        </a:rPr>
                        <a:t>Klasa</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Bity</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1. oktet</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Maska</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Hostów</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r>
              <a:tr h="457200">
                <a:tc>
                  <a:txBody>
                    <a:bodyPr/>
                    <a:lstStyle/>
                    <a:p>
                      <a:pPr indent="0" marL="0">
                        <a:buNone/>
                      </a:pPr>
                      <a:r>
                        <a:rPr lang="en-US" sz="1400" dirty="0">
                          <a:solidFill>
                            <a:srgbClr val="1B2A41"/>
                          </a:solidFill>
                        </a:rPr>
                        <a:t>A</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0</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1–126</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/8</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16 777 214</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457200">
                <a:tc>
                  <a:txBody>
                    <a:bodyPr/>
                    <a:lstStyle/>
                    <a:p>
                      <a:pPr indent="0" marL="0">
                        <a:buNone/>
                      </a:pPr>
                      <a:r>
                        <a:rPr lang="en-US" sz="1400" dirty="0">
                          <a:solidFill>
                            <a:srgbClr val="1B2A41"/>
                          </a:solidFill>
                        </a:rPr>
                        <a:t>B</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10</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128–191</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/16</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65 534</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41"/>
                          </a:solidFill>
                        </a:rPr>
                        <a:t>C</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110</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192–223</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/24</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254</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457200">
                <a:tc>
                  <a:txBody>
                    <a:bodyPr/>
                    <a:lstStyle/>
                    <a:p>
                      <a:pPr indent="0" marL="0">
                        <a:buNone/>
                      </a:pPr>
                      <a:r>
                        <a:rPr lang="en-US" sz="1400" dirty="0">
                          <a:solidFill>
                            <a:srgbClr val="1B2A41"/>
                          </a:solidFill>
                        </a:rPr>
                        <a:t>D</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1110</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224–239</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multicast</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41"/>
                          </a:solidFill>
                        </a:rPr>
                        <a:t>E</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1111</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240–255</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eksperym.</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bl>
          </a:graphicData>
        </a:graphic>
      </p:graphicFrame>
      <p:sp>
        <p:nvSpPr>
          <p:cNvPr id="5" name="Text 1"/>
          <p:cNvSpPr txBox="1"/>
          <p:nvPr/>
        </p:nvSpPr>
        <p:spPr>
          <a:xfrm>
            <a:off x="457200" y="3977640"/>
            <a:ext cx="4846320" cy="548640"/>
          </a:xfrm>
          <a:prstGeom prst="rect">
            <a:avLst/>
          </a:prstGeom>
          <a:noFill/>
          <a:ln/>
        </p:spPr>
        <p:txBody>
          <a:bodyPr wrap="square" lIns="0" tIns="0" rIns="0" bIns="0" rtlCol="0" anchor="t"/>
          <a:lstStyle/>
          <a:p>
            <a:pPr indent="0" marL="0">
              <a:buNone/>
            </a:pPr>
            <a:r>
              <a:rPr lang="en-US" sz="1400" dirty="0">
                <a:solidFill>
                  <a:srgbClr val="5C6B80"/>
                </a:solidFill>
              </a:rPr>
              <a:t>127.x.x.x to pętla zwrotna. Model klasowy marnował adresy: 300 hostów = cała klasa B.</a:t>
            </a:r>
            <a:endParaRPr lang="en-US" sz="1400" dirty="0"/>
          </a:p>
        </p:txBody>
      </p:sp>
      <p:sp>
        <p:nvSpPr>
          <p:cNvPr id="6" name="cidr-card"/>
          <p:cNvSpPr/>
          <p:nvPr/>
        </p:nvSpPr>
        <p:spPr>
          <a:xfrm>
            <a:off x="5577840" y="1143000"/>
            <a:ext cx="3108960" cy="3383280"/>
          </a:xfrm>
          <a:prstGeom prst="roundRect">
            <a:avLst>
              <a:gd name="adj" fmla="val 2941"/>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5760720" y="1280160"/>
            <a:ext cx="2743200" cy="365760"/>
          </a:xfrm>
          <a:prstGeom prst="rect">
            <a:avLst/>
          </a:prstGeom>
          <a:noFill/>
          <a:ln/>
        </p:spPr>
        <p:txBody>
          <a:bodyPr wrap="square" lIns="0" tIns="0" rIns="0" bIns="0" rtlCol="0" anchor="t"/>
          <a:lstStyle/>
          <a:p>
            <a:pPr indent="0" marL="0">
              <a:buNone/>
            </a:pPr>
            <a:r>
              <a:rPr lang="en-US" sz="1800" b="1" dirty="0">
                <a:solidFill>
                  <a:srgbClr val="0E7C7B"/>
                </a:solidFill>
              </a:rPr>
              <a:t>CIDR (1993)</a:t>
            </a:r>
            <a:endParaRPr lang="en-US" sz="1800" dirty="0"/>
          </a:p>
        </p:txBody>
      </p:sp>
      <p:sp>
        <p:nvSpPr>
          <p:cNvPr id="8" name="Text 4"/>
          <p:cNvSpPr txBox="1"/>
          <p:nvPr/>
        </p:nvSpPr>
        <p:spPr>
          <a:xfrm>
            <a:off x="5760720" y="1691640"/>
            <a:ext cx="2743200" cy="548640"/>
          </a:xfrm>
          <a:prstGeom prst="rect">
            <a:avLst/>
          </a:prstGeom>
          <a:noFill/>
          <a:ln/>
        </p:spPr>
        <p:txBody>
          <a:bodyPr wrap="square" lIns="0" tIns="0" rIns="0" bIns="0" rtlCol="0" anchor="t"/>
          <a:lstStyle/>
          <a:p>
            <a:pPr indent="0" marL="0">
              <a:buNone/>
            </a:pPr>
            <a:r>
              <a:rPr lang="en-US" sz="1400" dirty="0">
                <a:solidFill>
                  <a:srgbClr val="1B2A41"/>
                </a:solidFill>
              </a:rPr>
              <a:t>Granica sieć/host w dowolnym miejscu:</a:t>
            </a:r>
            <a:endParaRPr lang="en-US" sz="1400" dirty="0"/>
          </a:p>
        </p:txBody>
      </p:sp>
      <p:sp>
        <p:nvSpPr>
          <p:cNvPr id="9" name="cidr-mask"/>
          <p:cNvSpPr/>
          <p:nvPr/>
        </p:nvSpPr>
        <p:spPr>
          <a:xfrm>
            <a:off x="5760720" y="2286000"/>
            <a:ext cx="2743200" cy="457200"/>
          </a:xfrm>
          <a:prstGeom prst="roundRect">
            <a:avLst>
              <a:gd name="adj" fmla="val 12000"/>
            </a:avLst>
          </a:prstGeom>
          <a:solidFill>
            <a:srgbClr val="DCE8F5"/>
          </a:solidFill>
          <a:ln w="9525">
            <a:solidFill>
              <a:srgbClr val="3A6EA5"/>
            </a:solidFill>
            <a:prstDash val="solid"/>
          </a:ln>
        </p:spPr>
      </p:sp>
      <p:sp>
        <p:nvSpPr>
          <p:cNvPr id="10" name="Text 6"/>
          <p:cNvSpPr txBox="1"/>
          <p:nvPr/>
        </p:nvSpPr>
        <p:spPr>
          <a:xfrm>
            <a:off x="5760720" y="2286000"/>
            <a:ext cx="2743200" cy="457200"/>
          </a:xfrm>
          <a:prstGeom prst="rect">
            <a:avLst/>
          </a:prstGeom>
          <a:noFill/>
          <a:ln/>
        </p:spPr>
        <p:txBody>
          <a:bodyPr wrap="square" lIns="0" tIns="0" rIns="0" bIns="0" rtlCol="0" anchor="ctr"/>
          <a:lstStyle/>
          <a:p>
            <a:pPr algn="ctr" indent="0" marL="0">
              <a:buNone/>
            </a:pPr>
            <a:r>
              <a:rPr lang="en-US" sz="1400" b="1" dirty="0">
                <a:solidFill>
                  <a:srgbClr val="0B2545"/>
                </a:solidFill>
              </a:rPr>
              <a:t>255.255.255.0 = /24</a:t>
            </a:r>
            <a:endParaRPr lang="en-US" sz="1400" dirty="0"/>
          </a:p>
        </p:txBody>
      </p:sp>
      <p:sp>
        <p:nvSpPr>
          <p:cNvPr id="11" name="Text 7"/>
          <p:cNvSpPr txBox="1"/>
          <p:nvPr/>
        </p:nvSpPr>
        <p:spPr>
          <a:xfrm>
            <a:off x="5760720" y="2926080"/>
            <a:ext cx="2743200" cy="274320"/>
          </a:xfrm>
          <a:prstGeom prst="rect">
            <a:avLst/>
          </a:prstGeom>
          <a:noFill/>
          <a:ln/>
        </p:spPr>
        <p:txBody>
          <a:bodyPr wrap="square" lIns="0" tIns="0" rIns="0" bIns="0" rtlCol="0" anchor="t"/>
          <a:lstStyle/>
          <a:p>
            <a:pPr indent="0" marL="0">
              <a:buNone/>
            </a:pPr>
            <a:r>
              <a:rPr lang="en-US" sz="1400" dirty="0">
                <a:solidFill>
                  <a:srgbClr val="5C6B80"/>
                </a:solidFill>
              </a:rPr>
              <a:t>Adresów w sieci /n:</a:t>
            </a:r>
            <a:endParaRPr lang="en-US" sz="1400" dirty="0"/>
          </a:p>
        </p:txBody>
      </p:sp>
      <p:sp>
        <p:nvSpPr>
          <p:cNvPr id="12" name="Text 8"/>
          <p:cNvSpPr txBox="1"/>
          <p:nvPr/>
        </p:nvSpPr>
        <p:spPr>
          <a:xfrm>
            <a:off x="5760720" y="3200400"/>
            <a:ext cx="2743200" cy="457200"/>
          </a:xfrm>
          <a:prstGeom prst="rect">
            <a:avLst/>
          </a:prstGeom>
          <a:noFill/>
          <a:ln/>
        </p:spPr>
        <p:txBody>
          <a:bodyPr wrap="square" lIns="0" tIns="0" rIns="0" bIns="0" rtlCol="0" anchor="t"/>
          <a:lstStyle/>
          <a:p>
            <a:pPr indent="0" marL="0">
              <a:buNone/>
            </a:pPr>
            <a:r>
              <a:rPr lang="en-US" sz="2600" b="1" dirty="0">
                <a:solidFill>
                  <a:srgbClr val="0E7C7B"/>
                </a:solidFill>
              </a:rPr>
              <a:t>2^(32−n)</a:t>
            </a:r>
            <a:endParaRPr lang="en-US" sz="2600" dirty="0"/>
          </a:p>
        </p:txBody>
      </p:sp>
      <p:sp>
        <p:nvSpPr>
          <p:cNvPr id="13" name="Text 9"/>
          <p:cNvSpPr txBox="1"/>
          <p:nvPr/>
        </p:nvSpPr>
        <p:spPr>
          <a:xfrm>
            <a:off x="5760720" y="3749040"/>
            <a:ext cx="2743200" cy="640080"/>
          </a:xfrm>
          <a:prstGeom prst="rect">
            <a:avLst/>
          </a:prstGeom>
          <a:noFill/>
          <a:ln/>
        </p:spPr>
        <p:txBody>
          <a:bodyPr wrap="square" lIns="0" tIns="0" rIns="0" bIns="0" rtlCol="0" anchor="t"/>
          <a:lstStyle/>
          <a:p>
            <a:pPr indent="0" marL="0">
              <a:buNone/>
            </a:pPr>
            <a:r>
              <a:rPr lang="en-US" sz="1400" dirty="0">
                <a:solidFill>
                  <a:srgbClr val="1B2A41"/>
                </a:solidFill>
              </a:rPr>
              <a:t>użytecznych: minus 2 (adres sieci i broadcast)</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Adresy specjalne i prywatne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394960" cy="914400"/>
        </p:xfrm>
        <a:graphic>
          <a:graphicData uri="http://schemas.openxmlformats.org/drawingml/2006/table">
            <a:tbl>
              <a:tblPr/>
              <a:tblGrid>
                <a:gridCol w="2011680"/>
                <a:gridCol w="3383280"/>
              </a:tblGrid>
              <a:tr h="420624">
                <a:tc>
                  <a:txBody>
                    <a:bodyPr/>
                    <a:lstStyle/>
                    <a:p>
                      <a:pPr indent="0" marL="0">
                        <a:buNone/>
                      </a:pPr>
                      <a:r>
                        <a:rPr lang="en-US" sz="1400" b="1" dirty="0">
                          <a:solidFill>
                            <a:srgbClr val="FFFFFF"/>
                          </a:solidFill>
                        </a:rPr>
                        <a:t>Zakres</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Przeznaczenie</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r>
              <a:tr h="420624">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10.0.0.0/8</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prywatny (RFC 1918)</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420624">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172.16.0.0/12</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prywatny (RFC 1918)</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192.168.0.0/16</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prywatny, sieci domowe</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420624">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127.0.0.0/8</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pętla zwrotna (loopback)</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169.254.0.0/16</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link-local (APIPA), gdy DHCP zawiedzie</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420624">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224.0.0.0/4</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multicast</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100.64.0.0/10</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CGN, NAT operatorski (RFC 6598)</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bl>
          </a:graphicData>
        </a:graphic>
      </p:graphicFrame>
      <p:sp>
        <p:nvSpPr>
          <p:cNvPr id="5" name="nat-card"/>
          <p:cNvSpPr/>
          <p:nvPr/>
        </p:nvSpPr>
        <p:spPr>
          <a:xfrm>
            <a:off x="6126480" y="1143000"/>
            <a:ext cx="2560320" cy="3291840"/>
          </a:xfrm>
          <a:prstGeom prst="roundRect">
            <a:avLst>
              <a:gd name="adj" fmla="val 3571"/>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6" name="icon-bg-FaShieldAlt"/>
          <p:cNvSpPr/>
          <p:nvPr/>
        </p:nvSpPr>
        <p:spPr>
          <a:xfrm>
            <a:off x="6355080" y="1325880"/>
            <a:ext cx="548640" cy="548640"/>
          </a:xfrm>
          <a:prstGeom prst="ellipse">
            <a:avLst/>
          </a:prstGeom>
          <a:solidFill>
            <a:srgbClr val="0E7C7B"/>
          </a:solidFill>
          <a:ln w="6350">
            <a:solidFill>
              <a:srgbClr val="0E7C7B"/>
            </a:solidFill>
            <a:prstDash val="solid"/>
          </a:ln>
        </p:spPr>
      </p:sp>
      <p:pic>
        <p:nvPicPr>
          <p:cNvPr id="7" name="Image 0" descr="FaShieldAlt">    </p:cNvPr>
          <p:cNvPicPr>
            <a:picLocks noChangeAspect="1"/>
          </p:cNvPicPr>
          <p:nvPr/>
        </p:nvPicPr>
        <p:blipFill>
          <a:blip r:embed="rId1"/>
          <a:stretch>
            <a:fillRect/>
          </a:stretch>
        </p:blipFill>
        <p:spPr>
          <a:xfrm>
            <a:off x="6492240" y="1463040"/>
            <a:ext cx="274320" cy="274320"/>
          </a:xfrm>
          <a:prstGeom prst="rect">
            <a:avLst/>
          </a:prstGeom>
        </p:spPr>
      </p:pic>
      <p:sp>
        <p:nvSpPr>
          <p:cNvPr id="8" name="Text 3"/>
          <p:cNvSpPr txBox="1"/>
          <p:nvPr/>
        </p:nvSpPr>
        <p:spPr>
          <a:xfrm>
            <a:off x="6355080" y="201168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Prywatne adresy</a:t>
            </a:r>
            <a:endParaRPr lang="en-US" sz="1600" dirty="0"/>
          </a:p>
        </p:txBody>
      </p:sp>
      <p:sp>
        <p:nvSpPr>
          <p:cNvPr id="9" name="Text 4"/>
          <p:cNvSpPr txBox="1"/>
          <p:nvPr/>
        </p:nvSpPr>
        <p:spPr>
          <a:xfrm>
            <a:off x="6355080" y="2377440"/>
            <a:ext cx="2194560" cy="1920240"/>
          </a:xfrm>
          <a:prstGeom prst="rect">
            <a:avLst/>
          </a:prstGeom>
          <a:noFill/>
          <a:ln/>
        </p:spPr>
        <p:txBody>
          <a:bodyPr wrap="square" lIns="0" tIns="0" rIns="0" bIns="0" rtlCol="0" anchor="t"/>
          <a:lstStyle/>
          <a:p>
            <a:pPr indent="0" marL="0">
              <a:buNone/>
            </a:pPr>
            <a:r>
              <a:rPr lang="en-US" sz="1400" dirty="0">
                <a:solidFill>
                  <a:srgbClr val="1B2A41"/>
                </a:solidFill>
              </a:rPr>
              <a:t>Nie są routowane w internecie. Miliony sieci używają tego samego 192.168.1.0/24 bez konfliktu dzięki NAT.</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Podsieciowanie: 4 podsieci z /24</a:t>
            </a:r>
            <a:endParaRPr lang="en-US" sz="3000" dirty="0"/>
          </a:p>
        </p:txBody>
      </p:sp>
      <p:sp>
        <p:nvSpPr>
          <p:cNvPr id="4" name="Text 1"/>
          <p:cNvSpPr txBox="1"/>
          <p:nvPr/>
        </p:nvSpPr>
        <p:spPr>
          <a:xfrm>
            <a:off x="457200" y="1005840"/>
            <a:ext cx="8229600" cy="320040"/>
          </a:xfrm>
          <a:prstGeom prst="rect">
            <a:avLst/>
          </a:prstGeom>
          <a:noFill/>
          <a:ln/>
        </p:spPr>
        <p:txBody>
          <a:bodyPr wrap="square" lIns="0" tIns="0" rIns="0" bIns="0" rtlCol="0" anchor="t"/>
          <a:lstStyle/>
          <a:p>
            <a:pPr indent="0" marL="0">
              <a:buNone/>
            </a:pPr>
            <a:r>
              <a:rPr lang="en-US" sz="1600" dirty="0">
                <a:solidFill>
                  <a:srgbClr val="5C6B80"/>
                </a:solidFill>
              </a:rPr>
              <a:t>Sieć 192.168.10.0/24 na 4 działy: 2 dodatkowe bity, nowy prefiks /26</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097280"/>
                <a:gridCol w="2743200"/>
                <a:gridCol w="2377440"/>
                <a:gridCol w="2011680"/>
              </a:tblGrid>
              <a:tr h="457200">
                <a:tc>
                  <a:txBody>
                    <a:bodyPr/>
                    <a:lstStyle/>
                    <a:p>
                      <a:pPr indent="0" marL="0">
                        <a:buNone/>
                      </a:pPr>
                      <a:r>
                        <a:rPr lang="en-US" sz="1400" b="1" dirty="0">
                          <a:solidFill>
                            <a:srgbClr val="FFFFFF"/>
                          </a:solidFill>
                        </a:rPr>
                        <a:t>Podsieć</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Adres sieci</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Hosty</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Broadcast</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r>
              <a:tr h="457200">
                <a:tc>
                  <a:txBody>
                    <a:bodyPr/>
                    <a:lstStyle/>
                    <a:p>
                      <a:pPr indent="0" marL="0">
                        <a:buNone/>
                      </a:pPr>
                      <a:r>
                        <a:rPr lang="en-US" sz="1400" dirty="0">
                          <a:solidFill>
                            <a:srgbClr val="1B2A41"/>
                          </a:solidFill>
                        </a:rPr>
                        <a:t>1</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192.168.10.0/26</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 – .62</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.63</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457200">
                <a:tc>
                  <a:txBody>
                    <a:bodyPr/>
                    <a:lstStyle/>
                    <a:p>
                      <a:pPr indent="0" marL="0">
                        <a:buNone/>
                      </a:pPr>
                      <a:r>
                        <a:rPr lang="en-US" sz="1400" dirty="0">
                          <a:solidFill>
                            <a:srgbClr val="1B2A41"/>
                          </a:solidFill>
                        </a:rPr>
                        <a:t>2</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192.168.10.64/26</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.65 – .126</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.127</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41"/>
                          </a:solidFill>
                        </a:rPr>
                        <a:t>3</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192.168.10.128/26</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.129 – .190</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.191</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457200">
                <a:tc>
                  <a:txBody>
                    <a:bodyPr/>
                    <a:lstStyle/>
                    <a:p>
                      <a:pPr indent="0" marL="0">
                        <a:buNone/>
                      </a:pPr>
                      <a:r>
                        <a:rPr lang="en-US" sz="1400" dirty="0">
                          <a:solidFill>
                            <a:srgbClr val="1B2A41"/>
                          </a:solidFill>
                        </a:rPr>
                        <a:t>4</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41"/>
                          </a:solidFill>
                          <a:latin typeface="Courier New" pitchFamily="34" charset="0"/>
                          <a:ea typeface="Courier New" pitchFamily="34" charset="-122"/>
                          <a:cs typeface="Courier New" pitchFamily="34" charset="-120"/>
                        </a:rPr>
                        <a:t>192.168.10.192/26</a:t>
                      </a:r>
                      <a:endParaRPr lang="en-US" sz="1400" dirty="0">
                        <a:latin typeface="Courier New" charset="0"/>
                        <a:ea typeface="Courier New" charset="0"/>
                        <a:cs typeface="Courier New" charset="0"/>
                      </a:endParaRPr>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.193 – .254</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.255</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bl>
          </a:graphicData>
        </a:graphic>
      </p:graphicFrame>
      <p:sp>
        <p:nvSpPr>
          <p:cNvPr id="6" name="sub-stat-0"/>
          <p:cNvSpPr/>
          <p:nvPr/>
        </p:nvSpPr>
        <p:spPr>
          <a:xfrm>
            <a:off x="457200" y="3886200"/>
            <a:ext cx="2651760" cy="777240"/>
          </a:xfrm>
          <a:prstGeom prst="roundRect">
            <a:avLst>
              <a:gd name="adj" fmla="val 11765"/>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594360" y="3886200"/>
            <a:ext cx="1097280" cy="777240"/>
          </a:xfrm>
          <a:prstGeom prst="rect">
            <a:avLst/>
          </a:prstGeom>
          <a:noFill/>
          <a:ln/>
        </p:spPr>
        <p:txBody>
          <a:bodyPr wrap="square" lIns="0" tIns="0" rIns="0" bIns="0" rtlCol="0" anchor="ctr"/>
          <a:lstStyle/>
          <a:p>
            <a:pPr indent="0" marL="0">
              <a:buNone/>
            </a:pPr>
            <a:r>
              <a:rPr lang="en-US" sz="2200" b="1" dirty="0">
                <a:solidFill>
                  <a:srgbClr val="0E7C7B"/>
                </a:solidFill>
              </a:rPr>
              <a:t>6 bitów</a:t>
            </a:r>
            <a:endParaRPr lang="en-US" sz="2200" dirty="0"/>
          </a:p>
        </p:txBody>
      </p:sp>
      <p:sp>
        <p:nvSpPr>
          <p:cNvPr id="8" name="Text 4"/>
          <p:cNvSpPr txBox="1"/>
          <p:nvPr/>
        </p:nvSpPr>
        <p:spPr>
          <a:xfrm>
            <a:off x="1737360" y="3886200"/>
            <a:ext cx="1280160" cy="777240"/>
          </a:xfrm>
          <a:prstGeom prst="rect">
            <a:avLst/>
          </a:prstGeom>
          <a:noFill/>
          <a:ln/>
        </p:spPr>
        <p:txBody>
          <a:bodyPr wrap="square" lIns="0" tIns="0" rIns="0" bIns="0" rtlCol="0" anchor="ctr"/>
          <a:lstStyle/>
          <a:p>
            <a:pPr indent="0" marL="0">
              <a:buNone/>
            </a:pPr>
            <a:r>
              <a:rPr lang="en-US" sz="1300" dirty="0">
                <a:solidFill>
                  <a:srgbClr val="1B2A41"/>
                </a:solidFill>
              </a:rPr>
              <a:t>na hosta w każdej podsieci</a:t>
            </a:r>
            <a:endParaRPr lang="en-US" sz="1300" dirty="0"/>
          </a:p>
        </p:txBody>
      </p:sp>
      <p:sp>
        <p:nvSpPr>
          <p:cNvPr id="9" name="sub-stat-1"/>
          <p:cNvSpPr/>
          <p:nvPr/>
        </p:nvSpPr>
        <p:spPr>
          <a:xfrm>
            <a:off x="3246120" y="3886200"/>
            <a:ext cx="2651760" cy="777240"/>
          </a:xfrm>
          <a:prstGeom prst="roundRect">
            <a:avLst>
              <a:gd name="adj" fmla="val 11765"/>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0" name="Text 6"/>
          <p:cNvSpPr txBox="1"/>
          <p:nvPr/>
        </p:nvSpPr>
        <p:spPr>
          <a:xfrm>
            <a:off x="3383280" y="3886200"/>
            <a:ext cx="1097280" cy="777240"/>
          </a:xfrm>
          <a:prstGeom prst="rect">
            <a:avLst/>
          </a:prstGeom>
          <a:noFill/>
          <a:ln/>
        </p:spPr>
        <p:txBody>
          <a:bodyPr wrap="square" lIns="0" tIns="0" rIns="0" bIns="0" rtlCol="0" anchor="ctr"/>
          <a:lstStyle/>
          <a:p>
            <a:pPr indent="0" marL="0">
              <a:buNone/>
            </a:pPr>
            <a:r>
              <a:rPr lang="en-US" sz="2200" b="1" dirty="0">
                <a:solidFill>
                  <a:srgbClr val="3A6EA5"/>
                </a:solidFill>
              </a:rPr>
              <a:t>64</a:t>
            </a:r>
            <a:endParaRPr lang="en-US" sz="2200" dirty="0"/>
          </a:p>
        </p:txBody>
      </p:sp>
      <p:sp>
        <p:nvSpPr>
          <p:cNvPr id="11" name="Text 7"/>
          <p:cNvSpPr txBox="1"/>
          <p:nvPr/>
        </p:nvSpPr>
        <p:spPr>
          <a:xfrm>
            <a:off x="4526280" y="3886200"/>
            <a:ext cx="1280160" cy="777240"/>
          </a:xfrm>
          <a:prstGeom prst="rect">
            <a:avLst/>
          </a:prstGeom>
          <a:noFill/>
          <a:ln/>
        </p:spPr>
        <p:txBody>
          <a:bodyPr wrap="square" lIns="0" tIns="0" rIns="0" bIns="0" rtlCol="0" anchor="ctr"/>
          <a:lstStyle/>
          <a:p>
            <a:pPr indent="0" marL="0">
              <a:buNone/>
            </a:pPr>
            <a:r>
              <a:rPr lang="en-US" sz="1300" dirty="0">
                <a:solidFill>
                  <a:srgbClr val="1B2A41"/>
                </a:solidFill>
              </a:rPr>
              <a:t>adresy w podsieci (skok)</a:t>
            </a:r>
            <a:endParaRPr lang="en-US" sz="1300" dirty="0"/>
          </a:p>
        </p:txBody>
      </p:sp>
      <p:sp>
        <p:nvSpPr>
          <p:cNvPr id="12" name="sub-stat-2"/>
          <p:cNvSpPr/>
          <p:nvPr/>
        </p:nvSpPr>
        <p:spPr>
          <a:xfrm>
            <a:off x="6035040" y="3886200"/>
            <a:ext cx="2651760" cy="777240"/>
          </a:xfrm>
          <a:prstGeom prst="roundRect">
            <a:avLst>
              <a:gd name="adj" fmla="val 11765"/>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3" name="Text 9"/>
          <p:cNvSpPr txBox="1"/>
          <p:nvPr/>
        </p:nvSpPr>
        <p:spPr>
          <a:xfrm>
            <a:off x="6172200" y="3886200"/>
            <a:ext cx="1097280" cy="777240"/>
          </a:xfrm>
          <a:prstGeom prst="rect">
            <a:avLst/>
          </a:prstGeom>
          <a:noFill/>
          <a:ln/>
        </p:spPr>
        <p:txBody>
          <a:bodyPr wrap="square" lIns="0" tIns="0" rIns="0" bIns="0" rtlCol="0" anchor="ctr"/>
          <a:lstStyle/>
          <a:p>
            <a:pPr indent="0" marL="0">
              <a:buNone/>
            </a:pPr>
            <a:r>
              <a:rPr lang="en-US" sz="2200" b="1" dirty="0">
                <a:solidFill>
                  <a:srgbClr val="C77D0A"/>
                </a:solidFill>
              </a:rPr>
              <a:t>62</a:t>
            </a:r>
            <a:endParaRPr lang="en-US" sz="2200" dirty="0"/>
          </a:p>
        </p:txBody>
      </p:sp>
      <p:sp>
        <p:nvSpPr>
          <p:cNvPr id="14" name="Text 10"/>
          <p:cNvSpPr txBox="1"/>
          <p:nvPr/>
        </p:nvSpPr>
        <p:spPr>
          <a:xfrm>
            <a:off x="7315200" y="3886200"/>
            <a:ext cx="1280160" cy="777240"/>
          </a:xfrm>
          <a:prstGeom prst="rect">
            <a:avLst/>
          </a:prstGeom>
          <a:noFill/>
          <a:ln/>
        </p:spPr>
        <p:txBody>
          <a:bodyPr wrap="square" lIns="0" tIns="0" rIns="0" bIns="0" rtlCol="0" anchor="ctr"/>
          <a:lstStyle/>
          <a:p>
            <a:pPr indent="0" marL="0">
              <a:buNone/>
            </a:pPr>
            <a:r>
              <a:rPr lang="en-US" sz="1300" dirty="0">
                <a:solidFill>
                  <a:srgbClr val="1B2A41"/>
                </a:solidFill>
              </a:rPr>
              <a:t>adresy użyteczne</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Nagłówek IPv4: mapa pól</a:t>
            </a:r>
            <a:endParaRPr lang="en-US" sz="3000" dirty="0"/>
          </a:p>
        </p:txBody>
      </p:sp>
      <p:sp>
        <p:nvSpPr>
          <p:cNvPr id="4" name="field-Wersja"/>
          <p:cNvSpPr/>
          <p:nvPr/>
        </p:nvSpPr>
        <p:spPr>
          <a:xfrm>
            <a:off x="457200" y="1188720"/>
            <a:ext cx="1028700" cy="475488"/>
          </a:xfrm>
          <a:prstGeom prst="rect">
            <a:avLst/>
          </a:prstGeom>
          <a:solidFill>
            <a:srgbClr val="3A6EA5"/>
          </a:solidFill>
          <a:ln w="19050">
            <a:solidFill>
              <a:srgbClr val="FFFFFF"/>
            </a:solidFill>
            <a:prstDash val="solid"/>
          </a:ln>
        </p:spPr>
      </p:sp>
      <p:sp>
        <p:nvSpPr>
          <p:cNvPr id="5" name="Text 2"/>
          <p:cNvSpPr txBox="1"/>
          <p:nvPr/>
        </p:nvSpPr>
        <p:spPr>
          <a:xfrm>
            <a:off x="457200" y="1188720"/>
            <a:ext cx="1028700" cy="475488"/>
          </a:xfrm>
          <a:prstGeom prst="rect">
            <a:avLst/>
          </a:prstGeom>
          <a:noFill/>
          <a:ln/>
        </p:spPr>
        <p:txBody>
          <a:bodyPr wrap="square" lIns="0" tIns="0" rIns="0" bIns="0" rtlCol="0" anchor="ctr"/>
          <a:lstStyle/>
          <a:p>
            <a:pPr algn="ctr" indent="0" marL="0">
              <a:buNone/>
            </a:pPr>
            <a:r>
              <a:rPr lang="en-US" sz="1100" b="1" dirty="0">
                <a:solidFill>
                  <a:srgbClr val="FFFFFF"/>
                </a:solidFill>
              </a:rPr>
              <a:t>Wersja</a:t>
            </a:r>
            <a:endParaRPr lang="en-US" sz="1100" dirty="0"/>
          </a:p>
        </p:txBody>
      </p:sp>
      <p:sp>
        <p:nvSpPr>
          <p:cNvPr id="6" name="field-IHL"/>
          <p:cNvSpPr/>
          <p:nvPr/>
        </p:nvSpPr>
        <p:spPr>
          <a:xfrm>
            <a:off x="1485900" y="1188720"/>
            <a:ext cx="1028700" cy="475488"/>
          </a:xfrm>
          <a:prstGeom prst="rect">
            <a:avLst/>
          </a:prstGeom>
          <a:solidFill>
            <a:srgbClr val="3A6EA5"/>
          </a:solidFill>
          <a:ln w="19050">
            <a:solidFill>
              <a:srgbClr val="FFFFFF"/>
            </a:solidFill>
            <a:prstDash val="solid"/>
          </a:ln>
        </p:spPr>
      </p:sp>
      <p:sp>
        <p:nvSpPr>
          <p:cNvPr id="7" name="Text 4"/>
          <p:cNvSpPr txBox="1"/>
          <p:nvPr/>
        </p:nvSpPr>
        <p:spPr>
          <a:xfrm>
            <a:off x="1485900" y="1188720"/>
            <a:ext cx="1028700" cy="475488"/>
          </a:xfrm>
          <a:prstGeom prst="rect">
            <a:avLst/>
          </a:prstGeom>
          <a:noFill/>
          <a:ln/>
        </p:spPr>
        <p:txBody>
          <a:bodyPr wrap="square" lIns="0" tIns="0" rIns="0" bIns="0" rtlCol="0" anchor="ctr"/>
          <a:lstStyle/>
          <a:p>
            <a:pPr algn="ctr" indent="0" marL="0">
              <a:buNone/>
            </a:pPr>
            <a:r>
              <a:rPr lang="en-US" sz="1100" b="1" dirty="0">
                <a:solidFill>
                  <a:srgbClr val="FFFFFF"/>
                </a:solidFill>
              </a:rPr>
              <a:t>IHL</a:t>
            </a:r>
            <a:endParaRPr lang="en-US" sz="1100" dirty="0"/>
          </a:p>
        </p:txBody>
      </p:sp>
      <p:sp>
        <p:nvSpPr>
          <p:cNvPr id="8" name="field-Typ usługi"/>
          <p:cNvSpPr/>
          <p:nvPr/>
        </p:nvSpPr>
        <p:spPr>
          <a:xfrm>
            <a:off x="2514600" y="1188720"/>
            <a:ext cx="2057400" cy="475488"/>
          </a:xfrm>
          <a:prstGeom prst="rect">
            <a:avLst/>
          </a:prstGeom>
          <a:solidFill>
            <a:srgbClr val="0E7C7B"/>
          </a:solidFill>
          <a:ln w="19050">
            <a:solidFill>
              <a:srgbClr val="FFFFFF"/>
            </a:solidFill>
            <a:prstDash val="solid"/>
          </a:ln>
        </p:spPr>
      </p:sp>
      <p:sp>
        <p:nvSpPr>
          <p:cNvPr id="9" name="Text 6"/>
          <p:cNvSpPr txBox="1"/>
          <p:nvPr/>
        </p:nvSpPr>
        <p:spPr>
          <a:xfrm>
            <a:off x="2514600" y="1188720"/>
            <a:ext cx="2057400" cy="475488"/>
          </a:xfrm>
          <a:prstGeom prst="rect">
            <a:avLst/>
          </a:prstGeom>
          <a:noFill/>
          <a:ln/>
        </p:spPr>
        <p:txBody>
          <a:bodyPr wrap="square" lIns="0" tIns="0" rIns="0" bIns="0" rtlCol="0" anchor="ctr"/>
          <a:lstStyle/>
          <a:p>
            <a:pPr algn="ctr" indent="0" marL="0">
              <a:buNone/>
            </a:pPr>
            <a:r>
              <a:rPr lang="en-US" sz="1200" b="1" dirty="0">
                <a:solidFill>
                  <a:srgbClr val="FFFFFF"/>
                </a:solidFill>
              </a:rPr>
              <a:t>Typ usługi</a:t>
            </a:r>
            <a:endParaRPr lang="en-US" sz="1200" dirty="0"/>
          </a:p>
        </p:txBody>
      </p:sp>
      <p:sp>
        <p:nvSpPr>
          <p:cNvPr id="10" name="field-Całkowita długość"/>
          <p:cNvSpPr/>
          <p:nvPr/>
        </p:nvSpPr>
        <p:spPr>
          <a:xfrm>
            <a:off x="4572000" y="1188720"/>
            <a:ext cx="4114800" cy="475488"/>
          </a:xfrm>
          <a:prstGeom prst="rect">
            <a:avLst/>
          </a:prstGeom>
          <a:solidFill>
            <a:srgbClr val="3A6EA5"/>
          </a:solidFill>
          <a:ln w="19050">
            <a:solidFill>
              <a:srgbClr val="FFFFFF"/>
            </a:solidFill>
            <a:prstDash val="solid"/>
          </a:ln>
        </p:spPr>
      </p:sp>
      <p:sp>
        <p:nvSpPr>
          <p:cNvPr id="11" name="Text 8"/>
          <p:cNvSpPr txBox="1"/>
          <p:nvPr/>
        </p:nvSpPr>
        <p:spPr>
          <a:xfrm>
            <a:off x="4572000" y="1188720"/>
            <a:ext cx="4114800" cy="475488"/>
          </a:xfrm>
          <a:prstGeom prst="rect">
            <a:avLst/>
          </a:prstGeom>
          <a:noFill/>
          <a:ln/>
        </p:spPr>
        <p:txBody>
          <a:bodyPr wrap="square" lIns="0" tIns="0" rIns="0" bIns="0" rtlCol="0" anchor="ctr"/>
          <a:lstStyle/>
          <a:p>
            <a:pPr algn="ctr" indent="0" marL="0">
              <a:buNone/>
            </a:pPr>
            <a:r>
              <a:rPr lang="en-US" sz="1200" b="1" dirty="0">
                <a:solidFill>
                  <a:srgbClr val="FFFFFF"/>
                </a:solidFill>
              </a:rPr>
              <a:t>Całkowita długość</a:t>
            </a:r>
            <a:endParaRPr lang="en-US" sz="1200" dirty="0"/>
          </a:p>
        </p:txBody>
      </p:sp>
      <p:sp>
        <p:nvSpPr>
          <p:cNvPr id="12" name="field-Identyfikacja"/>
          <p:cNvSpPr/>
          <p:nvPr/>
        </p:nvSpPr>
        <p:spPr>
          <a:xfrm>
            <a:off x="457200" y="1700784"/>
            <a:ext cx="4114800" cy="475488"/>
          </a:xfrm>
          <a:prstGeom prst="rect">
            <a:avLst/>
          </a:prstGeom>
          <a:solidFill>
            <a:srgbClr val="F2A541"/>
          </a:solidFill>
          <a:ln w="19050">
            <a:solidFill>
              <a:srgbClr val="FFFFFF"/>
            </a:solidFill>
            <a:prstDash val="solid"/>
          </a:ln>
        </p:spPr>
      </p:sp>
      <p:sp>
        <p:nvSpPr>
          <p:cNvPr id="13" name="Text 10"/>
          <p:cNvSpPr txBox="1"/>
          <p:nvPr/>
        </p:nvSpPr>
        <p:spPr>
          <a:xfrm>
            <a:off x="457200" y="1700784"/>
            <a:ext cx="4114800" cy="475488"/>
          </a:xfrm>
          <a:prstGeom prst="rect">
            <a:avLst/>
          </a:prstGeom>
          <a:noFill/>
          <a:ln/>
        </p:spPr>
        <p:txBody>
          <a:bodyPr wrap="square" lIns="0" tIns="0" rIns="0" bIns="0" rtlCol="0" anchor="ctr"/>
          <a:lstStyle/>
          <a:p>
            <a:pPr algn="ctr" indent="0" marL="0">
              <a:buNone/>
            </a:pPr>
            <a:r>
              <a:rPr lang="en-US" sz="1200" b="1" dirty="0">
                <a:solidFill>
                  <a:srgbClr val="0B2545"/>
                </a:solidFill>
              </a:rPr>
              <a:t>Identyfikacja</a:t>
            </a:r>
            <a:endParaRPr lang="en-US" sz="1200" dirty="0"/>
          </a:p>
        </p:txBody>
      </p:sp>
      <p:sp>
        <p:nvSpPr>
          <p:cNvPr id="14" name="field-Flagi"/>
          <p:cNvSpPr/>
          <p:nvPr/>
        </p:nvSpPr>
        <p:spPr>
          <a:xfrm>
            <a:off x="4572000" y="1700784"/>
            <a:ext cx="771525" cy="475488"/>
          </a:xfrm>
          <a:prstGeom prst="rect">
            <a:avLst/>
          </a:prstGeom>
          <a:solidFill>
            <a:srgbClr val="F2A541"/>
          </a:solidFill>
          <a:ln w="19050">
            <a:solidFill>
              <a:srgbClr val="FFFFFF"/>
            </a:solidFill>
            <a:prstDash val="solid"/>
          </a:ln>
        </p:spPr>
      </p:sp>
      <p:sp>
        <p:nvSpPr>
          <p:cNvPr id="15" name="Text 12"/>
          <p:cNvSpPr txBox="1"/>
          <p:nvPr/>
        </p:nvSpPr>
        <p:spPr>
          <a:xfrm>
            <a:off x="4572000" y="1700784"/>
            <a:ext cx="771525" cy="475488"/>
          </a:xfrm>
          <a:prstGeom prst="rect">
            <a:avLst/>
          </a:prstGeom>
          <a:noFill/>
          <a:ln/>
        </p:spPr>
        <p:txBody>
          <a:bodyPr wrap="square" lIns="0" tIns="0" rIns="0" bIns="0" rtlCol="0" anchor="ctr"/>
          <a:lstStyle/>
          <a:p>
            <a:pPr algn="ctr" indent="0" marL="0">
              <a:buNone/>
            </a:pPr>
            <a:r>
              <a:rPr lang="en-US" sz="1100" b="1" dirty="0">
                <a:solidFill>
                  <a:srgbClr val="0B2545"/>
                </a:solidFill>
              </a:rPr>
              <a:t>Flagi</a:t>
            </a:r>
            <a:endParaRPr lang="en-US" sz="1100" dirty="0"/>
          </a:p>
        </p:txBody>
      </p:sp>
      <p:sp>
        <p:nvSpPr>
          <p:cNvPr id="16" name="field-Przesunięcie fragmentu"/>
          <p:cNvSpPr/>
          <p:nvPr/>
        </p:nvSpPr>
        <p:spPr>
          <a:xfrm>
            <a:off x="5343525" y="1700784"/>
            <a:ext cx="3343275" cy="475488"/>
          </a:xfrm>
          <a:prstGeom prst="rect">
            <a:avLst/>
          </a:prstGeom>
          <a:solidFill>
            <a:srgbClr val="F2A541"/>
          </a:solidFill>
          <a:ln w="19050">
            <a:solidFill>
              <a:srgbClr val="FFFFFF"/>
            </a:solidFill>
            <a:prstDash val="solid"/>
          </a:ln>
        </p:spPr>
      </p:sp>
      <p:sp>
        <p:nvSpPr>
          <p:cNvPr id="17" name="Text 14"/>
          <p:cNvSpPr txBox="1"/>
          <p:nvPr/>
        </p:nvSpPr>
        <p:spPr>
          <a:xfrm>
            <a:off x="5343525" y="1700784"/>
            <a:ext cx="3343275" cy="475488"/>
          </a:xfrm>
          <a:prstGeom prst="rect">
            <a:avLst/>
          </a:prstGeom>
          <a:noFill/>
          <a:ln/>
        </p:spPr>
        <p:txBody>
          <a:bodyPr wrap="square" lIns="0" tIns="0" rIns="0" bIns="0" rtlCol="0" anchor="ctr"/>
          <a:lstStyle/>
          <a:p>
            <a:pPr algn="ctr" indent="0" marL="0">
              <a:buNone/>
            </a:pPr>
            <a:r>
              <a:rPr lang="en-US" sz="1200" b="1" dirty="0">
                <a:solidFill>
                  <a:srgbClr val="0B2545"/>
                </a:solidFill>
              </a:rPr>
              <a:t>Przesunięcie fragmentu</a:t>
            </a:r>
            <a:endParaRPr lang="en-US" sz="1200" dirty="0"/>
          </a:p>
        </p:txBody>
      </p:sp>
      <p:sp>
        <p:nvSpPr>
          <p:cNvPr id="18" name="field-TTL"/>
          <p:cNvSpPr/>
          <p:nvPr/>
        </p:nvSpPr>
        <p:spPr>
          <a:xfrm>
            <a:off x="457200" y="2212848"/>
            <a:ext cx="2057400" cy="475488"/>
          </a:xfrm>
          <a:prstGeom prst="rect">
            <a:avLst/>
          </a:prstGeom>
          <a:solidFill>
            <a:srgbClr val="C8442F"/>
          </a:solidFill>
          <a:ln w="19050">
            <a:solidFill>
              <a:srgbClr val="FFFFFF"/>
            </a:solidFill>
            <a:prstDash val="solid"/>
          </a:ln>
        </p:spPr>
      </p:sp>
      <p:sp>
        <p:nvSpPr>
          <p:cNvPr id="19" name="Text 16"/>
          <p:cNvSpPr txBox="1"/>
          <p:nvPr/>
        </p:nvSpPr>
        <p:spPr>
          <a:xfrm>
            <a:off x="457200" y="2212848"/>
            <a:ext cx="2057400" cy="475488"/>
          </a:xfrm>
          <a:prstGeom prst="rect">
            <a:avLst/>
          </a:prstGeom>
          <a:noFill/>
          <a:ln/>
        </p:spPr>
        <p:txBody>
          <a:bodyPr wrap="square" lIns="0" tIns="0" rIns="0" bIns="0" rtlCol="0" anchor="ctr"/>
          <a:lstStyle/>
          <a:p>
            <a:pPr algn="ctr" indent="0" marL="0">
              <a:buNone/>
            </a:pPr>
            <a:r>
              <a:rPr lang="en-US" sz="1200" b="1" dirty="0">
                <a:solidFill>
                  <a:srgbClr val="FFFFFF"/>
                </a:solidFill>
              </a:rPr>
              <a:t>TTL</a:t>
            </a:r>
            <a:endParaRPr lang="en-US" sz="1200" dirty="0"/>
          </a:p>
        </p:txBody>
      </p:sp>
      <p:sp>
        <p:nvSpPr>
          <p:cNvPr id="20" name="field-Protokół"/>
          <p:cNvSpPr/>
          <p:nvPr/>
        </p:nvSpPr>
        <p:spPr>
          <a:xfrm>
            <a:off x="2514600" y="2212848"/>
            <a:ext cx="2057400" cy="475488"/>
          </a:xfrm>
          <a:prstGeom prst="rect">
            <a:avLst/>
          </a:prstGeom>
          <a:solidFill>
            <a:srgbClr val="0E7C7B"/>
          </a:solidFill>
          <a:ln w="19050">
            <a:solidFill>
              <a:srgbClr val="FFFFFF"/>
            </a:solidFill>
            <a:prstDash val="solid"/>
          </a:ln>
        </p:spPr>
      </p:sp>
      <p:sp>
        <p:nvSpPr>
          <p:cNvPr id="21" name="Text 18"/>
          <p:cNvSpPr txBox="1"/>
          <p:nvPr/>
        </p:nvSpPr>
        <p:spPr>
          <a:xfrm>
            <a:off x="2514600" y="2212848"/>
            <a:ext cx="2057400" cy="475488"/>
          </a:xfrm>
          <a:prstGeom prst="rect">
            <a:avLst/>
          </a:prstGeom>
          <a:noFill/>
          <a:ln/>
        </p:spPr>
        <p:txBody>
          <a:bodyPr wrap="square" lIns="0" tIns="0" rIns="0" bIns="0" rtlCol="0" anchor="ctr"/>
          <a:lstStyle/>
          <a:p>
            <a:pPr algn="ctr" indent="0" marL="0">
              <a:buNone/>
            </a:pPr>
            <a:r>
              <a:rPr lang="en-US" sz="1200" b="1" dirty="0">
                <a:solidFill>
                  <a:srgbClr val="FFFFFF"/>
                </a:solidFill>
              </a:rPr>
              <a:t>Protokół</a:t>
            </a:r>
            <a:endParaRPr lang="en-US" sz="1200" dirty="0"/>
          </a:p>
        </p:txBody>
      </p:sp>
      <p:sp>
        <p:nvSpPr>
          <p:cNvPr id="22" name="field-Suma kontrolna nagłówka"/>
          <p:cNvSpPr/>
          <p:nvPr/>
        </p:nvSpPr>
        <p:spPr>
          <a:xfrm>
            <a:off x="4572000" y="2212848"/>
            <a:ext cx="4114800" cy="475488"/>
          </a:xfrm>
          <a:prstGeom prst="rect">
            <a:avLst/>
          </a:prstGeom>
          <a:solidFill>
            <a:srgbClr val="6C7A89"/>
          </a:solidFill>
          <a:ln w="19050">
            <a:solidFill>
              <a:srgbClr val="FFFFFF"/>
            </a:solidFill>
            <a:prstDash val="solid"/>
          </a:ln>
        </p:spPr>
      </p:sp>
      <p:sp>
        <p:nvSpPr>
          <p:cNvPr id="23" name="Text 20"/>
          <p:cNvSpPr txBox="1"/>
          <p:nvPr/>
        </p:nvSpPr>
        <p:spPr>
          <a:xfrm>
            <a:off x="4572000" y="2212848"/>
            <a:ext cx="4114800" cy="475488"/>
          </a:xfrm>
          <a:prstGeom prst="rect">
            <a:avLst/>
          </a:prstGeom>
          <a:noFill/>
          <a:ln/>
        </p:spPr>
        <p:txBody>
          <a:bodyPr wrap="square" lIns="0" tIns="0" rIns="0" bIns="0" rtlCol="0" anchor="ctr"/>
          <a:lstStyle/>
          <a:p>
            <a:pPr algn="ctr" indent="0" marL="0">
              <a:buNone/>
            </a:pPr>
            <a:r>
              <a:rPr lang="en-US" sz="1200" b="1" dirty="0">
                <a:solidFill>
                  <a:srgbClr val="FFFFFF"/>
                </a:solidFill>
              </a:rPr>
              <a:t>Suma kontrolna nagłówka</a:t>
            </a:r>
            <a:endParaRPr lang="en-US" sz="1200" dirty="0"/>
          </a:p>
        </p:txBody>
      </p:sp>
      <p:sp>
        <p:nvSpPr>
          <p:cNvPr id="24" name="field-Adres źródłowy"/>
          <p:cNvSpPr/>
          <p:nvPr/>
        </p:nvSpPr>
        <p:spPr>
          <a:xfrm>
            <a:off x="457200" y="2724912"/>
            <a:ext cx="8229600" cy="475488"/>
          </a:xfrm>
          <a:prstGeom prst="rect">
            <a:avLst/>
          </a:prstGeom>
          <a:solidFill>
            <a:srgbClr val="0B2545"/>
          </a:solidFill>
          <a:ln w="19050">
            <a:solidFill>
              <a:srgbClr val="FFFFFF"/>
            </a:solidFill>
            <a:prstDash val="solid"/>
          </a:ln>
        </p:spPr>
      </p:sp>
      <p:sp>
        <p:nvSpPr>
          <p:cNvPr id="25" name="Text 22"/>
          <p:cNvSpPr txBox="1"/>
          <p:nvPr/>
        </p:nvSpPr>
        <p:spPr>
          <a:xfrm>
            <a:off x="457200" y="2724912"/>
            <a:ext cx="8229600" cy="475488"/>
          </a:xfrm>
          <a:prstGeom prst="rect">
            <a:avLst/>
          </a:prstGeom>
          <a:noFill/>
          <a:ln/>
        </p:spPr>
        <p:txBody>
          <a:bodyPr wrap="square" lIns="0" tIns="0" rIns="0" bIns="0" rtlCol="0" anchor="ctr"/>
          <a:lstStyle/>
          <a:p>
            <a:pPr algn="ctr" indent="0" marL="0">
              <a:buNone/>
            </a:pPr>
            <a:r>
              <a:rPr lang="en-US" sz="1200" b="1" dirty="0">
                <a:solidFill>
                  <a:srgbClr val="FFFFFF"/>
                </a:solidFill>
              </a:rPr>
              <a:t>Adres źródłowy</a:t>
            </a:r>
            <a:endParaRPr lang="en-US" sz="1200" dirty="0"/>
          </a:p>
        </p:txBody>
      </p:sp>
      <p:sp>
        <p:nvSpPr>
          <p:cNvPr id="26" name="field-Adres docelowy"/>
          <p:cNvSpPr/>
          <p:nvPr/>
        </p:nvSpPr>
        <p:spPr>
          <a:xfrm>
            <a:off x="457200" y="3236976"/>
            <a:ext cx="8229600" cy="475488"/>
          </a:xfrm>
          <a:prstGeom prst="rect">
            <a:avLst/>
          </a:prstGeom>
          <a:solidFill>
            <a:srgbClr val="0B2545"/>
          </a:solidFill>
          <a:ln w="19050">
            <a:solidFill>
              <a:srgbClr val="FFFFFF"/>
            </a:solidFill>
            <a:prstDash val="solid"/>
          </a:ln>
        </p:spPr>
      </p:sp>
      <p:sp>
        <p:nvSpPr>
          <p:cNvPr id="27" name="Text 24"/>
          <p:cNvSpPr txBox="1"/>
          <p:nvPr/>
        </p:nvSpPr>
        <p:spPr>
          <a:xfrm>
            <a:off x="457200" y="3236976"/>
            <a:ext cx="8229600" cy="475488"/>
          </a:xfrm>
          <a:prstGeom prst="rect">
            <a:avLst/>
          </a:prstGeom>
          <a:noFill/>
          <a:ln/>
        </p:spPr>
        <p:txBody>
          <a:bodyPr wrap="square" lIns="0" tIns="0" rIns="0" bIns="0" rtlCol="0" anchor="ctr"/>
          <a:lstStyle/>
          <a:p>
            <a:pPr algn="ctr" indent="0" marL="0">
              <a:buNone/>
            </a:pPr>
            <a:r>
              <a:rPr lang="en-US" sz="1200" b="1" dirty="0">
                <a:solidFill>
                  <a:srgbClr val="FFFFFF"/>
                </a:solidFill>
              </a:rPr>
              <a:t>Adres docelowy</a:t>
            </a:r>
            <a:endParaRPr lang="en-US" sz="1200" dirty="0"/>
          </a:p>
        </p:txBody>
      </p:sp>
      <p:sp>
        <p:nvSpPr>
          <p:cNvPr id="28" name="field-Opcje + dopełnienie (zmienna długość, 0–40 B)"/>
          <p:cNvSpPr/>
          <p:nvPr/>
        </p:nvSpPr>
        <p:spPr>
          <a:xfrm>
            <a:off x="457200" y="3749040"/>
            <a:ext cx="8229600" cy="475488"/>
          </a:xfrm>
          <a:prstGeom prst="rect">
            <a:avLst/>
          </a:prstGeom>
          <a:solidFill>
            <a:srgbClr val="E4EAF1"/>
          </a:solidFill>
          <a:ln w="19050">
            <a:solidFill>
              <a:srgbClr val="FFFFFF"/>
            </a:solidFill>
            <a:prstDash val="solid"/>
          </a:ln>
        </p:spPr>
      </p:sp>
      <p:sp>
        <p:nvSpPr>
          <p:cNvPr id="29" name="Text 26"/>
          <p:cNvSpPr txBox="1"/>
          <p:nvPr/>
        </p:nvSpPr>
        <p:spPr>
          <a:xfrm>
            <a:off x="457200" y="3749040"/>
            <a:ext cx="8229600" cy="475488"/>
          </a:xfrm>
          <a:prstGeom prst="rect">
            <a:avLst/>
          </a:prstGeom>
          <a:noFill/>
          <a:ln/>
        </p:spPr>
        <p:txBody>
          <a:bodyPr wrap="square" lIns="0" tIns="0" rIns="0" bIns="0" rtlCol="0" anchor="ctr"/>
          <a:lstStyle/>
          <a:p>
            <a:pPr algn="ctr" indent="0" marL="0">
              <a:buNone/>
            </a:pPr>
            <a:r>
              <a:rPr lang="en-US" sz="1200" b="1" dirty="0">
                <a:solidFill>
                  <a:srgbClr val="1B2A41"/>
                </a:solidFill>
              </a:rPr>
              <a:t>Opcje + dopełnienie (zmienna długość, 0–40 B)</a:t>
            </a:r>
            <a:endParaRPr lang="en-US" sz="1200" dirty="0"/>
          </a:p>
        </p:txBody>
      </p:sp>
      <p:sp>
        <p:nvSpPr>
          <p:cNvPr id="30" name="Text 27"/>
          <p:cNvSpPr txBox="1"/>
          <p:nvPr/>
        </p:nvSpPr>
        <p:spPr>
          <a:xfrm>
            <a:off x="457200" y="987552"/>
            <a:ext cx="274320" cy="182880"/>
          </a:xfrm>
          <a:prstGeom prst="rect">
            <a:avLst/>
          </a:prstGeom>
          <a:noFill/>
          <a:ln/>
        </p:spPr>
        <p:txBody>
          <a:bodyPr wrap="square" lIns="0" tIns="0" rIns="0" bIns="0" rtlCol="0" anchor="t"/>
          <a:lstStyle/>
          <a:p>
            <a:pPr algn="l" indent="0" marL="0">
              <a:buNone/>
            </a:pPr>
            <a:r>
              <a:rPr lang="en-US" sz="1000" dirty="0">
                <a:solidFill>
                  <a:srgbClr val="5C6B80"/>
                </a:solidFill>
              </a:rPr>
              <a:t>0</a:t>
            </a:r>
            <a:endParaRPr lang="en-US" sz="1000" dirty="0"/>
          </a:p>
        </p:txBody>
      </p:sp>
      <p:sp>
        <p:nvSpPr>
          <p:cNvPr id="31" name="Text 28"/>
          <p:cNvSpPr txBox="1"/>
          <p:nvPr/>
        </p:nvSpPr>
        <p:spPr>
          <a:xfrm>
            <a:off x="2514600" y="987552"/>
            <a:ext cx="274320" cy="182880"/>
          </a:xfrm>
          <a:prstGeom prst="rect">
            <a:avLst/>
          </a:prstGeom>
          <a:noFill/>
          <a:ln/>
        </p:spPr>
        <p:txBody>
          <a:bodyPr wrap="square" lIns="0" tIns="0" rIns="0" bIns="0" rtlCol="0" anchor="t"/>
          <a:lstStyle/>
          <a:p>
            <a:pPr algn="l" indent="0" marL="0">
              <a:buNone/>
            </a:pPr>
            <a:r>
              <a:rPr lang="en-US" sz="1000" dirty="0">
                <a:solidFill>
                  <a:srgbClr val="5C6B80"/>
                </a:solidFill>
              </a:rPr>
              <a:t>8</a:t>
            </a:r>
            <a:endParaRPr lang="en-US" sz="1000" dirty="0"/>
          </a:p>
        </p:txBody>
      </p:sp>
      <p:sp>
        <p:nvSpPr>
          <p:cNvPr id="32" name="Text 29"/>
          <p:cNvSpPr txBox="1"/>
          <p:nvPr/>
        </p:nvSpPr>
        <p:spPr>
          <a:xfrm>
            <a:off x="4572000" y="987552"/>
            <a:ext cx="274320" cy="182880"/>
          </a:xfrm>
          <a:prstGeom prst="rect">
            <a:avLst/>
          </a:prstGeom>
          <a:noFill/>
          <a:ln/>
        </p:spPr>
        <p:txBody>
          <a:bodyPr wrap="square" lIns="0" tIns="0" rIns="0" bIns="0" rtlCol="0" anchor="t"/>
          <a:lstStyle/>
          <a:p>
            <a:pPr algn="l" indent="0" marL="0">
              <a:buNone/>
            </a:pPr>
            <a:r>
              <a:rPr lang="en-US" sz="1000" dirty="0">
                <a:solidFill>
                  <a:srgbClr val="5C6B80"/>
                </a:solidFill>
              </a:rPr>
              <a:t>16</a:t>
            </a:r>
            <a:endParaRPr lang="en-US" sz="1000" dirty="0"/>
          </a:p>
        </p:txBody>
      </p:sp>
      <p:sp>
        <p:nvSpPr>
          <p:cNvPr id="33" name="Text 30"/>
          <p:cNvSpPr txBox="1"/>
          <p:nvPr/>
        </p:nvSpPr>
        <p:spPr>
          <a:xfrm>
            <a:off x="6629400" y="987552"/>
            <a:ext cx="274320" cy="182880"/>
          </a:xfrm>
          <a:prstGeom prst="rect">
            <a:avLst/>
          </a:prstGeom>
          <a:noFill/>
          <a:ln/>
        </p:spPr>
        <p:txBody>
          <a:bodyPr wrap="square" lIns="0" tIns="0" rIns="0" bIns="0" rtlCol="0" anchor="t"/>
          <a:lstStyle/>
          <a:p>
            <a:pPr algn="l" indent="0" marL="0">
              <a:buNone/>
            </a:pPr>
            <a:r>
              <a:rPr lang="en-US" sz="1000" dirty="0">
                <a:solidFill>
                  <a:srgbClr val="5C6B80"/>
                </a:solidFill>
              </a:rPr>
              <a:t>24</a:t>
            </a:r>
            <a:endParaRPr lang="en-US" sz="1000" dirty="0"/>
          </a:p>
        </p:txBody>
      </p:sp>
      <p:sp>
        <p:nvSpPr>
          <p:cNvPr id="34" name="Text 31"/>
          <p:cNvSpPr txBox="1"/>
          <p:nvPr/>
        </p:nvSpPr>
        <p:spPr>
          <a:xfrm>
            <a:off x="8201025" y="987552"/>
            <a:ext cx="274320" cy="182880"/>
          </a:xfrm>
          <a:prstGeom prst="rect">
            <a:avLst/>
          </a:prstGeom>
          <a:noFill/>
          <a:ln/>
        </p:spPr>
        <p:txBody>
          <a:bodyPr wrap="square" lIns="0" tIns="0" rIns="0" bIns="0" rtlCol="0" anchor="t"/>
          <a:lstStyle/>
          <a:p>
            <a:pPr algn="r" indent="0" marL="0">
              <a:buNone/>
            </a:pPr>
            <a:r>
              <a:rPr lang="en-US" sz="1000" dirty="0">
                <a:solidFill>
                  <a:srgbClr val="5C6B80"/>
                </a:solidFill>
              </a:rPr>
              <a:t>31</a:t>
            </a:r>
            <a:endParaRPr lang="en-US" sz="1000" dirty="0"/>
          </a:p>
        </p:txBody>
      </p:sp>
      <p:sp>
        <p:nvSpPr>
          <p:cNvPr id="35" name="Shape 32"/>
          <p:cNvSpPr/>
          <p:nvPr/>
        </p:nvSpPr>
        <p:spPr>
          <a:xfrm>
            <a:off x="457200" y="4370832"/>
            <a:ext cx="182880" cy="182880"/>
          </a:xfrm>
          <a:prstGeom prst="rect">
            <a:avLst/>
          </a:prstGeom>
          <a:solidFill>
            <a:srgbClr val="F2A541"/>
          </a:solidFill>
          <a:ln w="6350">
            <a:solidFill>
              <a:srgbClr val="F2A541"/>
            </a:solidFill>
            <a:prstDash val="solid"/>
          </a:ln>
        </p:spPr>
      </p:sp>
      <p:sp>
        <p:nvSpPr>
          <p:cNvPr id="36" name="Text 33"/>
          <p:cNvSpPr txBox="1"/>
          <p:nvPr/>
        </p:nvSpPr>
        <p:spPr>
          <a:xfrm>
            <a:off x="731520" y="4325112"/>
            <a:ext cx="1737360" cy="274320"/>
          </a:xfrm>
          <a:prstGeom prst="rect">
            <a:avLst/>
          </a:prstGeom>
          <a:noFill/>
          <a:ln/>
        </p:spPr>
        <p:txBody>
          <a:bodyPr wrap="square" lIns="0" tIns="0" rIns="0" bIns="0" rtlCol="0" anchor="ctr"/>
          <a:lstStyle/>
          <a:p>
            <a:pPr indent="0" marL="0">
              <a:buNone/>
            </a:pPr>
            <a:r>
              <a:rPr lang="en-US" sz="1200" dirty="0">
                <a:solidFill>
                  <a:srgbClr val="1B2A41"/>
                </a:solidFill>
              </a:rPr>
              <a:t>Fragmentacja</a:t>
            </a:r>
            <a:endParaRPr lang="en-US" sz="1200" dirty="0"/>
          </a:p>
        </p:txBody>
      </p:sp>
      <p:sp>
        <p:nvSpPr>
          <p:cNvPr id="37" name="Shape 34"/>
          <p:cNvSpPr/>
          <p:nvPr/>
        </p:nvSpPr>
        <p:spPr>
          <a:xfrm>
            <a:off x="2560320" y="4370832"/>
            <a:ext cx="182880" cy="182880"/>
          </a:xfrm>
          <a:prstGeom prst="rect">
            <a:avLst/>
          </a:prstGeom>
          <a:solidFill>
            <a:srgbClr val="C8442F"/>
          </a:solidFill>
          <a:ln w="6350">
            <a:solidFill>
              <a:srgbClr val="C8442F"/>
            </a:solidFill>
            <a:prstDash val="solid"/>
          </a:ln>
        </p:spPr>
      </p:sp>
      <p:sp>
        <p:nvSpPr>
          <p:cNvPr id="38" name="Text 35"/>
          <p:cNvSpPr txBox="1"/>
          <p:nvPr/>
        </p:nvSpPr>
        <p:spPr>
          <a:xfrm>
            <a:off x="2834640" y="4325112"/>
            <a:ext cx="1737360" cy="274320"/>
          </a:xfrm>
          <a:prstGeom prst="rect">
            <a:avLst/>
          </a:prstGeom>
          <a:noFill/>
          <a:ln/>
        </p:spPr>
        <p:txBody>
          <a:bodyPr wrap="square" lIns="0" tIns="0" rIns="0" bIns="0" rtlCol="0" anchor="ctr"/>
          <a:lstStyle/>
          <a:p>
            <a:pPr indent="0" marL="0">
              <a:buNone/>
            </a:pPr>
            <a:r>
              <a:rPr lang="en-US" sz="1200" dirty="0">
                <a:solidFill>
                  <a:srgbClr val="1B2A41"/>
                </a:solidFill>
              </a:rPr>
              <a:t>Przeciw pętlom</a:t>
            </a:r>
            <a:endParaRPr lang="en-US" sz="1200" dirty="0"/>
          </a:p>
        </p:txBody>
      </p:sp>
      <p:sp>
        <p:nvSpPr>
          <p:cNvPr id="39" name="Shape 36"/>
          <p:cNvSpPr/>
          <p:nvPr/>
        </p:nvSpPr>
        <p:spPr>
          <a:xfrm>
            <a:off x="4663440" y="4370832"/>
            <a:ext cx="182880" cy="182880"/>
          </a:xfrm>
          <a:prstGeom prst="rect">
            <a:avLst/>
          </a:prstGeom>
          <a:solidFill>
            <a:srgbClr val="0E7C7B"/>
          </a:solidFill>
          <a:ln w="6350">
            <a:solidFill>
              <a:srgbClr val="0E7C7B"/>
            </a:solidFill>
            <a:prstDash val="solid"/>
          </a:ln>
        </p:spPr>
      </p:sp>
      <p:sp>
        <p:nvSpPr>
          <p:cNvPr id="40" name="Text 37"/>
          <p:cNvSpPr txBox="1"/>
          <p:nvPr/>
        </p:nvSpPr>
        <p:spPr>
          <a:xfrm>
            <a:off x="4937760" y="4325112"/>
            <a:ext cx="1737360" cy="274320"/>
          </a:xfrm>
          <a:prstGeom prst="rect">
            <a:avLst/>
          </a:prstGeom>
          <a:noFill/>
          <a:ln/>
        </p:spPr>
        <p:txBody>
          <a:bodyPr wrap="square" lIns="0" tIns="0" rIns="0" bIns="0" rtlCol="0" anchor="ctr"/>
          <a:lstStyle/>
          <a:p>
            <a:pPr indent="0" marL="0">
              <a:buNone/>
            </a:pPr>
            <a:r>
              <a:rPr lang="en-US" sz="1200" dirty="0">
                <a:solidFill>
                  <a:srgbClr val="1B2A41"/>
                </a:solidFill>
              </a:rPr>
              <a:t>Klasa obsługi</a:t>
            </a:r>
            <a:endParaRPr lang="en-US" sz="1200" dirty="0"/>
          </a:p>
        </p:txBody>
      </p:sp>
      <p:sp>
        <p:nvSpPr>
          <p:cNvPr id="41" name="Shape 38"/>
          <p:cNvSpPr/>
          <p:nvPr/>
        </p:nvSpPr>
        <p:spPr>
          <a:xfrm>
            <a:off x="6766560" y="4370832"/>
            <a:ext cx="182880" cy="182880"/>
          </a:xfrm>
          <a:prstGeom prst="rect">
            <a:avLst/>
          </a:prstGeom>
          <a:solidFill>
            <a:srgbClr val="3A6EA5"/>
          </a:solidFill>
          <a:ln w="6350">
            <a:solidFill>
              <a:srgbClr val="3A6EA5"/>
            </a:solidFill>
            <a:prstDash val="solid"/>
          </a:ln>
        </p:spPr>
      </p:sp>
      <p:sp>
        <p:nvSpPr>
          <p:cNvPr id="42" name="Text 39"/>
          <p:cNvSpPr txBox="1"/>
          <p:nvPr/>
        </p:nvSpPr>
        <p:spPr>
          <a:xfrm>
            <a:off x="7040880" y="4325112"/>
            <a:ext cx="1737360" cy="274320"/>
          </a:xfrm>
          <a:prstGeom prst="rect">
            <a:avLst/>
          </a:prstGeom>
          <a:noFill/>
          <a:ln/>
        </p:spPr>
        <p:txBody>
          <a:bodyPr wrap="square" lIns="0" tIns="0" rIns="0" bIns="0" rtlCol="0" anchor="ctr"/>
          <a:lstStyle/>
          <a:p>
            <a:pPr indent="0" marL="0">
              <a:buNone/>
            </a:pPr>
            <a:r>
              <a:rPr lang="en-US" sz="1200" dirty="0">
                <a:solidFill>
                  <a:srgbClr val="1B2A41"/>
                </a:solidFill>
              </a:rPr>
              <a:t>Parsowanie</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Wersja, IHL i całkowita długość</a:t>
            </a:r>
            <a:endParaRPr lang="en-US" sz="3000" dirty="0"/>
          </a:p>
        </p:txBody>
      </p:sp>
      <p:sp>
        <p:nvSpPr>
          <p:cNvPr id="4" name="f-card-0"/>
          <p:cNvSpPr/>
          <p:nvPr/>
        </p:nvSpPr>
        <p:spPr>
          <a:xfrm>
            <a:off x="457200" y="1143000"/>
            <a:ext cx="2651760" cy="2148840"/>
          </a:xfrm>
          <a:prstGeom prst="roundRect">
            <a:avLst>
              <a:gd name="adj" fmla="val 4255"/>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f-bits-0"/>
          <p:cNvSpPr/>
          <p:nvPr/>
        </p:nvSpPr>
        <p:spPr>
          <a:xfrm>
            <a:off x="640080" y="1280160"/>
            <a:ext cx="1005840" cy="365760"/>
          </a:xfrm>
          <a:prstGeom prst="roundRect">
            <a:avLst>
              <a:gd name="adj" fmla="val 15000"/>
            </a:avLst>
          </a:prstGeom>
          <a:solidFill>
            <a:srgbClr val="0E7C7B"/>
          </a:solidFill>
          <a:ln w="9525">
            <a:solidFill>
              <a:srgbClr val="0E7C7B"/>
            </a:solidFill>
            <a:prstDash val="solid"/>
          </a:ln>
        </p:spPr>
      </p:sp>
      <p:sp>
        <p:nvSpPr>
          <p:cNvPr id="6" name="Text 3"/>
          <p:cNvSpPr txBox="1"/>
          <p:nvPr/>
        </p:nvSpPr>
        <p:spPr>
          <a:xfrm>
            <a:off x="640080" y="1280160"/>
            <a:ext cx="1005840" cy="365760"/>
          </a:xfrm>
          <a:prstGeom prst="rect">
            <a:avLst/>
          </a:prstGeom>
          <a:noFill/>
          <a:ln/>
        </p:spPr>
        <p:txBody>
          <a:bodyPr wrap="square" lIns="0" tIns="0" rIns="0" bIns="0" rtlCol="0" anchor="ctr"/>
          <a:lstStyle/>
          <a:p>
            <a:pPr algn="ctr" indent="0" marL="0">
              <a:buNone/>
            </a:pPr>
            <a:r>
              <a:rPr lang="en-US" sz="1200" b="1" dirty="0">
                <a:solidFill>
                  <a:srgbClr val="FFFFFF"/>
                </a:solidFill>
              </a:rPr>
              <a:t>4 bity</a:t>
            </a:r>
            <a:endParaRPr lang="en-US" sz="1200" dirty="0"/>
          </a:p>
        </p:txBody>
      </p:sp>
      <p:sp>
        <p:nvSpPr>
          <p:cNvPr id="7" name="Text 4"/>
          <p:cNvSpPr txBox="1"/>
          <p:nvPr/>
        </p:nvSpPr>
        <p:spPr>
          <a:xfrm>
            <a:off x="640080" y="1783080"/>
            <a:ext cx="2286000" cy="320040"/>
          </a:xfrm>
          <a:prstGeom prst="rect">
            <a:avLst/>
          </a:prstGeom>
          <a:noFill/>
          <a:ln/>
        </p:spPr>
        <p:txBody>
          <a:bodyPr wrap="square" lIns="0" tIns="0" rIns="0" bIns="0" rtlCol="0" anchor="t"/>
          <a:lstStyle/>
          <a:p>
            <a:pPr indent="0" marL="0">
              <a:buNone/>
            </a:pPr>
            <a:r>
              <a:rPr lang="en-US" sz="1800" b="1" dirty="0">
                <a:solidFill>
                  <a:srgbClr val="0B2545"/>
                </a:solidFill>
              </a:rPr>
              <a:t>Wersja</a:t>
            </a:r>
            <a:endParaRPr lang="en-US" sz="1800" dirty="0"/>
          </a:p>
        </p:txBody>
      </p:sp>
      <p:sp>
        <p:nvSpPr>
          <p:cNvPr id="8" name="Text 5"/>
          <p:cNvSpPr txBox="1"/>
          <p:nvPr/>
        </p:nvSpPr>
        <p:spPr>
          <a:xfrm>
            <a:off x="640080" y="2194560"/>
            <a:ext cx="2286000" cy="1005840"/>
          </a:xfrm>
          <a:prstGeom prst="rect">
            <a:avLst/>
          </a:prstGeom>
          <a:noFill/>
          <a:ln/>
        </p:spPr>
        <p:txBody>
          <a:bodyPr wrap="square" lIns="0" tIns="0" rIns="0" bIns="0" rtlCol="0" anchor="t"/>
          <a:lstStyle/>
          <a:p>
            <a:pPr indent="0" marL="0">
              <a:buNone/>
            </a:pPr>
            <a:r>
              <a:rPr lang="en-US" sz="1400" dirty="0">
                <a:solidFill>
                  <a:srgbClr val="1B2A41"/>
                </a:solidFill>
              </a:rPr>
              <a:t>Dla IPv4 zawsze 0100 (4). Wskazuje sposób parsowania reszty nagłówka.</a:t>
            </a:r>
            <a:endParaRPr lang="en-US" sz="1400" dirty="0"/>
          </a:p>
        </p:txBody>
      </p:sp>
      <p:sp>
        <p:nvSpPr>
          <p:cNvPr id="9" name="f-card-1"/>
          <p:cNvSpPr/>
          <p:nvPr/>
        </p:nvSpPr>
        <p:spPr>
          <a:xfrm>
            <a:off x="3246120" y="1143000"/>
            <a:ext cx="2651760" cy="2148840"/>
          </a:xfrm>
          <a:prstGeom prst="roundRect">
            <a:avLst>
              <a:gd name="adj" fmla="val 4255"/>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0" name="f-bits-1"/>
          <p:cNvSpPr/>
          <p:nvPr/>
        </p:nvSpPr>
        <p:spPr>
          <a:xfrm>
            <a:off x="3429000" y="1280160"/>
            <a:ext cx="1005840" cy="365760"/>
          </a:xfrm>
          <a:prstGeom prst="roundRect">
            <a:avLst>
              <a:gd name="adj" fmla="val 15000"/>
            </a:avLst>
          </a:prstGeom>
          <a:solidFill>
            <a:srgbClr val="3A6EA5"/>
          </a:solidFill>
          <a:ln w="9525">
            <a:solidFill>
              <a:srgbClr val="3A6EA5"/>
            </a:solidFill>
            <a:prstDash val="solid"/>
          </a:ln>
        </p:spPr>
      </p:sp>
      <p:sp>
        <p:nvSpPr>
          <p:cNvPr id="11" name="Text 8"/>
          <p:cNvSpPr txBox="1"/>
          <p:nvPr/>
        </p:nvSpPr>
        <p:spPr>
          <a:xfrm>
            <a:off x="3429000" y="1280160"/>
            <a:ext cx="1005840" cy="365760"/>
          </a:xfrm>
          <a:prstGeom prst="rect">
            <a:avLst/>
          </a:prstGeom>
          <a:noFill/>
          <a:ln/>
        </p:spPr>
        <p:txBody>
          <a:bodyPr wrap="square" lIns="0" tIns="0" rIns="0" bIns="0" rtlCol="0" anchor="ctr"/>
          <a:lstStyle/>
          <a:p>
            <a:pPr algn="ctr" indent="0" marL="0">
              <a:buNone/>
            </a:pPr>
            <a:r>
              <a:rPr lang="en-US" sz="1200" b="1" dirty="0">
                <a:solidFill>
                  <a:srgbClr val="FFFFFF"/>
                </a:solidFill>
              </a:rPr>
              <a:t>4 bity</a:t>
            </a:r>
            <a:endParaRPr lang="en-US" sz="1200" dirty="0"/>
          </a:p>
        </p:txBody>
      </p:sp>
      <p:sp>
        <p:nvSpPr>
          <p:cNvPr id="12" name="Text 9"/>
          <p:cNvSpPr txBox="1"/>
          <p:nvPr/>
        </p:nvSpPr>
        <p:spPr>
          <a:xfrm>
            <a:off x="3429000" y="1783080"/>
            <a:ext cx="2286000" cy="320040"/>
          </a:xfrm>
          <a:prstGeom prst="rect">
            <a:avLst/>
          </a:prstGeom>
          <a:noFill/>
          <a:ln/>
        </p:spPr>
        <p:txBody>
          <a:bodyPr wrap="square" lIns="0" tIns="0" rIns="0" bIns="0" rtlCol="0" anchor="t"/>
          <a:lstStyle/>
          <a:p>
            <a:pPr indent="0" marL="0">
              <a:buNone/>
            </a:pPr>
            <a:r>
              <a:rPr lang="en-US" sz="1800" b="1" dirty="0">
                <a:solidFill>
                  <a:srgbClr val="0B2545"/>
                </a:solidFill>
              </a:rPr>
              <a:t>IHL</a:t>
            </a:r>
            <a:endParaRPr lang="en-US" sz="1800" dirty="0"/>
          </a:p>
        </p:txBody>
      </p:sp>
      <p:sp>
        <p:nvSpPr>
          <p:cNvPr id="13" name="Text 10"/>
          <p:cNvSpPr txBox="1"/>
          <p:nvPr/>
        </p:nvSpPr>
        <p:spPr>
          <a:xfrm>
            <a:off x="3429000" y="2194560"/>
            <a:ext cx="2286000" cy="1005840"/>
          </a:xfrm>
          <a:prstGeom prst="rect">
            <a:avLst/>
          </a:prstGeom>
          <a:noFill/>
          <a:ln/>
        </p:spPr>
        <p:txBody>
          <a:bodyPr wrap="square" lIns="0" tIns="0" rIns="0" bIns="0" rtlCol="0" anchor="t"/>
          <a:lstStyle/>
          <a:p>
            <a:pPr indent="0" marL="0">
              <a:buNone/>
            </a:pPr>
            <a:r>
              <a:rPr lang="en-US" sz="1400" dirty="0">
                <a:solidFill>
                  <a:srgbClr val="1B2A41"/>
                </a:solidFill>
              </a:rPr>
              <a:t>Długość nagłówka w słowach 4-bajtowych. Min 5 (20 B), maks 15 (60 B).</a:t>
            </a:r>
            <a:endParaRPr lang="en-US" sz="1400" dirty="0"/>
          </a:p>
        </p:txBody>
      </p:sp>
      <p:sp>
        <p:nvSpPr>
          <p:cNvPr id="14" name="f-card-2"/>
          <p:cNvSpPr/>
          <p:nvPr/>
        </p:nvSpPr>
        <p:spPr>
          <a:xfrm>
            <a:off x="6035040" y="1143000"/>
            <a:ext cx="2651760" cy="2148840"/>
          </a:xfrm>
          <a:prstGeom prst="roundRect">
            <a:avLst>
              <a:gd name="adj" fmla="val 4255"/>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f-bits-2"/>
          <p:cNvSpPr/>
          <p:nvPr/>
        </p:nvSpPr>
        <p:spPr>
          <a:xfrm>
            <a:off x="6217920" y="1280160"/>
            <a:ext cx="1005840" cy="365760"/>
          </a:xfrm>
          <a:prstGeom prst="roundRect">
            <a:avLst>
              <a:gd name="adj" fmla="val 15000"/>
            </a:avLst>
          </a:prstGeom>
          <a:solidFill>
            <a:srgbClr val="F2A541"/>
          </a:solidFill>
          <a:ln w="9525">
            <a:solidFill>
              <a:srgbClr val="F2A541"/>
            </a:solidFill>
            <a:prstDash val="solid"/>
          </a:ln>
        </p:spPr>
      </p:sp>
      <p:sp>
        <p:nvSpPr>
          <p:cNvPr id="16" name="Text 13"/>
          <p:cNvSpPr txBox="1"/>
          <p:nvPr/>
        </p:nvSpPr>
        <p:spPr>
          <a:xfrm>
            <a:off x="6217920" y="1280160"/>
            <a:ext cx="1005840" cy="365760"/>
          </a:xfrm>
          <a:prstGeom prst="rect">
            <a:avLst/>
          </a:prstGeom>
          <a:noFill/>
          <a:ln/>
        </p:spPr>
        <p:txBody>
          <a:bodyPr wrap="square" lIns="0" tIns="0" rIns="0" bIns="0" rtlCol="0" anchor="ctr"/>
          <a:lstStyle/>
          <a:p>
            <a:pPr algn="ctr" indent="0" marL="0">
              <a:buNone/>
            </a:pPr>
            <a:r>
              <a:rPr lang="en-US" sz="1200" b="1" dirty="0">
                <a:solidFill>
                  <a:srgbClr val="0B2545"/>
                </a:solidFill>
              </a:rPr>
              <a:t>16 bitów</a:t>
            </a:r>
            <a:endParaRPr lang="en-US" sz="1200" dirty="0"/>
          </a:p>
        </p:txBody>
      </p:sp>
      <p:sp>
        <p:nvSpPr>
          <p:cNvPr id="17" name="Text 14"/>
          <p:cNvSpPr txBox="1"/>
          <p:nvPr/>
        </p:nvSpPr>
        <p:spPr>
          <a:xfrm>
            <a:off x="6217920" y="1783080"/>
            <a:ext cx="2286000" cy="320040"/>
          </a:xfrm>
          <a:prstGeom prst="rect">
            <a:avLst/>
          </a:prstGeom>
          <a:noFill/>
          <a:ln/>
        </p:spPr>
        <p:txBody>
          <a:bodyPr wrap="square" lIns="0" tIns="0" rIns="0" bIns="0" rtlCol="0" anchor="t"/>
          <a:lstStyle/>
          <a:p>
            <a:pPr indent="0" marL="0">
              <a:buNone/>
            </a:pPr>
            <a:r>
              <a:rPr lang="en-US" sz="1800" b="1" dirty="0">
                <a:solidFill>
                  <a:srgbClr val="0B2545"/>
                </a:solidFill>
              </a:rPr>
              <a:t>Total Length</a:t>
            </a:r>
            <a:endParaRPr lang="en-US" sz="1800" dirty="0"/>
          </a:p>
        </p:txBody>
      </p:sp>
      <p:sp>
        <p:nvSpPr>
          <p:cNvPr id="18" name="Text 15"/>
          <p:cNvSpPr txBox="1"/>
          <p:nvPr/>
        </p:nvSpPr>
        <p:spPr>
          <a:xfrm>
            <a:off x="6217920" y="2194560"/>
            <a:ext cx="2286000" cy="1005840"/>
          </a:xfrm>
          <a:prstGeom prst="rect">
            <a:avLst/>
          </a:prstGeom>
          <a:noFill/>
          <a:ln/>
        </p:spPr>
        <p:txBody>
          <a:bodyPr wrap="square" lIns="0" tIns="0" rIns="0" bIns="0" rtlCol="0" anchor="t"/>
          <a:lstStyle/>
          <a:p>
            <a:pPr indent="0" marL="0">
              <a:buNone/>
            </a:pPr>
            <a:r>
              <a:rPr lang="en-US" sz="1400" dirty="0">
                <a:solidFill>
                  <a:srgbClr val="1B2A41"/>
                </a:solidFill>
              </a:rPr>
              <a:t>Nagłówek + dane w bajtach. Maks 65 535 B.</a:t>
            </a:r>
            <a:endParaRPr lang="en-US" sz="1400" dirty="0"/>
          </a:p>
        </p:txBody>
      </p:sp>
      <p:sp>
        <p:nvSpPr>
          <p:cNvPr id="19" name="formula1"/>
          <p:cNvSpPr/>
          <p:nvPr/>
        </p:nvSpPr>
        <p:spPr>
          <a:xfrm>
            <a:off x="457200" y="3520440"/>
            <a:ext cx="4023360" cy="1005840"/>
          </a:xfrm>
          <a:prstGeom prst="roundRect">
            <a:avLst>
              <a:gd name="adj" fmla="val 5455"/>
            </a:avLst>
          </a:prstGeom>
          <a:solidFill>
            <a:srgbClr val="0B2545"/>
          </a:solidFill>
          <a:ln w="9525">
            <a:solidFill>
              <a:srgbClr val="0B2545"/>
            </a:solidFill>
            <a:prstDash val="solid"/>
          </a:ln>
        </p:spPr>
      </p:sp>
      <p:sp>
        <p:nvSpPr>
          <p:cNvPr id="20" name="Text 17"/>
          <p:cNvSpPr txBox="1"/>
          <p:nvPr/>
        </p:nvSpPr>
        <p:spPr>
          <a:xfrm>
            <a:off x="640080" y="3520440"/>
            <a:ext cx="3657600" cy="1005840"/>
          </a:xfrm>
          <a:prstGeom prst="rect">
            <a:avLst/>
          </a:prstGeom>
          <a:noFill/>
          <a:ln/>
        </p:spPr>
        <p:txBody>
          <a:bodyPr wrap="square" lIns="0" tIns="0" rIns="0" bIns="0" rtlCol="0" anchor="ctr"/>
          <a:lstStyle/>
          <a:p>
            <a:pPr indent="0" marL="0">
              <a:buNone/>
            </a:pPr>
            <a:r>
              <a:rPr lang="en-US" sz="1800" b="1" dirty="0">
                <a:solidFill>
                  <a:srgbClr val="FFFFFF"/>
                </a:solidFill>
              </a:rPr>
              <a:t>Długość nagłówka = IHL × 4</a:t>
            </a:r>
            <a:endParaRPr lang="en-US" sz="1800" dirty="0"/>
          </a:p>
          <a:p>
            <a:pPr indent="0" marL="0">
              <a:buNone/>
            </a:pPr>
            <a:r>
              <a:rPr lang="en-US" sz="1400" dirty="0">
                <a:solidFill>
                  <a:srgbClr val="B8CCE4"/>
                </a:solidFill>
              </a:rPr>
              <a:t>IHL = 5 → 20 B,  IHL = 15 → 60 B</a:t>
            </a:r>
            <a:endParaRPr lang="en-US" sz="1800" dirty="0"/>
          </a:p>
        </p:txBody>
      </p:sp>
      <p:sp>
        <p:nvSpPr>
          <p:cNvPr id="21" name="formula2"/>
          <p:cNvSpPr/>
          <p:nvPr/>
        </p:nvSpPr>
        <p:spPr>
          <a:xfrm>
            <a:off x="4663440" y="3520440"/>
            <a:ext cx="4023360" cy="1005840"/>
          </a:xfrm>
          <a:prstGeom prst="roundRect">
            <a:avLst>
              <a:gd name="adj" fmla="val 5455"/>
            </a:avLst>
          </a:prstGeom>
          <a:solidFill>
            <a:srgbClr val="0B2545"/>
          </a:solidFill>
          <a:ln w="9525">
            <a:solidFill>
              <a:srgbClr val="0B2545"/>
            </a:solidFill>
            <a:prstDash val="solid"/>
          </a:ln>
        </p:spPr>
      </p:sp>
      <p:sp>
        <p:nvSpPr>
          <p:cNvPr id="22" name="Text 19"/>
          <p:cNvSpPr txBox="1"/>
          <p:nvPr/>
        </p:nvSpPr>
        <p:spPr>
          <a:xfrm>
            <a:off x="4846320" y="3520440"/>
            <a:ext cx="3657600" cy="1005840"/>
          </a:xfrm>
          <a:prstGeom prst="rect">
            <a:avLst/>
          </a:prstGeom>
          <a:noFill/>
          <a:ln/>
        </p:spPr>
        <p:txBody>
          <a:bodyPr wrap="square" lIns="0" tIns="0" rIns="0" bIns="0" rtlCol="0" anchor="ctr"/>
          <a:lstStyle/>
          <a:p>
            <a:pPr indent="0" marL="0">
              <a:buNone/>
            </a:pPr>
            <a:r>
              <a:rPr lang="en-US" sz="1800" b="1" dirty="0">
                <a:solidFill>
                  <a:srgbClr val="FFFFFF"/>
                </a:solidFill>
              </a:rPr>
              <a:t>Dane = Total Length − IHL × 4</a:t>
            </a:r>
            <a:endParaRPr lang="en-US" sz="1800" dirty="0"/>
          </a:p>
          <a:p>
            <a:pPr indent="0" marL="0">
              <a:buNone/>
            </a:pPr>
            <a:r>
              <a:rPr lang="en-US" sz="1400" dirty="0">
                <a:solidFill>
                  <a:srgbClr val="B8CCE4"/>
                </a:solidFill>
              </a:rPr>
              <a:t>1500 − 20 = 1480 B danych</a:t>
            </a:r>
            <a:endParaRPr lang="en-US" sz="18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Typ usługi: ToS, DiffServ i ECN</a:t>
            </a:r>
            <a:endParaRPr lang="en-US" sz="3000" dirty="0"/>
          </a:p>
        </p:txBody>
      </p:sp>
      <p:sp>
        <p:nvSpPr>
          <p:cNvPr id="4" name="Text 1"/>
          <p:cNvSpPr txBox="1"/>
          <p:nvPr/>
        </p:nvSpPr>
        <p:spPr>
          <a:xfrm>
            <a:off x="457200" y="1051560"/>
            <a:ext cx="3657600" cy="274320"/>
          </a:xfrm>
          <a:prstGeom prst="rect">
            <a:avLst/>
          </a:prstGeom>
          <a:noFill/>
          <a:ln/>
        </p:spPr>
        <p:txBody>
          <a:bodyPr wrap="square" lIns="0" tIns="0" rIns="0" bIns="0" rtlCol="0" anchor="t"/>
          <a:lstStyle/>
          <a:p>
            <a:pPr indent="0" marL="0">
              <a:buNone/>
            </a:pPr>
            <a:r>
              <a:rPr lang="en-US" sz="1400" b="1" dirty="0">
                <a:solidFill>
                  <a:srgbClr val="5C6B80"/>
                </a:solidFill>
              </a:rPr>
              <a:t>Pierwotnie (RFC 791)</a:t>
            </a:r>
            <a:endParaRPr lang="en-US" sz="1400" dirty="0"/>
          </a:p>
        </p:txBody>
      </p:sp>
      <p:sp>
        <p:nvSpPr>
          <p:cNvPr id="5" name="field-Precedence"/>
          <p:cNvSpPr/>
          <p:nvPr/>
        </p:nvSpPr>
        <p:spPr>
          <a:xfrm>
            <a:off x="457200" y="1371600"/>
            <a:ext cx="3086100" cy="457200"/>
          </a:xfrm>
          <a:prstGeom prst="rect">
            <a:avLst/>
          </a:prstGeom>
          <a:solidFill>
            <a:srgbClr val="6C7A89"/>
          </a:solidFill>
          <a:ln w="19050">
            <a:solidFill>
              <a:srgbClr val="FFFFFF"/>
            </a:solidFill>
            <a:prstDash val="solid"/>
          </a:ln>
        </p:spPr>
      </p:sp>
      <p:sp>
        <p:nvSpPr>
          <p:cNvPr id="6" name="Text 3"/>
          <p:cNvSpPr txBox="1"/>
          <p:nvPr/>
        </p:nvSpPr>
        <p:spPr>
          <a:xfrm>
            <a:off x="457200" y="1371600"/>
            <a:ext cx="3086100" cy="457200"/>
          </a:xfrm>
          <a:prstGeom prst="rect">
            <a:avLst/>
          </a:prstGeom>
          <a:noFill/>
          <a:ln/>
        </p:spPr>
        <p:txBody>
          <a:bodyPr wrap="square" lIns="0" tIns="0" rIns="0" bIns="0" rtlCol="0" anchor="ctr"/>
          <a:lstStyle/>
          <a:p>
            <a:pPr algn="ctr" indent="0" marL="0">
              <a:buNone/>
            </a:pPr>
            <a:r>
              <a:rPr lang="en-US" sz="1200" b="1" dirty="0">
                <a:solidFill>
                  <a:srgbClr val="FFFFFF"/>
                </a:solidFill>
              </a:rPr>
              <a:t>Precedence</a:t>
            </a:r>
            <a:endParaRPr lang="en-US" sz="1200" dirty="0"/>
          </a:p>
        </p:txBody>
      </p:sp>
      <p:sp>
        <p:nvSpPr>
          <p:cNvPr id="7" name="field-D"/>
          <p:cNvSpPr/>
          <p:nvPr/>
        </p:nvSpPr>
        <p:spPr>
          <a:xfrm>
            <a:off x="3543300" y="1371600"/>
            <a:ext cx="1028700" cy="457200"/>
          </a:xfrm>
          <a:prstGeom prst="rect">
            <a:avLst/>
          </a:prstGeom>
          <a:solidFill>
            <a:srgbClr val="6C7A89"/>
          </a:solidFill>
          <a:ln w="19050">
            <a:solidFill>
              <a:srgbClr val="FFFFFF"/>
            </a:solidFill>
            <a:prstDash val="solid"/>
          </a:ln>
        </p:spPr>
      </p:sp>
      <p:sp>
        <p:nvSpPr>
          <p:cNvPr id="8" name="Text 5"/>
          <p:cNvSpPr txBox="1"/>
          <p:nvPr/>
        </p:nvSpPr>
        <p:spPr>
          <a:xfrm>
            <a:off x="3543300" y="1371600"/>
            <a:ext cx="1028700" cy="457200"/>
          </a:xfrm>
          <a:prstGeom prst="rect">
            <a:avLst/>
          </a:prstGeom>
          <a:noFill/>
          <a:ln/>
        </p:spPr>
        <p:txBody>
          <a:bodyPr wrap="square" lIns="0" tIns="0" rIns="0" bIns="0" rtlCol="0" anchor="ctr"/>
          <a:lstStyle/>
          <a:p>
            <a:pPr algn="ctr" indent="0" marL="0">
              <a:buNone/>
            </a:pPr>
            <a:r>
              <a:rPr lang="en-US" sz="1200" b="1" dirty="0">
                <a:solidFill>
                  <a:srgbClr val="FFFFFF"/>
                </a:solidFill>
              </a:rPr>
              <a:t>D</a:t>
            </a:r>
            <a:endParaRPr lang="en-US" sz="1200" dirty="0"/>
          </a:p>
        </p:txBody>
      </p:sp>
      <p:sp>
        <p:nvSpPr>
          <p:cNvPr id="9" name="field-T"/>
          <p:cNvSpPr/>
          <p:nvPr/>
        </p:nvSpPr>
        <p:spPr>
          <a:xfrm>
            <a:off x="4572000" y="1371600"/>
            <a:ext cx="1028700" cy="457200"/>
          </a:xfrm>
          <a:prstGeom prst="rect">
            <a:avLst/>
          </a:prstGeom>
          <a:solidFill>
            <a:srgbClr val="6C7A89"/>
          </a:solidFill>
          <a:ln w="19050">
            <a:solidFill>
              <a:srgbClr val="FFFFFF"/>
            </a:solidFill>
            <a:prstDash val="solid"/>
          </a:ln>
        </p:spPr>
      </p:sp>
      <p:sp>
        <p:nvSpPr>
          <p:cNvPr id="10" name="Text 7"/>
          <p:cNvSpPr txBox="1"/>
          <p:nvPr/>
        </p:nvSpPr>
        <p:spPr>
          <a:xfrm>
            <a:off x="4572000" y="1371600"/>
            <a:ext cx="1028700" cy="457200"/>
          </a:xfrm>
          <a:prstGeom prst="rect">
            <a:avLst/>
          </a:prstGeom>
          <a:noFill/>
          <a:ln/>
        </p:spPr>
        <p:txBody>
          <a:bodyPr wrap="square" lIns="0" tIns="0" rIns="0" bIns="0" rtlCol="0" anchor="ctr"/>
          <a:lstStyle/>
          <a:p>
            <a:pPr algn="ctr" indent="0" marL="0">
              <a:buNone/>
            </a:pPr>
            <a:r>
              <a:rPr lang="en-US" sz="1200" b="1" dirty="0">
                <a:solidFill>
                  <a:srgbClr val="FFFFFF"/>
                </a:solidFill>
              </a:rPr>
              <a:t>T</a:t>
            </a:r>
            <a:endParaRPr lang="en-US" sz="1200" dirty="0"/>
          </a:p>
        </p:txBody>
      </p:sp>
      <p:sp>
        <p:nvSpPr>
          <p:cNvPr id="11" name="field-R"/>
          <p:cNvSpPr/>
          <p:nvPr/>
        </p:nvSpPr>
        <p:spPr>
          <a:xfrm>
            <a:off x="5600700" y="1371600"/>
            <a:ext cx="1028700" cy="457200"/>
          </a:xfrm>
          <a:prstGeom prst="rect">
            <a:avLst/>
          </a:prstGeom>
          <a:solidFill>
            <a:srgbClr val="6C7A89"/>
          </a:solidFill>
          <a:ln w="19050">
            <a:solidFill>
              <a:srgbClr val="FFFFFF"/>
            </a:solidFill>
            <a:prstDash val="solid"/>
          </a:ln>
        </p:spPr>
      </p:sp>
      <p:sp>
        <p:nvSpPr>
          <p:cNvPr id="12" name="Text 9"/>
          <p:cNvSpPr txBox="1"/>
          <p:nvPr/>
        </p:nvSpPr>
        <p:spPr>
          <a:xfrm>
            <a:off x="5600700" y="1371600"/>
            <a:ext cx="1028700" cy="457200"/>
          </a:xfrm>
          <a:prstGeom prst="rect">
            <a:avLst/>
          </a:prstGeom>
          <a:noFill/>
          <a:ln/>
        </p:spPr>
        <p:txBody>
          <a:bodyPr wrap="square" lIns="0" tIns="0" rIns="0" bIns="0" rtlCol="0" anchor="ctr"/>
          <a:lstStyle/>
          <a:p>
            <a:pPr algn="ctr" indent="0" marL="0">
              <a:buNone/>
            </a:pPr>
            <a:r>
              <a:rPr lang="en-US" sz="1200" b="1" dirty="0">
                <a:solidFill>
                  <a:srgbClr val="FFFFFF"/>
                </a:solidFill>
              </a:rPr>
              <a:t>R</a:t>
            </a:r>
            <a:endParaRPr lang="en-US" sz="1200" dirty="0"/>
          </a:p>
        </p:txBody>
      </p:sp>
      <p:sp>
        <p:nvSpPr>
          <p:cNvPr id="13" name="field-0"/>
          <p:cNvSpPr/>
          <p:nvPr/>
        </p:nvSpPr>
        <p:spPr>
          <a:xfrm>
            <a:off x="6629400" y="1371600"/>
            <a:ext cx="2057400" cy="457200"/>
          </a:xfrm>
          <a:prstGeom prst="rect">
            <a:avLst/>
          </a:prstGeom>
          <a:solidFill>
            <a:srgbClr val="E4EAF1"/>
          </a:solidFill>
          <a:ln w="19050">
            <a:solidFill>
              <a:srgbClr val="FFFFFF"/>
            </a:solidFill>
            <a:prstDash val="solid"/>
          </a:ln>
        </p:spPr>
      </p:sp>
      <p:sp>
        <p:nvSpPr>
          <p:cNvPr id="14" name="Text 11"/>
          <p:cNvSpPr txBox="1"/>
          <p:nvPr/>
        </p:nvSpPr>
        <p:spPr>
          <a:xfrm>
            <a:off x="6629400" y="1371600"/>
            <a:ext cx="2057400" cy="457200"/>
          </a:xfrm>
          <a:prstGeom prst="rect">
            <a:avLst/>
          </a:prstGeom>
          <a:noFill/>
          <a:ln/>
        </p:spPr>
        <p:txBody>
          <a:bodyPr wrap="square" lIns="0" tIns="0" rIns="0" bIns="0" rtlCol="0" anchor="ctr"/>
          <a:lstStyle/>
          <a:p>
            <a:pPr algn="ctr" indent="0" marL="0">
              <a:buNone/>
            </a:pPr>
            <a:r>
              <a:rPr lang="en-US" sz="1200" b="1" dirty="0">
                <a:solidFill>
                  <a:srgbClr val="1B2A41"/>
                </a:solidFill>
              </a:rPr>
              <a:t>0</a:t>
            </a:r>
            <a:endParaRPr lang="en-US" sz="1200" dirty="0"/>
          </a:p>
        </p:txBody>
      </p:sp>
      <p:sp>
        <p:nvSpPr>
          <p:cNvPr id="15" name="Text 12"/>
          <p:cNvSpPr txBox="1"/>
          <p:nvPr/>
        </p:nvSpPr>
        <p:spPr>
          <a:xfrm>
            <a:off x="457200" y="2011680"/>
            <a:ext cx="3657600" cy="274320"/>
          </a:xfrm>
          <a:prstGeom prst="rect">
            <a:avLst/>
          </a:prstGeom>
          <a:noFill/>
          <a:ln/>
        </p:spPr>
        <p:txBody>
          <a:bodyPr wrap="square" lIns="0" tIns="0" rIns="0" bIns="0" rtlCol="0" anchor="t"/>
          <a:lstStyle/>
          <a:p>
            <a:pPr indent="0" marL="0">
              <a:buNone/>
            </a:pPr>
            <a:r>
              <a:rPr lang="en-US" sz="1400" b="1" dirty="0">
                <a:solidFill>
                  <a:srgbClr val="0E7C7B"/>
                </a:solidFill>
              </a:rPr>
              <a:t>Od 1998 (RFC 2474, 3168)</a:t>
            </a:r>
            <a:endParaRPr lang="en-US" sz="1400" dirty="0"/>
          </a:p>
        </p:txBody>
      </p:sp>
      <p:sp>
        <p:nvSpPr>
          <p:cNvPr id="16" name="field-DSCP (6 bitów, 64 klasy PHB)"/>
          <p:cNvSpPr/>
          <p:nvPr/>
        </p:nvSpPr>
        <p:spPr>
          <a:xfrm>
            <a:off x="457200" y="2331720"/>
            <a:ext cx="6172200" cy="457200"/>
          </a:xfrm>
          <a:prstGeom prst="rect">
            <a:avLst/>
          </a:prstGeom>
          <a:solidFill>
            <a:srgbClr val="0E7C7B"/>
          </a:solidFill>
          <a:ln w="19050">
            <a:solidFill>
              <a:srgbClr val="FFFFFF"/>
            </a:solidFill>
            <a:prstDash val="solid"/>
          </a:ln>
        </p:spPr>
      </p:sp>
      <p:sp>
        <p:nvSpPr>
          <p:cNvPr id="17" name="Text 14"/>
          <p:cNvSpPr txBox="1"/>
          <p:nvPr/>
        </p:nvSpPr>
        <p:spPr>
          <a:xfrm>
            <a:off x="457200" y="2331720"/>
            <a:ext cx="6172200" cy="457200"/>
          </a:xfrm>
          <a:prstGeom prst="rect">
            <a:avLst/>
          </a:prstGeom>
          <a:noFill/>
          <a:ln/>
        </p:spPr>
        <p:txBody>
          <a:bodyPr wrap="square" lIns="0" tIns="0" rIns="0" bIns="0" rtlCol="0" anchor="ctr"/>
          <a:lstStyle/>
          <a:p>
            <a:pPr algn="ctr" indent="0" marL="0">
              <a:buNone/>
            </a:pPr>
            <a:r>
              <a:rPr lang="en-US" sz="1400" b="1" dirty="0">
                <a:solidFill>
                  <a:srgbClr val="FFFFFF"/>
                </a:solidFill>
              </a:rPr>
              <a:t>DSCP (6 bitów, 64 klasy PHB)</a:t>
            </a:r>
            <a:endParaRPr lang="en-US" sz="1400" dirty="0"/>
          </a:p>
        </p:txBody>
      </p:sp>
      <p:sp>
        <p:nvSpPr>
          <p:cNvPr id="18" name="field-ECN"/>
          <p:cNvSpPr/>
          <p:nvPr/>
        </p:nvSpPr>
        <p:spPr>
          <a:xfrm>
            <a:off x="6629400" y="2331720"/>
            <a:ext cx="2057400" cy="457200"/>
          </a:xfrm>
          <a:prstGeom prst="rect">
            <a:avLst/>
          </a:prstGeom>
          <a:solidFill>
            <a:srgbClr val="F2A541"/>
          </a:solidFill>
          <a:ln w="19050">
            <a:solidFill>
              <a:srgbClr val="FFFFFF"/>
            </a:solidFill>
            <a:prstDash val="solid"/>
          </a:ln>
        </p:spPr>
      </p:sp>
      <p:sp>
        <p:nvSpPr>
          <p:cNvPr id="19" name="Text 16"/>
          <p:cNvSpPr txBox="1"/>
          <p:nvPr/>
        </p:nvSpPr>
        <p:spPr>
          <a:xfrm>
            <a:off x="6629400" y="2331720"/>
            <a:ext cx="2057400" cy="457200"/>
          </a:xfrm>
          <a:prstGeom prst="rect">
            <a:avLst/>
          </a:prstGeom>
          <a:noFill/>
          <a:ln/>
        </p:spPr>
        <p:txBody>
          <a:bodyPr wrap="square" lIns="0" tIns="0" rIns="0" bIns="0" rtlCol="0" anchor="ctr"/>
          <a:lstStyle/>
          <a:p>
            <a:pPr algn="ctr" indent="0" marL="0">
              <a:buNone/>
            </a:pPr>
            <a:r>
              <a:rPr lang="en-US" sz="1400" b="1" dirty="0">
                <a:solidFill>
                  <a:srgbClr val="0B2545"/>
                </a:solidFill>
              </a:rPr>
              <a:t>ECN</a:t>
            </a:r>
            <a:endParaRPr lang="en-US" sz="1400" dirty="0"/>
          </a:p>
        </p:txBody>
      </p:sp>
      <p:sp>
        <p:nvSpPr>
          <p:cNvPr id="20" name="dscp-0"/>
          <p:cNvSpPr/>
          <p:nvPr/>
        </p:nvSpPr>
        <p:spPr>
          <a:xfrm>
            <a:off x="457200" y="3063240"/>
            <a:ext cx="1965960" cy="914400"/>
          </a:xfrm>
          <a:prstGeom prst="roundRect">
            <a:avLst>
              <a:gd name="adj" fmla="val 1000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594360" y="3127248"/>
            <a:ext cx="1737360" cy="320040"/>
          </a:xfrm>
          <a:prstGeom prst="rect">
            <a:avLst/>
          </a:prstGeom>
          <a:noFill/>
          <a:ln/>
        </p:spPr>
        <p:txBody>
          <a:bodyPr wrap="square" lIns="0" tIns="0" rIns="0" bIns="0" rtlCol="0" anchor="t"/>
          <a:lstStyle/>
          <a:p>
            <a:pPr indent="0" marL="0">
              <a:buNone/>
            </a:pPr>
            <a:r>
              <a:rPr lang="en-US" sz="1600" b="1" dirty="0">
                <a:solidFill>
                  <a:srgbClr val="0E7C7B"/>
                </a:solidFill>
              </a:rPr>
              <a:t>CS0 = 0</a:t>
            </a:r>
            <a:endParaRPr lang="en-US" sz="1600" dirty="0"/>
          </a:p>
        </p:txBody>
      </p:sp>
      <p:sp>
        <p:nvSpPr>
          <p:cNvPr id="22" name="Text 19"/>
          <p:cNvSpPr txBox="1"/>
          <p:nvPr/>
        </p:nvSpPr>
        <p:spPr>
          <a:xfrm>
            <a:off x="594360" y="3474720"/>
            <a:ext cx="1737360" cy="457200"/>
          </a:xfrm>
          <a:prstGeom prst="rect">
            <a:avLst/>
          </a:prstGeom>
          <a:noFill/>
          <a:ln/>
        </p:spPr>
        <p:txBody>
          <a:bodyPr wrap="square" lIns="0" tIns="0" rIns="0" bIns="0" rtlCol="0" anchor="t"/>
          <a:lstStyle/>
          <a:p>
            <a:pPr indent="0" marL="0">
              <a:buNone/>
            </a:pPr>
            <a:r>
              <a:rPr lang="en-US" sz="1300" dirty="0">
                <a:solidFill>
                  <a:srgbClr val="1B2A41"/>
                </a:solidFill>
              </a:rPr>
              <a:t>zwykły ruch best-effort</a:t>
            </a:r>
            <a:endParaRPr lang="en-US" sz="1300" dirty="0"/>
          </a:p>
        </p:txBody>
      </p:sp>
      <p:sp>
        <p:nvSpPr>
          <p:cNvPr id="23" name="dscp-1"/>
          <p:cNvSpPr/>
          <p:nvPr/>
        </p:nvSpPr>
        <p:spPr>
          <a:xfrm>
            <a:off x="2560320" y="3063240"/>
            <a:ext cx="1965960" cy="914400"/>
          </a:xfrm>
          <a:prstGeom prst="roundRect">
            <a:avLst>
              <a:gd name="adj" fmla="val 1000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4" name="Text 21"/>
          <p:cNvSpPr txBox="1"/>
          <p:nvPr/>
        </p:nvSpPr>
        <p:spPr>
          <a:xfrm>
            <a:off x="2697480" y="3127248"/>
            <a:ext cx="1737360" cy="320040"/>
          </a:xfrm>
          <a:prstGeom prst="rect">
            <a:avLst/>
          </a:prstGeom>
          <a:noFill/>
          <a:ln/>
        </p:spPr>
        <p:txBody>
          <a:bodyPr wrap="square" lIns="0" tIns="0" rIns="0" bIns="0" rtlCol="0" anchor="t"/>
          <a:lstStyle/>
          <a:p>
            <a:pPr indent="0" marL="0">
              <a:buNone/>
            </a:pPr>
            <a:r>
              <a:rPr lang="en-US" sz="1600" b="1" dirty="0">
                <a:solidFill>
                  <a:srgbClr val="0E7C7B"/>
                </a:solidFill>
              </a:rPr>
              <a:t>AF41 = 34</a:t>
            </a:r>
            <a:endParaRPr lang="en-US" sz="1600" dirty="0"/>
          </a:p>
        </p:txBody>
      </p:sp>
      <p:sp>
        <p:nvSpPr>
          <p:cNvPr id="25" name="Text 22"/>
          <p:cNvSpPr txBox="1"/>
          <p:nvPr/>
        </p:nvSpPr>
        <p:spPr>
          <a:xfrm>
            <a:off x="2697480" y="3474720"/>
            <a:ext cx="1737360" cy="457200"/>
          </a:xfrm>
          <a:prstGeom prst="rect">
            <a:avLst/>
          </a:prstGeom>
          <a:noFill/>
          <a:ln/>
        </p:spPr>
        <p:txBody>
          <a:bodyPr wrap="square" lIns="0" tIns="0" rIns="0" bIns="0" rtlCol="0" anchor="t"/>
          <a:lstStyle/>
          <a:p>
            <a:pPr indent="0" marL="0">
              <a:buNone/>
            </a:pPr>
            <a:r>
              <a:rPr lang="en-US" sz="1300" dirty="0">
                <a:solidFill>
                  <a:srgbClr val="1B2A41"/>
                </a:solidFill>
              </a:rPr>
              <a:t>wideokonferencje</a:t>
            </a:r>
            <a:endParaRPr lang="en-US" sz="1300" dirty="0"/>
          </a:p>
        </p:txBody>
      </p:sp>
      <p:sp>
        <p:nvSpPr>
          <p:cNvPr id="26" name="dscp-2"/>
          <p:cNvSpPr/>
          <p:nvPr/>
        </p:nvSpPr>
        <p:spPr>
          <a:xfrm>
            <a:off x="4663440" y="3063240"/>
            <a:ext cx="1965960" cy="914400"/>
          </a:xfrm>
          <a:prstGeom prst="roundRect">
            <a:avLst>
              <a:gd name="adj" fmla="val 1000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7" name="Text 24"/>
          <p:cNvSpPr txBox="1"/>
          <p:nvPr/>
        </p:nvSpPr>
        <p:spPr>
          <a:xfrm>
            <a:off x="4800600" y="3127248"/>
            <a:ext cx="1737360" cy="320040"/>
          </a:xfrm>
          <a:prstGeom prst="rect">
            <a:avLst/>
          </a:prstGeom>
          <a:noFill/>
          <a:ln/>
        </p:spPr>
        <p:txBody>
          <a:bodyPr wrap="square" lIns="0" tIns="0" rIns="0" bIns="0" rtlCol="0" anchor="t"/>
          <a:lstStyle/>
          <a:p>
            <a:pPr indent="0" marL="0">
              <a:buNone/>
            </a:pPr>
            <a:r>
              <a:rPr lang="en-US" sz="1600" b="1" dirty="0">
                <a:solidFill>
                  <a:srgbClr val="0E7C7B"/>
                </a:solidFill>
              </a:rPr>
              <a:t>EF = 46</a:t>
            </a:r>
            <a:endParaRPr lang="en-US" sz="1600" dirty="0"/>
          </a:p>
        </p:txBody>
      </p:sp>
      <p:sp>
        <p:nvSpPr>
          <p:cNvPr id="28" name="Text 25"/>
          <p:cNvSpPr txBox="1"/>
          <p:nvPr/>
        </p:nvSpPr>
        <p:spPr>
          <a:xfrm>
            <a:off x="4800600" y="3474720"/>
            <a:ext cx="1737360" cy="457200"/>
          </a:xfrm>
          <a:prstGeom prst="rect">
            <a:avLst/>
          </a:prstGeom>
          <a:noFill/>
          <a:ln/>
        </p:spPr>
        <p:txBody>
          <a:bodyPr wrap="square" lIns="0" tIns="0" rIns="0" bIns="0" rtlCol="0" anchor="t"/>
          <a:lstStyle/>
          <a:p>
            <a:pPr indent="0" marL="0">
              <a:buNone/>
            </a:pPr>
            <a:r>
              <a:rPr lang="en-US" sz="1300" dirty="0">
                <a:solidFill>
                  <a:srgbClr val="1B2A41"/>
                </a:solidFill>
              </a:rPr>
              <a:t>VoIP, najniższe opóźnienie</a:t>
            </a:r>
            <a:endParaRPr lang="en-US" sz="1300" dirty="0"/>
          </a:p>
        </p:txBody>
      </p:sp>
      <p:sp>
        <p:nvSpPr>
          <p:cNvPr id="29" name="dscp-3"/>
          <p:cNvSpPr/>
          <p:nvPr/>
        </p:nvSpPr>
        <p:spPr>
          <a:xfrm>
            <a:off x="6766560" y="3063240"/>
            <a:ext cx="1965960" cy="914400"/>
          </a:xfrm>
          <a:prstGeom prst="roundRect">
            <a:avLst>
              <a:gd name="adj" fmla="val 1000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30" name="Text 27"/>
          <p:cNvSpPr txBox="1"/>
          <p:nvPr/>
        </p:nvSpPr>
        <p:spPr>
          <a:xfrm>
            <a:off x="6903720" y="3127248"/>
            <a:ext cx="1737360" cy="320040"/>
          </a:xfrm>
          <a:prstGeom prst="rect">
            <a:avLst/>
          </a:prstGeom>
          <a:noFill/>
          <a:ln/>
        </p:spPr>
        <p:txBody>
          <a:bodyPr wrap="square" lIns="0" tIns="0" rIns="0" bIns="0" rtlCol="0" anchor="t"/>
          <a:lstStyle/>
          <a:p>
            <a:pPr indent="0" marL="0">
              <a:buNone/>
            </a:pPr>
            <a:r>
              <a:rPr lang="en-US" sz="1600" b="1" dirty="0">
                <a:solidFill>
                  <a:srgbClr val="0E7C7B"/>
                </a:solidFill>
              </a:rPr>
              <a:t>CS6 / CS7</a:t>
            </a:r>
            <a:endParaRPr lang="en-US" sz="1600" dirty="0"/>
          </a:p>
        </p:txBody>
      </p:sp>
      <p:sp>
        <p:nvSpPr>
          <p:cNvPr id="31" name="Text 28"/>
          <p:cNvSpPr txBox="1"/>
          <p:nvPr/>
        </p:nvSpPr>
        <p:spPr>
          <a:xfrm>
            <a:off x="6903720" y="3474720"/>
            <a:ext cx="1737360" cy="457200"/>
          </a:xfrm>
          <a:prstGeom prst="rect">
            <a:avLst/>
          </a:prstGeom>
          <a:noFill/>
          <a:ln/>
        </p:spPr>
        <p:txBody>
          <a:bodyPr wrap="square" lIns="0" tIns="0" rIns="0" bIns="0" rtlCol="0" anchor="t"/>
          <a:lstStyle/>
          <a:p>
            <a:pPr indent="0" marL="0">
              <a:buNone/>
            </a:pPr>
            <a:r>
              <a:rPr lang="en-US" sz="1300" dirty="0">
                <a:solidFill>
                  <a:srgbClr val="1B2A41"/>
                </a:solidFill>
              </a:rPr>
              <a:t>sygnalizacja sieci</a:t>
            </a:r>
            <a:endParaRPr lang="en-US" sz="1300" dirty="0"/>
          </a:p>
        </p:txBody>
      </p:sp>
      <p:sp>
        <p:nvSpPr>
          <p:cNvPr id="32" name="Text 29"/>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400" dirty="0">
                <a:solidFill>
                  <a:srgbClr val="5C6B80"/>
                </a:solidFill>
              </a:rPr>
              <a:t>ECN: router oznacza pakiet zamiast go odrzucić (00 brak, 01/10 obsługa, 11 przeciążenie). DiffServ działa per pakiet, bez rezerwacji end-to-end.</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Identyfikacja, flagi i przesunięcie</a:t>
            </a:r>
            <a:endParaRPr lang="en-US" sz="3000" dirty="0"/>
          </a:p>
        </p:txBody>
      </p:sp>
      <p:sp>
        <p:nvSpPr>
          <p:cNvPr id="4" name="id-card"/>
          <p:cNvSpPr/>
          <p:nvPr/>
        </p:nvSpPr>
        <p:spPr>
          <a:xfrm>
            <a:off x="457200" y="1143000"/>
            <a:ext cx="2651760" cy="3383280"/>
          </a:xfrm>
          <a:prstGeom prst="roundRect">
            <a:avLst>
              <a:gd name="adj" fmla="val 3448"/>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40080" y="1280160"/>
            <a:ext cx="2286000" cy="320040"/>
          </a:xfrm>
          <a:prstGeom prst="rect">
            <a:avLst/>
          </a:prstGeom>
          <a:noFill/>
          <a:ln/>
        </p:spPr>
        <p:txBody>
          <a:bodyPr wrap="square" lIns="0" tIns="0" rIns="0" bIns="0" rtlCol="0" anchor="t"/>
          <a:lstStyle/>
          <a:p>
            <a:pPr indent="0" marL="0">
              <a:buNone/>
            </a:pPr>
            <a:r>
              <a:rPr lang="en-US" sz="1800" b="1" dirty="0">
                <a:solidFill>
                  <a:srgbClr val="F2A541"/>
                </a:solidFill>
              </a:rPr>
              <a:t>Identification</a:t>
            </a:r>
            <a:endParaRPr lang="en-US" sz="1800" dirty="0"/>
          </a:p>
        </p:txBody>
      </p:sp>
      <p:sp>
        <p:nvSpPr>
          <p:cNvPr id="6" name="Text 3"/>
          <p:cNvSpPr txBox="1"/>
          <p:nvPr/>
        </p:nvSpPr>
        <p:spPr>
          <a:xfrm>
            <a:off x="640080" y="1600200"/>
            <a:ext cx="2286000" cy="274320"/>
          </a:xfrm>
          <a:prstGeom prst="rect">
            <a:avLst/>
          </a:prstGeom>
          <a:noFill/>
          <a:ln/>
        </p:spPr>
        <p:txBody>
          <a:bodyPr wrap="square" lIns="0" tIns="0" rIns="0" bIns="0" rtlCol="0" anchor="t"/>
          <a:lstStyle/>
          <a:p>
            <a:pPr indent="0" marL="0">
              <a:buNone/>
            </a:pPr>
            <a:r>
              <a:rPr lang="en-US" sz="1300" dirty="0">
                <a:solidFill>
                  <a:srgbClr val="5C6B80"/>
                </a:solidFill>
              </a:rPr>
              <a:t>16 bitów</a:t>
            </a:r>
            <a:endParaRPr lang="en-US" sz="1300" dirty="0"/>
          </a:p>
        </p:txBody>
      </p:sp>
      <p:sp>
        <p:nvSpPr>
          <p:cNvPr id="7" name="Text 4"/>
          <p:cNvSpPr txBox="1"/>
          <p:nvPr/>
        </p:nvSpPr>
        <p:spPr>
          <a:xfrm>
            <a:off x="640080" y="2011680"/>
            <a:ext cx="2286000" cy="2377440"/>
          </a:xfrm>
          <a:prstGeom prst="rect">
            <a:avLst/>
          </a:prstGeom>
          <a:noFill/>
          <a:ln/>
        </p:spPr>
        <p:txBody>
          <a:bodyPr wrap="square" lIns="0" tIns="0" rIns="0" bIns="0" rtlCol="0" anchor="t"/>
          <a:lstStyle/>
          <a:p>
            <a:pPr indent="0" marL="0">
              <a:buNone/>
            </a:pPr>
            <a:r>
              <a:rPr lang="en-US" sz="1400" dirty="0">
                <a:solidFill>
                  <a:srgbClr val="1B2A41"/>
                </a:solidFill>
              </a:rPr>
              <a:t>Ta sama wartość we wszystkich fragmentach jednego datagramu. Klucz do ponownego złożenia, nawet gdy fragmenty dotrą wymieszane.</a:t>
            </a:r>
            <a:endParaRPr lang="en-US" sz="1400" dirty="0"/>
          </a:p>
        </p:txBody>
      </p:sp>
      <p:sp>
        <p:nvSpPr>
          <p:cNvPr id="8" name="flags-card"/>
          <p:cNvSpPr/>
          <p:nvPr/>
        </p:nvSpPr>
        <p:spPr>
          <a:xfrm>
            <a:off x="3246120" y="1143000"/>
            <a:ext cx="2651760" cy="3383280"/>
          </a:xfrm>
          <a:prstGeom prst="roundRect">
            <a:avLst>
              <a:gd name="adj" fmla="val 3448"/>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3429000" y="1280160"/>
            <a:ext cx="2286000" cy="320040"/>
          </a:xfrm>
          <a:prstGeom prst="rect">
            <a:avLst/>
          </a:prstGeom>
          <a:noFill/>
          <a:ln/>
        </p:spPr>
        <p:txBody>
          <a:bodyPr wrap="square" lIns="0" tIns="0" rIns="0" bIns="0" rtlCol="0" anchor="t"/>
          <a:lstStyle/>
          <a:p>
            <a:pPr indent="0" marL="0">
              <a:buNone/>
            </a:pPr>
            <a:r>
              <a:rPr lang="en-US" sz="1800" b="1" dirty="0">
                <a:solidFill>
                  <a:srgbClr val="F2A541"/>
                </a:solidFill>
              </a:rPr>
              <a:t>Flags</a:t>
            </a:r>
            <a:endParaRPr lang="en-US" sz="1800" dirty="0"/>
          </a:p>
        </p:txBody>
      </p:sp>
      <p:sp>
        <p:nvSpPr>
          <p:cNvPr id="10" name="Text 7"/>
          <p:cNvSpPr txBox="1"/>
          <p:nvPr/>
        </p:nvSpPr>
        <p:spPr>
          <a:xfrm>
            <a:off x="3429000" y="1600200"/>
            <a:ext cx="2286000" cy="274320"/>
          </a:xfrm>
          <a:prstGeom prst="rect">
            <a:avLst/>
          </a:prstGeom>
          <a:noFill/>
          <a:ln/>
        </p:spPr>
        <p:txBody>
          <a:bodyPr wrap="square" lIns="0" tIns="0" rIns="0" bIns="0" rtlCol="0" anchor="t"/>
          <a:lstStyle/>
          <a:p>
            <a:pPr indent="0" marL="0">
              <a:buNone/>
            </a:pPr>
            <a:r>
              <a:rPr lang="en-US" sz="1300" dirty="0">
                <a:solidFill>
                  <a:srgbClr val="5C6B80"/>
                </a:solidFill>
              </a:rPr>
              <a:t>3 bity</a:t>
            </a:r>
            <a:endParaRPr lang="en-US" sz="1300" dirty="0"/>
          </a:p>
        </p:txBody>
      </p:sp>
      <p:sp>
        <p:nvSpPr>
          <p:cNvPr id="11" name="flag-0"/>
          <p:cNvSpPr/>
          <p:nvPr/>
        </p:nvSpPr>
        <p:spPr>
          <a:xfrm>
            <a:off x="3429000" y="2011680"/>
            <a:ext cx="502920" cy="502920"/>
          </a:xfrm>
          <a:prstGeom prst="roundRect">
            <a:avLst>
              <a:gd name="adj" fmla="val 10909"/>
            </a:avLst>
          </a:prstGeom>
          <a:solidFill>
            <a:srgbClr val="6C7A89"/>
          </a:solidFill>
          <a:ln w="9525">
            <a:solidFill>
              <a:srgbClr val="6C7A89"/>
            </a:solidFill>
            <a:prstDash val="solid"/>
          </a:ln>
        </p:spPr>
      </p:sp>
      <p:sp>
        <p:nvSpPr>
          <p:cNvPr id="12" name="Text 9"/>
          <p:cNvSpPr txBox="1"/>
          <p:nvPr/>
        </p:nvSpPr>
        <p:spPr>
          <a:xfrm>
            <a:off x="3429000" y="20116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0</a:t>
            </a:r>
            <a:endParaRPr lang="en-US" sz="1400" dirty="0"/>
          </a:p>
        </p:txBody>
      </p:sp>
      <p:sp>
        <p:nvSpPr>
          <p:cNvPr id="13" name="Text 10"/>
          <p:cNvSpPr txBox="1"/>
          <p:nvPr/>
        </p:nvSpPr>
        <p:spPr>
          <a:xfrm>
            <a:off x="4023360" y="2011680"/>
            <a:ext cx="1737360" cy="685800"/>
          </a:xfrm>
          <a:prstGeom prst="rect">
            <a:avLst/>
          </a:prstGeom>
          <a:noFill/>
          <a:ln/>
        </p:spPr>
        <p:txBody>
          <a:bodyPr wrap="square" lIns="0" tIns="0" rIns="0" bIns="0" rtlCol="0" anchor="t"/>
          <a:lstStyle/>
          <a:p>
            <a:pPr indent="0" marL="0">
              <a:buNone/>
            </a:pPr>
            <a:r>
              <a:rPr lang="en-US" sz="1300" dirty="0">
                <a:solidFill>
                  <a:srgbClr val="1B2A41"/>
                </a:solidFill>
              </a:rPr>
              <a:t>zarezerwowany, zawsze 0</a:t>
            </a:r>
            <a:endParaRPr lang="en-US" sz="1300" dirty="0"/>
          </a:p>
        </p:txBody>
      </p:sp>
      <p:sp>
        <p:nvSpPr>
          <p:cNvPr id="14" name="flag-DF"/>
          <p:cNvSpPr/>
          <p:nvPr/>
        </p:nvSpPr>
        <p:spPr>
          <a:xfrm>
            <a:off x="3429000" y="2834640"/>
            <a:ext cx="502920" cy="502920"/>
          </a:xfrm>
          <a:prstGeom prst="roundRect">
            <a:avLst>
              <a:gd name="adj" fmla="val 10909"/>
            </a:avLst>
          </a:prstGeom>
          <a:solidFill>
            <a:srgbClr val="C8442F"/>
          </a:solidFill>
          <a:ln w="9525">
            <a:solidFill>
              <a:srgbClr val="C8442F"/>
            </a:solidFill>
            <a:prstDash val="solid"/>
          </a:ln>
        </p:spPr>
      </p:sp>
      <p:sp>
        <p:nvSpPr>
          <p:cNvPr id="15" name="Text 12"/>
          <p:cNvSpPr txBox="1"/>
          <p:nvPr/>
        </p:nvSpPr>
        <p:spPr>
          <a:xfrm>
            <a:off x="3429000" y="2834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DF</a:t>
            </a:r>
            <a:endParaRPr lang="en-US" sz="1400" dirty="0"/>
          </a:p>
        </p:txBody>
      </p:sp>
      <p:sp>
        <p:nvSpPr>
          <p:cNvPr id="16" name="Text 13"/>
          <p:cNvSpPr txBox="1"/>
          <p:nvPr/>
        </p:nvSpPr>
        <p:spPr>
          <a:xfrm>
            <a:off x="4023360" y="2834640"/>
            <a:ext cx="1737360" cy="685800"/>
          </a:xfrm>
          <a:prstGeom prst="rect">
            <a:avLst/>
          </a:prstGeom>
          <a:noFill/>
          <a:ln/>
        </p:spPr>
        <p:txBody>
          <a:bodyPr wrap="square" lIns="0" tIns="0" rIns="0" bIns="0" rtlCol="0" anchor="t"/>
          <a:lstStyle/>
          <a:p>
            <a:pPr indent="0" marL="0">
              <a:buNone/>
            </a:pPr>
            <a:r>
              <a:rPr lang="en-US" sz="1300" dirty="0">
                <a:solidFill>
                  <a:srgbClr val="1B2A41"/>
                </a:solidFill>
              </a:rPr>
              <a:t>Don't Fragment: zakaz, odrzuć + ICMP</a:t>
            </a:r>
            <a:endParaRPr lang="en-US" sz="1300" dirty="0"/>
          </a:p>
        </p:txBody>
      </p:sp>
      <p:sp>
        <p:nvSpPr>
          <p:cNvPr id="17" name="flag-MF"/>
          <p:cNvSpPr/>
          <p:nvPr/>
        </p:nvSpPr>
        <p:spPr>
          <a:xfrm>
            <a:off x="3429000" y="3657600"/>
            <a:ext cx="502920" cy="502920"/>
          </a:xfrm>
          <a:prstGeom prst="roundRect">
            <a:avLst>
              <a:gd name="adj" fmla="val 10909"/>
            </a:avLst>
          </a:prstGeom>
          <a:solidFill>
            <a:srgbClr val="0E7C7B"/>
          </a:solidFill>
          <a:ln w="9525">
            <a:solidFill>
              <a:srgbClr val="0E7C7B"/>
            </a:solidFill>
            <a:prstDash val="solid"/>
          </a:ln>
        </p:spPr>
      </p:sp>
      <p:sp>
        <p:nvSpPr>
          <p:cNvPr id="18" name="Text 15"/>
          <p:cNvSpPr txBox="1"/>
          <p:nvPr/>
        </p:nvSpPr>
        <p:spPr>
          <a:xfrm>
            <a:off x="3429000" y="36576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MF</a:t>
            </a:r>
            <a:endParaRPr lang="en-US" sz="1400" dirty="0"/>
          </a:p>
        </p:txBody>
      </p:sp>
      <p:sp>
        <p:nvSpPr>
          <p:cNvPr id="19" name="Text 16"/>
          <p:cNvSpPr txBox="1"/>
          <p:nvPr/>
        </p:nvSpPr>
        <p:spPr>
          <a:xfrm>
            <a:off x="4023360" y="3657600"/>
            <a:ext cx="1737360" cy="685800"/>
          </a:xfrm>
          <a:prstGeom prst="rect">
            <a:avLst/>
          </a:prstGeom>
          <a:noFill/>
          <a:ln/>
        </p:spPr>
        <p:txBody>
          <a:bodyPr wrap="square" lIns="0" tIns="0" rIns="0" bIns="0" rtlCol="0" anchor="t"/>
          <a:lstStyle/>
          <a:p>
            <a:pPr indent="0" marL="0">
              <a:buNone/>
            </a:pPr>
            <a:r>
              <a:rPr lang="en-US" sz="1300" dirty="0">
                <a:solidFill>
                  <a:srgbClr val="1B2A41"/>
                </a:solidFill>
              </a:rPr>
              <a:t>More Fragments: będą kolejne</a:t>
            </a:r>
            <a:endParaRPr lang="en-US" sz="1300" dirty="0"/>
          </a:p>
        </p:txBody>
      </p:sp>
      <p:sp>
        <p:nvSpPr>
          <p:cNvPr id="20" name="off-card"/>
          <p:cNvSpPr/>
          <p:nvPr/>
        </p:nvSpPr>
        <p:spPr>
          <a:xfrm>
            <a:off x="6035040" y="1143000"/>
            <a:ext cx="2651760" cy="3383280"/>
          </a:xfrm>
          <a:prstGeom prst="roundRect">
            <a:avLst>
              <a:gd name="adj" fmla="val 3448"/>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6217920" y="1280160"/>
            <a:ext cx="2286000" cy="320040"/>
          </a:xfrm>
          <a:prstGeom prst="rect">
            <a:avLst/>
          </a:prstGeom>
          <a:noFill/>
          <a:ln/>
        </p:spPr>
        <p:txBody>
          <a:bodyPr wrap="square" lIns="0" tIns="0" rIns="0" bIns="0" rtlCol="0" anchor="t"/>
          <a:lstStyle/>
          <a:p>
            <a:pPr indent="0" marL="0">
              <a:buNone/>
            </a:pPr>
            <a:r>
              <a:rPr lang="en-US" sz="1800" b="1" dirty="0">
                <a:solidFill>
                  <a:srgbClr val="F2A541"/>
                </a:solidFill>
              </a:rPr>
              <a:t>Fragment Offset</a:t>
            </a:r>
            <a:endParaRPr lang="en-US" sz="1800" dirty="0"/>
          </a:p>
        </p:txBody>
      </p:sp>
      <p:sp>
        <p:nvSpPr>
          <p:cNvPr id="22" name="Text 19"/>
          <p:cNvSpPr txBox="1"/>
          <p:nvPr/>
        </p:nvSpPr>
        <p:spPr>
          <a:xfrm>
            <a:off x="6217920" y="1600200"/>
            <a:ext cx="2286000" cy="274320"/>
          </a:xfrm>
          <a:prstGeom prst="rect">
            <a:avLst/>
          </a:prstGeom>
          <a:noFill/>
          <a:ln/>
        </p:spPr>
        <p:txBody>
          <a:bodyPr wrap="square" lIns="0" tIns="0" rIns="0" bIns="0" rtlCol="0" anchor="t"/>
          <a:lstStyle/>
          <a:p>
            <a:pPr indent="0" marL="0">
              <a:buNone/>
            </a:pPr>
            <a:r>
              <a:rPr lang="en-US" sz="1300" dirty="0">
                <a:solidFill>
                  <a:srgbClr val="5C6B80"/>
                </a:solidFill>
              </a:rPr>
              <a:t>13 bitów</a:t>
            </a:r>
            <a:endParaRPr lang="en-US" sz="1300" dirty="0"/>
          </a:p>
        </p:txBody>
      </p:sp>
      <p:sp>
        <p:nvSpPr>
          <p:cNvPr id="23" name="off-formula"/>
          <p:cNvSpPr/>
          <p:nvPr/>
        </p:nvSpPr>
        <p:spPr>
          <a:xfrm>
            <a:off x="6217920" y="2011680"/>
            <a:ext cx="2286000" cy="548640"/>
          </a:xfrm>
          <a:prstGeom prst="roundRect">
            <a:avLst>
              <a:gd name="adj" fmla="val 10000"/>
            </a:avLst>
          </a:prstGeom>
          <a:solidFill>
            <a:srgbClr val="0B2545"/>
          </a:solidFill>
          <a:ln w="9525">
            <a:solidFill>
              <a:srgbClr val="0B2545"/>
            </a:solidFill>
            <a:prstDash val="solid"/>
          </a:ln>
        </p:spPr>
      </p:sp>
      <p:sp>
        <p:nvSpPr>
          <p:cNvPr id="24" name="Text 21"/>
          <p:cNvSpPr txBox="1"/>
          <p:nvPr/>
        </p:nvSpPr>
        <p:spPr>
          <a:xfrm>
            <a:off x="6217920" y="2011680"/>
            <a:ext cx="2286000" cy="548640"/>
          </a:xfrm>
          <a:prstGeom prst="rect">
            <a:avLst/>
          </a:prstGeom>
          <a:noFill/>
          <a:ln/>
        </p:spPr>
        <p:txBody>
          <a:bodyPr wrap="square" lIns="0" tIns="0" rIns="0" bIns="0" rtlCol="0" anchor="ctr"/>
          <a:lstStyle/>
          <a:p>
            <a:pPr algn="ctr" indent="0" marL="0">
              <a:buNone/>
            </a:pPr>
            <a:r>
              <a:rPr lang="en-US" sz="1400" b="1" dirty="0">
                <a:solidFill>
                  <a:srgbClr val="FFFFFF"/>
                </a:solidFill>
              </a:rPr>
              <a:t>pozycja = offset × 8</a:t>
            </a:r>
            <a:endParaRPr lang="en-US" sz="1400" dirty="0"/>
          </a:p>
        </p:txBody>
      </p:sp>
      <p:sp>
        <p:nvSpPr>
          <p:cNvPr id="25" name="Text 22"/>
          <p:cNvSpPr txBox="1"/>
          <p:nvPr/>
        </p:nvSpPr>
        <p:spPr>
          <a:xfrm>
            <a:off x="6217920" y="2743200"/>
            <a:ext cx="2286000" cy="1737360"/>
          </a:xfrm>
          <a:prstGeom prst="rect">
            <a:avLst/>
          </a:prstGeom>
          <a:noFill/>
          <a:ln/>
        </p:spPr>
        <p:txBody>
          <a:bodyPr wrap="square" lIns="0" tIns="0" rIns="0" bIns="0" rtlCol="0" anchor="t"/>
          <a:lstStyle/>
          <a:p>
            <a:pPr indent="0" marL="0">
              <a:buNone/>
            </a:pPr>
            <a:r>
              <a:rPr lang="en-US" sz="1400" dirty="0">
                <a:solidFill>
                  <a:srgbClr val="1B2A41"/>
                </a:solidFill>
              </a:rPr>
              <a:t>Maks 8191 × 8 = 65 528 B. Dane każdego fragmentu (poza ostatnim) to wielokrotność 8 B.</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Fragmentacja: 4000 B przez MTU 1500</a:t>
            </a:r>
            <a:endParaRPr lang="en-US" sz="3000" dirty="0"/>
          </a:p>
        </p:txBody>
      </p:sp>
      <p:sp>
        <p:nvSpPr>
          <p:cNvPr id="4" name="Text 1"/>
          <p:cNvSpPr txBox="1"/>
          <p:nvPr/>
        </p:nvSpPr>
        <p:spPr>
          <a:xfrm>
            <a:off x="457200" y="1005840"/>
            <a:ext cx="8229600" cy="274320"/>
          </a:xfrm>
          <a:prstGeom prst="rect">
            <a:avLst/>
          </a:prstGeom>
          <a:noFill/>
          <a:ln/>
        </p:spPr>
        <p:txBody>
          <a:bodyPr wrap="square" lIns="0" tIns="0" rIns="0" bIns="0" rtlCol="0" anchor="t"/>
          <a:lstStyle/>
          <a:p>
            <a:pPr indent="0" marL="0">
              <a:buNone/>
            </a:pPr>
            <a:r>
              <a:rPr lang="en-US" sz="1400" dirty="0">
                <a:solidFill>
                  <a:srgbClr val="5C6B80"/>
                </a:solidFill>
              </a:rPr>
              <a:t>Datagram: Total Length 4020 B, Identification 51 200</a:t>
            </a:r>
            <a:endParaRPr lang="en-US" sz="1400" dirty="0"/>
          </a:p>
        </p:txBody>
      </p:sp>
      <p:sp>
        <p:nvSpPr>
          <p:cNvPr id="5" name="Shape 2"/>
          <p:cNvSpPr/>
          <p:nvPr/>
        </p:nvSpPr>
        <p:spPr>
          <a:xfrm>
            <a:off x="457200" y="1371600"/>
            <a:ext cx="182880" cy="502920"/>
          </a:xfrm>
          <a:prstGeom prst="rect">
            <a:avLst/>
          </a:prstGeom>
          <a:solidFill>
            <a:srgbClr val="0B2545"/>
          </a:solidFill>
          <a:ln w="12700">
            <a:solidFill>
              <a:srgbClr val="FFFFFF"/>
            </a:solidFill>
            <a:prstDash val="solid"/>
          </a:ln>
        </p:spPr>
      </p:sp>
      <p:sp>
        <p:nvSpPr>
          <p:cNvPr id="6" name="field-Dane oryginału: 4000 B"/>
          <p:cNvSpPr/>
          <p:nvPr/>
        </p:nvSpPr>
        <p:spPr>
          <a:xfrm>
            <a:off x="640080" y="1371600"/>
            <a:ext cx="7315200" cy="502920"/>
          </a:xfrm>
          <a:prstGeom prst="rect">
            <a:avLst/>
          </a:prstGeom>
          <a:solidFill>
            <a:srgbClr val="3A6EA5"/>
          </a:solidFill>
          <a:ln w="19050">
            <a:solidFill>
              <a:srgbClr val="FFFFFF"/>
            </a:solidFill>
            <a:prstDash val="solid"/>
          </a:ln>
        </p:spPr>
      </p:sp>
      <p:sp>
        <p:nvSpPr>
          <p:cNvPr id="7" name="Text 4"/>
          <p:cNvSpPr txBox="1"/>
          <p:nvPr/>
        </p:nvSpPr>
        <p:spPr>
          <a:xfrm>
            <a:off x="640080" y="1371600"/>
            <a:ext cx="7315200" cy="502920"/>
          </a:xfrm>
          <a:prstGeom prst="rect">
            <a:avLst/>
          </a:prstGeom>
          <a:noFill/>
          <a:ln/>
        </p:spPr>
        <p:txBody>
          <a:bodyPr wrap="square" lIns="0" tIns="0" rIns="0" bIns="0" rtlCol="0" anchor="ctr"/>
          <a:lstStyle/>
          <a:p>
            <a:pPr algn="ctr" indent="0" marL="0">
              <a:buNone/>
            </a:pPr>
            <a:r>
              <a:rPr lang="en-US" sz="1400" b="1" dirty="0">
                <a:solidFill>
                  <a:srgbClr val="FFFFFF"/>
                </a:solidFill>
              </a:rPr>
              <a:t>Dane oryginału: 4000 B</a:t>
            </a:r>
            <a:endParaRPr lang="en-US" sz="1400" dirty="0"/>
          </a:p>
        </p:txBody>
      </p:sp>
      <p:sp>
        <p:nvSpPr>
          <p:cNvPr id="8" name="field-"/>
          <p:cNvSpPr/>
          <p:nvPr/>
        </p:nvSpPr>
        <p:spPr>
          <a:xfrm>
            <a:off x="457200" y="2331720"/>
            <a:ext cx="182880" cy="502920"/>
          </a:xfrm>
          <a:prstGeom prst="rect">
            <a:avLst/>
          </a:prstGeom>
          <a:solidFill>
            <a:srgbClr val="0B2545"/>
          </a:solidFill>
          <a:ln w="19050">
            <a:solidFill>
              <a:srgbClr val="FFFFFF"/>
            </a:solidFill>
            <a:prstDash val="solid"/>
          </a:ln>
        </p:spPr>
      </p:sp>
      <p:sp>
        <p:nvSpPr>
          <p:cNvPr id="9" name="Text 6"/>
          <p:cNvSpPr txBox="1"/>
          <p:nvPr/>
        </p:nvSpPr>
        <p:spPr>
          <a:xfrm>
            <a:off x="457200" y="2331720"/>
            <a:ext cx="182880" cy="502920"/>
          </a:xfrm>
          <a:prstGeom prst="rect">
            <a:avLst/>
          </a:prstGeom>
          <a:noFill/>
          <a:ln/>
        </p:spPr>
        <p:txBody>
          <a:bodyPr wrap="square" lIns="0" tIns="0" rIns="0" bIns="0" rtlCol="0" anchor="ctr"/>
          <a:lstStyle/>
          <a:p>
            <a:pPr algn="ctr" indent="0" marL="0">
              <a:buNone/>
            </a:pPr>
            <a:endParaRPr lang="en-US" sz="1000" dirty="0"/>
          </a:p>
        </p:txBody>
      </p:sp>
      <p:sp>
        <p:nvSpPr>
          <p:cNvPr id="10" name="field-1480 B"/>
          <p:cNvSpPr/>
          <p:nvPr/>
        </p:nvSpPr>
        <p:spPr>
          <a:xfrm>
            <a:off x="640080" y="2331720"/>
            <a:ext cx="2706624" cy="502920"/>
          </a:xfrm>
          <a:prstGeom prst="rect">
            <a:avLst/>
          </a:prstGeom>
          <a:solidFill>
            <a:srgbClr val="3A6EA5"/>
          </a:solidFill>
          <a:ln w="19050">
            <a:solidFill>
              <a:srgbClr val="FFFFFF"/>
            </a:solidFill>
            <a:prstDash val="solid"/>
          </a:ln>
        </p:spPr>
      </p:sp>
      <p:sp>
        <p:nvSpPr>
          <p:cNvPr id="11" name="Text 8"/>
          <p:cNvSpPr txBox="1"/>
          <p:nvPr/>
        </p:nvSpPr>
        <p:spPr>
          <a:xfrm>
            <a:off x="640080" y="2331720"/>
            <a:ext cx="2706624" cy="502920"/>
          </a:xfrm>
          <a:prstGeom prst="rect">
            <a:avLst/>
          </a:prstGeom>
          <a:noFill/>
          <a:ln/>
        </p:spPr>
        <p:txBody>
          <a:bodyPr wrap="square" lIns="0" tIns="0" rIns="0" bIns="0" rtlCol="0" anchor="ctr"/>
          <a:lstStyle/>
          <a:p>
            <a:pPr algn="ctr" indent="0" marL="0">
              <a:buNone/>
            </a:pPr>
            <a:r>
              <a:rPr lang="en-US" sz="1400" b="1" dirty="0">
                <a:solidFill>
                  <a:srgbClr val="FFFFFF"/>
                </a:solidFill>
              </a:rPr>
              <a:t>1480 B</a:t>
            </a:r>
            <a:endParaRPr lang="en-US" sz="1400" dirty="0"/>
          </a:p>
        </p:txBody>
      </p:sp>
      <p:sp>
        <p:nvSpPr>
          <p:cNvPr id="12" name="frag-card-0"/>
          <p:cNvSpPr/>
          <p:nvPr/>
        </p:nvSpPr>
        <p:spPr>
          <a:xfrm>
            <a:off x="457200" y="3017520"/>
            <a:ext cx="2889504" cy="1325880"/>
          </a:xfrm>
          <a:prstGeom prst="roundRect">
            <a:avLst>
              <a:gd name="adj" fmla="val 689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566928" y="3063240"/>
            <a:ext cx="2615184" cy="274320"/>
          </a:xfrm>
          <a:prstGeom prst="rect">
            <a:avLst/>
          </a:prstGeom>
          <a:noFill/>
          <a:ln/>
        </p:spPr>
        <p:txBody>
          <a:bodyPr wrap="square" lIns="0" tIns="0" rIns="0" bIns="0" rtlCol="0" anchor="t"/>
          <a:lstStyle/>
          <a:p>
            <a:pPr indent="0" marL="0">
              <a:buNone/>
            </a:pPr>
            <a:r>
              <a:rPr lang="en-US" sz="1400" b="1" dirty="0">
                <a:solidFill>
                  <a:srgbClr val="0B2545"/>
                </a:solidFill>
              </a:rPr>
              <a:t>Fragment 1</a:t>
            </a:r>
            <a:endParaRPr lang="en-US" sz="1400" dirty="0"/>
          </a:p>
        </p:txBody>
      </p:sp>
      <p:sp>
        <p:nvSpPr>
          <p:cNvPr id="14" name="Text 11"/>
          <p:cNvSpPr txBox="1"/>
          <p:nvPr/>
        </p:nvSpPr>
        <p:spPr>
          <a:xfrm>
            <a:off x="566928" y="3383280"/>
            <a:ext cx="2615184" cy="914400"/>
          </a:xfrm>
          <a:prstGeom prst="rect">
            <a:avLst/>
          </a:prstGeom>
          <a:noFill/>
          <a:ln/>
        </p:spPr>
        <p:txBody>
          <a:bodyPr wrap="square" lIns="0" tIns="0" rIns="0" bIns="0" rtlCol="0" anchor="t"/>
          <a:lstStyle/>
          <a:p>
            <a:pPr indent="0" marL="0">
              <a:buNone/>
            </a:pPr>
            <a:r>
              <a:rPr lang="en-US" sz="1300" dirty="0">
                <a:solidFill>
                  <a:srgbClr val="1B2A41"/>
                </a:solidFill>
              </a:rPr>
              <a:t>Offset: 0</a:t>
            </a:r>
            <a:endParaRPr lang="en-US" sz="1300" dirty="0"/>
          </a:p>
          <a:p>
            <a:pPr indent="0" marL="0">
              <a:buNone/>
            </a:pPr>
            <a:r>
              <a:rPr lang="en-US" sz="1300" dirty="0">
                <a:solidFill>
                  <a:srgbClr val="1B2A41"/>
                </a:solidFill>
              </a:rPr>
              <a:t>MF: 1</a:t>
            </a:r>
            <a:endParaRPr lang="en-US" sz="1300" dirty="0"/>
          </a:p>
          <a:p>
            <a:pPr indent="0" marL="0">
              <a:buNone/>
            </a:pPr>
            <a:r>
              <a:rPr lang="en-US" sz="1300" dirty="0">
                <a:solidFill>
                  <a:srgbClr val="1B2A41"/>
                </a:solidFill>
              </a:rPr>
              <a:t>Total Length: 1500</a:t>
            </a:r>
            <a:endParaRPr lang="en-US" sz="1300" dirty="0"/>
          </a:p>
        </p:txBody>
      </p:sp>
      <p:sp>
        <p:nvSpPr>
          <p:cNvPr id="15" name="field-"/>
          <p:cNvSpPr/>
          <p:nvPr/>
        </p:nvSpPr>
        <p:spPr>
          <a:xfrm>
            <a:off x="3438144" y="2331720"/>
            <a:ext cx="182880" cy="502920"/>
          </a:xfrm>
          <a:prstGeom prst="rect">
            <a:avLst/>
          </a:prstGeom>
          <a:solidFill>
            <a:srgbClr val="0B2545"/>
          </a:solidFill>
          <a:ln w="19050">
            <a:solidFill>
              <a:srgbClr val="FFFFFF"/>
            </a:solidFill>
            <a:prstDash val="solid"/>
          </a:ln>
        </p:spPr>
      </p:sp>
      <p:sp>
        <p:nvSpPr>
          <p:cNvPr id="16" name="Text 13"/>
          <p:cNvSpPr txBox="1"/>
          <p:nvPr/>
        </p:nvSpPr>
        <p:spPr>
          <a:xfrm>
            <a:off x="3438144" y="2331720"/>
            <a:ext cx="182880" cy="502920"/>
          </a:xfrm>
          <a:prstGeom prst="rect">
            <a:avLst/>
          </a:prstGeom>
          <a:noFill/>
          <a:ln/>
        </p:spPr>
        <p:txBody>
          <a:bodyPr wrap="square" lIns="0" tIns="0" rIns="0" bIns="0" rtlCol="0" anchor="ctr"/>
          <a:lstStyle/>
          <a:p>
            <a:pPr algn="ctr" indent="0" marL="0">
              <a:buNone/>
            </a:pPr>
            <a:endParaRPr lang="en-US" sz="1000" dirty="0"/>
          </a:p>
        </p:txBody>
      </p:sp>
      <p:sp>
        <p:nvSpPr>
          <p:cNvPr id="17" name="field-1480 B"/>
          <p:cNvSpPr/>
          <p:nvPr/>
        </p:nvSpPr>
        <p:spPr>
          <a:xfrm>
            <a:off x="3621024" y="2331720"/>
            <a:ext cx="2706624" cy="502920"/>
          </a:xfrm>
          <a:prstGeom prst="rect">
            <a:avLst/>
          </a:prstGeom>
          <a:solidFill>
            <a:srgbClr val="3A6EA5"/>
          </a:solidFill>
          <a:ln w="19050">
            <a:solidFill>
              <a:srgbClr val="FFFFFF"/>
            </a:solidFill>
            <a:prstDash val="solid"/>
          </a:ln>
        </p:spPr>
      </p:sp>
      <p:sp>
        <p:nvSpPr>
          <p:cNvPr id="18" name="Text 15"/>
          <p:cNvSpPr txBox="1"/>
          <p:nvPr/>
        </p:nvSpPr>
        <p:spPr>
          <a:xfrm>
            <a:off x="3621024" y="2331720"/>
            <a:ext cx="2706624" cy="502920"/>
          </a:xfrm>
          <a:prstGeom prst="rect">
            <a:avLst/>
          </a:prstGeom>
          <a:noFill/>
          <a:ln/>
        </p:spPr>
        <p:txBody>
          <a:bodyPr wrap="square" lIns="0" tIns="0" rIns="0" bIns="0" rtlCol="0" anchor="ctr"/>
          <a:lstStyle/>
          <a:p>
            <a:pPr algn="ctr" indent="0" marL="0">
              <a:buNone/>
            </a:pPr>
            <a:r>
              <a:rPr lang="en-US" sz="1400" b="1" dirty="0">
                <a:solidFill>
                  <a:srgbClr val="FFFFFF"/>
                </a:solidFill>
              </a:rPr>
              <a:t>1480 B</a:t>
            </a:r>
            <a:endParaRPr lang="en-US" sz="1400" dirty="0"/>
          </a:p>
        </p:txBody>
      </p:sp>
      <p:sp>
        <p:nvSpPr>
          <p:cNvPr id="19" name="frag-card-1"/>
          <p:cNvSpPr/>
          <p:nvPr/>
        </p:nvSpPr>
        <p:spPr>
          <a:xfrm>
            <a:off x="3438144" y="3017520"/>
            <a:ext cx="2889504" cy="1325880"/>
          </a:xfrm>
          <a:prstGeom prst="roundRect">
            <a:avLst>
              <a:gd name="adj" fmla="val 689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0" name="Text 17"/>
          <p:cNvSpPr txBox="1"/>
          <p:nvPr/>
        </p:nvSpPr>
        <p:spPr>
          <a:xfrm>
            <a:off x="3547872" y="3063240"/>
            <a:ext cx="2615184" cy="274320"/>
          </a:xfrm>
          <a:prstGeom prst="rect">
            <a:avLst/>
          </a:prstGeom>
          <a:noFill/>
          <a:ln/>
        </p:spPr>
        <p:txBody>
          <a:bodyPr wrap="square" lIns="0" tIns="0" rIns="0" bIns="0" rtlCol="0" anchor="t"/>
          <a:lstStyle/>
          <a:p>
            <a:pPr indent="0" marL="0">
              <a:buNone/>
            </a:pPr>
            <a:r>
              <a:rPr lang="en-US" sz="1400" b="1" dirty="0">
                <a:solidFill>
                  <a:srgbClr val="0B2545"/>
                </a:solidFill>
              </a:rPr>
              <a:t>Fragment 2</a:t>
            </a:r>
            <a:endParaRPr lang="en-US" sz="1400" dirty="0"/>
          </a:p>
        </p:txBody>
      </p:sp>
      <p:sp>
        <p:nvSpPr>
          <p:cNvPr id="21" name="Text 18"/>
          <p:cNvSpPr txBox="1"/>
          <p:nvPr/>
        </p:nvSpPr>
        <p:spPr>
          <a:xfrm>
            <a:off x="3547872" y="3383280"/>
            <a:ext cx="2615184" cy="914400"/>
          </a:xfrm>
          <a:prstGeom prst="rect">
            <a:avLst/>
          </a:prstGeom>
          <a:noFill/>
          <a:ln/>
        </p:spPr>
        <p:txBody>
          <a:bodyPr wrap="square" lIns="0" tIns="0" rIns="0" bIns="0" rtlCol="0" anchor="t"/>
          <a:lstStyle/>
          <a:p>
            <a:pPr indent="0" marL="0">
              <a:buNone/>
            </a:pPr>
            <a:r>
              <a:rPr lang="en-US" sz="1300" dirty="0">
                <a:solidFill>
                  <a:srgbClr val="1B2A41"/>
                </a:solidFill>
              </a:rPr>
              <a:t>Offset: 185</a:t>
            </a:r>
            <a:endParaRPr lang="en-US" sz="1300" dirty="0"/>
          </a:p>
          <a:p>
            <a:pPr indent="0" marL="0">
              <a:buNone/>
            </a:pPr>
            <a:r>
              <a:rPr lang="en-US" sz="1300" dirty="0">
                <a:solidFill>
                  <a:srgbClr val="1B2A41"/>
                </a:solidFill>
              </a:rPr>
              <a:t>MF: 1</a:t>
            </a:r>
            <a:endParaRPr lang="en-US" sz="1300" dirty="0"/>
          </a:p>
          <a:p>
            <a:pPr indent="0" marL="0">
              <a:buNone/>
            </a:pPr>
            <a:r>
              <a:rPr lang="en-US" sz="1300" dirty="0">
                <a:solidFill>
                  <a:srgbClr val="1B2A41"/>
                </a:solidFill>
              </a:rPr>
              <a:t>Total Length: 1500</a:t>
            </a:r>
            <a:endParaRPr lang="en-US" sz="1300" dirty="0"/>
          </a:p>
        </p:txBody>
      </p:sp>
      <p:sp>
        <p:nvSpPr>
          <p:cNvPr id="22" name="field-"/>
          <p:cNvSpPr/>
          <p:nvPr/>
        </p:nvSpPr>
        <p:spPr>
          <a:xfrm>
            <a:off x="6419088" y="2331720"/>
            <a:ext cx="182880" cy="502920"/>
          </a:xfrm>
          <a:prstGeom prst="rect">
            <a:avLst/>
          </a:prstGeom>
          <a:solidFill>
            <a:srgbClr val="0B2545"/>
          </a:solidFill>
          <a:ln w="19050">
            <a:solidFill>
              <a:srgbClr val="FFFFFF"/>
            </a:solidFill>
            <a:prstDash val="solid"/>
          </a:ln>
        </p:spPr>
      </p:sp>
      <p:sp>
        <p:nvSpPr>
          <p:cNvPr id="23" name="Text 20"/>
          <p:cNvSpPr txBox="1"/>
          <p:nvPr/>
        </p:nvSpPr>
        <p:spPr>
          <a:xfrm>
            <a:off x="6419088" y="2331720"/>
            <a:ext cx="182880" cy="502920"/>
          </a:xfrm>
          <a:prstGeom prst="rect">
            <a:avLst/>
          </a:prstGeom>
          <a:noFill/>
          <a:ln/>
        </p:spPr>
        <p:txBody>
          <a:bodyPr wrap="square" lIns="0" tIns="0" rIns="0" bIns="0" rtlCol="0" anchor="ctr"/>
          <a:lstStyle/>
          <a:p>
            <a:pPr algn="ctr" indent="0" marL="0">
              <a:buNone/>
            </a:pPr>
            <a:endParaRPr lang="en-US" sz="1000" dirty="0"/>
          </a:p>
        </p:txBody>
      </p:sp>
      <p:sp>
        <p:nvSpPr>
          <p:cNvPr id="24" name="field-1040 B"/>
          <p:cNvSpPr/>
          <p:nvPr/>
        </p:nvSpPr>
        <p:spPr>
          <a:xfrm>
            <a:off x="6601968" y="2331720"/>
            <a:ext cx="1901952" cy="502920"/>
          </a:xfrm>
          <a:prstGeom prst="rect">
            <a:avLst/>
          </a:prstGeom>
          <a:solidFill>
            <a:srgbClr val="0E7C7B"/>
          </a:solidFill>
          <a:ln w="19050">
            <a:solidFill>
              <a:srgbClr val="FFFFFF"/>
            </a:solidFill>
            <a:prstDash val="solid"/>
          </a:ln>
        </p:spPr>
      </p:sp>
      <p:sp>
        <p:nvSpPr>
          <p:cNvPr id="25" name="Text 22"/>
          <p:cNvSpPr txBox="1"/>
          <p:nvPr/>
        </p:nvSpPr>
        <p:spPr>
          <a:xfrm>
            <a:off x="6601968" y="2331720"/>
            <a:ext cx="1901952" cy="502920"/>
          </a:xfrm>
          <a:prstGeom prst="rect">
            <a:avLst/>
          </a:prstGeom>
          <a:noFill/>
          <a:ln/>
        </p:spPr>
        <p:txBody>
          <a:bodyPr wrap="square" lIns="0" tIns="0" rIns="0" bIns="0" rtlCol="0" anchor="ctr"/>
          <a:lstStyle/>
          <a:p>
            <a:pPr algn="ctr" indent="0" marL="0">
              <a:buNone/>
            </a:pPr>
            <a:r>
              <a:rPr lang="en-US" sz="1400" b="1" dirty="0">
                <a:solidFill>
                  <a:srgbClr val="FFFFFF"/>
                </a:solidFill>
              </a:rPr>
              <a:t>1040 B</a:t>
            </a:r>
            <a:endParaRPr lang="en-US" sz="1400" dirty="0"/>
          </a:p>
        </p:txBody>
      </p:sp>
      <p:sp>
        <p:nvSpPr>
          <p:cNvPr id="26" name="frag-card-2"/>
          <p:cNvSpPr/>
          <p:nvPr/>
        </p:nvSpPr>
        <p:spPr>
          <a:xfrm>
            <a:off x="6419088" y="3017520"/>
            <a:ext cx="2084832" cy="1325880"/>
          </a:xfrm>
          <a:prstGeom prst="roundRect">
            <a:avLst>
              <a:gd name="adj" fmla="val 689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7" name="Text 24"/>
          <p:cNvSpPr txBox="1"/>
          <p:nvPr/>
        </p:nvSpPr>
        <p:spPr>
          <a:xfrm>
            <a:off x="6528816" y="3063240"/>
            <a:ext cx="1810512" cy="274320"/>
          </a:xfrm>
          <a:prstGeom prst="rect">
            <a:avLst/>
          </a:prstGeom>
          <a:noFill/>
          <a:ln/>
        </p:spPr>
        <p:txBody>
          <a:bodyPr wrap="square" lIns="0" tIns="0" rIns="0" bIns="0" rtlCol="0" anchor="t"/>
          <a:lstStyle/>
          <a:p>
            <a:pPr indent="0" marL="0">
              <a:buNone/>
            </a:pPr>
            <a:r>
              <a:rPr lang="en-US" sz="1400" b="1" dirty="0">
                <a:solidFill>
                  <a:srgbClr val="0B2545"/>
                </a:solidFill>
              </a:rPr>
              <a:t>Fragment 3</a:t>
            </a:r>
            <a:endParaRPr lang="en-US" sz="1400" dirty="0"/>
          </a:p>
        </p:txBody>
      </p:sp>
      <p:sp>
        <p:nvSpPr>
          <p:cNvPr id="28" name="Text 25"/>
          <p:cNvSpPr txBox="1"/>
          <p:nvPr/>
        </p:nvSpPr>
        <p:spPr>
          <a:xfrm>
            <a:off x="6528816" y="3383280"/>
            <a:ext cx="1810512" cy="914400"/>
          </a:xfrm>
          <a:prstGeom prst="rect">
            <a:avLst/>
          </a:prstGeom>
          <a:noFill/>
          <a:ln/>
        </p:spPr>
        <p:txBody>
          <a:bodyPr wrap="square" lIns="0" tIns="0" rIns="0" bIns="0" rtlCol="0" anchor="t"/>
          <a:lstStyle/>
          <a:p>
            <a:pPr indent="0" marL="0">
              <a:buNone/>
            </a:pPr>
            <a:r>
              <a:rPr lang="en-US" sz="1300" dirty="0">
                <a:solidFill>
                  <a:srgbClr val="1B2A41"/>
                </a:solidFill>
              </a:rPr>
              <a:t>Offset: 370</a:t>
            </a:r>
            <a:endParaRPr lang="en-US" sz="1300" dirty="0"/>
          </a:p>
          <a:p>
            <a:pPr indent="0" marL="0">
              <a:buNone/>
            </a:pPr>
            <a:r>
              <a:rPr lang="en-US" sz="1300" dirty="0">
                <a:solidFill>
                  <a:srgbClr val="1B2A41"/>
                </a:solidFill>
              </a:rPr>
              <a:t>MF: 0</a:t>
            </a:r>
            <a:endParaRPr lang="en-US" sz="1300" dirty="0"/>
          </a:p>
          <a:p>
            <a:pPr indent="0" marL="0">
              <a:buNone/>
            </a:pPr>
            <a:r>
              <a:rPr lang="en-US" sz="1300" dirty="0">
                <a:solidFill>
                  <a:srgbClr val="1B2A41"/>
                </a:solidFill>
              </a:rPr>
              <a:t>Total Length: 1060</a:t>
            </a:r>
            <a:endParaRPr lang="en-US" sz="1300" dirty="0"/>
          </a:p>
        </p:txBody>
      </p:sp>
      <p:sp>
        <p:nvSpPr>
          <p:cNvPr id="29" name="Text 26"/>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1200" dirty="0">
                <a:solidFill>
                  <a:srgbClr val="5C6B80"/>
                </a:solidFill>
              </a:rPr>
              <a:t>Max danych: 1500 − 20 = 1480 B (wielokrotność 8). Fragmentów: ⌈4000 / 1480⌉ = 3. Suma: 1480 + 1480 + 1040 = 4000 B.</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Składanie fragmentów i Path MTU</a:t>
            </a:r>
            <a:endParaRPr lang="en-US" sz="3000" dirty="0"/>
          </a:p>
        </p:txBody>
      </p:sp>
      <p:sp>
        <p:nvSpPr>
          <p:cNvPr id="4" name="reasm-card"/>
          <p:cNvSpPr/>
          <p:nvPr/>
        </p:nvSpPr>
        <p:spPr>
          <a:xfrm>
            <a:off x="457200" y="1143000"/>
            <a:ext cx="4023360" cy="3383280"/>
          </a:xfrm>
          <a:prstGeom prst="roundRect">
            <a:avLst>
              <a:gd name="adj" fmla="val 2703"/>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40080" y="1280160"/>
            <a:ext cx="3657600" cy="365760"/>
          </a:xfrm>
          <a:prstGeom prst="rect">
            <a:avLst/>
          </a:prstGeom>
          <a:noFill/>
          <a:ln/>
        </p:spPr>
        <p:txBody>
          <a:bodyPr wrap="square" lIns="0" tIns="0" rIns="0" bIns="0" rtlCol="0" anchor="t"/>
          <a:lstStyle/>
          <a:p>
            <a:pPr indent="0" marL="0">
              <a:buNone/>
            </a:pPr>
            <a:r>
              <a:rPr lang="en-US" sz="1800" b="1" dirty="0">
                <a:solidFill>
                  <a:srgbClr val="0E7C7B"/>
                </a:solidFill>
              </a:rPr>
              <a:t>Reassembly</a:t>
            </a:r>
            <a:endParaRPr lang="en-US" sz="1800" dirty="0"/>
          </a:p>
        </p:txBody>
      </p:sp>
      <p:sp>
        <p:nvSpPr>
          <p:cNvPr id="6" name="Text 3"/>
          <p:cNvSpPr txBox="1"/>
          <p:nvPr/>
        </p:nvSpPr>
        <p:spPr>
          <a:xfrm>
            <a:off x="640080" y="173736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A41"/>
                </a:solidFill>
              </a:rPr>
              <a:t>Składa tylko host docelowy, nie routery</a:t>
            </a:r>
            <a:endParaRPr lang="en-US" sz="1400" dirty="0"/>
          </a:p>
          <a:p>
            <a:pPr marL="342900" indent="-342900">
              <a:spcAft>
                <a:spcPts val="800"/>
              </a:spcAft>
              <a:buSzPct val="100000"/>
              <a:buChar char="•"/>
            </a:pPr>
            <a:r>
              <a:rPr lang="en-US" sz="1400" dirty="0">
                <a:solidFill>
                  <a:srgbClr val="1B2A41"/>
                </a:solidFill>
              </a:rPr>
              <a:t>Klucz: źródło, cel, Identification</a:t>
            </a:r>
            <a:endParaRPr lang="en-US" sz="1400" dirty="0"/>
          </a:p>
          <a:p>
            <a:pPr marL="342900" indent="-342900">
              <a:spcAft>
                <a:spcPts val="800"/>
              </a:spcAft>
              <a:buSzPct val="100000"/>
              <a:buChar char="•"/>
            </a:pPr>
            <a:r>
              <a:rPr lang="en-US" sz="1400" dirty="0">
                <a:solidFill>
                  <a:srgbClr val="1B2A41"/>
                </a:solidFill>
              </a:rPr>
              <a:t>Gotowe: MF = 0 i brak dziur</a:t>
            </a:r>
            <a:endParaRPr lang="en-US" sz="1400" dirty="0"/>
          </a:p>
          <a:p>
            <a:pPr marL="342900" indent="-342900">
              <a:spcAft>
                <a:spcPts val="800"/>
              </a:spcAft>
              <a:buSzPct val="100000"/>
              <a:buChar char="•"/>
            </a:pPr>
            <a:r>
              <a:rPr lang="en-US" sz="1400" dirty="0">
                <a:solidFill>
                  <a:srgbClr val="1B2A41"/>
                </a:solidFill>
              </a:rPr>
              <a:t>Brak fragmentu przez ok. 30–60 s: cały datagram odrzucony</a:t>
            </a:r>
            <a:endParaRPr lang="en-US" sz="1400" dirty="0"/>
          </a:p>
        </p:txBody>
      </p:sp>
      <p:sp>
        <p:nvSpPr>
          <p:cNvPr id="7" name="pmtud-card"/>
          <p:cNvSpPr/>
          <p:nvPr/>
        </p:nvSpPr>
        <p:spPr>
          <a:xfrm>
            <a:off x="4663440" y="1143000"/>
            <a:ext cx="4023360" cy="3383280"/>
          </a:xfrm>
          <a:prstGeom prst="roundRect">
            <a:avLst>
              <a:gd name="adj" fmla="val 2703"/>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4846320" y="1280160"/>
            <a:ext cx="3657600" cy="365760"/>
          </a:xfrm>
          <a:prstGeom prst="rect">
            <a:avLst/>
          </a:prstGeom>
          <a:noFill/>
          <a:ln/>
        </p:spPr>
        <p:txBody>
          <a:bodyPr wrap="square" lIns="0" tIns="0" rIns="0" bIns="0" rtlCol="0" anchor="t"/>
          <a:lstStyle/>
          <a:p>
            <a:pPr indent="0" marL="0">
              <a:buNone/>
            </a:pPr>
            <a:r>
              <a:rPr lang="en-US" sz="1800" b="1" dirty="0">
                <a:solidFill>
                  <a:srgbClr val="F2A541"/>
                </a:solidFill>
              </a:rPr>
              <a:t>Path MTU Discovery (RFC 1191)</a:t>
            </a:r>
            <a:endParaRPr lang="en-US" sz="1800" dirty="0"/>
          </a:p>
        </p:txBody>
      </p:sp>
      <p:sp>
        <p:nvSpPr>
          <p:cNvPr id="9" name="Shape 6"/>
          <p:cNvSpPr/>
          <p:nvPr/>
        </p:nvSpPr>
        <p:spPr>
          <a:xfrm>
            <a:off x="4846320" y="1828800"/>
            <a:ext cx="457200" cy="457200"/>
          </a:xfrm>
          <a:prstGeom prst="ellipse">
            <a:avLst/>
          </a:prstGeom>
          <a:solidFill>
            <a:srgbClr val="F2A541"/>
          </a:solidFill>
          <a:ln w="6350">
            <a:solidFill>
              <a:srgbClr val="F2A541"/>
            </a:solidFill>
            <a:prstDash val="solid"/>
          </a:ln>
        </p:spPr>
      </p:sp>
      <p:sp>
        <p:nvSpPr>
          <p:cNvPr id="10" name="Text 7"/>
          <p:cNvSpPr txBox="1"/>
          <p:nvPr/>
        </p:nvSpPr>
        <p:spPr>
          <a:xfrm>
            <a:off x="4846320" y="1828800"/>
            <a:ext cx="457200" cy="457200"/>
          </a:xfrm>
          <a:prstGeom prst="rect">
            <a:avLst/>
          </a:prstGeom>
          <a:noFill/>
          <a:ln/>
        </p:spPr>
        <p:txBody>
          <a:bodyPr wrap="square" lIns="0" tIns="0" rIns="0" bIns="0" rtlCol="0" anchor="ctr"/>
          <a:lstStyle/>
          <a:p>
            <a:pPr algn="ctr" indent="0" marL="0">
              <a:buNone/>
            </a:pPr>
            <a:r>
              <a:rPr lang="en-US" sz="1600" b="1" dirty="0">
                <a:solidFill>
                  <a:srgbClr val="0B2545"/>
                </a:solidFill>
              </a:rPr>
              <a:t>1</a:t>
            </a:r>
            <a:endParaRPr lang="en-US" sz="1600" dirty="0"/>
          </a:p>
        </p:txBody>
      </p:sp>
      <p:sp>
        <p:nvSpPr>
          <p:cNvPr id="11" name="Text 8"/>
          <p:cNvSpPr txBox="1"/>
          <p:nvPr/>
        </p:nvSpPr>
        <p:spPr>
          <a:xfrm>
            <a:off x="5440680" y="1783080"/>
            <a:ext cx="3108960" cy="640080"/>
          </a:xfrm>
          <a:prstGeom prst="rect">
            <a:avLst/>
          </a:prstGeom>
          <a:noFill/>
          <a:ln/>
        </p:spPr>
        <p:txBody>
          <a:bodyPr wrap="square" lIns="0" tIns="0" rIns="0" bIns="0" rtlCol="0" anchor="ctr"/>
          <a:lstStyle/>
          <a:p>
            <a:pPr indent="0" marL="0">
              <a:buNone/>
            </a:pPr>
            <a:r>
              <a:rPr lang="en-US" sz="1400" dirty="0">
                <a:solidFill>
                  <a:srgbClr val="1B2A41"/>
                </a:solidFill>
              </a:rPr>
              <a:t>Nadawca ustawia DF</a:t>
            </a:r>
            <a:endParaRPr lang="en-US" sz="1400" dirty="0"/>
          </a:p>
        </p:txBody>
      </p:sp>
      <p:sp>
        <p:nvSpPr>
          <p:cNvPr id="12" name="Shape 9"/>
          <p:cNvSpPr/>
          <p:nvPr/>
        </p:nvSpPr>
        <p:spPr>
          <a:xfrm>
            <a:off x="4846320" y="2606040"/>
            <a:ext cx="457200" cy="457200"/>
          </a:xfrm>
          <a:prstGeom prst="ellipse">
            <a:avLst/>
          </a:prstGeom>
          <a:solidFill>
            <a:srgbClr val="F2A541"/>
          </a:solidFill>
          <a:ln w="6350">
            <a:solidFill>
              <a:srgbClr val="F2A541"/>
            </a:solidFill>
            <a:prstDash val="solid"/>
          </a:ln>
        </p:spPr>
      </p:sp>
      <p:sp>
        <p:nvSpPr>
          <p:cNvPr id="13" name="Text 10"/>
          <p:cNvSpPr txBox="1"/>
          <p:nvPr/>
        </p:nvSpPr>
        <p:spPr>
          <a:xfrm>
            <a:off x="4846320" y="2606040"/>
            <a:ext cx="457200" cy="457200"/>
          </a:xfrm>
          <a:prstGeom prst="rect">
            <a:avLst/>
          </a:prstGeom>
          <a:noFill/>
          <a:ln/>
        </p:spPr>
        <p:txBody>
          <a:bodyPr wrap="square" lIns="0" tIns="0" rIns="0" bIns="0" rtlCol="0" anchor="ctr"/>
          <a:lstStyle/>
          <a:p>
            <a:pPr algn="ctr" indent="0" marL="0">
              <a:buNone/>
            </a:pPr>
            <a:r>
              <a:rPr lang="en-US" sz="1600" b="1" dirty="0">
                <a:solidFill>
                  <a:srgbClr val="0B2545"/>
                </a:solidFill>
              </a:rPr>
              <a:t>2</a:t>
            </a:r>
            <a:endParaRPr lang="en-US" sz="1600" dirty="0"/>
          </a:p>
        </p:txBody>
      </p:sp>
      <p:sp>
        <p:nvSpPr>
          <p:cNvPr id="14" name="Text 11"/>
          <p:cNvSpPr txBox="1"/>
          <p:nvPr/>
        </p:nvSpPr>
        <p:spPr>
          <a:xfrm>
            <a:off x="5440680" y="2560320"/>
            <a:ext cx="3108960" cy="640080"/>
          </a:xfrm>
          <a:prstGeom prst="rect">
            <a:avLst/>
          </a:prstGeom>
          <a:noFill/>
          <a:ln/>
        </p:spPr>
        <p:txBody>
          <a:bodyPr wrap="square" lIns="0" tIns="0" rIns="0" bIns="0" rtlCol="0" anchor="ctr"/>
          <a:lstStyle/>
          <a:p>
            <a:pPr indent="0" marL="0">
              <a:buNone/>
            </a:pPr>
            <a:r>
              <a:rPr lang="en-US" sz="1400" dirty="0">
                <a:solidFill>
                  <a:srgbClr val="1B2A41"/>
                </a:solidFill>
              </a:rPr>
              <a:t>Router z mniejszym MTU odrzuca i wysyła ICMP typ 3, kod 4</a:t>
            </a:r>
            <a:endParaRPr lang="en-US" sz="1400" dirty="0"/>
          </a:p>
        </p:txBody>
      </p:sp>
      <p:sp>
        <p:nvSpPr>
          <p:cNvPr id="15" name="Shape 12"/>
          <p:cNvSpPr/>
          <p:nvPr/>
        </p:nvSpPr>
        <p:spPr>
          <a:xfrm>
            <a:off x="4846320" y="3383280"/>
            <a:ext cx="457200" cy="457200"/>
          </a:xfrm>
          <a:prstGeom prst="ellipse">
            <a:avLst/>
          </a:prstGeom>
          <a:solidFill>
            <a:srgbClr val="F2A541"/>
          </a:solidFill>
          <a:ln w="6350">
            <a:solidFill>
              <a:srgbClr val="F2A541"/>
            </a:solidFill>
            <a:prstDash val="solid"/>
          </a:ln>
        </p:spPr>
      </p:sp>
      <p:sp>
        <p:nvSpPr>
          <p:cNvPr id="16" name="Text 13"/>
          <p:cNvSpPr txBox="1"/>
          <p:nvPr/>
        </p:nvSpPr>
        <p:spPr>
          <a:xfrm>
            <a:off x="4846320" y="3383280"/>
            <a:ext cx="457200" cy="457200"/>
          </a:xfrm>
          <a:prstGeom prst="rect">
            <a:avLst/>
          </a:prstGeom>
          <a:noFill/>
          <a:ln/>
        </p:spPr>
        <p:txBody>
          <a:bodyPr wrap="square" lIns="0" tIns="0" rIns="0" bIns="0" rtlCol="0" anchor="ctr"/>
          <a:lstStyle/>
          <a:p>
            <a:pPr algn="ctr" indent="0" marL="0">
              <a:buNone/>
            </a:pPr>
            <a:r>
              <a:rPr lang="en-US" sz="1600" b="1" dirty="0">
                <a:solidFill>
                  <a:srgbClr val="0B2545"/>
                </a:solidFill>
              </a:rPr>
              <a:t>3</a:t>
            </a:r>
            <a:endParaRPr lang="en-US" sz="1600" dirty="0"/>
          </a:p>
        </p:txBody>
      </p:sp>
      <p:sp>
        <p:nvSpPr>
          <p:cNvPr id="17" name="Text 14"/>
          <p:cNvSpPr txBox="1"/>
          <p:nvPr/>
        </p:nvSpPr>
        <p:spPr>
          <a:xfrm>
            <a:off x="5440680" y="3337560"/>
            <a:ext cx="3108960" cy="640080"/>
          </a:xfrm>
          <a:prstGeom prst="rect">
            <a:avLst/>
          </a:prstGeom>
          <a:noFill/>
          <a:ln/>
        </p:spPr>
        <p:txBody>
          <a:bodyPr wrap="square" lIns="0" tIns="0" rIns="0" bIns="0" rtlCol="0" anchor="ctr"/>
          <a:lstStyle/>
          <a:p>
            <a:pPr indent="0" marL="0">
              <a:buNone/>
            </a:pPr>
            <a:r>
              <a:rPr lang="en-US" sz="1400" dirty="0">
                <a:solidFill>
                  <a:srgbClr val="1B2A41"/>
                </a:solidFill>
              </a:rPr>
              <a:t>Nadawca zmniejsza rozmiar i ponawia</a:t>
            </a:r>
            <a:endParaRPr lang="en-US" sz="1400" dirty="0"/>
          </a:p>
        </p:txBody>
      </p:sp>
      <p:sp>
        <p:nvSpPr>
          <p:cNvPr id="18" name="bh"/>
          <p:cNvSpPr/>
          <p:nvPr/>
        </p:nvSpPr>
        <p:spPr>
          <a:xfrm>
            <a:off x="4846320" y="4114800"/>
            <a:ext cx="3657600" cy="320040"/>
          </a:xfrm>
          <a:prstGeom prst="roundRect">
            <a:avLst>
              <a:gd name="adj" fmla="val 17143"/>
            </a:avLst>
          </a:prstGeom>
          <a:solidFill>
            <a:srgbClr val="FADBD5"/>
          </a:solidFill>
          <a:ln w="9525">
            <a:solidFill>
              <a:srgbClr val="C8442F"/>
            </a:solidFill>
            <a:prstDash val="solid"/>
          </a:ln>
        </p:spPr>
      </p:sp>
      <p:sp>
        <p:nvSpPr>
          <p:cNvPr id="19" name="Text 16"/>
          <p:cNvSpPr txBox="1"/>
          <p:nvPr/>
        </p:nvSpPr>
        <p:spPr>
          <a:xfrm>
            <a:off x="4846320" y="4114800"/>
            <a:ext cx="3657600" cy="320040"/>
          </a:xfrm>
          <a:prstGeom prst="rect">
            <a:avLst/>
          </a:prstGeom>
          <a:noFill/>
          <a:ln/>
        </p:spPr>
        <p:txBody>
          <a:bodyPr wrap="square" lIns="0" tIns="0" rIns="0" bIns="0" rtlCol="0" anchor="ctr"/>
          <a:lstStyle/>
          <a:p>
            <a:pPr algn="ctr" indent="0" marL="0">
              <a:buNone/>
            </a:pPr>
            <a:r>
              <a:rPr lang="en-US" sz="1200" b="1" dirty="0">
                <a:solidFill>
                  <a:srgbClr val="C8442F"/>
                </a:solidFill>
              </a:rPr>
              <a:t>Zablokowany ICMP = PMTUD black hole</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TTL i traceroute</a:t>
            </a:r>
            <a:endParaRPr lang="en-US" sz="3000" dirty="0"/>
          </a:p>
        </p:txBody>
      </p:sp>
      <p:sp>
        <p:nvSpPr>
          <p:cNvPr id="4" name="node-PC"/>
          <p:cNvSpPr/>
          <p:nvPr/>
        </p:nvSpPr>
        <p:spPr>
          <a:xfrm>
            <a:off x="457200" y="1417320"/>
            <a:ext cx="1005840" cy="594360"/>
          </a:xfrm>
          <a:prstGeom prst="roundRect">
            <a:avLst>
              <a:gd name="adj" fmla="val 12308"/>
            </a:avLst>
          </a:prstGeom>
          <a:solidFill>
            <a:srgbClr val="0B2545"/>
          </a:solidFill>
          <a:ln w="12700">
            <a:solidFill>
              <a:srgbClr val="0B2545"/>
            </a:solidFill>
            <a:prstDash val="solid"/>
          </a:ln>
        </p:spPr>
      </p:sp>
      <p:sp>
        <p:nvSpPr>
          <p:cNvPr id="5" name="Text 2"/>
          <p:cNvSpPr txBox="1"/>
          <p:nvPr/>
        </p:nvSpPr>
        <p:spPr>
          <a:xfrm>
            <a:off x="457200" y="1417320"/>
            <a:ext cx="1005840" cy="594360"/>
          </a:xfrm>
          <a:prstGeom prst="rect">
            <a:avLst/>
          </a:prstGeom>
          <a:noFill/>
          <a:ln/>
        </p:spPr>
        <p:txBody>
          <a:bodyPr wrap="square" lIns="0" tIns="0" rIns="0" bIns="0" rtlCol="0" anchor="ctr"/>
          <a:lstStyle/>
          <a:p>
            <a:pPr algn="ctr" indent="0" marL="0">
              <a:buNone/>
            </a:pPr>
            <a:r>
              <a:rPr lang="en-US" sz="1600" b="1" dirty="0">
                <a:solidFill>
                  <a:srgbClr val="FFFFFF"/>
                </a:solidFill>
              </a:rPr>
              <a:t>PC</a:t>
            </a:r>
            <a:endParaRPr lang="en-US" sz="1600" dirty="0"/>
          </a:p>
        </p:txBody>
      </p:sp>
      <p:sp>
        <p:nvSpPr>
          <p:cNvPr id="6" name="node-R1"/>
          <p:cNvSpPr/>
          <p:nvPr/>
        </p:nvSpPr>
        <p:spPr>
          <a:xfrm>
            <a:off x="2148840" y="1417320"/>
            <a:ext cx="1005840" cy="594360"/>
          </a:xfrm>
          <a:prstGeom prst="roundRect">
            <a:avLst>
              <a:gd name="adj" fmla="val 12308"/>
            </a:avLst>
          </a:prstGeom>
          <a:solidFill>
            <a:srgbClr val="3A6EA5"/>
          </a:solidFill>
          <a:ln w="12700">
            <a:solidFill>
              <a:srgbClr val="3A6EA5"/>
            </a:solidFill>
            <a:prstDash val="solid"/>
          </a:ln>
        </p:spPr>
      </p:sp>
      <p:sp>
        <p:nvSpPr>
          <p:cNvPr id="7" name="Text 4"/>
          <p:cNvSpPr txBox="1"/>
          <p:nvPr/>
        </p:nvSpPr>
        <p:spPr>
          <a:xfrm>
            <a:off x="2148840" y="1417320"/>
            <a:ext cx="1005840" cy="594360"/>
          </a:xfrm>
          <a:prstGeom prst="rect">
            <a:avLst/>
          </a:prstGeom>
          <a:noFill/>
          <a:ln/>
        </p:spPr>
        <p:txBody>
          <a:bodyPr wrap="square" lIns="0" tIns="0" rIns="0" bIns="0" rtlCol="0" anchor="ctr"/>
          <a:lstStyle/>
          <a:p>
            <a:pPr algn="ctr" indent="0" marL="0">
              <a:buNone/>
            </a:pPr>
            <a:r>
              <a:rPr lang="en-US" sz="1600" b="1" dirty="0">
                <a:solidFill>
                  <a:srgbClr val="FFFFFF"/>
                </a:solidFill>
              </a:rPr>
              <a:t>R1</a:t>
            </a:r>
            <a:endParaRPr lang="en-US" sz="1600" dirty="0"/>
          </a:p>
        </p:txBody>
      </p:sp>
      <p:sp>
        <p:nvSpPr>
          <p:cNvPr id="8" name="node-R2"/>
          <p:cNvSpPr/>
          <p:nvPr/>
        </p:nvSpPr>
        <p:spPr>
          <a:xfrm>
            <a:off x="3840480" y="1417320"/>
            <a:ext cx="1005840" cy="594360"/>
          </a:xfrm>
          <a:prstGeom prst="roundRect">
            <a:avLst>
              <a:gd name="adj" fmla="val 12308"/>
            </a:avLst>
          </a:prstGeom>
          <a:solidFill>
            <a:srgbClr val="3A6EA5"/>
          </a:solidFill>
          <a:ln w="12700">
            <a:solidFill>
              <a:srgbClr val="3A6EA5"/>
            </a:solidFill>
            <a:prstDash val="solid"/>
          </a:ln>
        </p:spPr>
      </p:sp>
      <p:sp>
        <p:nvSpPr>
          <p:cNvPr id="9" name="Text 6"/>
          <p:cNvSpPr txBox="1"/>
          <p:nvPr/>
        </p:nvSpPr>
        <p:spPr>
          <a:xfrm>
            <a:off x="3840480" y="1417320"/>
            <a:ext cx="1005840" cy="594360"/>
          </a:xfrm>
          <a:prstGeom prst="rect">
            <a:avLst/>
          </a:prstGeom>
          <a:noFill/>
          <a:ln/>
        </p:spPr>
        <p:txBody>
          <a:bodyPr wrap="square" lIns="0" tIns="0" rIns="0" bIns="0" rtlCol="0" anchor="ctr"/>
          <a:lstStyle/>
          <a:p>
            <a:pPr algn="ctr" indent="0" marL="0">
              <a:buNone/>
            </a:pPr>
            <a:r>
              <a:rPr lang="en-US" sz="1600" b="1" dirty="0">
                <a:solidFill>
                  <a:srgbClr val="FFFFFF"/>
                </a:solidFill>
              </a:rPr>
              <a:t>R2</a:t>
            </a:r>
            <a:endParaRPr lang="en-US" sz="1600" dirty="0"/>
          </a:p>
        </p:txBody>
      </p:sp>
      <p:sp>
        <p:nvSpPr>
          <p:cNvPr id="10" name="node-R3"/>
          <p:cNvSpPr/>
          <p:nvPr/>
        </p:nvSpPr>
        <p:spPr>
          <a:xfrm>
            <a:off x="5532120" y="1417320"/>
            <a:ext cx="1005840" cy="594360"/>
          </a:xfrm>
          <a:prstGeom prst="roundRect">
            <a:avLst>
              <a:gd name="adj" fmla="val 12308"/>
            </a:avLst>
          </a:prstGeom>
          <a:solidFill>
            <a:srgbClr val="C8442F"/>
          </a:solidFill>
          <a:ln w="12700">
            <a:solidFill>
              <a:srgbClr val="C8442F"/>
            </a:solidFill>
            <a:prstDash val="solid"/>
          </a:ln>
        </p:spPr>
      </p:sp>
      <p:sp>
        <p:nvSpPr>
          <p:cNvPr id="11" name="Text 8"/>
          <p:cNvSpPr txBox="1"/>
          <p:nvPr/>
        </p:nvSpPr>
        <p:spPr>
          <a:xfrm>
            <a:off x="5532120" y="1417320"/>
            <a:ext cx="1005840" cy="594360"/>
          </a:xfrm>
          <a:prstGeom prst="rect">
            <a:avLst/>
          </a:prstGeom>
          <a:noFill/>
          <a:ln/>
        </p:spPr>
        <p:txBody>
          <a:bodyPr wrap="square" lIns="0" tIns="0" rIns="0" bIns="0" rtlCol="0" anchor="ctr"/>
          <a:lstStyle/>
          <a:p>
            <a:pPr algn="ctr" indent="0" marL="0">
              <a:buNone/>
            </a:pPr>
            <a:r>
              <a:rPr lang="en-US" sz="1600" b="1" dirty="0">
                <a:solidFill>
                  <a:srgbClr val="FFFFFF"/>
                </a:solidFill>
              </a:rPr>
              <a:t>R3</a:t>
            </a:r>
            <a:endParaRPr lang="en-US" sz="1600" dirty="0"/>
          </a:p>
        </p:txBody>
      </p:sp>
      <p:sp>
        <p:nvSpPr>
          <p:cNvPr id="12" name="Shape 9"/>
          <p:cNvSpPr/>
          <p:nvPr/>
        </p:nvSpPr>
        <p:spPr>
          <a:xfrm>
            <a:off x="1463040" y="1714500"/>
            <a:ext cx="685800" cy="0"/>
          </a:xfrm>
          <a:prstGeom prst="line">
            <a:avLst/>
          </a:prstGeom>
          <a:noFill/>
          <a:ln w="31750">
            <a:solidFill>
              <a:srgbClr val="0E7C7B"/>
            </a:solidFill>
            <a:prstDash val="solid"/>
            <a:tailEnd type="triangle"/>
          </a:ln>
        </p:spPr>
      </p:sp>
      <p:sp>
        <p:nvSpPr>
          <p:cNvPr id="13" name="Text 10"/>
          <p:cNvSpPr txBox="1"/>
          <p:nvPr/>
        </p:nvSpPr>
        <p:spPr>
          <a:xfrm>
            <a:off x="1417320" y="1188720"/>
            <a:ext cx="777240" cy="274320"/>
          </a:xfrm>
          <a:prstGeom prst="rect">
            <a:avLst/>
          </a:prstGeom>
          <a:noFill/>
          <a:ln/>
        </p:spPr>
        <p:txBody>
          <a:bodyPr wrap="square" lIns="0" tIns="0" rIns="0" bIns="0" rtlCol="0" anchor="t"/>
          <a:lstStyle/>
          <a:p>
            <a:pPr algn="ctr" indent="0" marL="0">
              <a:buNone/>
            </a:pPr>
            <a:r>
              <a:rPr lang="en-US" sz="1200" b="1" dirty="0">
                <a:solidFill>
                  <a:srgbClr val="0E7C7B"/>
                </a:solidFill>
              </a:rPr>
              <a:t>TTL=3</a:t>
            </a:r>
            <a:endParaRPr lang="en-US" sz="1200" dirty="0"/>
          </a:p>
        </p:txBody>
      </p:sp>
      <p:sp>
        <p:nvSpPr>
          <p:cNvPr id="14" name="Shape 11"/>
          <p:cNvSpPr/>
          <p:nvPr/>
        </p:nvSpPr>
        <p:spPr>
          <a:xfrm>
            <a:off x="3154680" y="1714500"/>
            <a:ext cx="685800" cy="0"/>
          </a:xfrm>
          <a:prstGeom prst="line">
            <a:avLst/>
          </a:prstGeom>
          <a:noFill/>
          <a:ln w="31750">
            <a:solidFill>
              <a:srgbClr val="0E7C7B"/>
            </a:solidFill>
            <a:prstDash val="solid"/>
            <a:tailEnd type="triangle"/>
          </a:ln>
        </p:spPr>
      </p:sp>
      <p:sp>
        <p:nvSpPr>
          <p:cNvPr id="15" name="Text 12"/>
          <p:cNvSpPr txBox="1"/>
          <p:nvPr/>
        </p:nvSpPr>
        <p:spPr>
          <a:xfrm>
            <a:off x="3108960" y="1188720"/>
            <a:ext cx="777240" cy="274320"/>
          </a:xfrm>
          <a:prstGeom prst="rect">
            <a:avLst/>
          </a:prstGeom>
          <a:noFill/>
          <a:ln/>
        </p:spPr>
        <p:txBody>
          <a:bodyPr wrap="square" lIns="0" tIns="0" rIns="0" bIns="0" rtlCol="0" anchor="t"/>
          <a:lstStyle/>
          <a:p>
            <a:pPr algn="ctr" indent="0" marL="0">
              <a:buNone/>
            </a:pPr>
            <a:r>
              <a:rPr lang="en-US" sz="1200" b="1" dirty="0">
                <a:solidFill>
                  <a:srgbClr val="0E7C7B"/>
                </a:solidFill>
              </a:rPr>
              <a:t>TTL=2</a:t>
            </a:r>
            <a:endParaRPr lang="en-US" sz="1200" dirty="0"/>
          </a:p>
        </p:txBody>
      </p:sp>
      <p:sp>
        <p:nvSpPr>
          <p:cNvPr id="16" name="Shape 13"/>
          <p:cNvSpPr/>
          <p:nvPr/>
        </p:nvSpPr>
        <p:spPr>
          <a:xfrm>
            <a:off x="4846320" y="1714500"/>
            <a:ext cx="685800" cy="0"/>
          </a:xfrm>
          <a:prstGeom prst="line">
            <a:avLst/>
          </a:prstGeom>
          <a:noFill/>
          <a:ln w="31750">
            <a:solidFill>
              <a:srgbClr val="0E7C7B"/>
            </a:solidFill>
            <a:prstDash val="solid"/>
            <a:tailEnd type="triangle"/>
          </a:ln>
        </p:spPr>
      </p:sp>
      <p:sp>
        <p:nvSpPr>
          <p:cNvPr id="17" name="Text 14"/>
          <p:cNvSpPr txBox="1"/>
          <p:nvPr/>
        </p:nvSpPr>
        <p:spPr>
          <a:xfrm>
            <a:off x="4800600" y="1188720"/>
            <a:ext cx="777240" cy="274320"/>
          </a:xfrm>
          <a:prstGeom prst="rect">
            <a:avLst/>
          </a:prstGeom>
          <a:noFill/>
          <a:ln/>
        </p:spPr>
        <p:txBody>
          <a:bodyPr wrap="square" lIns="0" tIns="0" rIns="0" bIns="0" rtlCol="0" anchor="t"/>
          <a:lstStyle/>
          <a:p>
            <a:pPr algn="ctr" indent="0" marL="0">
              <a:buNone/>
            </a:pPr>
            <a:r>
              <a:rPr lang="en-US" sz="1200" b="1" dirty="0">
                <a:solidFill>
                  <a:srgbClr val="0E7C7B"/>
                </a:solidFill>
              </a:rPr>
              <a:t>TTL=1</a:t>
            </a:r>
            <a:endParaRPr lang="en-US" sz="1200" dirty="0"/>
          </a:p>
        </p:txBody>
      </p:sp>
      <p:sp>
        <p:nvSpPr>
          <p:cNvPr id="18" name="drop"/>
          <p:cNvSpPr/>
          <p:nvPr/>
        </p:nvSpPr>
        <p:spPr>
          <a:xfrm>
            <a:off x="6858000" y="1417320"/>
            <a:ext cx="1828800" cy="594360"/>
          </a:xfrm>
          <a:prstGeom prst="roundRect">
            <a:avLst>
              <a:gd name="adj" fmla="val 9231"/>
            </a:avLst>
          </a:prstGeom>
          <a:solidFill>
            <a:srgbClr val="FADBD5"/>
          </a:solidFill>
          <a:ln w="9525">
            <a:solidFill>
              <a:srgbClr val="C8442F"/>
            </a:solidFill>
            <a:prstDash val="solid"/>
          </a:ln>
        </p:spPr>
      </p:sp>
      <p:sp>
        <p:nvSpPr>
          <p:cNvPr id="19" name="Text 16"/>
          <p:cNvSpPr txBox="1"/>
          <p:nvPr/>
        </p:nvSpPr>
        <p:spPr>
          <a:xfrm>
            <a:off x="6858000" y="1417320"/>
            <a:ext cx="1828800" cy="594360"/>
          </a:xfrm>
          <a:prstGeom prst="rect">
            <a:avLst/>
          </a:prstGeom>
          <a:noFill/>
          <a:ln/>
        </p:spPr>
        <p:txBody>
          <a:bodyPr wrap="square" lIns="0" tIns="0" rIns="0" bIns="0" rtlCol="0" anchor="ctr"/>
          <a:lstStyle/>
          <a:p>
            <a:pPr algn="ctr" indent="0" marL="0">
              <a:buNone/>
            </a:pPr>
            <a:r>
              <a:rPr lang="en-US" sz="1300" b="1" dirty="0">
                <a:solidFill>
                  <a:srgbClr val="C8442F"/>
                </a:solidFill>
              </a:rPr>
              <a:t>TTL=0: odrzucony</a:t>
            </a:r>
            <a:endParaRPr lang="en-US" sz="1300" dirty="0"/>
          </a:p>
        </p:txBody>
      </p:sp>
      <p:sp>
        <p:nvSpPr>
          <p:cNvPr id="20" name="Shape 17"/>
          <p:cNvSpPr/>
          <p:nvPr/>
        </p:nvSpPr>
        <p:spPr>
          <a:xfrm>
            <a:off x="6035040" y="2011680"/>
            <a:ext cx="0" cy="411480"/>
          </a:xfrm>
          <a:prstGeom prst="line">
            <a:avLst/>
          </a:prstGeom>
          <a:noFill/>
          <a:ln w="25400">
            <a:solidFill>
              <a:srgbClr val="C8442F"/>
            </a:solidFill>
            <a:prstDash val="dash"/>
            <a:tailEnd type="triangle"/>
          </a:ln>
        </p:spPr>
      </p:sp>
      <p:sp>
        <p:nvSpPr>
          <p:cNvPr id="21" name="Text 18"/>
          <p:cNvSpPr txBox="1"/>
          <p:nvPr/>
        </p:nvSpPr>
        <p:spPr>
          <a:xfrm>
            <a:off x="2926080" y="2468880"/>
            <a:ext cx="3840480" cy="274320"/>
          </a:xfrm>
          <a:prstGeom prst="rect">
            <a:avLst/>
          </a:prstGeom>
          <a:noFill/>
          <a:ln/>
        </p:spPr>
        <p:txBody>
          <a:bodyPr wrap="square" lIns="0" tIns="0" rIns="0" bIns="0" rtlCol="0" anchor="t"/>
          <a:lstStyle/>
          <a:p>
            <a:pPr algn="r" indent="0" marL="0">
              <a:buNone/>
            </a:pPr>
            <a:r>
              <a:rPr lang="en-US" sz="1300" b="1" dirty="0">
                <a:solidFill>
                  <a:srgbClr val="C8442F"/>
                </a:solidFill>
              </a:rPr>
              <a:t>ICMP Time Exceeded (typ 11) wraca do nadawcy</a:t>
            </a:r>
            <a:endParaRPr lang="en-US" sz="1300" dirty="0"/>
          </a:p>
        </p:txBody>
      </p:sp>
      <p:sp>
        <p:nvSpPr>
          <p:cNvPr id="22" name="ttl-init"/>
          <p:cNvSpPr/>
          <p:nvPr/>
        </p:nvSpPr>
        <p:spPr>
          <a:xfrm>
            <a:off x="457200" y="2880360"/>
            <a:ext cx="4023360" cy="1645920"/>
          </a:xfrm>
          <a:prstGeom prst="roundRect">
            <a:avLst>
              <a:gd name="adj" fmla="val 5556"/>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3" name="Text 20"/>
          <p:cNvSpPr txBox="1"/>
          <p:nvPr/>
        </p:nvSpPr>
        <p:spPr>
          <a:xfrm>
            <a:off x="640080" y="2971800"/>
            <a:ext cx="3657600" cy="274320"/>
          </a:xfrm>
          <a:prstGeom prst="rect">
            <a:avLst/>
          </a:prstGeom>
          <a:noFill/>
          <a:ln/>
        </p:spPr>
        <p:txBody>
          <a:bodyPr wrap="square" lIns="0" tIns="0" rIns="0" bIns="0" rtlCol="0" anchor="t"/>
          <a:lstStyle/>
          <a:p>
            <a:pPr indent="0" marL="0">
              <a:buNone/>
            </a:pPr>
            <a:r>
              <a:rPr lang="en-US" sz="1600" b="1" dirty="0">
                <a:solidFill>
                  <a:srgbClr val="0B2545"/>
                </a:solidFill>
              </a:rPr>
              <a:t>Wartość początkowa</a:t>
            </a:r>
            <a:endParaRPr lang="en-US" sz="1600" dirty="0"/>
          </a:p>
        </p:txBody>
      </p:sp>
      <p:sp>
        <p:nvSpPr>
          <p:cNvPr id="24" name="Text 21"/>
          <p:cNvSpPr txBox="1"/>
          <p:nvPr/>
        </p:nvSpPr>
        <p:spPr>
          <a:xfrm>
            <a:off x="640080" y="3337560"/>
            <a:ext cx="731520" cy="320040"/>
          </a:xfrm>
          <a:prstGeom prst="rect">
            <a:avLst/>
          </a:prstGeom>
          <a:noFill/>
          <a:ln/>
        </p:spPr>
        <p:txBody>
          <a:bodyPr wrap="square" lIns="0" tIns="0" rIns="0" bIns="0" rtlCol="0" anchor="t"/>
          <a:lstStyle/>
          <a:p>
            <a:pPr indent="0" marL="0">
              <a:buNone/>
            </a:pPr>
            <a:r>
              <a:rPr lang="en-US" sz="1800" b="1" dirty="0">
                <a:solidFill>
                  <a:srgbClr val="0E7C7B"/>
                </a:solidFill>
              </a:rPr>
              <a:t>64</a:t>
            </a:r>
            <a:endParaRPr lang="en-US" sz="1800" dirty="0"/>
          </a:p>
        </p:txBody>
      </p:sp>
      <p:sp>
        <p:nvSpPr>
          <p:cNvPr id="25" name="Text 22"/>
          <p:cNvSpPr txBox="1"/>
          <p:nvPr/>
        </p:nvSpPr>
        <p:spPr>
          <a:xfrm>
            <a:off x="1371600" y="3337560"/>
            <a:ext cx="2926080" cy="320040"/>
          </a:xfrm>
          <a:prstGeom prst="rect">
            <a:avLst/>
          </a:prstGeom>
          <a:noFill/>
          <a:ln/>
        </p:spPr>
        <p:txBody>
          <a:bodyPr wrap="square" lIns="0" tIns="0" rIns="0" bIns="0" rtlCol="0" anchor="ctr"/>
          <a:lstStyle/>
          <a:p>
            <a:pPr indent="0" marL="0">
              <a:buNone/>
            </a:pPr>
            <a:r>
              <a:rPr lang="en-US" sz="1400" dirty="0">
                <a:solidFill>
                  <a:srgbClr val="1B2A41"/>
                </a:solidFill>
              </a:rPr>
              <a:t>Linux, macOS</a:t>
            </a:r>
            <a:endParaRPr lang="en-US" sz="1400" dirty="0"/>
          </a:p>
        </p:txBody>
      </p:sp>
      <p:sp>
        <p:nvSpPr>
          <p:cNvPr id="26" name="Text 23"/>
          <p:cNvSpPr txBox="1"/>
          <p:nvPr/>
        </p:nvSpPr>
        <p:spPr>
          <a:xfrm>
            <a:off x="640080" y="3703320"/>
            <a:ext cx="731520" cy="320040"/>
          </a:xfrm>
          <a:prstGeom prst="rect">
            <a:avLst/>
          </a:prstGeom>
          <a:noFill/>
          <a:ln/>
        </p:spPr>
        <p:txBody>
          <a:bodyPr wrap="square" lIns="0" tIns="0" rIns="0" bIns="0" rtlCol="0" anchor="t"/>
          <a:lstStyle/>
          <a:p>
            <a:pPr indent="0" marL="0">
              <a:buNone/>
            </a:pPr>
            <a:r>
              <a:rPr lang="en-US" sz="1800" b="1" dirty="0">
                <a:solidFill>
                  <a:srgbClr val="0E7C7B"/>
                </a:solidFill>
              </a:rPr>
              <a:t>128</a:t>
            </a:r>
            <a:endParaRPr lang="en-US" sz="1800" dirty="0"/>
          </a:p>
        </p:txBody>
      </p:sp>
      <p:sp>
        <p:nvSpPr>
          <p:cNvPr id="27" name="Text 24"/>
          <p:cNvSpPr txBox="1"/>
          <p:nvPr/>
        </p:nvSpPr>
        <p:spPr>
          <a:xfrm>
            <a:off x="1371600" y="3703320"/>
            <a:ext cx="2926080" cy="320040"/>
          </a:xfrm>
          <a:prstGeom prst="rect">
            <a:avLst/>
          </a:prstGeom>
          <a:noFill/>
          <a:ln/>
        </p:spPr>
        <p:txBody>
          <a:bodyPr wrap="square" lIns="0" tIns="0" rIns="0" bIns="0" rtlCol="0" anchor="ctr"/>
          <a:lstStyle/>
          <a:p>
            <a:pPr indent="0" marL="0">
              <a:buNone/>
            </a:pPr>
            <a:r>
              <a:rPr lang="en-US" sz="1400" dirty="0">
                <a:solidFill>
                  <a:srgbClr val="1B2A41"/>
                </a:solidFill>
              </a:rPr>
              <a:t>Windows</a:t>
            </a:r>
            <a:endParaRPr lang="en-US" sz="1400" dirty="0"/>
          </a:p>
        </p:txBody>
      </p:sp>
      <p:sp>
        <p:nvSpPr>
          <p:cNvPr id="28" name="Text 25"/>
          <p:cNvSpPr txBox="1"/>
          <p:nvPr/>
        </p:nvSpPr>
        <p:spPr>
          <a:xfrm>
            <a:off x="640080" y="4069080"/>
            <a:ext cx="731520" cy="320040"/>
          </a:xfrm>
          <a:prstGeom prst="rect">
            <a:avLst/>
          </a:prstGeom>
          <a:noFill/>
          <a:ln/>
        </p:spPr>
        <p:txBody>
          <a:bodyPr wrap="square" lIns="0" tIns="0" rIns="0" bIns="0" rtlCol="0" anchor="t"/>
          <a:lstStyle/>
          <a:p>
            <a:pPr indent="0" marL="0">
              <a:buNone/>
            </a:pPr>
            <a:r>
              <a:rPr lang="en-US" sz="1800" b="1" dirty="0">
                <a:solidFill>
                  <a:srgbClr val="0E7C7B"/>
                </a:solidFill>
              </a:rPr>
              <a:t>255</a:t>
            </a:r>
            <a:endParaRPr lang="en-US" sz="1800" dirty="0"/>
          </a:p>
        </p:txBody>
      </p:sp>
      <p:sp>
        <p:nvSpPr>
          <p:cNvPr id="29" name="Text 26"/>
          <p:cNvSpPr txBox="1"/>
          <p:nvPr/>
        </p:nvSpPr>
        <p:spPr>
          <a:xfrm>
            <a:off x="1371600" y="4069080"/>
            <a:ext cx="2926080" cy="320040"/>
          </a:xfrm>
          <a:prstGeom prst="rect">
            <a:avLst/>
          </a:prstGeom>
          <a:noFill/>
          <a:ln/>
        </p:spPr>
        <p:txBody>
          <a:bodyPr wrap="square" lIns="0" tIns="0" rIns="0" bIns="0" rtlCol="0" anchor="ctr"/>
          <a:lstStyle/>
          <a:p>
            <a:pPr indent="0" marL="0">
              <a:buNone/>
            </a:pPr>
            <a:r>
              <a:rPr lang="en-US" sz="1400" dirty="0">
                <a:solidFill>
                  <a:srgbClr val="1B2A41"/>
                </a:solidFill>
              </a:rPr>
              <a:t>urządzenia sieciowe</a:t>
            </a:r>
            <a:endParaRPr lang="en-US" sz="1400" dirty="0"/>
          </a:p>
        </p:txBody>
      </p:sp>
      <p:sp>
        <p:nvSpPr>
          <p:cNvPr id="30" name="tr-card"/>
          <p:cNvSpPr/>
          <p:nvPr/>
        </p:nvSpPr>
        <p:spPr>
          <a:xfrm>
            <a:off x="4663440" y="2880360"/>
            <a:ext cx="4023360" cy="1645920"/>
          </a:xfrm>
          <a:prstGeom prst="roundRect">
            <a:avLst>
              <a:gd name="adj" fmla="val 5556"/>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31" name="Text 28"/>
          <p:cNvSpPr txBox="1"/>
          <p:nvPr/>
        </p:nvSpPr>
        <p:spPr>
          <a:xfrm>
            <a:off x="4846320" y="2971800"/>
            <a:ext cx="3657600" cy="274320"/>
          </a:xfrm>
          <a:prstGeom prst="rect">
            <a:avLst/>
          </a:prstGeom>
          <a:noFill/>
          <a:ln/>
        </p:spPr>
        <p:txBody>
          <a:bodyPr wrap="square" lIns="0" tIns="0" rIns="0" bIns="0" rtlCol="0" anchor="t"/>
          <a:lstStyle/>
          <a:p>
            <a:pPr indent="0" marL="0">
              <a:buNone/>
            </a:pPr>
            <a:r>
              <a:rPr lang="en-US" sz="1600" b="1" dirty="0">
                <a:solidFill>
                  <a:srgbClr val="0B2545"/>
                </a:solidFill>
              </a:rPr>
              <a:t>Traceroute</a:t>
            </a:r>
            <a:endParaRPr lang="en-US" sz="1600" dirty="0"/>
          </a:p>
        </p:txBody>
      </p:sp>
      <p:sp>
        <p:nvSpPr>
          <p:cNvPr id="32" name="Text 29"/>
          <p:cNvSpPr txBox="1"/>
          <p:nvPr/>
        </p:nvSpPr>
        <p:spPr>
          <a:xfrm>
            <a:off x="4846320" y="3310128"/>
            <a:ext cx="3657600" cy="1188720"/>
          </a:xfrm>
          <a:prstGeom prst="rect">
            <a:avLst/>
          </a:prstGeom>
          <a:noFill/>
          <a:ln/>
        </p:spPr>
        <p:txBody>
          <a:bodyPr wrap="square" lIns="0" tIns="0" rIns="0" bIns="0" rtlCol="0" anchor="t"/>
          <a:lstStyle/>
          <a:p>
            <a:pPr indent="0" marL="0">
              <a:buNone/>
            </a:pPr>
            <a:r>
              <a:rPr lang="en-US" sz="1400" dirty="0">
                <a:solidFill>
                  <a:srgbClr val="1B2A41"/>
                </a:solidFill>
              </a:rPr>
              <a:t>Wysyła sondy z TTL = 1, 2, 3, … Każdy router, który odrzuca pakiet, ujawnia swój adres. Trasa odkryta przeskok po przeskoku.</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Pole Protokół i suma kontrolna</a:t>
            </a:r>
            <a:endParaRPr lang="en-US" sz="3000" dirty="0"/>
          </a:p>
        </p:txBody>
      </p:sp>
      <p:sp>
        <p:nvSpPr>
          <p:cNvPr id="4" name="Text 1"/>
          <p:cNvSpPr txBox="1"/>
          <p:nvPr/>
        </p:nvSpPr>
        <p:spPr>
          <a:xfrm>
            <a:off x="457200" y="1051560"/>
            <a:ext cx="3657600" cy="320040"/>
          </a:xfrm>
          <a:prstGeom prst="rect">
            <a:avLst/>
          </a:prstGeom>
          <a:noFill/>
          <a:ln/>
        </p:spPr>
        <p:txBody>
          <a:bodyPr wrap="square" lIns="0" tIns="0" rIns="0" bIns="0" rtlCol="0" anchor="t"/>
          <a:lstStyle/>
          <a:p>
            <a:pPr indent="0" marL="0">
              <a:buNone/>
            </a:pPr>
            <a:r>
              <a:rPr lang="en-US" sz="1800" b="1" dirty="0">
                <a:solidFill>
                  <a:srgbClr val="0E7C7B"/>
                </a:solidFill>
              </a:rPr>
              <a:t>Protokół (8 bitów)</a:t>
            </a:r>
            <a:endParaRPr lang="en-US" sz="1800" dirty="0"/>
          </a:p>
        </p:txBody>
      </p:sp>
      <p:sp>
        <p:nvSpPr>
          <p:cNvPr id="5" name="proto-1"/>
          <p:cNvSpPr/>
          <p:nvPr/>
        </p:nvSpPr>
        <p:spPr>
          <a:xfrm>
            <a:off x="457200" y="1463040"/>
            <a:ext cx="1874520" cy="566928"/>
          </a:xfrm>
          <a:prstGeom prst="roundRect">
            <a:avLst>
              <a:gd name="adj" fmla="val 16129"/>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566928" y="1463040"/>
            <a:ext cx="548640" cy="566928"/>
          </a:xfrm>
          <a:prstGeom prst="rect">
            <a:avLst/>
          </a:prstGeom>
          <a:noFill/>
          <a:ln/>
        </p:spPr>
        <p:txBody>
          <a:bodyPr wrap="square" lIns="0" tIns="0" rIns="0" bIns="0" rtlCol="0" anchor="ctr"/>
          <a:lstStyle/>
          <a:p>
            <a:pPr indent="0" marL="0">
              <a:buNone/>
            </a:pPr>
            <a:r>
              <a:rPr lang="en-US" sz="2000" b="1" dirty="0">
                <a:solidFill>
                  <a:srgbClr val="C77D0A"/>
                </a:solidFill>
              </a:rPr>
              <a:t>1</a:t>
            </a:r>
            <a:endParaRPr lang="en-US" sz="2000" dirty="0"/>
          </a:p>
        </p:txBody>
      </p:sp>
      <p:sp>
        <p:nvSpPr>
          <p:cNvPr id="7" name="Text 4"/>
          <p:cNvSpPr txBox="1"/>
          <p:nvPr/>
        </p:nvSpPr>
        <p:spPr>
          <a:xfrm>
            <a:off x="1143000" y="1463040"/>
            <a:ext cx="1143000" cy="566928"/>
          </a:xfrm>
          <a:prstGeom prst="rect">
            <a:avLst/>
          </a:prstGeom>
          <a:noFill/>
          <a:ln/>
        </p:spPr>
        <p:txBody>
          <a:bodyPr wrap="square" lIns="0" tIns="0" rIns="0" bIns="0" rtlCol="0" anchor="ctr"/>
          <a:lstStyle/>
          <a:p>
            <a:pPr indent="0" marL="0">
              <a:buNone/>
            </a:pPr>
            <a:r>
              <a:rPr lang="en-US" sz="1300" dirty="0">
                <a:solidFill>
                  <a:srgbClr val="1B2A41"/>
                </a:solidFill>
              </a:rPr>
              <a:t>ICMP</a:t>
            </a:r>
            <a:endParaRPr lang="en-US" sz="1300" dirty="0"/>
          </a:p>
        </p:txBody>
      </p:sp>
      <p:sp>
        <p:nvSpPr>
          <p:cNvPr id="8" name="proto-6"/>
          <p:cNvSpPr/>
          <p:nvPr/>
        </p:nvSpPr>
        <p:spPr>
          <a:xfrm>
            <a:off x="2468880" y="1463040"/>
            <a:ext cx="1874520" cy="566928"/>
          </a:xfrm>
          <a:prstGeom prst="roundRect">
            <a:avLst>
              <a:gd name="adj" fmla="val 16129"/>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2578608" y="1463040"/>
            <a:ext cx="548640" cy="566928"/>
          </a:xfrm>
          <a:prstGeom prst="rect">
            <a:avLst/>
          </a:prstGeom>
          <a:noFill/>
          <a:ln/>
        </p:spPr>
        <p:txBody>
          <a:bodyPr wrap="square" lIns="0" tIns="0" rIns="0" bIns="0" rtlCol="0" anchor="ctr"/>
          <a:lstStyle/>
          <a:p>
            <a:pPr indent="0" marL="0">
              <a:buNone/>
            </a:pPr>
            <a:r>
              <a:rPr lang="en-US" sz="2000" b="1" dirty="0">
                <a:solidFill>
                  <a:srgbClr val="C77D0A"/>
                </a:solidFill>
              </a:rPr>
              <a:t>6</a:t>
            </a:r>
            <a:endParaRPr lang="en-US" sz="2000" dirty="0"/>
          </a:p>
        </p:txBody>
      </p:sp>
      <p:sp>
        <p:nvSpPr>
          <p:cNvPr id="10" name="Text 7"/>
          <p:cNvSpPr txBox="1"/>
          <p:nvPr/>
        </p:nvSpPr>
        <p:spPr>
          <a:xfrm>
            <a:off x="3154680" y="1463040"/>
            <a:ext cx="1143000" cy="566928"/>
          </a:xfrm>
          <a:prstGeom prst="rect">
            <a:avLst/>
          </a:prstGeom>
          <a:noFill/>
          <a:ln/>
        </p:spPr>
        <p:txBody>
          <a:bodyPr wrap="square" lIns="0" tIns="0" rIns="0" bIns="0" rtlCol="0" anchor="ctr"/>
          <a:lstStyle/>
          <a:p>
            <a:pPr indent="0" marL="0">
              <a:buNone/>
            </a:pPr>
            <a:r>
              <a:rPr lang="en-US" sz="1300" dirty="0">
                <a:solidFill>
                  <a:srgbClr val="1B2A41"/>
                </a:solidFill>
              </a:rPr>
              <a:t>TCP</a:t>
            </a:r>
            <a:endParaRPr lang="en-US" sz="1300" dirty="0"/>
          </a:p>
        </p:txBody>
      </p:sp>
      <p:sp>
        <p:nvSpPr>
          <p:cNvPr id="11" name="proto-17"/>
          <p:cNvSpPr/>
          <p:nvPr/>
        </p:nvSpPr>
        <p:spPr>
          <a:xfrm>
            <a:off x="457200" y="2148840"/>
            <a:ext cx="1874520" cy="566928"/>
          </a:xfrm>
          <a:prstGeom prst="roundRect">
            <a:avLst>
              <a:gd name="adj" fmla="val 16129"/>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566928" y="2148840"/>
            <a:ext cx="548640" cy="566928"/>
          </a:xfrm>
          <a:prstGeom prst="rect">
            <a:avLst/>
          </a:prstGeom>
          <a:noFill/>
          <a:ln/>
        </p:spPr>
        <p:txBody>
          <a:bodyPr wrap="square" lIns="0" tIns="0" rIns="0" bIns="0" rtlCol="0" anchor="ctr"/>
          <a:lstStyle/>
          <a:p>
            <a:pPr indent="0" marL="0">
              <a:buNone/>
            </a:pPr>
            <a:r>
              <a:rPr lang="en-US" sz="2000" b="1" dirty="0">
                <a:solidFill>
                  <a:srgbClr val="C77D0A"/>
                </a:solidFill>
              </a:rPr>
              <a:t>17</a:t>
            </a:r>
            <a:endParaRPr lang="en-US" sz="2000" dirty="0"/>
          </a:p>
        </p:txBody>
      </p:sp>
      <p:sp>
        <p:nvSpPr>
          <p:cNvPr id="13" name="Text 10"/>
          <p:cNvSpPr txBox="1"/>
          <p:nvPr/>
        </p:nvSpPr>
        <p:spPr>
          <a:xfrm>
            <a:off x="1143000" y="2148840"/>
            <a:ext cx="1143000" cy="566928"/>
          </a:xfrm>
          <a:prstGeom prst="rect">
            <a:avLst/>
          </a:prstGeom>
          <a:noFill/>
          <a:ln/>
        </p:spPr>
        <p:txBody>
          <a:bodyPr wrap="square" lIns="0" tIns="0" rIns="0" bIns="0" rtlCol="0" anchor="ctr"/>
          <a:lstStyle/>
          <a:p>
            <a:pPr indent="0" marL="0">
              <a:buNone/>
            </a:pPr>
            <a:r>
              <a:rPr lang="en-US" sz="1300" dirty="0">
                <a:solidFill>
                  <a:srgbClr val="1B2A41"/>
                </a:solidFill>
              </a:rPr>
              <a:t>UDP</a:t>
            </a:r>
            <a:endParaRPr lang="en-US" sz="1300" dirty="0"/>
          </a:p>
        </p:txBody>
      </p:sp>
      <p:sp>
        <p:nvSpPr>
          <p:cNvPr id="14" name="proto-41"/>
          <p:cNvSpPr/>
          <p:nvPr/>
        </p:nvSpPr>
        <p:spPr>
          <a:xfrm>
            <a:off x="2468880" y="2148840"/>
            <a:ext cx="1874520" cy="566928"/>
          </a:xfrm>
          <a:prstGeom prst="roundRect">
            <a:avLst>
              <a:gd name="adj" fmla="val 16129"/>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2578608" y="2148840"/>
            <a:ext cx="548640" cy="566928"/>
          </a:xfrm>
          <a:prstGeom prst="rect">
            <a:avLst/>
          </a:prstGeom>
          <a:noFill/>
          <a:ln/>
        </p:spPr>
        <p:txBody>
          <a:bodyPr wrap="square" lIns="0" tIns="0" rIns="0" bIns="0" rtlCol="0" anchor="ctr"/>
          <a:lstStyle/>
          <a:p>
            <a:pPr indent="0" marL="0">
              <a:buNone/>
            </a:pPr>
            <a:r>
              <a:rPr lang="en-US" sz="2000" b="1" dirty="0">
                <a:solidFill>
                  <a:srgbClr val="C77D0A"/>
                </a:solidFill>
              </a:rPr>
              <a:t>41</a:t>
            </a:r>
            <a:endParaRPr lang="en-US" sz="2000" dirty="0"/>
          </a:p>
        </p:txBody>
      </p:sp>
      <p:sp>
        <p:nvSpPr>
          <p:cNvPr id="16" name="Text 13"/>
          <p:cNvSpPr txBox="1"/>
          <p:nvPr/>
        </p:nvSpPr>
        <p:spPr>
          <a:xfrm>
            <a:off x="3154680" y="2148840"/>
            <a:ext cx="1143000" cy="566928"/>
          </a:xfrm>
          <a:prstGeom prst="rect">
            <a:avLst/>
          </a:prstGeom>
          <a:noFill/>
          <a:ln/>
        </p:spPr>
        <p:txBody>
          <a:bodyPr wrap="square" lIns="0" tIns="0" rIns="0" bIns="0" rtlCol="0" anchor="ctr"/>
          <a:lstStyle/>
          <a:p>
            <a:pPr indent="0" marL="0">
              <a:buNone/>
            </a:pPr>
            <a:r>
              <a:rPr lang="en-US" sz="1300" dirty="0">
                <a:solidFill>
                  <a:srgbClr val="1B2A41"/>
                </a:solidFill>
              </a:rPr>
              <a:t>IPv6 (6in4)</a:t>
            </a:r>
            <a:endParaRPr lang="en-US" sz="1300" dirty="0"/>
          </a:p>
        </p:txBody>
      </p:sp>
      <p:sp>
        <p:nvSpPr>
          <p:cNvPr id="17" name="proto-50"/>
          <p:cNvSpPr/>
          <p:nvPr/>
        </p:nvSpPr>
        <p:spPr>
          <a:xfrm>
            <a:off x="457200" y="2834640"/>
            <a:ext cx="1874520" cy="566928"/>
          </a:xfrm>
          <a:prstGeom prst="roundRect">
            <a:avLst>
              <a:gd name="adj" fmla="val 16129"/>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566928" y="2834640"/>
            <a:ext cx="548640" cy="566928"/>
          </a:xfrm>
          <a:prstGeom prst="rect">
            <a:avLst/>
          </a:prstGeom>
          <a:noFill/>
          <a:ln/>
        </p:spPr>
        <p:txBody>
          <a:bodyPr wrap="square" lIns="0" tIns="0" rIns="0" bIns="0" rtlCol="0" anchor="ctr"/>
          <a:lstStyle/>
          <a:p>
            <a:pPr indent="0" marL="0">
              <a:buNone/>
            </a:pPr>
            <a:r>
              <a:rPr lang="en-US" sz="2000" b="1" dirty="0">
                <a:solidFill>
                  <a:srgbClr val="C77D0A"/>
                </a:solidFill>
              </a:rPr>
              <a:t>50</a:t>
            </a:r>
            <a:endParaRPr lang="en-US" sz="2000" dirty="0"/>
          </a:p>
        </p:txBody>
      </p:sp>
      <p:sp>
        <p:nvSpPr>
          <p:cNvPr id="19" name="Text 16"/>
          <p:cNvSpPr txBox="1"/>
          <p:nvPr/>
        </p:nvSpPr>
        <p:spPr>
          <a:xfrm>
            <a:off x="1143000" y="2834640"/>
            <a:ext cx="1143000" cy="566928"/>
          </a:xfrm>
          <a:prstGeom prst="rect">
            <a:avLst/>
          </a:prstGeom>
          <a:noFill/>
          <a:ln/>
        </p:spPr>
        <p:txBody>
          <a:bodyPr wrap="square" lIns="0" tIns="0" rIns="0" bIns="0" rtlCol="0" anchor="ctr"/>
          <a:lstStyle/>
          <a:p>
            <a:pPr indent="0" marL="0">
              <a:buNone/>
            </a:pPr>
            <a:r>
              <a:rPr lang="en-US" sz="1300" dirty="0">
                <a:solidFill>
                  <a:srgbClr val="1B2A41"/>
                </a:solidFill>
              </a:rPr>
              <a:t>ESP (IPsec)</a:t>
            </a:r>
            <a:endParaRPr lang="en-US" sz="1300" dirty="0"/>
          </a:p>
        </p:txBody>
      </p:sp>
      <p:sp>
        <p:nvSpPr>
          <p:cNvPr id="20" name="proto-89"/>
          <p:cNvSpPr/>
          <p:nvPr/>
        </p:nvSpPr>
        <p:spPr>
          <a:xfrm>
            <a:off x="2468880" y="2834640"/>
            <a:ext cx="1874520" cy="566928"/>
          </a:xfrm>
          <a:prstGeom prst="roundRect">
            <a:avLst>
              <a:gd name="adj" fmla="val 16129"/>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2578608" y="2834640"/>
            <a:ext cx="548640" cy="566928"/>
          </a:xfrm>
          <a:prstGeom prst="rect">
            <a:avLst/>
          </a:prstGeom>
          <a:noFill/>
          <a:ln/>
        </p:spPr>
        <p:txBody>
          <a:bodyPr wrap="square" lIns="0" tIns="0" rIns="0" bIns="0" rtlCol="0" anchor="ctr"/>
          <a:lstStyle/>
          <a:p>
            <a:pPr indent="0" marL="0">
              <a:buNone/>
            </a:pPr>
            <a:r>
              <a:rPr lang="en-US" sz="2000" b="1" dirty="0">
                <a:solidFill>
                  <a:srgbClr val="C77D0A"/>
                </a:solidFill>
              </a:rPr>
              <a:t>89</a:t>
            </a:r>
            <a:endParaRPr lang="en-US" sz="2000" dirty="0"/>
          </a:p>
        </p:txBody>
      </p:sp>
      <p:sp>
        <p:nvSpPr>
          <p:cNvPr id="22" name="Text 19"/>
          <p:cNvSpPr txBox="1"/>
          <p:nvPr/>
        </p:nvSpPr>
        <p:spPr>
          <a:xfrm>
            <a:off x="3154680" y="2834640"/>
            <a:ext cx="1143000" cy="566928"/>
          </a:xfrm>
          <a:prstGeom prst="rect">
            <a:avLst/>
          </a:prstGeom>
          <a:noFill/>
          <a:ln/>
        </p:spPr>
        <p:txBody>
          <a:bodyPr wrap="square" lIns="0" tIns="0" rIns="0" bIns="0" rtlCol="0" anchor="ctr"/>
          <a:lstStyle/>
          <a:p>
            <a:pPr indent="0" marL="0">
              <a:buNone/>
            </a:pPr>
            <a:r>
              <a:rPr lang="en-US" sz="1300" dirty="0">
                <a:solidFill>
                  <a:srgbClr val="1B2A41"/>
                </a:solidFill>
              </a:rPr>
              <a:t>OSPF</a:t>
            </a:r>
            <a:endParaRPr lang="en-US" sz="1300" dirty="0"/>
          </a:p>
        </p:txBody>
      </p:sp>
      <p:sp>
        <p:nvSpPr>
          <p:cNvPr id="23" name="Text 20"/>
          <p:cNvSpPr txBox="1"/>
          <p:nvPr/>
        </p:nvSpPr>
        <p:spPr>
          <a:xfrm>
            <a:off x="457200" y="3611880"/>
            <a:ext cx="3931920" cy="274320"/>
          </a:xfrm>
          <a:prstGeom prst="rect">
            <a:avLst/>
          </a:prstGeom>
          <a:noFill/>
          <a:ln/>
        </p:spPr>
        <p:txBody>
          <a:bodyPr wrap="square" lIns="0" tIns="0" rIns="0" bIns="0" rtlCol="0" anchor="t"/>
          <a:lstStyle/>
          <a:p>
            <a:pPr indent="0" marL="0">
              <a:buNone/>
            </a:pPr>
            <a:r>
              <a:rPr lang="en-US" sz="1400" dirty="0">
                <a:solidFill>
                  <a:srgbClr val="5C6B80"/>
                </a:solidFill>
              </a:rPr>
              <a:t>Odpowiednik EtherType, poziom wyżej.</a:t>
            </a:r>
            <a:endParaRPr lang="en-US" sz="1400" dirty="0"/>
          </a:p>
        </p:txBody>
      </p:sp>
      <p:sp>
        <p:nvSpPr>
          <p:cNvPr id="24" name="chk-card"/>
          <p:cNvSpPr/>
          <p:nvPr/>
        </p:nvSpPr>
        <p:spPr>
          <a:xfrm>
            <a:off x="4572000" y="1051560"/>
            <a:ext cx="4114800" cy="3474720"/>
          </a:xfrm>
          <a:prstGeom prst="roundRect">
            <a:avLst>
              <a:gd name="adj" fmla="val 263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4754880" y="1143000"/>
            <a:ext cx="3749040" cy="320040"/>
          </a:xfrm>
          <a:prstGeom prst="rect">
            <a:avLst/>
          </a:prstGeom>
          <a:noFill/>
          <a:ln/>
        </p:spPr>
        <p:txBody>
          <a:bodyPr wrap="square" lIns="0" tIns="0" rIns="0" bIns="0" rtlCol="0" anchor="t"/>
          <a:lstStyle/>
          <a:p>
            <a:pPr indent="0" marL="0">
              <a:buNone/>
            </a:pPr>
            <a:r>
              <a:rPr lang="en-US" sz="1800" b="1" dirty="0">
                <a:solidFill>
                  <a:srgbClr val="0E7C7B"/>
                </a:solidFill>
              </a:rPr>
              <a:t>Header Checksum (16 bitów)</a:t>
            </a:r>
            <a:endParaRPr lang="en-US" sz="1800" dirty="0"/>
          </a:p>
        </p:txBody>
      </p:sp>
      <p:sp>
        <p:nvSpPr>
          <p:cNvPr id="26" name="Text 23"/>
          <p:cNvSpPr txBox="1"/>
          <p:nvPr/>
        </p:nvSpPr>
        <p:spPr>
          <a:xfrm>
            <a:off x="4754880" y="1481328"/>
            <a:ext cx="3749040" cy="274320"/>
          </a:xfrm>
          <a:prstGeom prst="rect">
            <a:avLst/>
          </a:prstGeom>
          <a:noFill/>
          <a:ln/>
        </p:spPr>
        <p:txBody>
          <a:bodyPr wrap="square" lIns="0" tIns="0" rIns="0" bIns="0" rtlCol="0" anchor="t"/>
          <a:lstStyle/>
          <a:p>
            <a:pPr indent="0" marL="0">
              <a:buNone/>
            </a:pPr>
            <a:r>
              <a:rPr lang="en-US" sz="1300" dirty="0">
                <a:solidFill>
                  <a:srgbClr val="5C6B80"/>
                </a:solidFill>
              </a:rPr>
              <a:t>Tylko nagłówek, dopełnienie do jedynki</a:t>
            </a:r>
            <a:endParaRPr lang="en-US" sz="1300" dirty="0"/>
          </a:p>
        </p:txBody>
      </p:sp>
      <p:sp>
        <p:nvSpPr>
          <p:cNvPr id="27" name="Text 24"/>
          <p:cNvSpPr txBox="1"/>
          <p:nvPr/>
        </p:nvSpPr>
        <p:spPr>
          <a:xfrm>
            <a:off x="4754880" y="1920240"/>
            <a:ext cx="3749040" cy="365760"/>
          </a:xfrm>
          <a:prstGeom prst="rect">
            <a:avLst/>
          </a:prstGeom>
          <a:noFill/>
          <a:ln/>
        </p:spPr>
        <p:txBody>
          <a:bodyPr wrap="square" lIns="0" tIns="0" rIns="0" bIns="0" rtlCol="0" anchor="ctr"/>
          <a:lstStyle/>
          <a:p>
            <a:pPr indent="0" marL="0">
              <a:buNone/>
            </a:pPr>
            <a:r>
              <a:rPr lang="en-US" sz="1300" dirty="0">
                <a:solidFill>
                  <a:srgbClr val="1B2A41"/>
                </a:solidFill>
                <a:latin typeface="Courier New" pitchFamily="34" charset="0"/>
                <a:ea typeface="Courier New" pitchFamily="34" charset="-122"/>
                <a:cs typeface="Courier New" pitchFamily="34" charset="-120"/>
              </a:rPr>
              <a:t>4500 + 003C + 1C46 + 4000 = A182</a:t>
            </a:r>
            <a:endParaRPr lang="en-US" sz="1300" dirty="0"/>
          </a:p>
        </p:txBody>
      </p:sp>
      <p:sp>
        <p:nvSpPr>
          <p:cNvPr id="28" name="Text 25"/>
          <p:cNvSpPr txBox="1"/>
          <p:nvPr/>
        </p:nvSpPr>
        <p:spPr>
          <a:xfrm>
            <a:off x="4754880" y="2377440"/>
            <a:ext cx="3749040" cy="365760"/>
          </a:xfrm>
          <a:prstGeom prst="rect">
            <a:avLst/>
          </a:prstGeom>
          <a:noFill/>
          <a:ln/>
        </p:spPr>
        <p:txBody>
          <a:bodyPr wrap="square" lIns="0" tIns="0" rIns="0" bIns="0" rtlCol="0" anchor="ctr"/>
          <a:lstStyle/>
          <a:p>
            <a:pPr indent="0" marL="0">
              <a:buNone/>
            </a:pPr>
            <a:r>
              <a:rPr lang="en-US" sz="1300" dirty="0">
                <a:solidFill>
                  <a:srgbClr val="1B2A41"/>
                </a:solidFill>
                <a:latin typeface="Courier New" pitchFamily="34" charset="0"/>
                <a:ea typeface="Courier New" pitchFamily="34" charset="-122"/>
                <a:cs typeface="Courier New" pitchFamily="34" charset="-120"/>
              </a:rPr>
              <a:t>negacja bitowa: 5E7D</a:t>
            </a:r>
            <a:endParaRPr lang="en-US" sz="1300" dirty="0"/>
          </a:p>
        </p:txBody>
      </p:sp>
      <p:sp>
        <p:nvSpPr>
          <p:cNvPr id="29" name="Text 26"/>
          <p:cNvSpPr txBox="1"/>
          <p:nvPr/>
        </p:nvSpPr>
        <p:spPr>
          <a:xfrm>
            <a:off x="4754880" y="2834640"/>
            <a:ext cx="3749040" cy="365760"/>
          </a:xfrm>
          <a:prstGeom prst="rect">
            <a:avLst/>
          </a:prstGeom>
          <a:noFill/>
          <a:ln/>
        </p:spPr>
        <p:txBody>
          <a:bodyPr wrap="square" lIns="0" tIns="0" rIns="0" bIns="0" rtlCol="0" anchor="ctr"/>
          <a:lstStyle/>
          <a:p>
            <a:pPr indent="0" marL="0">
              <a:buNone/>
            </a:pPr>
            <a:r>
              <a:rPr lang="en-US" sz="1300" b="1" dirty="0">
                <a:solidFill>
                  <a:srgbClr val="0E7C7B"/>
                </a:solidFill>
                <a:latin typeface="Courier New" pitchFamily="34" charset="0"/>
                <a:ea typeface="Courier New" pitchFamily="34" charset="-122"/>
                <a:cs typeface="Courier New" pitchFamily="34" charset="-120"/>
              </a:rPr>
              <a:t>A182 + 5E7D = FFFF  (brak błędu)</a:t>
            </a:r>
            <a:endParaRPr lang="en-US" sz="1300" dirty="0"/>
          </a:p>
        </p:txBody>
      </p:sp>
      <p:sp>
        <p:nvSpPr>
          <p:cNvPr id="30" name="chk-note"/>
          <p:cNvSpPr/>
          <p:nvPr/>
        </p:nvSpPr>
        <p:spPr>
          <a:xfrm>
            <a:off x="4754880" y="3474720"/>
            <a:ext cx="3749040" cy="868680"/>
          </a:xfrm>
          <a:prstGeom prst="roundRect">
            <a:avLst>
              <a:gd name="adj" fmla="val 6316"/>
            </a:avLst>
          </a:prstGeom>
          <a:solidFill>
            <a:srgbClr val="FDEBCF"/>
          </a:solidFill>
          <a:ln w="9525">
            <a:solidFill>
              <a:srgbClr val="F2A541"/>
            </a:solidFill>
            <a:prstDash val="solid"/>
          </a:ln>
        </p:spPr>
      </p:sp>
      <p:sp>
        <p:nvSpPr>
          <p:cNvPr id="31" name="Text 28"/>
          <p:cNvSpPr txBox="1"/>
          <p:nvPr/>
        </p:nvSpPr>
        <p:spPr>
          <a:xfrm>
            <a:off x="4846320" y="3474720"/>
            <a:ext cx="3566160" cy="868680"/>
          </a:xfrm>
          <a:prstGeom prst="rect">
            <a:avLst/>
          </a:prstGeom>
          <a:noFill/>
          <a:ln/>
        </p:spPr>
        <p:txBody>
          <a:bodyPr wrap="square" lIns="0" tIns="0" rIns="0" bIns="0" rtlCol="0" anchor="ctr"/>
          <a:lstStyle/>
          <a:p>
            <a:pPr indent="0" marL="0">
              <a:buNone/>
            </a:pPr>
            <a:r>
              <a:rPr lang="en-US" sz="1300" b="1" dirty="0">
                <a:solidFill>
                  <a:srgbClr val="0B2545"/>
                </a:solidFill>
              </a:rPr>
              <a:t>TTL zmienia się na każdym routerze, więc suma jest przeliczana przyrostowo (RFC 1624).</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IPv6: stały nagłówek 40 bajtów</a:t>
            </a:r>
            <a:endParaRPr lang="en-US" sz="3000" dirty="0"/>
          </a:p>
        </p:txBody>
      </p:sp>
      <p:sp>
        <p:nvSpPr>
          <p:cNvPr id="4" name="field-Ver"/>
          <p:cNvSpPr/>
          <p:nvPr/>
        </p:nvSpPr>
        <p:spPr>
          <a:xfrm>
            <a:off x="457200" y="1188720"/>
            <a:ext cx="697230" cy="566928"/>
          </a:xfrm>
          <a:prstGeom prst="rect">
            <a:avLst/>
          </a:prstGeom>
          <a:solidFill>
            <a:srgbClr val="3A6EA5"/>
          </a:solidFill>
          <a:ln w="19050">
            <a:solidFill>
              <a:srgbClr val="FFFFFF"/>
            </a:solidFill>
            <a:prstDash val="solid"/>
          </a:ln>
        </p:spPr>
      </p:sp>
      <p:sp>
        <p:nvSpPr>
          <p:cNvPr id="5" name="Text 2"/>
          <p:cNvSpPr txBox="1"/>
          <p:nvPr/>
        </p:nvSpPr>
        <p:spPr>
          <a:xfrm>
            <a:off x="457200" y="1188720"/>
            <a:ext cx="697230" cy="566928"/>
          </a:xfrm>
          <a:prstGeom prst="rect">
            <a:avLst/>
          </a:prstGeom>
          <a:noFill/>
          <a:ln/>
        </p:spPr>
        <p:txBody>
          <a:bodyPr wrap="square" lIns="0" tIns="0" rIns="0" bIns="0" rtlCol="0" anchor="ctr"/>
          <a:lstStyle/>
          <a:p>
            <a:pPr algn="ctr" indent="0" marL="0">
              <a:buNone/>
            </a:pPr>
            <a:r>
              <a:rPr lang="en-US" sz="1100" b="1" dirty="0">
                <a:solidFill>
                  <a:srgbClr val="FFFFFF"/>
                </a:solidFill>
              </a:rPr>
              <a:t>Ver</a:t>
            </a:r>
            <a:endParaRPr lang="en-US" sz="1100" dirty="0"/>
          </a:p>
        </p:txBody>
      </p:sp>
      <p:sp>
        <p:nvSpPr>
          <p:cNvPr id="6" name="field-Klasa ruchu"/>
          <p:cNvSpPr/>
          <p:nvPr/>
        </p:nvSpPr>
        <p:spPr>
          <a:xfrm>
            <a:off x="1154430" y="1188720"/>
            <a:ext cx="1394460" cy="566928"/>
          </a:xfrm>
          <a:prstGeom prst="rect">
            <a:avLst/>
          </a:prstGeom>
          <a:solidFill>
            <a:srgbClr val="0E7C7B"/>
          </a:solidFill>
          <a:ln w="19050">
            <a:solidFill>
              <a:srgbClr val="FFFFFF"/>
            </a:solidFill>
            <a:prstDash val="solid"/>
          </a:ln>
        </p:spPr>
      </p:sp>
      <p:sp>
        <p:nvSpPr>
          <p:cNvPr id="7" name="Text 4"/>
          <p:cNvSpPr txBox="1"/>
          <p:nvPr/>
        </p:nvSpPr>
        <p:spPr>
          <a:xfrm>
            <a:off x="1154430" y="1188720"/>
            <a:ext cx="1394460" cy="566928"/>
          </a:xfrm>
          <a:prstGeom prst="rect">
            <a:avLst/>
          </a:prstGeom>
          <a:noFill/>
          <a:ln/>
        </p:spPr>
        <p:txBody>
          <a:bodyPr wrap="square" lIns="0" tIns="0" rIns="0" bIns="0" rtlCol="0" anchor="ctr"/>
          <a:lstStyle/>
          <a:p>
            <a:pPr algn="ctr" indent="0" marL="0">
              <a:buNone/>
            </a:pPr>
            <a:r>
              <a:rPr lang="en-US" sz="1200" b="1" dirty="0">
                <a:solidFill>
                  <a:srgbClr val="FFFFFF"/>
                </a:solidFill>
              </a:rPr>
              <a:t>Klasa ruchu</a:t>
            </a:r>
            <a:endParaRPr lang="en-US" sz="1200" dirty="0"/>
          </a:p>
        </p:txBody>
      </p:sp>
      <p:sp>
        <p:nvSpPr>
          <p:cNvPr id="8" name="field-Etykieta przepływu"/>
          <p:cNvSpPr/>
          <p:nvPr/>
        </p:nvSpPr>
        <p:spPr>
          <a:xfrm>
            <a:off x="2548890" y="1188720"/>
            <a:ext cx="3486150" cy="566928"/>
          </a:xfrm>
          <a:prstGeom prst="rect">
            <a:avLst/>
          </a:prstGeom>
          <a:solidFill>
            <a:srgbClr val="F2A541"/>
          </a:solidFill>
          <a:ln w="19050">
            <a:solidFill>
              <a:srgbClr val="FFFFFF"/>
            </a:solidFill>
            <a:prstDash val="solid"/>
          </a:ln>
        </p:spPr>
      </p:sp>
      <p:sp>
        <p:nvSpPr>
          <p:cNvPr id="9" name="Text 6"/>
          <p:cNvSpPr txBox="1"/>
          <p:nvPr/>
        </p:nvSpPr>
        <p:spPr>
          <a:xfrm>
            <a:off x="2548890" y="1188720"/>
            <a:ext cx="3486150" cy="566928"/>
          </a:xfrm>
          <a:prstGeom prst="rect">
            <a:avLst/>
          </a:prstGeom>
          <a:noFill/>
          <a:ln/>
        </p:spPr>
        <p:txBody>
          <a:bodyPr wrap="square" lIns="0" tIns="0" rIns="0" bIns="0" rtlCol="0" anchor="ctr"/>
          <a:lstStyle/>
          <a:p>
            <a:pPr algn="ctr" indent="0" marL="0">
              <a:buNone/>
            </a:pPr>
            <a:r>
              <a:rPr lang="en-US" sz="1200" b="1" dirty="0">
                <a:solidFill>
                  <a:srgbClr val="0B2545"/>
                </a:solidFill>
              </a:rPr>
              <a:t>Etykieta przepływu</a:t>
            </a:r>
            <a:endParaRPr lang="en-US" sz="1200" dirty="0"/>
          </a:p>
        </p:txBody>
      </p:sp>
      <p:sp>
        <p:nvSpPr>
          <p:cNvPr id="10" name="field-Długość danych"/>
          <p:cNvSpPr/>
          <p:nvPr/>
        </p:nvSpPr>
        <p:spPr>
          <a:xfrm>
            <a:off x="457200" y="1792224"/>
            <a:ext cx="2788920" cy="566928"/>
          </a:xfrm>
          <a:prstGeom prst="rect">
            <a:avLst/>
          </a:prstGeom>
          <a:solidFill>
            <a:srgbClr val="3A6EA5"/>
          </a:solidFill>
          <a:ln w="19050">
            <a:solidFill>
              <a:srgbClr val="FFFFFF"/>
            </a:solidFill>
            <a:prstDash val="solid"/>
          </a:ln>
        </p:spPr>
      </p:sp>
      <p:sp>
        <p:nvSpPr>
          <p:cNvPr id="11" name="Text 8"/>
          <p:cNvSpPr txBox="1"/>
          <p:nvPr/>
        </p:nvSpPr>
        <p:spPr>
          <a:xfrm>
            <a:off x="457200" y="1792224"/>
            <a:ext cx="2788920" cy="566928"/>
          </a:xfrm>
          <a:prstGeom prst="rect">
            <a:avLst/>
          </a:prstGeom>
          <a:noFill/>
          <a:ln/>
        </p:spPr>
        <p:txBody>
          <a:bodyPr wrap="square" lIns="0" tIns="0" rIns="0" bIns="0" rtlCol="0" anchor="ctr"/>
          <a:lstStyle/>
          <a:p>
            <a:pPr algn="ctr" indent="0" marL="0">
              <a:buNone/>
            </a:pPr>
            <a:r>
              <a:rPr lang="en-US" sz="1200" b="1" dirty="0">
                <a:solidFill>
                  <a:srgbClr val="FFFFFF"/>
                </a:solidFill>
              </a:rPr>
              <a:t>Długość danych</a:t>
            </a:r>
            <a:endParaRPr lang="en-US" sz="1200" dirty="0"/>
          </a:p>
        </p:txBody>
      </p:sp>
      <p:sp>
        <p:nvSpPr>
          <p:cNvPr id="12" name="field-Następny nagł."/>
          <p:cNvSpPr/>
          <p:nvPr/>
        </p:nvSpPr>
        <p:spPr>
          <a:xfrm>
            <a:off x="3246120" y="1792224"/>
            <a:ext cx="1394460" cy="566928"/>
          </a:xfrm>
          <a:prstGeom prst="rect">
            <a:avLst/>
          </a:prstGeom>
          <a:solidFill>
            <a:srgbClr val="0E7C7B"/>
          </a:solidFill>
          <a:ln w="19050">
            <a:solidFill>
              <a:srgbClr val="FFFFFF"/>
            </a:solidFill>
            <a:prstDash val="solid"/>
          </a:ln>
        </p:spPr>
      </p:sp>
      <p:sp>
        <p:nvSpPr>
          <p:cNvPr id="13" name="Text 10"/>
          <p:cNvSpPr txBox="1"/>
          <p:nvPr/>
        </p:nvSpPr>
        <p:spPr>
          <a:xfrm>
            <a:off x="3246120" y="1792224"/>
            <a:ext cx="1394460" cy="566928"/>
          </a:xfrm>
          <a:prstGeom prst="rect">
            <a:avLst/>
          </a:prstGeom>
          <a:noFill/>
          <a:ln/>
        </p:spPr>
        <p:txBody>
          <a:bodyPr wrap="square" lIns="0" tIns="0" rIns="0" bIns="0" rtlCol="0" anchor="ctr"/>
          <a:lstStyle/>
          <a:p>
            <a:pPr algn="ctr" indent="0" marL="0">
              <a:buNone/>
            </a:pPr>
            <a:r>
              <a:rPr lang="en-US" sz="1200" b="1" dirty="0">
                <a:solidFill>
                  <a:srgbClr val="FFFFFF"/>
                </a:solidFill>
              </a:rPr>
              <a:t>Następny nagł.</a:t>
            </a:r>
            <a:endParaRPr lang="en-US" sz="1200" dirty="0"/>
          </a:p>
        </p:txBody>
      </p:sp>
      <p:sp>
        <p:nvSpPr>
          <p:cNvPr id="14" name="field-Limit przesk."/>
          <p:cNvSpPr/>
          <p:nvPr/>
        </p:nvSpPr>
        <p:spPr>
          <a:xfrm>
            <a:off x="4640580" y="1792224"/>
            <a:ext cx="1394460" cy="566928"/>
          </a:xfrm>
          <a:prstGeom prst="rect">
            <a:avLst/>
          </a:prstGeom>
          <a:solidFill>
            <a:srgbClr val="C8442F"/>
          </a:solidFill>
          <a:ln w="19050">
            <a:solidFill>
              <a:srgbClr val="FFFFFF"/>
            </a:solidFill>
            <a:prstDash val="solid"/>
          </a:ln>
        </p:spPr>
      </p:sp>
      <p:sp>
        <p:nvSpPr>
          <p:cNvPr id="15" name="Text 12"/>
          <p:cNvSpPr txBox="1"/>
          <p:nvPr/>
        </p:nvSpPr>
        <p:spPr>
          <a:xfrm>
            <a:off x="4640580" y="1792224"/>
            <a:ext cx="1394460" cy="566928"/>
          </a:xfrm>
          <a:prstGeom prst="rect">
            <a:avLst/>
          </a:prstGeom>
          <a:noFill/>
          <a:ln/>
        </p:spPr>
        <p:txBody>
          <a:bodyPr wrap="square" lIns="0" tIns="0" rIns="0" bIns="0" rtlCol="0" anchor="ctr"/>
          <a:lstStyle/>
          <a:p>
            <a:pPr algn="ctr" indent="0" marL="0">
              <a:buNone/>
            </a:pPr>
            <a:r>
              <a:rPr lang="en-US" sz="1200" b="1" dirty="0">
                <a:solidFill>
                  <a:srgbClr val="FFFFFF"/>
                </a:solidFill>
              </a:rPr>
              <a:t>Limit przesk.</a:t>
            </a:r>
            <a:endParaRPr lang="en-US" sz="1200" dirty="0"/>
          </a:p>
        </p:txBody>
      </p:sp>
      <p:sp>
        <p:nvSpPr>
          <p:cNvPr id="16" name="field-Adres źródłowy (128 b)"/>
          <p:cNvSpPr/>
          <p:nvPr/>
        </p:nvSpPr>
        <p:spPr>
          <a:xfrm>
            <a:off x="457200" y="2395728"/>
            <a:ext cx="5577840" cy="566928"/>
          </a:xfrm>
          <a:prstGeom prst="rect">
            <a:avLst/>
          </a:prstGeom>
          <a:solidFill>
            <a:srgbClr val="0B2545"/>
          </a:solidFill>
          <a:ln w="19050">
            <a:solidFill>
              <a:srgbClr val="FFFFFF"/>
            </a:solidFill>
            <a:prstDash val="solid"/>
          </a:ln>
        </p:spPr>
      </p:sp>
      <p:sp>
        <p:nvSpPr>
          <p:cNvPr id="17" name="Text 14"/>
          <p:cNvSpPr txBox="1"/>
          <p:nvPr/>
        </p:nvSpPr>
        <p:spPr>
          <a:xfrm>
            <a:off x="457200" y="2395728"/>
            <a:ext cx="5577840" cy="566928"/>
          </a:xfrm>
          <a:prstGeom prst="rect">
            <a:avLst/>
          </a:prstGeom>
          <a:noFill/>
          <a:ln/>
        </p:spPr>
        <p:txBody>
          <a:bodyPr wrap="square" lIns="0" tIns="0" rIns="0" bIns="0" rtlCol="0" anchor="ctr"/>
          <a:lstStyle/>
          <a:p>
            <a:pPr algn="ctr" indent="0" marL="0">
              <a:buNone/>
            </a:pPr>
            <a:r>
              <a:rPr lang="en-US" sz="1200" b="1" dirty="0">
                <a:solidFill>
                  <a:srgbClr val="FFFFFF"/>
                </a:solidFill>
              </a:rPr>
              <a:t>Adres źródłowy (128 b)</a:t>
            </a:r>
            <a:endParaRPr lang="en-US" sz="1200" dirty="0"/>
          </a:p>
        </p:txBody>
      </p:sp>
      <p:sp>
        <p:nvSpPr>
          <p:cNvPr id="18" name="field-Adres docelowy (128 b)"/>
          <p:cNvSpPr/>
          <p:nvPr/>
        </p:nvSpPr>
        <p:spPr>
          <a:xfrm>
            <a:off x="457200" y="2999232"/>
            <a:ext cx="5577840" cy="566928"/>
          </a:xfrm>
          <a:prstGeom prst="rect">
            <a:avLst/>
          </a:prstGeom>
          <a:solidFill>
            <a:srgbClr val="0B2545"/>
          </a:solidFill>
          <a:ln w="19050">
            <a:solidFill>
              <a:srgbClr val="FFFFFF"/>
            </a:solidFill>
            <a:prstDash val="solid"/>
          </a:ln>
        </p:spPr>
      </p:sp>
      <p:sp>
        <p:nvSpPr>
          <p:cNvPr id="19" name="Text 16"/>
          <p:cNvSpPr txBox="1"/>
          <p:nvPr/>
        </p:nvSpPr>
        <p:spPr>
          <a:xfrm>
            <a:off x="457200" y="2999232"/>
            <a:ext cx="5577840" cy="566928"/>
          </a:xfrm>
          <a:prstGeom prst="rect">
            <a:avLst/>
          </a:prstGeom>
          <a:noFill/>
          <a:ln/>
        </p:spPr>
        <p:txBody>
          <a:bodyPr wrap="square" lIns="0" tIns="0" rIns="0" bIns="0" rtlCol="0" anchor="ctr"/>
          <a:lstStyle/>
          <a:p>
            <a:pPr algn="ctr" indent="0" marL="0">
              <a:buNone/>
            </a:pPr>
            <a:r>
              <a:rPr lang="en-US" sz="1200" b="1" dirty="0">
                <a:solidFill>
                  <a:srgbClr val="FFFFFF"/>
                </a:solidFill>
              </a:rPr>
              <a:t>Adres docelowy (128 b)</a:t>
            </a:r>
            <a:endParaRPr lang="en-US" sz="1200" dirty="0"/>
          </a:p>
        </p:txBody>
      </p:sp>
      <p:sp>
        <p:nvSpPr>
          <p:cNvPr id="20" name="Text 17"/>
          <p:cNvSpPr txBox="1"/>
          <p:nvPr/>
        </p:nvSpPr>
        <p:spPr>
          <a:xfrm>
            <a:off x="457200" y="3931920"/>
            <a:ext cx="5577840" cy="320040"/>
          </a:xfrm>
          <a:prstGeom prst="rect">
            <a:avLst/>
          </a:prstGeom>
          <a:noFill/>
          <a:ln/>
        </p:spPr>
        <p:txBody>
          <a:bodyPr wrap="square" lIns="0" tIns="0" rIns="0" bIns="0" rtlCol="0" anchor="t"/>
          <a:lstStyle/>
          <a:p>
            <a:pPr indent="0" marL="0">
              <a:buNone/>
            </a:pPr>
            <a:r>
              <a:rPr lang="en-US" sz="1600" b="1" dirty="0">
                <a:solidFill>
                  <a:srgbClr val="0B2545"/>
                </a:solidFill>
              </a:rPr>
              <a:t>8 pól, zawsze 40 B</a:t>
            </a:r>
            <a:endParaRPr lang="en-US" sz="1600" dirty="0"/>
          </a:p>
        </p:txBody>
      </p:sp>
      <p:sp>
        <p:nvSpPr>
          <p:cNvPr id="21" name="v6-card"/>
          <p:cNvSpPr/>
          <p:nvPr/>
        </p:nvSpPr>
        <p:spPr>
          <a:xfrm>
            <a:off x="6263640" y="1188720"/>
            <a:ext cx="2423160" cy="3337560"/>
          </a:xfrm>
          <a:prstGeom prst="roundRect">
            <a:avLst>
              <a:gd name="adj" fmla="val 377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6400800" y="1280160"/>
            <a:ext cx="2194560" cy="320040"/>
          </a:xfrm>
          <a:prstGeom prst="rect">
            <a:avLst/>
          </a:prstGeom>
          <a:noFill/>
          <a:ln/>
        </p:spPr>
        <p:txBody>
          <a:bodyPr wrap="square" lIns="0" tIns="0" rIns="0" bIns="0" rtlCol="0" anchor="t"/>
          <a:lstStyle/>
          <a:p>
            <a:pPr indent="0" marL="0">
              <a:buNone/>
            </a:pPr>
            <a:r>
              <a:rPr lang="en-US" sz="1600" b="1" dirty="0">
                <a:solidFill>
                  <a:srgbClr val="0E7C7B"/>
                </a:solidFill>
              </a:rPr>
              <a:t>Zmiany</a:t>
            </a:r>
            <a:endParaRPr lang="en-US" sz="1600" dirty="0"/>
          </a:p>
        </p:txBody>
      </p:sp>
      <p:sp>
        <p:nvSpPr>
          <p:cNvPr id="23" name="Text 20"/>
          <p:cNvSpPr txBox="1"/>
          <p:nvPr/>
        </p:nvSpPr>
        <p:spPr>
          <a:xfrm>
            <a:off x="6400800" y="1691640"/>
            <a:ext cx="219456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2A41"/>
                </a:solidFill>
              </a:rPr>
              <a:t>Flow Label: pole nowe</a:t>
            </a:r>
            <a:endParaRPr lang="en-US" sz="1300" dirty="0"/>
          </a:p>
          <a:p>
            <a:pPr marL="342900" indent="-342900">
              <a:spcAft>
                <a:spcPts val="800"/>
              </a:spcAft>
              <a:buSzPct val="100000"/>
              <a:buChar char="•"/>
            </a:pPr>
            <a:r>
              <a:rPr lang="en-US" sz="1300" dirty="0">
                <a:solidFill>
                  <a:srgbClr val="1B2A41"/>
                </a:solidFill>
              </a:rPr>
              <a:t>Hop Limit = dawny TTL</a:t>
            </a:r>
            <a:endParaRPr lang="en-US" sz="1300" dirty="0"/>
          </a:p>
          <a:p>
            <a:pPr marL="342900" indent="-342900">
              <a:spcAft>
                <a:spcPts val="800"/>
              </a:spcAft>
              <a:buSzPct val="100000"/>
              <a:buChar char="•"/>
            </a:pPr>
            <a:r>
              <a:rPr lang="en-US" sz="1300" dirty="0">
                <a:solidFill>
                  <a:srgbClr val="1B2A41"/>
                </a:solidFill>
              </a:rPr>
              <a:t>Next Header = dawny Protokół</a:t>
            </a:r>
            <a:endParaRPr lang="en-US" sz="1300" dirty="0"/>
          </a:p>
          <a:p>
            <a:pPr marL="342900" indent="-342900">
              <a:spcAft>
                <a:spcPts val="800"/>
              </a:spcAft>
              <a:buSzPct val="100000"/>
              <a:buChar char="•"/>
            </a:pPr>
            <a:r>
              <a:rPr lang="en-US" sz="1300" dirty="0">
                <a:solidFill>
                  <a:srgbClr val="1B2A41"/>
                </a:solidFill>
              </a:rPr>
              <a:t>Brak IHL, sumy i pól fragmentacji</a:t>
            </a:r>
            <a:endParaRPr lang="en-US" sz="13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Trzy decyzje projektantów IPv6</a:t>
            </a:r>
            <a:endParaRPr lang="en-US" sz="3000" dirty="0"/>
          </a:p>
        </p:txBody>
      </p:sp>
      <p:sp>
        <p:nvSpPr>
          <p:cNvPr id="4" name="dec-0"/>
          <p:cNvSpPr/>
          <p:nvPr/>
        </p:nvSpPr>
        <p:spPr>
          <a:xfrm>
            <a:off x="457200" y="1143000"/>
            <a:ext cx="2651760" cy="2743200"/>
          </a:xfrm>
          <a:prstGeom prst="roundRect">
            <a:avLst>
              <a:gd name="adj" fmla="val 3448"/>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icon-bg-FaBan"/>
          <p:cNvSpPr/>
          <p:nvPr/>
        </p:nvSpPr>
        <p:spPr>
          <a:xfrm>
            <a:off x="640080" y="1280160"/>
            <a:ext cx="502920" cy="502920"/>
          </a:xfrm>
          <a:prstGeom prst="ellipse">
            <a:avLst/>
          </a:prstGeom>
          <a:solidFill>
            <a:srgbClr val="6C7A89"/>
          </a:solidFill>
          <a:ln w="6350">
            <a:solidFill>
              <a:srgbClr val="6C7A89"/>
            </a:solidFill>
            <a:prstDash val="solid"/>
          </a:ln>
        </p:spPr>
      </p:sp>
      <p:pic>
        <p:nvPicPr>
          <p:cNvPr id="6" name="Image 0" descr="FaBan">    </p:cNvPr>
          <p:cNvPicPr>
            <a:picLocks noChangeAspect="1"/>
          </p:cNvPicPr>
          <p:nvPr/>
        </p:nvPicPr>
        <p:blipFill>
          <a:blip r:embed="rId1"/>
          <a:stretch>
            <a:fillRect/>
          </a:stretch>
        </p:blipFill>
        <p:spPr>
          <a:xfrm>
            <a:off x="765810" y="1405890"/>
            <a:ext cx="251460" cy="251460"/>
          </a:xfrm>
          <a:prstGeom prst="rect">
            <a:avLst/>
          </a:prstGeom>
        </p:spPr>
      </p:pic>
      <p:sp>
        <p:nvSpPr>
          <p:cNvPr id="7" name="Text 3"/>
          <p:cNvSpPr txBox="1"/>
          <p:nvPr/>
        </p:nvSpPr>
        <p:spPr>
          <a:xfrm>
            <a:off x="640080" y="1874520"/>
            <a:ext cx="2286000" cy="548640"/>
          </a:xfrm>
          <a:prstGeom prst="rect">
            <a:avLst/>
          </a:prstGeom>
          <a:noFill/>
          <a:ln/>
        </p:spPr>
        <p:txBody>
          <a:bodyPr wrap="square" lIns="0" tIns="0" rIns="0" bIns="0" rtlCol="0" anchor="t"/>
          <a:lstStyle/>
          <a:p>
            <a:pPr indent="0" marL="0">
              <a:buNone/>
            </a:pPr>
            <a:r>
              <a:rPr lang="en-US" sz="1600" b="1" dirty="0">
                <a:solidFill>
                  <a:srgbClr val="0B2545"/>
                </a:solidFill>
              </a:rPr>
              <a:t>Brak sumy kontrolnej</a:t>
            </a:r>
            <a:endParaRPr lang="en-US" sz="1600" dirty="0"/>
          </a:p>
        </p:txBody>
      </p:sp>
      <p:sp>
        <p:nvSpPr>
          <p:cNvPr id="8" name="Text 4"/>
          <p:cNvSpPr txBox="1"/>
          <p:nvPr/>
        </p:nvSpPr>
        <p:spPr>
          <a:xfrm>
            <a:off x="640080" y="2468880"/>
            <a:ext cx="2331720"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2A41"/>
                </a:solidFill>
              </a:rPr>
              <a:t>FCS i sumy TCP/UDP już chronią</a:t>
            </a:r>
            <a:endParaRPr lang="en-US" sz="1300" dirty="0"/>
          </a:p>
          <a:p>
            <a:pPr marL="342900" indent="-342900">
              <a:spcAft>
                <a:spcPts val="800"/>
              </a:spcAft>
              <a:buSzPct val="100000"/>
              <a:buChar char="•"/>
            </a:pPr>
            <a:r>
              <a:rPr lang="en-US" sz="1300" dirty="0">
                <a:solidFill>
                  <a:srgbClr val="1B2A41"/>
                </a:solidFill>
              </a:rPr>
              <a:t>Koszt na każdym routerze</a:t>
            </a:r>
            <a:endParaRPr lang="en-US" sz="1300" dirty="0"/>
          </a:p>
          <a:p>
            <a:pPr marL="342900" indent="-342900">
              <a:spcAft>
                <a:spcPts val="800"/>
              </a:spcAft>
              <a:buSzPct val="100000"/>
              <a:buChar char="•"/>
            </a:pPr>
            <a:r>
              <a:rPr lang="en-US" sz="1300" dirty="0">
                <a:solidFill>
                  <a:srgbClr val="1B2A41"/>
                </a:solidFill>
              </a:rPr>
              <a:t>Zasada end-to-end</a:t>
            </a:r>
            <a:endParaRPr lang="en-US" sz="1300" dirty="0"/>
          </a:p>
        </p:txBody>
      </p:sp>
      <p:sp>
        <p:nvSpPr>
          <p:cNvPr id="9" name="dec-1"/>
          <p:cNvSpPr/>
          <p:nvPr/>
        </p:nvSpPr>
        <p:spPr>
          <a:xfrm>
            <a:off x="3246120" y="1143000"/>
            <a:ext cx="2651760" cy="2743200"/>
          </a:xfrm>
          <a:prstGeom prst="roundRect">
            <a:avLst>
              <a:gd name="adj" fmla="val 3448"/>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0" name="icon-bg-FaLayerGroup"/>
          <p:cNvSpPr/>
          <p:nvPr/>
        </p:nvSpPr>
        <p:spPr>
          <a:xfrm>
            <a:off x="3429000" y="1280160"/>
            <a:ext cx="502920" cy="502920"/>
          </a:xfrm>
          <a:prstGeom prst="ellipse">
            <a:avLst/>
          </a:prstGeom>
          <a:solidFill>
            <a:srgbClr val="3A6EA5"/>
          </a:solidFill>
          <a:ln w="6350">
            <a:solidFill>
              <a:srgbClr val="3A6EA5"/>
            </a:solidFill>
            <a:prstDash val="solid"/>
          </a:ln>
        </p:spPr>
      </p:sp>
      <p:pic>
        <p:nvPicPr>
          <p:cNvPr id="11" name="Image 1" descr="FaLayerGroup">    </p:cNvPr>
          <p:cNvPicPr>
            <a:picLocks noChangeAspect="1"/>
          </p:cNvPicPr>
          <p:nvPr/>
        </p:nvPicPr>
        <p:blipFill>
          <a:blip r:embed="rId2"/>
          <a:stretch>
            <a:fillRect/>
          </a:stretch>
        </p:blipFill>
        <p:spPr>
          <a:xfrm>
            <a:off x="3554730" y="1405890"/>
            <a:ext cx="251460" cy="251460"/>
          </a:xfrm>
          <a:prstGeom prst="rect">
            <a:avLst/>
          </a:prstGeom>
        </p:spPr>
      </p:pic>
      <p:sp>
        <p:nvSpPr>
          <p:cNvPr id="12" name="Text 7"/>
          <p:cNvSpPr txBox="1"/>
          <p:nvPr/>
        </p:nvSpPr>
        <p:spPr>
          <a:xfrm>
            <a:off x="3429000" y="1874520"/>
            <a:ext cx="2286000" cy="548640"/>
          </a:xfrm>
          <a:prstGeom prst="rect">
            <a:avLst/>
          </a:prstGeom>
          <a:noFill/>
          <a:ln/>
        </p:spPr>
        <p:txBody>
          <a:bodyPr wrap="square" lIns="0" tIns="0" rIns="0" bIns="0" rtlCol="0" anchor="t"/>
          <a:lstStyle/>
          <a:p>
            <a:pPr indent="0" marL="0">
              <a:buNone/>
            </a:pPr>
            <a:r>
              <a:rPr lang="en-US" sz="1600" b="1" dirty="0">
                <a:solidFill>
                  <a:srgbClr val="0B2545"/>
                </a:solidFill>
              </a:rPr>
              <a:t>Nagłówki rozszerzeń</a:t>
            </a:r>
            <a:endParaRPr lang="en-US" sz="1600" dirty="0"/>
          </a:p>
        </p:txBody>
      </p:sp>
      <p:sp>
        <p:nvSpPr>
          <p:cNvPr id="13" name="Text 8"/>
          <p:cNvSpPr txBox="1"/>
          <p:nvPr/>
        </p:nvSpPr>
        <p:spPr>
          <a:xfrm>
            <a:off x="3429000" y="2468880"/>
            <a:ext cx="2331720"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2A41"/>
                </a:solidFill>
              </a:rPr>
              <a:t>Łańcuch przez Next Header</a:t>
            </a:r>
            <a:endParaRPr lang="en-US" sz="1300" dirty="0"/>
          </a:p>
          <a:p>
            <a:pPr marL="342900" indent="-342900">
              <a:spcAft>
                <a:spcPts val="800"/>
              </a:spcAft>
              <a:buSzPct val="100000"/>
              <a:buChar char="•"/>
            </a:pPr>
            <a:r>
              <a:rPr lang="en-US" sz="1300" dirty="0">
                <a:solidFill>
                  <a:srgbClr val="1B2A41"/>
                </a:solidFill>
              </a:rPr>
              <a:t>Hop-by-Hop, Routing, Fragment, AH, ESP</a:t>
            </a:r>
            <a:endParaRPr lang="en-US" sz="1300" dirty="0"/>
          </a:p>
          <a:p>
            <a:pPr marL="342900" indent="-342900">
              <a:spcAft>
                <a:spcPts val="800"/>
              </a:spcAft>
              <a:buSzPct val="100000"/>
              <a:buChar char="•"/>
            </a:pPr>
            <a:r>
              <a:rPr lang="en-US" sz="1300" dirty="0">
                <a:solidFill>
                  <a:srgbClr val="1B2A41"/>
                </a:solidFill>
              </a:rPr>
              <a:t>Router czyta tylko swoje</a:t>
            </a:r>
            <a:endParaRPr lang="en-US" sz="1300" dirty="0"/>
          </a:p>
        </p:txBody>
      </p:sp>
      <p:sp>
        <p:nvSpPr>
          <p:cNvPr id="14" name="dec-2"/>
          <p:cNvSpPr/>
          <p:nvPr/>
        </p:nvSpPr>
        <p:spPr>
          <a:xfrm>
            <a:off x="6035040" y="1143000"/>
            <a:ext cx="2651760" cy="2743200"/>
          </a:xfrm>
          <a:prstGeom prst="roundRect">
            <a:avLst>
              <a:gd name="adj" fmla="val 3448"/>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icon-bg-FaCut"/>
          <p:cNvSpPr/>
          <p:nvPr/>
        </p:nvSpPr>
        <p:spPr>
          <a:xfrm>
            <a:off x="6217920" y="1280160"/>
            <a:ext cx="502920" cy="502920"/>
          </a:xfrm>
          <a:prstGeom prst="ellipse">
            <a:avLst/>
          </a:prstGeom>
          <a:solidFill>
            <a:srgbClr val="C8442F"/>
          </a:solidFill>
          <a:ln w="6350">
            <a:solidFill>
              <a:srgbClr val="C8442F"/>
            </a:solidFill>
            <a:prstDash val="solid"/>
          </a:ln>
        </p:spPr>
      </p:sp>
      <p:pic>
        <p:nvPicPr>
          <p:cNvPr id="16" name="Image 2" descr="FaCut">    </p:cNvPr>
          <p:cNvPicPr>
            <a:picLocks noChangeAspect="1"/>
          </p:cNvPicPr>
          <p:nvPr/>
        </p:nvPicPr>
        <p:blipFill>
          <a:blip r:embed="rId3"/>
          <a:stretch>
            <a:fillRect/>
          </a:stretch>
        </p:blipFill>
        <p:spPr>
          <a:xfrm>
            <a:off x="6343650" y="1405890"/>
            <a:ext cx="251460" cy="251460"/>
          </a:xfrm>
          <a:prstGeom prst="rect">
            <a:avLst/>
          </a:prstGeom>
        </p:spPr>
      </p:pic>
      <p:sp>
        <p:nvSpPr>
          <p:cNvPr id="17" name="Text 11"/>
          <p:cNvSpPr txBox="1"/>
          <p:nvPr/>
        </p:nvSpPr>
        <p:spPr>
          <a:xfrm>
            <a:off x="6217920" y="1874520"/>
            <a:ext cx="2286000" cy="548640"/>
          </a:xfrm>
          <a:prstGeom prst="rect">
            <a:avLst/>
          </a:prstGeom>
          <a:noFill/>
          <a:ln/>
        </p:spPr>
        <p:txBody>
          <a:bodyPr wrap="square" lIns="0" tIns="0" rIns="0" bIns="0" rtlCol="0" anchor="t"/>
          <a:lstStyle/>
          <a:p>
            <a:pPr indent="0" marL="0">
              <a:buNone/>
            </a:pPr>
            <a:r>
              <a:rPr lang="en-US" sz="1600" b="1" dirty="0">
                <a:solidFill>
                  <a:srgbClr val="0B2545"/>
                </a:solidFill>
              </a:rPr>
              <a:t>Fragmentacja tylko u hosta</a:t>
            </a:r>
            <a:endParaRPr lang="en-US" sz="1600" dirty="0"/>
          </a:p>
        </p:txBody>
      </p:sp>
      <p:sp>
        <p:nvSpPr>
          <p:cNvPr id="18" name="Text 12"/>
          <p:cNvSpPr txBox="1"/>
          <p:nvPr/>
        </p:nvSpPr>
        <p:spPr>
          <a:xfrm>
            <a:off x="6217920" y="2468880"/>
            <a:ext cx="2331720"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2A41"/>
                </a:solidFill>
              </a:rPr>
              <a:t>Router odrzuca i wysyła Packet Too Big</a:t>
            </a:r>
            <a:endParaRPr lang="en-US" sz="1300" dirty="0"/>
          </a:p>
          <a:p>
            <a:pPr marL="342900" indent="-342900">
              <a:spcAft>
                <a:spcPts val="800"/>
              </a:spcAft>
              <a:buSzPct val="100000"/>
              <a:buChar char="•"/>
            </a:pPr>
            <a:r>
              <a:rPr lang="en-US" sz="1300" dirty="0">
                <a:solidFill>
                  <a:srgbClr val="1B2A41"/>
                </a:solidFill>
              </a:rPr>
              <a:t>PMTUD obowiązkowe</a:t>
            </a:r>
            <a:endParaRPr lang="en-US" sz="1300" dirty="0"/>
          </a:p>
          <a:p>
            <a:pPr marL="342900" indent="-342900">
              <a:spcAft>
                <a:spcPts val="800"/>
              </a:spcAft>
              <a:buSzPct val="100000"/>
              <a:buChar char="•"/>
            </a:pPr>
            <a:r>
              <a:rPr lang="en-US" sz="1300" dirty="0">
                <a:solidFill>
                  <a:srgbClr val="1B2A41"/>
                </a:solidFill>
              </a:rPr>
              <a:t>Minimalne MTU: 1280 B</a:t>
            </a:r>
            <a:endParaRPr lang="en-US" sz="1300" dirty="0"/>
          </a:p>
        </p:txBody>
      </p:sp>
      <p:sp>
        <p:nvSpPr>
          <p:cNvPr id="19" name="node-IPv6"/>
          <p:cNvSpPr/>
          <p:nvPr/>
        </p:nvSpPr>
        <p:spPr>
          <a:xfrm>
            <a:off x="457200" y="4069080"/>
            <a:ext cx="1280160" cy="502920"/>
          </a:xfrm>
          <a:prstGeom prst="roundRect">
            <a:avLst>
              <a:gd name="adj" fmla="val 14545"/>
            </a:avLst>
          </a:prstGeom>
          <a:solidFill>
            <a:srgbClr val="0B2545"/>
          </a:solidFill>
          <a:ln w="12700">
            <a:solidFill>
              <a:srgbClr val="0B2545"/>
            </a:solidFill>
            <a:prstDash val="solid"/>
          </a:ln>
        </p:spPr>
      </p:sp>
      <p:sp>
        <p:nvSpPr>
          <p:cNvPr id="20" name="Text 14"/>
          <p:cNvSpPr txBox="1"/>
          <p:nvPr/>
        </p:nvSpPr>
        <p:spPr>
          <a:xfrm>
            <a:off x="457200" y="4069080"/>
            <a:ext cx="1280160" cy="502920"/>
          </a:xfrm>
          <a:prstGeom prst="rect">
            <a:avLst/>
          </a:prstGeom>
          <a:noFill/>
          <a:ln/>
        </p:spPr>
        <p:txBody>
          <a:bodyPr wrap="square" lIns="0" tIns="0" rIns="0" bIns="0" rtlCol="0" anchor="ctr"/>
          <a:lstStyle/>
          <a:p>
            <a:pPr algn="ctr" indent="0" marL="0">
              <a:buNone/>
            </a:pPr>
            <a:r>
              <a:rPr lang="en-US" sz="1300" b="1" dirty="0">
                <a:solidFill>
                  <a:srgbClr val="FFFFFF"/>
                </a:solidFill>
              </a:rPr>
              <a:t>IPv6</a:t>
            </a:r>
            <a:endParaRPr lang="en-US" sz="1300" dirty="0"/>
          </a:p>
        </p:txBody>
      </p:sp>
      <p:sp>
        <p:nvSpPr>
          <p:cNvPr id="21" name="node-Routing"/>
          <p:cNvSpPr/>
          <p:nvPr/>
        </p:nvSpPr>
        <p:spPr>
          <a:xfrm>
            <a:off x="1965960" y="4069080"/>
            <a:ext cx="1280160" cy="502920"/>
          </a:xfrm>
          <a:prstGeom prst="roundRect">
            <a:avLst>
              <a:gd name="adj" fmla="val 14545"/>
            </a:avLst>
          </a:prstGeom>
          <a:solidFill>
            <a:srgbClr val="3A6EA5"/>
          </a:solidFill>
          <a:ln w="12700">
            <a:solidFill>
              <a:srgbClr val="3A6EA5"/>
            </a:solidFill>
            <a:prstDash val="solid"/>
          </a:ln>
        </p:spPr>
      </p:sp>
      <p:sp>
        <p:nvSpPr>
          <p:cNvPr id="22" name="Text 16"/>
          <p:cNvSpPr txBox="1"/>
          <p:nvPr/>
        </p:nvSpPr>
        <p:spPr>
          <a:xfrm>
            <a:off x="1965960" y="4069080"/>
            <a:ext cx="1280160" cy="502920"/>
          </a:xfrm>
          <a:prstGeom prst="rect">
            <a:avLst/>
          </a:prstGeom>
          <a:noFill/>
          <a:ln/>
        </p:spPr>
        <p:txBody>
          <a:bodyPr wrap="square" lIns="0" tIns="0" rIns="0" bIns="0" rtlCol="0" anchor="ctr"/>
          <a:lstStyle/>
          <a:p>
            <a:pPr algn="ctr" indent="0" marL="0">
              <a:buNone/>
            </a:pPr>
            <a:r>
              <a:rPr lang="en-US" sz="1300" b="1" dirty="0">
                <a:solidFill>
                  <a:srgbClr val="FFFFFF"/>
                </a:solidFill>
              </a:rPr>
              <a:t>Routing</a:t>
            </a:r>
            <a:endParaRPr lang="en-US" sz="1300" dirty="0"/>
          </a:p>
        </p:txBody>
      </p:sp>
      <p:sp>
        <p:nvSpPr>
          <p:cNvPr id="23" name="node-Fragment"/>
          <p:cNvSpPr/>
          <p:nvPr/>
        </p:nvSpPr>
        <p:spPr>
          <a:xfrm>
            <a:off x="3474720" y="4069080"/>
            <a:ext cx="1371600" cy="502920"/>
          </a:xfrm>
          <a:prstGeom prst="roundRect">
            <a:avLst>
              <a:gd name="adj" fmla="val 14545"/>
            </a:avLst>
          </a:prstGeom>
          <a:solidFill>
            <a:srgbClr val="C8442F"/>
          </a:solidFill>
          <a:ln w="12700">
            <a:solidFill>
              <a:srgbClr val="C8442F"/>
            </a:solidFill>
            <a:prstDash val="solid"/>
          </a:ln>
        </p:spPr>
      </p:sp>
      <p:sp>
        <p:nvSpPr>
          <p:cNvPr id="24" name="Text 18"/>
          <p:cNvSpPr txBox="1"/>
          <p:nvPr/>
        </p:nvSpPr>
        <p:spPr>
          <a:xfrm>
            <a:off x="3474720" y="4069080"/>
            <a:ext cx="1371600" cy="502920"/>
          </a:xfrm>
          <a:prstGeom prst="rect">
            <a:avLst/>
          </a:prstGeom>
          <a:noFill/>
          <a:ln/>
        </p:spPr>
        <p:txBody>
          <a:bodyPr wrap="square" lIns="0" tIns="0" rIns="0" bIns="0" rtlCol="0" anchor="ctr"/>
          <a:lstStyle/>
          <a:p>
            <a:pPr algn="ctr" indent="0" marL="0">
              <a:buNone/>
            </a:pPr>
            <a:r>
              <a:rPr lang="en-US" sz="1300" b="1" dirty="0">
                <a:solidFill>
                  <a:srgbClr val="FFFFFF"/>
                </a:solidFill>
              </a:rPr>
              <a:t>Fragment</a:t>
            </a:r>
            <a:endParaRPr lang="en-US" sz="1300" dirty="0"/>
          </a:p>
        </p:txBody>
      </p:sp>
      <p:sp>
        <p:nvSpPr>
          <p:cNvPr id="25" name="node-TCP + dane"/>
          <p:cNvSpPr/>
          <p:nvPr/>
        </p:nvSpPr>
        <p:spPr>
          <a:xfrm>
            <a:off x="5074920" y="4069080"/>
            <a:ext cx="1828800" cy="502920"/>
          </a:xfrm>
          <a:prstGeom prst="roundRect">
            <a:avLst>
              <a:gd name="adj" fmla="val 14545"/>
            </a:avLst>
          </a:prstGeom>
          <a:solidFill>
            <a:srgbClr val="0E7C7B"/>
          </a:solidFill>
          <a:ln w="12700">
            <a:solidFill>
              <a:srgbClr val="0E7C7B"/>
            </a:solidFill>
            <a:prstDash val="solid"/>
          </a:ln>
        </p:spPr>
      </p:sp>
      <p:sp>
        <p:nvSpPr>
          <p:cNvPr id="26" name="Text 20"/>
          <p:cNvSpPr txBox="1"/>
          <p:nvPr/>
        </p:nvSpPr>
        <p:spPr>
          <a:xfrm>
            <a:off x="5074920" y="4069080"/>
            <a:ext cx="1828800" cy="502920"/>
          </a:xfrm>
          <a:prstGeom prst="rect">
            <a:avLst/>
          </a:prstGeom>
          <a:noFill/>
          <a:ln/>
        </p:spPr>
        <p:txBody>
          <a:bodyPr wrap="square" lIns="0" tIns="0" rIns="0" bIns="0" rtlCol="0" anchor="ctr"/>
          <a:lstStyle/>
          <a:p>
            <a:pPr algn="ctr" indent="0" marL="0">
              <a:buNone/>
            </a:pPr>
            <a:r>
              <a:rPr lang="en-US" sz="1300" b="1" dirty="0">
                <a:solidFill>
                  <a:srgbClr val="FFFFFF"/>
                </a:solidFill>
              </a:rPr>
              <a:t>TCP + dane</a:t>
            </a:r>
            <a:endParaRPr lang="en-US" sz="1300" dirty="0"/>
          </a:p>
        </p:txBody>
      </p:sp>
      <p:sp>
        <p:nvSpPr>
          <p:cNvPr id="27" name="Text 21"/>
          <p:cNvSpPr txBox="1"/>
          <p:nvPr/>
        </p:nvSpPr>
        <p:spPr>
          <a:xfrm>
            <a:off x="7086600" y="4069080"/>
            <a:ext cx="1645920" cy="502920"/>
          </a:xfrm>
          <a:prstGeom prst="rect">
            <a:avLst/>
          </a:prstGeom>
          <a:noFill/>
          <a:ln/>
        </p:spPr>
        <p:txBody>
          <a:bodyPr wrap="square" lIns="0" tIns="0" rIns="0" bIns="0" rtlCol="0" anchor="ctr"/>
          <a:lstStyle/>
          <a:p>
            <a:pPr indent="0" marL="0">
              <a:buNone/>
            </a:pPr>
            <a:r>
              <a:rPr lang="en-US" sz="1200" dirty="0">
                <a:solidFill>
                  <a:srgbClr val="5C6B80"/>
                </a:solidFill>
              </a:rPr>
              <a:t>przykładowy łańcuch</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IPv4 kontra IPv6</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86000"/>
                <a:gridCol w="2834640"/>
                <a:gridCol w="3108960"/>
              </a:tblGrid>
              <a:tr h="347472">
                <a:tc>
                  <a:txBody>
                    <a:bodyPr/>
                    <a:lstStyle/>
                    <a:p>
                      <a:pPr indent="0" marL="0">
                        <a:buNone/>
                      </a:pPr>
                      <a:r>
                        <a:rPr lang="en-US" sz="1400" b="1" dirty="0">
                          <a:solidFill>
                            <a:srgbClr val="FFFFFF"/>
                          </a:solidFill>
                        </a:rPr>
                        <a:t>Cecha</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IPv4</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IPv6</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r>
              <a:tr h="347472">
                <a:tc>
                  <a:txBody>
                    <a:bodyPr/>
                    <a:lstStyle/>
                    <a:p>
                      <a:pPr indent="0" marL="0">
                        <a:buNone/>
                      </a:pPr>
                      <a:r>
                        <a:rPr lang="en-US" sz="1400" b="1" dirty="0">
                          <a:solidFill>
                            <a:srgbClr val="0B2545"/>
                          </a:solidFill>
                        </a:rPr>
                        <a:t>Adres</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32 bity</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128 bitów</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347472">
                <a:tc>
                  <a:txBody>
                    <a:bodyPr/>
                    <a:lstStyle/>
                    <a:p>
                      <a:pPr indent="0" marL="0">
                        <a:buNone/>
                      </a:pPr>
                      <a:r>
                        <a:rPr lang="en-US" sz="1400" b="1" dirty="0">
                          <a:solidFill>
                            <a:srgbClr val="0B2545"/>
                          </a:solidFill>
                        </a:rPr>
                        <a:t>Nagłówek</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20–60 B</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stałe 40 B</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347472">
                <a:tc>
                  <a:txBody>
                    <a:bodyPr/>
                    <a:lstStyle/>
                    <a:p>
                      <a:pPr indent="0" marL="0">
                        <a:buNone/>
                      </a:pPr>
                      <a:r>
                        <a:rPr lang="en-US" sz="1400" b="1" dirty="0">
                          <a:solidFill>
                            <a:srgbClr val="0B2545"/>
                          </a:solidFill>
                        </a:rPr>
                        <a:t>IHL</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tak</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nie ma</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347472">
                <a:tc>
                  <a:txBody>
                    <a:bodyPr/>
                    <a:lstStyle/>
                    <a:p>
                      <a:pPr indent="0" marL="0">
                        <a:buNone/>
                      </a:pPr>
                      <a:r>
                        <a:rPr lang="en-US" sz="1400" b="1" dirty="0">
                          <a:solidFill>
                            <a:srgbClr val="0B2545"/>
                          </a:solidFill>
                        </a:rPr>
                        <a:t>Suma kontrolna</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przeliczana na routerach</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usunięta</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347472">
                <a:tc>
                  <a:txBody>
                    <a:bodyPr/>
                    <a:lstStyle/>
                    <a:p>
                      <a:pPr indent="0" marL="0">
                        <a:buNone/>
                      </a:pPr>
                      <a:r>
                        <a:rPr lang="en-US" sz="1400" b="1" dirty="0">
                          <a:solidFill>
                            <a:srgbClr val="0B2545"/>
                          </a:solidFill>
                        </a:rPr>
                        <a:t>Fragmentacja</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routery (bez DF)</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tylko host źródłowy</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347472">
                <a:tc>
                  <a:txBody>
                    <a:bodyPr/>
                    <a:lstStyle/>
                    <a:p>
                      <a:pPr indent="0" marL="0">
                        <a:buNone/>
                      </a:pPr>
                      <a:r>
                        <a:rPr lang="en-US" sz="1400" b="1" dirty="0">
                          <a:solidFill>
                            <a:srgbClr val="0B2545"/>
                          </a:solidFill>
                        </a:rPr>
                        <a:t>Minimalne MTU</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brak wymogu</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1280 B</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347472">
                <a:tc>
                  <a:txBody>
                    <a:bodyPr/>
                    <a:lstStyle/>
                    <a:p>
                      <a:pPr indent="0" marL="0">
                        <a:buNone/>
                      </a:pPr>
                      <a:r>
                        <a:rPr lang="en-US" sz="1400" b="1" dirty="0">
                          <a:solidFill>
                            <a:srgbClr val="0B2545"/>
                          </a:solidFill>
                        </a:rPr>
                        <a:t>Opcje</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pole Options</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nagłówki rozszerzeń</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347472">
                <a:tc>
                  <a:txBody>
                    <a:bodyPr/>
                    <a:lstStyle/>
                    <a:p>
                      <a:pPr indent="0" marL="0">
                        <a:buNone/>
                      </a:pPr>
                      <a:r>
                        <a:rPr lang="en-US" sz="1400" b="1" dirty="0">
                          <a:solidFill>
                            <a:srgbClr val="0B2545"/>
                          </a:solidFill>
                        </a:rPr>
                        <a:t>Priorytet / przepływ</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ToS (DSCP + ECN)</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Traffic Class + Flow Label</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347472">
                <a:tc>
                  <a:txBody>
                    <a:bodyPr/>
                    <a:lstStyle/>
                    <a:p>
                      <a:pPr indent="0" marL="0">
                        <a:buNone/>
                      </a:pPr>
                      <a:r>
                        <a:rPr lang="en-US" sz="1400" b="1" dirty="0">
                          <a:solidFill>
                            <a:srgbClr val="0B2545"/>
                          </a:solidFill>
                        </a:rPr>
                        <a:t>Licznik / protokół</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TTL / Protocol</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Hop Limit / Next Header</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bl>
          </a:graphicData>
        </a:graphic>
      </p:graphicFrame>
      <p:sp>
        <p:nvSpPr>
          <p:cNvPr id="5" name="Text 1"/>
          <p:cNvSpPr txBox="1"/>
          <p:nvPr/>
        </p:nvSpPr>
        <p:spPr>
          <a:xfrm>
            <a:off x="457200" y="4617720"/>
            <a:ext cx="7589520" cy="274320"/>
          </a:xfrm>
          <a:prstGeom prst="rect">
            <a:avLst/>
          </a:prstGeom>
          <a:noFill/>
          <a:ln/>
        </p:spPr>
        <p:txBody>
          <a:bodyPr wrap="square" lIns="0" tIns="0" rIns="0" bIns="0" rtlCol="0" anchor="t"/>
          <a:lstStyle/>
          <a:p>
            <a:pPr indent="0" marL="0">
              <a:buNone/>
            </a:pPr>
            <a:r>
              <a:rPr lang="en-US" sz="1200" dirty="0">
                <a:solidFill>
                  <a:srgbClr val="5C6B80"/>
                </a:solidFill>
              </a:rPr>
              <a:t>Broadcast zastąpiony multicastem; SLAAC daje autokonfigurację adresu bez serwera.</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Podsumowanie i zadania</a:t>
            </a:r>
            <a:endParaRPr lang="en-US" sz="3000" dirty="0"/>
          </a:p>
        </p:txBody>
      </p:sp>
      <p:sp>
        <p:nvSpPr>
          <p:cNvPr id="4" name="Shape 1"/>
          <p:cNvSpPr/>
          <p:nvPr/>
        </p:nvSpPr>
        <p:spPr>
          <a:xfrm>
            <a:off x="457200" y="1234440"/>
            <a:ext cx="457200" cy="457200"/>
          </a:xfrm>
          <a:prstGeom prst="ellipse">
            <a:avLst/>
          </a:prstGeom>
          <a:solidFill>
            <a:srgbClr val="0E7C7B"/>
          </a:solidFill>
          <a:ln w="12700">
            <a:solidFill>
              <a:srgbClr val="5FD0CB"/>
            </a:solidFill>
            <a:prstDash val="solid"/>
          </a:ln>
        </p:spPr>
      </p:sp>
      <p:sp>
        <p:nvSpPr>
          <p:cNvPr id="5" name="Text 2"/>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3"/>
          <p:cNvSpPr txBox="1"/>
          <p:nvPr/>
        </p:nvSpPr>
        <p:spPr>
          <a:xfrm>
            <a:off x="1097280" y="1188720"/>
            <a:ext cx="3017520" cy="548640"/>
          </a:xfrm>
          <a:prstGeom prst="rect">
            <a:avLst/>
          </a:prstGeom>
          <a:noFill/>
          <a:ln/>
        </p:spPr>
        <p:txBody>
          <a:bodyPr wrap="square" lIns="0" tIns="0" rIns="0" bIns="0" rtlCol="0" anchor="ctr"/>
          <a:lstStyle/>
          <a:p>
            <a:pPr indent="0" marL="0">
              <a:buNone/>
            </a:pPr>
            <a:r>
              <a:rPr lang="en-US" sz="1500" dirty="0">
                <a:solidFill>
                  <a:srgbClr val="FFFFFF"/>
                </a:solidFill>
              </a:rPr>
              <a:t>Hierarchiczna adresacja daje skalowalny routing</a:t>
            </a:r>
            <a:endParaRPr lang="en-US" sz="1500" dirty="0"/>
          </a:p>
        </p:txBody>
      </p:sp>
      <p:sp>
        <p:nvSpPr>
          <p:cNvPr id="7" name="Shape 4"/>
          <p:cNvSpPr/>
          <p:nvPr/>
        </p:nvSpPr>
        <p:spPr>
          <a:xfrm>
            <a:off x="457200" y="2103120"/>
            <a:ext cx="457200" cy="457200"/>
          </a:xfrm>
          <a:prstGeom prst="ellipse">
            <a:avLst/>
          </a:prstGeom>
          <a:solidFill>
            <a:srgbClr val="0E7C7B"/>
          </a:solidFill>
          <a:ln w="12700">
            <a:solidFill>
              <a:srgbClr val="5FD0CB"/>
            </a:solidFill>
            <a:prstDash val="solid"/>
          </a:ln>
        </p:spPr>
      </p:sp>
      <p:sp>
        <p:nvSpPr>
          <p:cNvPr id="8" name="Text 5"/>
          <p:cNvSpPr txBox="1"/>
          <p:nvPr/>
        </p:nvSpPr>
        <p:spPr>
          <a:xfrm>
            <a:off x="457200" y="2103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6"/>
          <p:cNvSpPr txBox="1"/>
          <p:nvPr/>
        </p:nvSpPr>
        <p:spPr>
          <a:xfrm>
            <a:off x="1097280" y="2057400"/>
            <a:ext cx="3017520" cy="548640"/>
          </a:xfrm>
          <a:prstGeom prst="rect">
            <a:avLst/>
          </a:prstGeom>
          <a:noFill/>
          <a:ln/>
        </p:spPr>
        <p:txBody>
          <a:bodyPr wrap="square" lIns="0" tIns="0" rIns="0" bIns="0" rtlCol="0" anchor="ctr"/>
          <a:lstStyle/>
          <a:p>
            <a:pPr indent="0" marL="0">
              <a:buNone/>
            </a:pPr>
            <a:r>
              <a:rPr lang="en-US" sz="1500" dirty="0">
                <a:solidFill>
                  <a:srgbClr val="FFFFFF"/>
                </a:solidFill>
              </a:rPr>
              <a:t>IPv4: IHL, DiffServ, TTL, fragmentacja, Protokół</a:t>
            </a:r>
            <a:endParaRPr lang="en-US" sz="1500" dirty="0"/>
          </a:p>
        </p:txBody>
      </p:sp>
      <p:sp>
        <p:nvSpPr>
          <p:cNvPr id="10" name="Shape 7"/>
          <p:cNvSpPr/>
          <p:nvPr/>
        </p:nvSpPr>
        <p:spPr>
          <a:xfrm>
            <a:off x="457200" y="2971800"/>
            <a:ext cx="457200" cy="457200"/>
          </a:xfrm>
          <a:prstGeom prst="ellipse">
            <a:avLst/>
          </a:prstGeom>
          <a:solidFill>
            <a:srgbClr val="0E7C7B"/>
          </a:solidFill>
          <a:ln w="12700">
            <a:solidFill>
              <a:srgbClr val="5FD0CB"/>
            </a:solidFill>
            <a:prstDash val="solid"/>
          </a:ln>
        </p:spPr>
      </p:sp>
      <p:sp>
        <p:nvSpPr>
          <p:cNvPr id="11" name="Text 8"/>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9"/>
          <p:cNvSpPr txBox="1"/>
          <p:nvPr/>
        </p:nvSpPr>
        <p:spPr>
          <a:xfrm>
            <a:off x="1097280" y="2926080"/>
            <a:ext cx="3017520" cy="548640"/>
          </a:xfrm>
          <a:prstGeom prst="rect">
            <a:avLst/>
          </a:prstGeom>
          <a:noFill/>
          <a:ln/>
        </p:spPr>
        <p:txBody>
          <a:bodyPr wrap="square" lIns="0" tIns="0" rIns="0" bIns="0" rtlCol="0" anchor="ctr"/>
          <a:lstStyle/>
          <a:p>
            <a:pPr indent="0" marL="0">
              <a:buNone/>
            </a:pPr>
            <a:r>
              <a:rPr lang="en-US" sz="1500" dirty="0">
                <a:solidFill>
                  <a:srgbClr val="FFFFFF"/>
                </a:solidFill>
              </a:rPr>
              <a:t>IPv6: stały nagłówek, brak sumy, fragmentacja u hosta</a:t>
            </a:r>
            <a:endParaRPr lang="en-US" sz="1500" dirty="0"/>
          </a:p>
        </p:txBody>
      </p:sp>
      <p:sp>
        <p:nvSpPr>
          <p:cNvPr id="13" name="Text 10"/>
          <p:cNvSpPr txBox="1"/>
          <p:nvPr/>
        </p:nvSpPr>
        <p:spPr>
          <a:xfrm>
            <a:off x="457200" y="3840480"/>
            <a:ext cx="3657600" cy="640080"/>
          </a:xfrm>
          <a:prstGeom prst="rect">
            <a:avLst/>
          </a:prstGeom>
          <a:noFill/>
          <a:ln/>
        </p:spPr>
        <p:txBody>
          <a:bodyPr wrap="square" lIns="0" tIns="0" rIns="0" bIns="0" rtlCol="0" anchor="t"/>
          <a:lstStyle/>
          <a:p>
            <a:pPr indent="0" marL="0">
              <a:buNone/>
            </a:pPr>
            <a:r>
              <a:rPr lang="en-US" sz="1300" dirty="0">
                <a:solidFill>
                  <a:srgbClr val="8FA3BF"/>
                </a:solidFill>
              </a:rPr>
              <a:t>Stałe: IPv6 = 40 B, MTU Ethernet = 1500 B, fragment = wielokrotność 8 B</a:t>
            </a:r>
            <a:endParaRPr lang="en-US" sz="1300" dirty="0"/>
          </a:p>
        </p:txBody>
      </p:sp>
      <p:sp>
        <p:nvSpPr>
          <p:cNvPr id="14" name="tasks-card"/>
          <p:cNvSpPr/>
          <p:nvPr/>
        </p:nvSpPr>
        <p:spPr>
          <a:xfrm>
            <a:off x="4389120" y="1097280"/>
            <a:ext cx="4297680" cy="3474720"/>
          </a:xfrm>
          <a:prstGeom prst="roundRect">
            <a:avLst>
              <a:gd name="adj" fmla="val 263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4572000" y="1188720"/>
            <a:ext cx="3931920" cy="365760"/>
          </a:xfrm>
          <a:prstGeom prst="rect">
            <a:avLst/>
          </a:prstGeom>
          <a:noFill/>
          <a:ln/>
        </p:spPr>
        <p:txBody>
          <a:bodyPr wrap="square" lIns="0" tIns="0" rIns="0" bIns="0" rtlCol="0" anchor="t"/>
          <a:lstStyle/>
          <a:p>
            <a:pPr indent="0" marL="0">
              <a:buNone/>
            </a:pPr>
            <a:r>
              <a:rPr lang="en-US" sz="1800" b="1" dirty="0">
                <a:solidFill>
                  <a:srgbClr val="0E7C7B"/>
                </a:solidFill>
              </a:rPr>
              <a:t>Zadania i odpowiedzi</a:t>
            </a:r>
            <a:endParaRPr lang="en-US" sz="1800" dirty="0"/>
          </a:p>
        </p:txBody>
      </p:sp>
      <p:sp>
        <p:nvSpPr>
          <p:cNvPr id="16" name="Text 13"/>
          <p:cNvSpPr txBox="1"/>
          <p:nvPr/>
        </p:nvSpPr>
        <p:spPr>
          <a:xfrm>
            <a:off x="4572000" y="1645920"/>
            <a:ext cx="3931920" cy="365760"/>
          </a:xfrm>
          <a:prstGeom prst="rect">
            <a:avLst/>
          </a:prstGeom>
          <a:noFill/>
          <a:ln/>
        </p:spPr>
        <p:txBody>
          <a:bodyPr wrap="square" lIns="0" tIns="0" rIns="0" bIns="0" rtlCol="0" anchor="t"/>
          <a:lstStyle/>
          <a:p>
            <a:pPr indent="0" marL="0">
              <a:buNone/>
            </a:pPr>
            <a:r>
              <a:rPr lang="en-US" sz="1300" b="1" dirty="0">
                <a:solidFill>
                  <a:srgbClr val="0B2545"/>
                </a:solidFill>
              </a:rPr>
              <a:t>Zadanie 1: </a:t>
            </a:r>
            <a:pPr indent="0" marL="0">
              <a:buNone/>
            </a:pPr>
            <a:r>
              <a:rPr lang="en-US" sz="1300" dirty="0">
                <a:solidFill>
                  <a:srgbClr val="1B2A41"/>
                </a:solidFill>
              </a:rPr>
              <a:t>Total Length 5940 B, MTU 1500. Fragmenty?</a:t>
            </a:r>
            <a:endParaRPr lang="en-US" sz="1300" dirty="0"/>
          </a:p>
        </p:txBody>
      </p:sp>
      <p:sp>
        <p:nvSpPr>
          <p:cNvPr id="17" name="ans-1"/>
          <p:cNvSpPr/>
          <p:nvPr/>
        </p:nvSpPr>
        <p:spPr>
          <a:xfrm>
            <a:off x="4572000" y="2029968"/>
            <a:ext cx="3931920" cy="457200"/>
          </a:xfrm>
          <a:prstGeom prst="roundRect">
            <a:avLst>
              <a:gd name="adj" fmla="val 12000"/>
            </a:avLst>
          </a:prstGeom>
          <a:solidFill>
            <a:srgbClr val="D5EFEE"/>
          </a:solidFill>
          <a:ln w="9525">
            <a:solidFill>
              <a:srgbClr val="0E7C7B"/>
            </a:solidFill>
            <a:prstDash val="solid"/>
          </a:ln>
        </p:spPr>
      </p:sp>
      <p:sp>
        <p:nvSpPr>
          <p:cNvPr id="18" name="Text 15"/>
          <p:cNvSpPr txBox="1"/>
          <p:nvPr/>
        </p:nvSpPr>
        <p:spPr>
          <a:xfrm>
            <a:off x="4663440" y="2029968"/>
            <a:ext cx="3749040" cy="457200"/>
          </a:xfrm>
          <a:prstGeom prst="rect">
            <a:avLst/>
          </a:prstGeom>
          <a:noFill/>
          <a:ln/>
        </p:spPr>
        <p:txBody>
          <a:bodyPr wrap="square" lIns="0" tIns="0" rIns="0" bIns="0" rtlCol="0" anchor="ctr"/>
          <a:lstStyle/>
          <a:p>
            <a:pPr indent="0" marL="0">
              <a:buNone/>
            </a:pPr>
            <a:r>
              <a:rPr lang="en-US" sz="1200" b="1" dirty="0">
                <a:solidFill>
                  <a:srgbClr val="0B2545"/>
                </a:solidFill>
              </a:rPr>
              <a:t>4 fragmenty, offset 0, 185, 370, 555, MF 1,1,1,0</a:t>
            </a:r>
            <a:endParaRPr lang="en-US" sz="1200" dirty="0"/>
          </a:p>
        </p:txBody>
      </p:sp>
      <p:sp>
        <p:nvSpPr>
          <p:cNvPr id="19" name="Text 16"/>
          <p:cNvSpPr txBox="1"/>
          <p:nvPr/>
        </p:nvSpPr>
        <p:spPr>
          <a:xfrm>
            <a:off x="4572000" y="2624328"/>
            <a:ext cx="3931920" cy="365760"/>
          </a:xfrm>
          <a:prstGeom prst="rect">
            <a:avLst/>
          </a:prstGeom>
          <a:noFill/>
          <a:ln/>
        </p:spPr>
        <p:txBody>
          <a:bodyPr wrap="square" lIns="0" tIns="0" rIns="0" bIns="0" rtlCol="0" anchor="t"/>
          <a:lstStyle/>
          <a:p>
            <a:pPr indent="0" marL="0">
              <a:buNone/>
            </a:pPr>
            <a:r>
              <a:rPr lang="en-US" sz="1300" b="1" dirty="0">
                <a:solidFill>
                  <a:srgbClr val="0B2545"/>
                </a:solidFill>
              </a:rPr>
              <a:t>Zadanie 2: </a:t>
            </a:r>
            <a:pPr indent="0" marL="0">
              <a:buNone/>
            </a:pPr>
            <a:r>
              <a:rPr lang="en-US" sz="1300" dirty="0">
                <a:solidFill>
                  <a:srgbClr val="1B2A41"/>
                </a:solidFill>
              </a:rPr>
              <a:t>TTL 64, serwer 11 przeskoków. TTL u celu?</a:t>
            </a:r>
            <a:endParaRPr lang="en-US" sz="1300" dirty="0"/>
          </a:p>
        </p:txBody>
      </p:sp>
      <p:sp>
        <p:nvSpPr>
          <p:cNvPr id="20" name="ans-2"/>
          <p:cNvSpPr/>
          <p:nvPr/>
        </p:nvSpPr>
        <p:spPr>
          <a:xfrm>
            <a:off x="4572000" y="3008376"/>
            <a:ext cx="3931920" cy="457200"/>
          </a:xfrm>
          <a:prstGeom prst="roundRect">
            <a:avLst>
              <a:gd name="adj" fmla="val 12000"/>
            </a:avLst>
          </a:prstGeom>
          <a:solidFill>
            <a:srgbClr val="D5EFEE"/>
          </a:solidFill>
          <a:ln w="9525">
            <a:solidFill>
              <a:srgbClr val="0E7C7B"/>
            </a:solidFill>
            <a:prstDash val="solid"/>
          </a:ln>
        </p:spPr>
      </p:sp>
      <p:sp>
        <p:nvSpPr>
          <p:cNvPr id="21" name="Text 18"/>
          <p:cNvSpPr txBox="1"/>
          <p:nvPr/>
        </p:nvSpPr>
        <p:spPr>
          <a:xfrm>
            <a:off x="4663440" y="3008376"/>
            <a:ext cx="3749040" cy="457200"/>
          </a:xfrm>
          <a:prstGeom prst="rect">
            <a:avLst/>
          </a:prstGeom>
          <a:noFill/>
          <a:ln/>
        </p:spPr>
        <p:txBody>
          <a:bodyPr wrap="square" lIns="0" tIns="0" rIns="0" bIns="0" rtlCol="0" anchor="ctr"/>
          <a:lstStyle/>
          <a:p>
            <a:pPr indent="0" marL="0">
              <a:buNone/>
            </a:pPr>
            <a:r>
              <a:rPr lang="en-US" sz="1200" b="1" dirty="0">
                <a:solidFill>
                  <a:srgbClr val="0B2545"/>
                </a:solidFill>
              </a:rPr>
              <a:t>53 (pakiet przeszedłby jeszcze 52 routery)</a:t>
            </a:r>
            <a:endParaRPr lang="en-US" sz="1200" dirty="0"/>
          </a:p>
        </p:txBody>
      </p:sp>
      <p:sp>
        <p:nvSpPr>
          <p:cNvPr id="22" name="Text 19"/>
          <p:cNvSpPr txBox="1"/>
          <p:nvPr/>
        </p:nvSpPr>
        <p:spPr>
          <a:xfrm>
            <a:off x="4572000" y="3602736"/>
            <a:ext cx="3931920" cy="365760"/>
          </a:xfrm>
          <a:prstGeom prst="rect">
            <a:avLst/>
          </a:prstGeom>
          <a:noFill/>
          <a:ln/>
        </p:spPr>
        <p:txBody>
          <a:bodyPr wrap="square" lIns="0" tIns="0" rIns="0" bIns="0" rtlCol="0" anchor="t"/>
          <a:lstStyle/>
          <a:p>
            <a:pPr indent="0" marL="0">
              <a:buNone/>
            </a:pPr>
            <a:r>
              <a:rPr lang="en-US" sz="1300" b="1" dirty="0">
                <a:solidFill>
                  <a:srgbClr val="0B2545"/>
                </a:solidFill>
              </a:rPr>
              <a:t>Zadanie 3: </a:t>
            </a:r>
            <a:pPr indent="0" marL="0">
              <a:buNone/>
            </a:pPr>
            <a:r>
              <a:rPr lang="en-US" sz="1300" dirty="0">
                <a:solidFill>
                  <a:srgbClr val="1B2A41"/>
                </a:solidFill>
              </a:rPr>
              <a:t>10.20.30.0/23 na 8 podsieci. Trzecia?</a:t>
            </a:r>
            <a:endParaRPr lang="en-US" sz="1300" dirty="0"/>
          </a:p>
        </p:txBody>
      </p:sp>
      <p:sp>
        <p:nvSpPr>
          <p:cNvPr id="23" name="ans-3"/>
          <p:cNvSpPr/>
          <p:nvPr/>
        </p:nvSpPr>
        <p:spPr>
          <a:xfrm>
            <a:off x="4572000" y="3986784"/>
            <a:ext cx="3931920" cy="457200"/>
          </a:xfrm>
          <a:prstGeom prst="roundRect">
            <a:avLst>
              <a:gd name="adj" fmla="val 12000"/>
            </a:avLst>
          </a:prstGeom>
          <a:solidFill>
            <a:srgbClr val="D5EFEE"/>
          </a:solidFill>
          <a:ln w="9525">
            <a:solidFill>
              <a:srgbClr val="0E7C7B"/>
            </a:solidFill>
            <a:prstDash val="solid"/>
          </a:ln>
        </p:spPr>
      </p:sp>
      <p:sp>
        <p:nvSpPr>
          <p:cNvPr id="24" name="Text 21"/>
          <p:cNvSpPr txBox="1"/>
          <p:nvPr/>
        </p:nvSpPr>
        <p:spPr>
          <a:xfrm>
            <a:off x="4663440" y="3986784"/>
            <a:ext cx="3749040" cy="457200"/>
          </a:xfrm>
          <a:prstGeom prst="rect">
            <a:avLst/>
          </a:prstGeom>
          <a:noFill/>
          <a:ln/>
        </p:spPr>
        <p:txBody>
          <a:bodyPr wrap="square" lIns="0" tIns="0" rIns="0" bIns="0" rtlCol="0" anchor="ctr"/>
          <a:lstStyle/>
          <a:p>
            <a:pPr indent="0" marL="0">
              <a:buNone/>
            </a:pPr>
            <a:r>
              <a:rPr lang="en-US" sz="1200" b="1" dirty="0">
                <a:solidFill>
                  <a:srgbClr val="0B2545"/>
                </a:solidFill>
              </a:rPr>
              <a:t>/26, 62 hosty, 10.20.30.128 – .191</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F"/>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Warstwa sieciowa">
  <a:themeElements>
    <a:clrScheme name="Warstwa sieciowa">
      <a:dk1>
        <a:srgbClr val="1B2A41"/>
      </a:dk1>
      <a:lt1>
        <a:srgbClr val="FFFFFF"/>
      </a:lt1>
      <a:dk2>
        <a:srgbClr val="0B2545"/>
      </a:dk2>
      <a:lt2>
        <a:srgbClr val="F4F7FA"/>
      </a:lt2>
      <a:accent1>
        <a:srgbClr val="0E7C7B"/>
      </a:accent1>
      <a:accent2>
        <a:srgbClr val="F2A541"/>
      </a:accent2>
      <a:accent3>
        <a:srgbClr val="C8442F"/>
      </a:accent3>
      <a:accent4>
        <a:srgbClr val="3A6EA5"/>
      </a:accent4>
      <a:accent5>
        <a:srgbClr val="6C7A89"/>
      </a:accent5>
      <a:accent6>
        <a:srgbClr val="8FB8DE"/>
      </a:accent6>
      <a:hlink>
        <a:srgbClr val="0E7C7B"/>
      </a:hlink>
      <a:folHlink>
        <a:srgbClr val="5C6B80"/>
      </a:folHlink>
    </a:clrScheme>
    <a:fontScheme name="Warstwa sieciow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Warstwa sieciowa: IPv4 i IPv6</dc:title>
  <dc:subject>PptxGenJS Presentation</dc:subject>
  <dc:creator>Prezentacja</dc:creator>
  <cp:lastModifiedBy>Prezentacja</cp:lastModifiedBy>
  <cp:revision>1</cp:revision>
  <dcterms:created xsi:type="dcterms:W3CDTF">2026-10-06T07:06:58Z</dcterms:created>
  <dcterms:modified xsi:type="dcterms:W3CDTF">2026-10-06T07:06:58Z</dcterms:modified>
</cp:coreProperties>
</file>