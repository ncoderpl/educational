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Dzień dobry. Dzisiejsze zajęcia poświęcimy trzem powiązanym ze sobą zagadnieniom z zakresu bezpieczeństwa i administracji systemami uniksowymi: klasycznym uprawnieniom POSIX, rozszerzonym listom kontroli dostępu ACL oraz sieciowemu systemowi plików NFS. Zobaczycie, że to nie są trzy osobne tematy, tylko trzy warstwy jednego mechanizmu kontroli dostępu — zaczniemy od najprostszej, czyli klasycznych uprawnień rwx, przejdziemy przez bardziej precyzyjne ACL, a na końcu pokażę, jak te wszystkie reguły działają, gdy katalog jest udostępniony przez sieć za pomocą NFS. Na koniec zrobimy też trochę diagnostyki, żebyście umieli samodzielnie znaleźć przyczynę, gdy komuś 'nie działa dostęp', mimo że teoretycznie uprawnienia się zgadzają.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jest prosty i podzielony na cztery bloki. Najpierw POSIX, czyli fundament, który już znacie z podstaw systemu plików w Linuksie, ale dziś pogłębimy go o bity specjalne. Potem przechodzimy do ACL, czyli do sytuacji, w których klasyczny model właściciel-grupa-inni przestaje wystarczać. Trzeci blok to NFS — czyli jak te same uprawnienia zachowują się, gdy katalog nie jest lokalny, tylko zamontowany z innego serwera przez sieć. I na koniec zbierzemy to wszystko w jedną całość: jak diagnozować problemy z dostępem, kiedy winny może być serwer, klient, albo którakolwiek z warstw uprawnień.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Wchodzimy w pierwszą część — model POSIX. To jest baza, na której zbudowane jest wszystko inne, więc nawet jeśli część z tego już znacie, warto to sobie dobrze poukładać, bo za chwilę będziemy to rozszerzać o ACL, a potem przenosić do świata sieciowego NFS.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Zacznijmy od absolutnej podstawy. W systemie uniksowym każdy plik i każdy katalog ma trzy niezależne zestawy uprawnień. Pierwszy dotyczy właściciela — czyli konta, które plik utworzyło, albo komu go potem przypisaliśmy poleceniem chown. Drugi dotyczy grupy, czyli jednej konkretnej grupy systemowej powiązanej z plikiem. I trzeci, najszerszy, dotyczy wszystkich pozostałych użytkowników systemu — w skrócie 'innych'. Kluczowe jest to, że te trzy zestawy są od siebie całkowicie niezależne — można dać właścicielowi pełne prawa, grupie tylko odczyt, a innym nic. To jest fundament, od którego zaczniemy.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Dla każdej z tych trzech kategorii mamy trzy możliwe uprawnienia: r, czyli read, z wagą cztery — odczyt pliku albo wylistowanie zawartości katalogu; w, czyli write, z wagą dwa — zapis, modyfikacja, a w katalogu także tworzenie i usuwanie wpisów; oraz x, czyli execute, z wagą jeden — uruchomienie pliku jako programu, albo wejście do katalogu poleceniem cd. Te uprawnienia zapisujemy na dwa sposoby. Pierwszy to notacja symboliczna, którą widzicie w wyniku polecenia ls -l, czyli na przykład rwxr-xr--. Drugi sposób to notacja ósemkowa — sumujemy wagi w każdej triadzie, więc rwx to 4 plus 2 plus 1, czyli 7, r-x to 4 plus 1, czyli 5, a r-- to po prostu 4. Stąd 754. Tej notacji będziemy używać cały czas w poleceniu chmod.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Spójrzmy na polecenie chmod w praktyce. Notacja symboliczna pozwala modyfikować uprawnienia przyrostowo — u+x dodaje prawo wykonania właścicielowi, g-w odbiera prawo zapisu grupie, a o=r ustawia innym dokładnie prawo odczytu, nic więcej. Ta notacja jest wygodna, kiedy chcemy zmienić tylko jeden fragment uprawnień, nie dotykając reszty. Notacja ósemkowa działa inaczej — zawsze ustawia wszystkie trzy triady naraz, nadpisując poprzedni stan. Chmod 754 oznacza: właściciel siedem, czyli pełne prawa, grupa pięć, czyli odczyt i wykonanie, inni cztery, czyli tylko odczyt. W praktyce zawodowej notacja ósemkowa jest szybsza i częściej spotykana w skryptach, ale warto znać obie.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Poza podstawową triadą mamy trzy dodatkowe bity specjalne, które zmieniają zachowanie plików i katalogów. Pierwszy to SUID, Set User ID, wartość ósemkowa 4000, w notacji symbolicznej widoczny jako małe 's' w miejscu 'x' właściciela. Jego działanie jest takie, że proces uruchamia się z uprawnieniami właściciela pliku, a nie użytkownika, który go faktycznie wywołał. Klasyczny przykład to polecenie passwd — zwykły użytkownik nie ma prawa modyfikować pliku z hasłami, ale może zmienić własne hasło, bo program passwd ma ustawiony bit SUID należący do roota i na chwilę działa z jego uprawnieniami. To bardzo wygodny mechanizm, ale jednocześnie poważne ryzyko bezpieczeństwa — jeśli ktoś podrzuci złośliwy plik z SUID należący do roota, może w ten sposób eskalować swoje uprawnienia do administratora. Dlatego regularny audyt poleceniem find z opcją perm minus 4000 powinien być elementem higieny bezpieczeństwa każdego serwera.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Drugi bit specjalny to SGID, Set Group ID, wartość 2000. Na plikach wykonywalnych działa podobnie do SUID, tylko dla grupy — proces dziedziczy grupę pliku. Ale znacznie częściej spotkacie SGID na katalogach, i to jest naprawdę przydatna sztuczka — wszystkie nowe pliki i podkatalogi tworzone wewnątrz takiego katalogu automatycznie dziedziczą jego grupę, a nie grupę podstawową użytkownika, który je utworzył. To rozwiązuje klasyczny problem zespołów współdzielących katalog projektowy. Trzeci bit to sticky bit, wartość 1000, symbolicznie widoczny jako 't'. Na katalogach oznacza, że nawet jeśli katalog ma prawo zapisu dla wszystkich, to usunąć dany plik może tylko jego właściciel albo root. Najbardziej znany przykład to katalog /tmp, do którego każdy może pisać, ale nikt nie usunie cudzego pliku.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user-group-other sprawdza się świetnie, dopóki potrzeby dostępu pokrywają się z istniejącą strukturą grup. Problem zaczyna się w trzech typowych sytuacjach. Pierwsza: chcemy dać prawo odczytu jednej konkretnej osobie spoza grupy właściciela, ale bez otwierania dostępu dla wszystkich innych — POSIX tego wprost nie umożliwia. Druga: chcemy, żeby kilka różnych grup miało różne poziomy dostępu do tego samego zasobu, na przykład jedna grupa czyta, druga zapisuje — POSIX daje nam tylko jedną grupę na plik. Trzecia: chcemy, żeby nowe pliki w katalogu współdzielonym automatycznie dziedziczyły konkretne uprawnienia, nie tylko grupę przez SGID, ale pełny zestaw reguł. To są dokładnie te luki, które wypełniają rozszerzone listy kontroli dostępu, czyli ACL, i do nich teraz przechodzimy.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Przechodzimy do ACL. To jest bezpośrednia odpowiedź na trzy problemy, które właśnie omówiliśmy. Zobaczycie dwa podstawowe polecenia — getfacl do odczytu i setfacl do modyfikacji — oraz jak działa dziedziczenie uprawnień w katalogach.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 czyli Access Control List, w standardzie POSIX.1e rozszerza klasyczny model o dowolną liczbę dodatkowych wpisów dla konkretnych użytkowników i konkretnych grup — nie jesteśmy już ograniczeni do jednej grupy. Żeby to zadziałało, system plików musi wspierać ACL — w praktyce ext4, XFS i Btrfs robią to natywnie, a we współczesnych jądrach Linuksa jest to zazwyczaj włączone domyślnie, choć czasem trzeba dopisać opcję acl w fstabie, tak jak widzicie po prawej. Same narzędzia, czyli polecenia getfacl i setfacl, o których zaraz powiemy, znajdują się w pakiecie o nazwie po prostu acl — instalujemy go apt install acl albo dnf install acl, w zależności od dystrybucji.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Polecenie getfacl wyświetla pełną listę wpisów kontroli dostępu przypisanych do pliku lub katalogu. Patrząc na ten przykładowy wynik: user:: i group:: bez podanej nazwy to po prostu klasyczne uprawnienia POSIX właściciela i grupy, które już znacie. Nowością są wpisy user:kkowalski: oraz group:audytorzy: — to są tak zwane named entries, czyli wpisy nazwane, nadające prawa konkretnemu kontu albo konkretnej grupie, zupełnie niezależnie od właściciela i głównej grupy pliku. Najważniejszy, często pomijany element to mask — to jest górny limit efektywnych uprawnień dla wszystkich wpisów nazwanych. Nawet jeśli w teorii user:kkowalski ma rwx, a maska wynosi tylko r--, to efektywnie Kowalski dostanie wyłącznie odczyt. Maska nie dotyczy właściciela ani innych, tylko właśnie tych dodatkowych, nazwanych wpisów.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modyfikacji ACL służy setfacl. Flaga -m dodaje albo modyfikuje wpis — tutaj nadajemy Kowalskiemu prawo odczytu i zapisu do pojedynczego pliku, a w kolejnym przykładzie nadajemy grupie audytorzy prawo odczytu i wejścia do katalogu raportów. Flaga -x usuwa jeden konkretny wpis, nie ruszając pozostałych. Flaga -b to twardy reset — usuwa wszystkie rozszerzone wpisy ACL i wraca do czystego, klasycznego POSIX. A flaga -R pozwala zastosować zmianę rekursywnie, w całym drzewie katalogów — bardzo przydatne, kiedy trzeba nadać komuś dostęp do całego projektu, a nie pojedynczego pliku. Zwróćcie uwagę na konwencję: u: dla użytkownika, g: dla grupy, dwukropek i trzyliterowy zapis uprawnień na końcu.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Jedna z najważniejszych, praktycznych funkcji ACL to możliwość zdefiniowania domyślnego ACL na katalogu — robimy to flagą -d przy setfacl. Taki domyślny ACL jest automatycznie dziedziczony przez wszystkie nowo tworzone pliki i podkatalogi wewnątrz. W wyniku getfacl zobaczycie te same wpisy, tylko z przedrostkiem 'default:'. Dlaczego to jest tak istotne? Bez tego mechanizmu każdy nowy plik w katalogu współdzielonym wymagałby ręcznego, osobnego nadania uprawnień przez administratora — co w praktyce byłoby niemożliwe do utrzymania przy większej liczbie plików. Z domyślnym ACL raz skonfigurowana reguła działa automatycznie dla każdego nowego pliku, bez żadnej dodatkowej interwencji.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koniec bloku o ACL — kopia zapasowa. getfacl z flagą -R, rekursywnie, zapisuje pełną strukturę ACL całego drzewa katalogów do zwykłego pliku tekstowego. Odtwarzamy ją poleceniem setfacl z opcją --restore. To jest niezbędne przy migracjach danych między serwerami, bo — i to jest bardzo ważna pułapka — standardowe narzędzia jak cp czy tar, użyte bez odpowiednich flag, na przykład bez flagi --acls, po prostu pomijają te rozszerzone atrybuty. W efekcie możecie przenieść dane na nowy serwer i dopiero po jakimś czasie odkryć, że cała precyzyjna kontrola dostępu, którą tak starannie skonfigurowaliście, po prostu zniknęła.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Teraz najciekawsza część — przenosimy to wszystko do środowiska sieciowego. NFS pozwala zamontować katalog z innego serwera tak, jakby był lokalny, ale to rodzi nowe pytania: czyje to są uprawnienia, czyj to jest użytkownik, i co się dzieje, kiedy UID-y się nie zgadzają.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NFS, czyli Network File System, pozwala udostępnić katalog z jednego serwera i zamontować go zdalnie na innej maszynie, tak jakby był lokalnym systemem plików. Pod spodem działa to na wywołaniach zdalnych procedur, czyli RPC. Mamy trzy istotne wersje protokołu. NFSv3 jest bezstanowy i wymaga osobnych usług — rpcbind, mountd, demona blokad — nasłuchujących na kilku różnych portach, co bywa kłopotliwe dla firewalla. NFSv4 to spora zmiana architektoniczna — jest stanowy, korzysta wyłącznie z jednego portu, TCP 2049, ma wbudowaną obsługę blokad i delegacji, a także własny, bogatszy model ACL w stylu zbliżonym do Windows NTFS. NFSv4.2 dokłada do tego dodatkowe usprawnienia, jak kopiowanie po stronie serwera czy lepszą integrację z SELinuksem. W nowoczesnych wdrożeniach zdecydowanie zalecamy NFSv4 — prostszą architekturę sieciową i lepsze bezpieczeństwo.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Konfiguracja serwera zaczyna się od instalacji pakietu — nfs-kernel-server na Debianie i Ubuntu, albo nfs-utils na RHEL i Rocky. Serce konfiguracji to plik /etc/exports, który określa, które katalogi są udostępniane, dla jakich hostów albo podsieci, i z jakimi opcjami. Spójrzcie na trzy przykłady. Pierwszy udostępnia /srv/dane całej podsieci 192.168.1.0/24 z prawem odczytu i zapisu, w trybie sync, czyli bezpiecznym. Drugi udostępnia katalog publiczny dosłownie wszystkim, ale tylko do odczytu, z all_squash — czyli wszyscy zdalni użytkownicy są mapowani na jedno anonimowe konto. Trzeci przykład jest szczególny — udostępnia katalogi domowe jednemu konkretnemu hostowi, z opcją no_root_squash i uwierzytelnianiem Kerberos — o tym za chwilę powiem więcej, bo no_root_squash to jest coś, czego trzeba używać bardzo ostrożnie. Po edycji pliku aktywujemy zmiany poleceniem exportfs -ra, bez potrzeby restartu całej usługi.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Omówmy kluczowe opcje, które widzieliście w /etc/exports. rw i ro to oczywiście odczyt-zapis albo tylko odczyt. sync w porównaniu do async — sync potwierdza zapis klientowi dopiero po fizycznym zapisaniu danych na dysku, więc jest bezpieczniejszy, choć wolniejszy; async jest szybszy, ale ryzykowny przy awarii serwera. Teraz najważniejsza rzecz: root_squash to ustawienie domyślne, które mapuje żądania roota z klienta na nieuprzywilejowane konto nobody na serwerze — to zabezpieczenie przed tym, żeby administrator jednej maszyny klienckiej mógł zachowywać się jak root na serwerze plików. no_root_squash wyłącza tę ochronę i jest jedną z najczęstszych przyczyn eskalacji uprawnień przez NFS — używajcie tego wyłącznie w ściśle kontrolowanych scenariuszach. all_squash idzie jeszcze dalej i mapuje WSZYSTKICH zdalnych użytkowników na jedno konto — przydatne dla zasobów publicznych. A opcja sec pozwala wybrać poziom uwierzytelniania, od podstawowego sys, opartego tylko na zaufaniu do numerów UID, aż po krb5p, które dodaje pełne szyfrowanie Kerberosa.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 stronie klienta instalujemy pakiet nfs-common albo nfs-utils, w zależności od dystrybucji. Montowanie ręczne to proste polecenie mount z opcją -t nfs4, wskazujące serwer, ścieżkę eksportu i lokalny punkt montowania. Żeby to przetrwało restart systemu, dopisujemy wpis do /etc/fstab — zwróćcie uwagę na opcję _netdev, która informuje system, że ten punkt montowania wymaga aktywnej sieci, zanim w ogóle spróbujemy go zamontować — bez tego serwer mógłby się zawiesić przy starcie, czekając na sieć, która jeszcze nie jest gotowa. Dla zasobów używanych sporadycznie lepszym rozwiązaniem jest autofs — montuje katalog dopiero w momencie pierwszego dostępu, a po okresie bezczynności automatycznie go odmontowuje. Konfiguruje się to przez dwa pliki — auto.master wskazujący punkt bazowy, i plik mapy, na przykład auto.nfs, z konkretnym wpisem zasobu.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Teraz dochodzimy do newralgicznego punktu łączącego NFS z uprawnieniami POSIX i ACL. NFS w wersji trzeciej i starszych przesyła numeryczne identyfikatory UID i GID dosłownie, 'na wprost'. To oznacza, że jeśli jnowak ma UID 1001 na serwerze, ale na kliencie UID 1001 należy do zupełnie innego konta, dojdzie do niezamierzonego, często niebezpiecznego udostępnienia danych. Dlatego spójność bazy użytkowników pomiędzy serwerem a wszystkimi klientami jest absolutnym wymogiem — w praktyce realizuje się to przez centralne usługi katalogowe, jak LDAP, FreeIPA, albo Active Directory zintegrowane przez SSSD. NFSv4 wprowadza dodatkową warstwę — identyfikatory w formie user@domena, tłumaczone przez usługę rpc.idmapd, konfigurowaną w pliku idmapd.conf. Ale uwaga — jeśli ta domena skonfigurowana w idmapd.conf różni się między serwerem a klientem, użytkownicy zobaczą pliki jako należące do konta nobody, mimo że teoretycznie wszystko jest poprawnie skonfigurowane.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Warto rozróżnić dwa niezależne standardy ACL. Ten, który już znacie, czyli ACL POSIX.1e, zarządzany getfacl i setfacl, jest propagowany przez NFSv4 tylko częściowo, zależnie od konkretnej implementacji jądra. Obok niego istnieje osobny, bardziej rozbudowany model — natywne ACL NFSv4, z regułami ALLOW i DENY, bardzo zbliżony do tego, co znacie z Windows NTFS, zarządzany poleceniami nfs4_getfacl i nfs4_setfacl. W środowiskach czysto linuksowych zwykle prościej jest zostać przy klasycznym ACL POSIX, a natywne ACL NFSv4 rezerwować dla środowisk mieszanych, z klientami Windows albo macOS. I najważniejsza rzecz na tym slajdzie: mechanizmy squashingu, root_squash i all_squash, działają na poziomie serwera NFS, całkowicie niezależnie od lokalnych uprawnień POSIX czy ACL pliku. Oznacza to, że nawet jeśli lokalne ACL dają danemu UID pełne prawa, serwer może i tak zmapować żądanie na nobody. Efektywne uprawnienia użytkownika sieciowego to zawsze iloczyn wszystkich tych ograniczeń naraz — eksportu NFS, lokalnego POSIX i ACL, oraz ewentualnie SELinuksa czy AppArmor.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Zbierzmy kluczowe zasady utwardzania konfiguracji NFS. Po pierwsze, unikajcie no_root_squash poza bardzo wąsko kontrolowanymi scenariuszami — to zdecydowanie najczęstsza przyczyna eskalacji uprawnień przez NFS, o której już mówiliśmy. Po drugie, zawsze ograniczajcie eksporty do konkretnych podsieci albo pojedynczych hostów, zamiast używać gwiazdki, która otwiera dostęp dla każdego. Po trzecie, tam gdzie dane są wrażliwe, stosujcie sec=krb5p — domyślne sec=sys opiera się wyłącznie na zaufaniu do numerów UID przesyłanych przez klienta, bez żadnego kryptograficznego uwierzytelnienia, więc łatwo je sfałszować. Po czwarte — nigdy nie eksportujcie NFS bezpośrednio do sieci publicznej bez VPN albo tunelu, bo protokół po prostu nie był projektowany z myślą o otwartym internecie. Po piąte, regularnie audytujcie ACL na katalogach wrażliwych, bo rozszerzone uprawnienia łatwo przeoczyć przy standardowym przeglądzie ls -l. I na koniec, montujcie z opcją nosuid tam, gdzie nie jest to potrzebne, żeby zapobiec eskalacji przez binaria SUID przyniesione z zewnątrz.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koniec zestaw narzędzi diagnostycznych, które powinniście znać na pamięć. showmount -e pokazuje, co dany serwer w ogóle eksportuje. rpcinfo -p pokazuje zarejestrowane usługi RPC i ich porty — przydatne przy NFSv3. nfsstat daje statystyki operacji, osobno po stronie klienta i serwera. mount -v pokazuje, jakie opcje montowania faktycznie zostały zastosowane — czasem różni się to od tego, co wpisaliśmy w fstabie. exportfs -v pokazuje aktywne eksporty na serwerze wraz z opcjami. dmesg z grep nfs pokaże komunikaty jądra o błędach montowania. A getfacl, odpowiednio nfs4_getfacl, pokaże rzeczywiste uprawnienia widoczne po stronie klienta. Typowy scenariusz, z którym się spotkacie: użytkownik zgłasza brak dostępu, mimo że lokalne uprawnienia wyglądają poprawnie. Kolejność sprawdzania jest zawsze taka sama: najpierw czy eksport w ogóle obejmuje tego hosta, potem czy UID i GID zgadzają się po obu stronach, potem czy nie działa jakiś squash mapujący żądanie na nobody, i na końcu czy lokalne ACL rzeczywiście na tę operację zezwalają.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Podsumowując całe dzisiejsze zajęcia — poznaliście trzy powiązane ze sobą warstwy jednego mechanizmu kontroli dostępu. POSIX to fundament: rwx dla właściciela, grupy i innych, wzbogacony o bity specjalne SUID, SGID i sticky bit. ACL to rozszerzenie tego modelu o precyzyjne, wielopodmiotowe reguły dostępu z dziedziczeniem, zarządzane poleceniami getfacl i setfacl. A NFS to przeniesienie tych samych reguł do środowiska rozproszonego, z dodatkowymi niuansami — mapowaniem UID i GID pomiędzy maszynami oraz mechanizmami squashingu. Najważniejsza myśl, którą chcę, żebyście zapamiętali: żadna z tych warstw nie działa w izolacji. Jeśli ktoś zgłosi wam problem z dostępem do pliku na zamontowanym zasobie sieciowym, zawsze musicie sprawdzić wszystkie poziomy naraz — eksport NFS, lokalne uprawnienia POSIX i ACL, oraz ewentualny squashing. To wszystko na dziś, dziękuję za uwagę — zapraszam do pytań.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9509760" y="-1097280"/>
            <a:ext cx="4572000" cy="4572000"/>
          </a:xfrm>
          <a:prstGeom prst="ellipse">
            <a:avLst/>
          </a:prstGeom>
          <a:solidFill>
            <a:srgbClr val="38BDF8">
              <a:alpha val="10000"/>
            </a:srgbClr>
          </a:solidFill>
          <a:ln/>
        </p:spPr>
      </p:sp>
      <p:sp>
        <p:nvSpPr>
          <p:cNvPr id="3" name="Shape 1"/>
          <p:cNvSpPr/>
          <p:nvPr/>
        </p:nvSpPr>
        <p:spPr>
          <a:xfrm>
            <a:off x="-1371600" y="4754880"/>
            <a:ext cx="4114800" cy="4114800"/>
          </a:xfrm>
          <a:prstGeom prst="ellipse">
            <a:avLst/>
          </a:prstGeom>
          <a:solidFill>
            <a:srgbClr val="34D399">
              <a:alpha val="8000"/>
            </a:srgbClr>
          </a:solidFill>
          <a:ln/>
        </p:spPr>
      </p:sp>
      <p:sp>
        <p:nvSpPr>
          <p:cNvPr id="4" name="Text 2"/>
          <p:cNvSpPr txBox="1"/>
          <p:nvPr/>
        </p:nvSpPr>
        <p:spPr>
          <a:xfrm>
            <a:off x="822960" y="1828800"/>
            <a:ext cx="9144000" cy="365760"/>
          </a:xfrm>
          <a:prstGeom prst="rect">
            <a:avLst/>
          </a:prstGeom>
          <a:noFill/>
          <a:ln/>
        </p:spPr>
        <p:txBody>
          <a:bodyPr wrap="square" lIns="0" tIns="0" rIns="0" bIns="0" rtlCol="0" anchor="ctr"/>
          <a:lstStyle/>
          <a:p>
            <a:pPr indent="0" marL="0">
              <a:buNone/>
            </a:pPr>
            <a:r>
              <a:rPr lang="en-US" sz="1400" b="1" spc="300" kern="0" dirty="0">
                <a:solidFill>
                  <a:srgbClr val="38BDF8"/>
                </a:solidFill>
                <a:latin typeface="Calibri" pitchFamily="34" charset="0"/>
                <a:ea typeface="Calibri" pitchFamily="34" charset="-122"/>
                <a:cs typeface="Calibri" pitchFamily="34" charset="-120"/>
              </a:rPr>
              <a:t>ADMINISTRACJA SYSTEMAMI UNIKSOWYMI</a:t>
            </a:r>
            <a:endParaRPr lang="en-US" sz="1400" dirty="0"/>
          </a:p>
        </p:txBody>
      </p:sp>
      <p:sp>
        <p:nvSpPr>
          <p:cNvPr id="5" name="Text 3"/>
          <p:cNvSpPr txBox="1"/>
          <p:nvPr/>
        </p:nvSpPr>
        <p:spPr>
          <a:xfrm>
            <a:off x="822960" y="2286000"/>
            <a:ext cx="10241280" cy="1920240"/>
          </a:xfrm>
          <a:prstGeom prst="rect">
            <a:avLst/>
          </a:prstGeom>
          <a:noFill/>
          <a:ln/>
        </p:spPr>
        <p:txBody>
          <a:bodyPr wrap="square" lIns="0" tIns="0" rIns="0" bIns="0"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Zaawansowane zarządzanie prawami</a:t>
            </a:r>
            <a:endParaRPr lang="en-US" sz="4000" dirty="0"/>
          </a:p>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i sieciowy system plików NFS</a:t>
            </a:r>
            <a:endParaRPr lang="en-US" sz="4000" dirty="0"/>
          </a:p>
        </p:txBody>
      </p:sp>
      <p:sp>
        <p:nvSpPr>
          <p:cNvPr id="6" name="Text 4"/>
          <p:cNvSpPr txBox="1"/>
          <p:nvPr/>
        </p:nvSpPr>
        <p:spPr>
          <a:xfrm>
            <a:off x="822960" y="4251960"/>
            <a:ext cx="9601200" cy="457200"/>
          </a:xfrm>
          <a:prstGeom prst="rect">
            <a:avLst/>
          </a:prstGeom>
          <a:noFill/>
          <a:ln/>
        </p:spPr>
        <p:txBody>
          <a:bodyPr wrap="square" lIns="0" tIns="0" rIns="0" bIns="0" rtlCol="0" anchor="ctr"/>
          <a:lstStyle/>
          <a:p>
            <a:pPr indent="0" marL="0">
              <a:buNone/>
            </a:pPr>
            <a:r>
              <a:rPr lang="en-US" sz="1700" dirty="0">
                <a:solidFill>
                  <a:srgbClr val="94A3B8"/>
                </a:solidFill>
                <a:latin typeface="Calibri" pitchFamily="34" charset="0"/>
                <a:ea typeface="Calibri" pitchFamily="34" charset="-122"/>
                <a:cs typeface="Calibri" pitchFamily="34" charset="-120"/>
              </a:rPr>
              <a:t>Uprawnienia POSIX  •  rozszerzone listy ACL  •  konfiguracja serwera i klienta NFS</a:t>
            </a:r>
            <a:endParaRPr lang="en-US" sz="1700" dirty="0"/>
          </a:p>
        </p:txBody>
      </p:sp>
      <p:sp>
        <p:nvSpPr>
          <p:cNvPr id="7" name="Shape 5"/>
          <p:cNvSpPr/>
          <p:nvPr/>
        </p:nvSpPr>
        <p:spPr>
          <a:xfrm>
            <a:off x="822960" y="4983480"/>
            <a:ext cx="1271016" cy="457200"/>
          </a:xfrm>
          <a:prstGeom prst="roundRect">
            <a:avLst>
              <a:gd name="adj" fmla="val 50000"/>
            </a:avLst>
          </a:prstGeom>
          <a:solidFill>
            <a:srgbClr val="121B2E"/>
          </a:solidFill>
          <a:ln w="15875">
            <a:solidFill>
              <a:srgbClr val="38BDF8"/>
            </a:solidFill>
            <a:prstDash val="solid"/>
          </a:ln>
        </p:spPr>
      </p:sp>
      <p:sp>
        <p:nvSpPr>
          <p:cNvPr id="8" name="Text 6"/>
          <p:cNvSpPr txBox="1"/>
          <p:nvPr/>
        </p:nvSpPr>
        <p:spPr>
          <a:xfrm>
            <a:off x="822960" y="4983480"/>
            <a:ext cx="1271016" cy="457200"/>
          </a:xfrm>
          <a:prstGeom prst="rect">
            <a:avLst/>
          </a:prstGeom>
          <a:noFill/>
          <a:ln/>
        </p:spPr>
        <p:txBody>
          <a:bodyPr wrap="square" lIns="0" tIns="0" rIns="0" bIns="0" rtlCol="0" anchor="ctr"/>
          <a:lstStyle/>
          <a:p>
            <a:pPr algn="ctr" indent="0" marL="0">
              <a:buNone/>
            </a:pPr>
            <a:r>
              <a:rPr lang="en-US" sz="1300" dirty="0">
                <a:solidFill>
                  <a:srgbClr val="38BDF8"/>
                </a:solidFill>
                <a:latin typeface="Consolas" pitchFamily="34" charset="0"/>
                <a:ea typeface="Consolas" pitchFamily="34" charset="-122"/>
                <a:cs typeface="Consolas" pitchFamily="34" charset="-120"/>
              </a:rPr>
              <a:t>POSIX rwx</a:t>
            </a:r>
            <a:endParaRPr lang="en-US" sz="1300" dirty="0"/>
          </a:p>
        </p:txBody>
      </p:sp>
      <p:sp>
        <p:nvSpPr>
          <p:cNvPr id="9" name="Shape 7"/>
          <p:cNvSpPr/>
          <p:nvPr/>
        </p:nvSpPr>
        <p:spPr>
          <a:xfrm>
            <a:off x="2322576" y="4983480"/>
            <a:ext cx="2075688" cy="457200"/>
          </a:xfrm>
          <a:prstGeom prst="roundRect">
            <a:avLst>
              <a:gd name="adj" fmla="val 50000"/>
            </a:avLst>
          </a:prstGeom>
          <a:solidFill>
            <a:srgbClr val="121B2E"/>
          </a:solidFill>
          <a:ln w="15875">
            <a:solidFill>
              <a:srgbClr val="34D399"/>
            </a:solidFill>
            <a:prstDash val="solid"/>
          </a:ln>
        </p:spPr>
      </p:sp>
      <p:sp>
        <p:nvSpPr>
          <p:cNvPr id="10" name="Text 8"/>
          <p:cNvSpPr txBox="1"/>
          <p:nvPr/>
        </p:nvSpPr>
        <p:spPr>
          <a:xfrm>
            <a:off x="2322576" y="4983480"/>
            <a:ext cx="2075688" cy="457200"/>
          </a:xfrm>
          <a:prstGeom prst="rect">
            <a:avLst/>
          </a:prstGeom>
          <a:noFill/>
          <a:ln/>
        </p:spPr>
        <p:txBody>
          <a:bodyPr wrap="square" lIns="0" tIns="0" rIns="0" bIns="0" rtlCol="0" anchor="ctr"/>
          <a:lstStyle/>
          <a:p>
            <a:pPr algn="ctr" indent="0" marL="0">
              <a:buNone/>
            </a:pPr>
            <a:r>
              <a:rPr lang="en-US" sz="1300" dirty="0">
                <a:solidFill>
                  <a:srgbClr val="34D399"/>
                </a:solidFill>
                <a:latin typeface="Consolas" pitchFamily="34" charset="0"/>
                <a:ea typeface="Consolas" pitchFamily="34" charset="-122"/>
                <a:cs typeface="Consolas" pitchFamily="34" charset="-120"/>
              </a:rPr>
              <a:t>getfacl / setfacl</a:t>
            </a:r>
            <a:endParaRPr lang="en-US" sz="1300" dirty="0"/>
          </a:p>
        </p:txBody>
      </p:sp>
      <p:sp>
        <p:nvSpPr>
          <p:cNvPr id="11" name="Shape 9"/>
          <p:cNvSpPr/>
          <p:nvPr/>
        </p:nvSpPr>
        <p:spPr>
          <a:xfrm>
            <a:off x="4626864" y="4983480"/>
            <a:ext cx="1673352" cy="457200"/>
          </a:xfrm>
          <a:prstGeom prst="roundRect">
            <a:avLst>
              <a:gd name="adj" fmla="val 50000"/>
            </a:avLst>
          </a:prstGeom>
          <a:solidFill>
            <a:srgbClr val="121B2E"/>
          </a:solidFill>
          <a:ln w="15875">
            <a:solidFill>
              <a:srgbClr val="A78BFA"/>
            </a:solidFill>
            <a:prstDash val="solid"/>
          </a:ln>
        </p:spPr>
      </p:sp>
      <p:sp>
        <p:nvSpPr>
          <p:cNvPr id="12" name="Text 10"/>
          <p:cNvSpPr txBox="1"/>
          <p:nvPr/>
        </p:nvSpPr>
        <p:spPr>
          <a:xfrm>
            <a:off x="4626864" y="4983480"/>
            <a:ext cx="1673352" cy="457200"/>
          </a:xfrm>
          <a:prstGeom prst="rect">
            <a:avLst/>
          </a:prstGeom>
          <a:noFill/>
          <a:ln/>
        </p:spPr>
        <p:txBody>
          <a:bodyPr wrap="square" lIns="0" tIns="0" rIns="0" bIns="0" rtlCol="0" anchor="ctr"/>
          <a:lstStyle/>
          <a:p>
            <a:pPr algn="ctr" indent="0" marL="0">
              <a:buNone/>
            </a:pPr>
            <a:r>
              <a:rPr lang="en-US" sz="1300" dirty="0">
                <a:solidFill>
                  <a:srgbClr val="A78BFA"/>
                </a:solidFill>
                <a:latin typeface="Consolas" pitchFamily="34" charset="0"/>
                <a:ea typeface="Consolas" pitchFamily="34" charset="-122"/>
                <a:cs typeface="Consolas" pitchFamily="34" charset="-120"/>
              </a:rPr>
              <a:t>NFSv3 / NFSv4</a:t>
            </a:r>
            <a:endParaRPr lang="en-US" sz="1300" dirty="0"/>
          </a:p>
        </p:txBody>
      </p:sp>
      <p:sp>
        <p:nvSpPr>
          <p:cNvPr id="13" name="Text 11"/>
          <p:cNvSpPr txBox="1"/>
          <p:nvPr/>
        </p:nvSpPr>
        <p:spPr>
          <a:xfrm>
            <a:off x="822960" y="6263640"/>
            <a:ext cx="91440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Kwalifikacja INF.02  •  Administrowanie serwerowymi systemami operacyjnymi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PLAN ZAJĘĆ</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Agenda</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PLAN ZAJĘĆ</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48640" y="1600200"/>
            <a:ext cx="11064240" cy="1051560"/>
          </a:xfrm>
          <a:prstGeom prst="roundRect">
            <a:avLst>
              <a:gd name="adj" fmla="val 6957"/>
            </a:avLst>
          </a:prstGeom>
          <a:solidFill>
            <a:srgbClr val="F1F5F9"/>
          </a:solidFill>
          <a:ln/>
        </p:spPr>
      </p:sp>
      <p:sp>
        <p:nvSpPr>
          <p:cNvPr id="7" name="Text 5"/>
          <p:cNvSpPr txBox="1"/>
          <p:nvPr/>
        </p:nvSpPr>
        <p:spPr>
          <a:xfrm>
            <a:off x="822960" y="1709928"/>
            <a:ext cx="914400" cy="822960"/>
          </a:xfrm>
          <a:prstGeom prst="rect">
            <a:avLst/>
          </a:prstGeom>
          <a:noFill/>
          <a:ln/>
        </p:spPr>
        <p:txBody>
          <a:bodyPr wrap="square" lIns="0" tIns="0" rIns="0" bIns="0" rtlCol="0" anchor="ctr"/>
          <a:lstStyle/>
          <a:p>
            <a:pPr algn="l" indent="0" marL="0">
              <a:buNone/>
            </a:pPr>
            <a:r>
              <a:rPr lang="en-US" sz="3000" b="1" dirty="0">
                <a:solidFill>
                  <a:srgbClr val="38BDF8"/>
                </a:solidFill>
                <a:latin typeface="Cambria" pitchFamily="34" charset="0"/>
                <a:ea typeface="Cambria" pitchFamily="34" charset="-122"/>
                <a:cs typeface="Cambria" pitchFamily="34" charset="-120"/>
              </a:rPr>
              <a:t>01</a:t>
            </a:r>
            <a:endParaRPr lang="en-US" sz="3000" dirty="0"/>
          </a:p>
        </p:txBody>
      </p:sp>
      <p:sp>
        <p:nvSpPr>
          <p:cNvPr id="8" name="Text 6"/>
          <p:cNvSpPr txBox="1"/>
          <p:nvPr/>
        </p:nvSpPr>
        <p:spPr>
          <a:xfrm>
            <a:off x="1828800" y="1737360"/>
            <a:ext cx="566928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Model uprawnień POSIX</a:t>
            </a:r>
            <a:endParaRPr lang="en-US" sz="1800" dirty="0"/>
          </a:p>
        </p:txBody>
      </p:sp>
      <p:sp>
        <p:nvSpPr>
          <p:cNvPr id="9" name="Text 7"/>
          <p:cNvSpPr txBox="1"/>
          <p:nvPr/>
        </p:nvSpPr>
        <p:spPr>
          <a:xfrm>
            <a:off x="1828800" y="2148840"/>
            <a:ext cx="8503920" cy="4114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właściciel, grupa, inni; bity specjalne SUID/SGID/sticky</a:t>
            </a:r>
            <a:endParaRPr lang="en-US" sz="1300" dirty="0"/>
          </a:p>
        </p:txBody>
      </p:sp>
      <p:sp>
        <p:nvSpPr>
          <p:cNvPr id="10" name="Shape 8"/>
          <p:cNvSpPr/>
          <p:nvPr/>
        </p:nvSpPr>
        <p:spPr>
          <a:xfrm>
            <a:off x="548640" y="2816352"/>
            <a:ext cx="11064240" cy="1051560"/>
          </a:xfrm>
          <a:prstGeom prst="roundRect">
            <a:avLst>
              <a:gd name="adj" fmla="val 6957"/>
            </a:avLst>
          </a:prstGeom>
          <a:solidFill>
            <a:srgbClr val="F1F5F9"/>
          </a:solidFill>
          <a:ln/>
        </p:spPr>
      </p:sp>
      <p:sp>
        <p:nvSpPr>
          <p:cNvPr id="11" name="Text 9"/>
          <p:cNvSpPr txBox="1"/>
          <p:nvPr/>
        </p:nvSpPr>
        <p:spPr>
          <a:xfrm>
            <a:off x="822960" y="2926080"/>
            <a:ext cx="914400" cy="822960"/>
          </a:xfrm>
          <a:prstGeom prst="rect">
            <a:avLst/>
          </a:prstGeom>
          <a:noFill/>
          <a:ln/>
        </p:spPr>
        <p:txBody>
          <a:bodyPr wrap="square" lIns="0" tIns="0" rIns="0" bIns="0" rtlCol="0" anchor="ctr"/>
          <a:lstStyle/>
          <a:p>
            <a:pPr algn="l" indent="0" marL="0">
              <a:buNone/>
            </a:pPr>
            <a:r>
              <a:rPr lang="en-US" sz="3000" b="1" dirty="0">
                <a:solidFill>
                  <a:srgbClr val="34D399"/>
                </a:solidFill>
                <a:latin typeface="Cambria" pitchFamily="34" charset="0"/>
                <a:ea typeface="Cambria" pitchFamily="34" charset="-122"/>
                <a:cs typeface="Cambria" pitchFamily="34" charset="-120"/>
              </a:rPr>
              <a:t>02</a:t>
            </a:r>
            <a:endParaRPr lang="en-US" sz="3000" dirty="0"/>
          </a:p>
        </p:txBody>
      </p:sp>
      <p:sp>
        <p:nvSpPr>
          <p:cNvPr id="12" name="Text 10"/>
          <p:cNvSpPr txBox="1"/>
          <p:nvPr/>
        </p:nvSpPr>
        <p:spPr>
          <a:xfrm>
            <a:off x="1828800" y="2953512"/>
            <a:ext cx="566928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Rozszerzone listy ACL</a:t>
            </a:r>
            <a:endParaRPr lang="en-US" sz="1800" dirty="0"/>
          </a:p>
        </p:txBody>
      </p:sp>
      <p:sp>
        <p:nvSpPr>
          <p:cNvPr id="13" name="Text 11"/>
          <p:cNvSpPr txBox="1"/>
          <p:nvPr/>
        </p:nvSpPr>
        <p:spPr>
          <a:xfrm>
            <a:off x="1828800" y="3364992"/>
            <a:ext cx="8503920" cy="4114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getfacl, setfacl, maska, dziedziczenie, backup</a:t>
            </a:r>
            <a:endParaRPr lang="en-US" sz="1300" dirty="0"/>
          </a:p>
        </p:txBody>
      </p:sp>
      <p:sp>
        <p:nvSpPr>
          <p:cNvPr id="14" name="Shape 12"/>
          <p:cNvSpPr/>
          <p:nvPr/>
        </p:nvSpPr>
        <p:spPr>
          <a:xfrm>
            <a:off x="548640" y="4032504"/>
            <a:ext cx="11064240" cy="1051560"/>
          </a:xfrm>
          <a:prstGeom prst="roundRect">
            <a:avLst>
              <a:gd name="adj" fmla="val 6957"/>
            </a:avLst>
          </a:prstGeom>
          <a:solidFill>
            <a:srgbClr val="F1F5F9"/>
          </a:solidFill>
          <a:ln/>
        </p:spPr>
      </p:sp>
      <p:sp>
        <p:nvSpPr>
          <p:cNvPr id="15" name="Text 13"/>
          <p:cNvSpPr txBox="1"/>
          <p:nvPr/>
        </p:nvSpPr>
        <p:spPr>
          <a:xfrm>
            <a:off x="822960" y="4142232"/>
            <a:ext cx="914400" cy="822960"/>
          </a:xfrm>
          <a:prstGeom prst="rect">
            <a:avLst/>
          </a:prstGeom>
          <a:noFill/>
          <a:ln/>
        </p:spPr>
        <p:txBody>
          <a:bodyPr wrap="square" lIns="0" tIns="0" rIns="0" bIns="0" rtlCol="0" anchor="ctr"/>
          <a:lstStyle/>
          <a:p>
            <a:pPr algn="l" indent="0" marL="0">
              <a:buNone/>
            </a:pPr>
            <a:r>
              <a:rPr lang="en-US" sz="3000" b="1" dirty="0">
                <a:solidFill>
                  <a:srgbClr val="A78BFA"/>
                </a:solidFill>
                <a:latin typeface="Cambria" pitchFamily="34" charset="0"/>
                <a:ea typeface="Cambria" pitchFamily="34" charset="-122"/>
                <a:cs typeface="Cambria" pitchFamily="34" charset="-120"/>
              </a:rPr>
              <a:t>03</a:t>
            </a:r>
            <a:endParaRPr lang="en-US" sz="3000" dirty="0"/>
          </a:p>
        </p:txBody>
      </p:sp>
      <p:sp>
        <p:nvSpPr>
          <p:cNvPr id="16" name="Text 14"/>
          <p:cNvSpPr txBox="1"/>
          <p:nvPr/>
        </p:nvSpPr>
        <p:spPr>
          <a:xfrm>
            <a:off x="1828800" y="4169664"/>
            <a:ext cx="566928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Sieciowy system plików NFS</a:t>
            </a:r>
            <a:endParaRPr lang="en-US" sz="1800" dirty="0"/>
          </a:p>
        </p:txBody>
      </p:sp>
      <p:sp>
        <p:nvSpPr>
          <p:cNvPr id="17" name="Text 15"/>
          <p:cNvSpPr txBox="1"/>
          <p:nvPr/>
        </p:nvSpPr>
        <p:spPr>
          <a:xfrm>
            <a:off x="1828800" y="4581144"/>
            <a:ext cx="8503920" cy="4114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architektura, wersje, serwer, klient, autofs</a:t>
            </a:r>
            <a:endParaRPr lang="en-US" sz="1300" dirty="0"/>
          </a:p>
        </p:txBody>
      </p:sp>
      <p:sp>
        <p:nvSpPr>
          <p:cNvPr id="18" name="Shape 16"/>
          <p:cNvSpPr/>
          <p:nvPr/>
        </p:nvSpPr>
        <p:spPr>
          <a:xfrm>
            <a:off x="548640" y="5248656"/>
            <a:ext cx="11064240" cy="1051560"/>
          </a:xfrm>
          <a:prstGeom prst="roundRect">
            <a:avLst>
              <a:gd name="adj" fmla="val 6957"/>
            </a:avLst>
          </a:prstGeom>
          <a:solidFill>
            <a:srgbClr val="F1F5F9"/>
          </a:solidFill>
          <a:ln/>
        </p:spPr>
      </p:sp>
      <p:sp>
        <p:nvSpPr>
          <p:cNvPr id="19" name="Text 17"/>
          <p:cNvSpPr txBox="1"/>
          <p:nvPr/>
        </p:nvSpPr>
        <p:spPr>
          <a:xfrm>
            <a:off x="822960" y="5358384"/>
            <a:ext cx="914400" cy="822960"/>
          </a:xfrm>
          <a:prstGeom prst="rect">
            <a:avLst/>
          </a:prstGeom>
          <a:noFill/>
          <a:ln/>
        </p:spPr>
        <p:txBody>
          <a:bodyPr wrap="square" lIns="0" tIns="0" rIns="0" bIns="0" rtlCol="0" anchor="ctr"/>
          <a:lstStyle/>
          <a:p>
            <a:pPr algn="l" indent="0" marL="0">
              <a:buNone/>
            </a:pPr>
            <a:r>
              <a:rPr lang="en-US" sz="3000" b="1" dirty="0">
                <a:solidFill>
                  <a:srgbClr val="FBBF24"/>
                </a:solidFill>
                <a:latin typeface="Cambria" pitchFamily="34" charset="0"/>
                <a:ea typeface="Cambria" pitchFamily="34" charset="-122"/>
                <a:cs typeface="Cambria" pitchFamily="34" charset="-120"/>
              </a:rPr>
              <a:t>04</a:t>
            </a:r>
            <a:endParaRPr lang="en-US" sz="3000" dirty="0"/>
          </a:p>
        </p:txBody>
      </p:sp>
      <p:sp>
        <p:nvSpPr>
          <p:cNvPr id="20" name="Text 18"/>
          <p:cNvSpPr txBox="1"/>
          <p:nvPr/>
        </p:nvSpPr>
        <p:spPr>
          <a:xfrm>
            <a:off x="1828800" y="5385816"/>
            <a:ext cx="5669280"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Integracja i diagnostyka</a:t>
            </a:r>
            <a:endParaRPr lang="en-US" sz="1800" dirty="0"/>
          </a:p>
        </p:txBody>
      </p:sp>
      <p:sp>
        <p:nvSpPr>
          <p:cNvPr id="21" name="Text 19"/>
          <p:cNvSpPr txBox="1"/>
          <p:nvPr/>
        </p:nvSpPr>
        <p:spPr>
          <a:xfrm>
            <a:off x="1828800" y="5797296"/>
            <a:ext cx="8503920" cy="41148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UID/GID, squashing, bezpieczeństwo, narzędzia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31520" y="2331720"/>
            <a:ext cx="5486400" cy="457200"/>
          </a:xfrm>
          <a:prstGeom prst="rect">
            <a:avLst/>
          </a:prstGeom>
          <a:noFill/>
          <a:ln/>
        </p:spPr>
        <p:txBody>
          <a:bodyPr wrap="square" lIns="0" tIns="0" rIns="0" bIns="0" rtlCol="0" anchor="ctr"/>
          <a:lstStyle/>
          <a:p>
            <a:pPr indent="0" marL="0">
              <a:buNone/>
            </a:pPr>
            <a:r>
              <a:rPr lang="en-US" sz="1600" b="1" spc="300" kern="0" dirty="0">
                <a:solidFill>
                  <a:srgbClr val="38BDF8"/>
                </a:solidFill>
                <a:latin typeface="Calibri" pitchFamily="34" charset="0"/>
                <a:ea typeface="Calibri" pitchFamily="34" charset="-122"/>
                <a:cs typeface="Calibri" pitchFamily="34" charset="-120"/>
              </a:rPr>
              <a:t>CZĘŚĆ 1</a:t>
            </a:r>
            <a:endParaRPr lang="en-US" sz="1600" dirty="0"/>
          </a:p>
        </p:txBody>
      </p:sp>
      <p:sp>
        <p:nvSpPr>
          <p:cNvPr id="3" name="Text 1"/>
          <p:cNvSpPr txBox="1"/>
          <p:nvPr/>
        </p:nvSpPr>
        <p:spPr>
          <a:xfrm>
            <a:off x="731520" y="2743200"/>
            <a:ext cx="10515600" cy="14630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Model uprawnień POSIX</a:t>
            </a:r>
            <a:endParaRPr lang="en-US" sz="4400" dirty="0"/>
          </a:p>
        </p:txBody>
      </p:sp>
      <p:sp>
        <p:nvSpPr>
          <p:cNvPr id="4" name="Text 2"/>
          <p:cNvSpPr txBox="1"/>
          <p:nvPr/>
        </p:nvSpPr>
        <p:spPr>
          <a:xfrm>
            <a:off x="731520" y="4114800"/>
            <a:ext cx="9601200" cy="73152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Fundament kontroli dostępu w każdym systemie uniksowym</a:t>
            </a:r>
            <a:endParaRPr lang="en-US" sz="1800" dirty="0"/>
          </a:p>
        </p:txBody>
      </p:sp>
      <p:sp>
        <p:nvSpPr>
          <p:cNvPr id="5" name="Shape 3"/>
          <p:cNvSpPr/>
          <p:nvPr/>
        </p:nvSpPr>
        <p:spPr>
          <a:xfrm>
            <a:off x="10332720" y="1097280"/>
            <a:ext cx="1463040" cy="1463040"/>
          </a:xfrm>
          <a:prstGeom prst="ellipse">
            <a:avLst/>
          </a:prstGeom>
          <a:solidFill>
            <a:srgbClr val="38BDF8">
              <a:alpha val="15000"/>
            </a:srgbClr>
          </a:solidFill>
          <a:ln w="19050">
            <a:solidFill>
              <a:srgbClr val="38BDF8"/>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1. POSIX</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Trzy kategorie podmiotów</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 POSIX</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548640" y="1737360"/>
            <a:ext cx="3611880" cy="3017520"/>
          </a:xfrm>
          <a:prstGeom prst="roundRect">
            <a:avLst>
              <a:gd name="adj" fmla="val 3030"/>
            </a:avLst>
          </a:prstGeom>
          <a:solidFill>
            <a:srgbClr val="F1F5F9"/>
          </a:solidFill>
          <a:ln/>
          <a:effectLst>
            <a:outerShdw sx="100000" sy="100000" kx="0" ky="0" algn="bl" rotWithShape="0" blurRad="127000" dist="38100" dir="5400000">
              <a:srgbClr val="000000">
                <a:alpha val="12000"/>
              </a:srgbClr>
            </a:outerShdw>
          </a:effectLst>
        </p:spPr>
      </p:sp>
      <p:sp>
        <p:nvSpPr>
          <p:cNvPr id="7" name="Shape 5"/>
          <p:cNvSpPr/>
          <p:nvPr/>
        </p:nvSpPr>
        <p:spPr>
          <a:xfrm>
            <a:off x="1892808" y="2011680"/>
            <a:ext cx="914400" cy="914400"/>
          </a:xfrm>
          <a:prstGeom prst="ellipse">
            <a:avLst/>
          </a:prstGeom>
          <a:solidFill>
            <a:srgbClr val="38BDF8"/>
          </a:solidFill>
          <a:ln/>
        </p:spPr>
      </p:sp>
      <p:sp>
        <p:nvSpPr>
          <p:cNvPr id="8" name="Text 6"/>
          <p:cNvSpPr txBox="1"/>
          <p:nvPr/>
        </p:nvSpPr>
        <p:spPr>
          <a:xfrm>
            <a:off x="1892808" y="201168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u</a:t>
            </a:r>
            <a:endParaRPr lang="en-US" sz="3200" dirty="0"/>
          </a:p>
        </p:txBody>
      </p:sp>
      <p:sp>
        <p:nvSpPr>
          <p:cNvPr id="9" name="Text 7"/>
          <p:cNvSpPr txBox="1"/>
          <p:nvPr/>
        </p:nvSpPr>
        <p:spPr>
          <a:xfrm>
            <a:off x="731520" y="3063240"/>
            <a:ext cx="3246120" cy="41148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Właściciel</a:t>
            </a:r>
            <a:endParaRPr lang="en-US" sz="1800" dirty="0"/>
          </a:p>
        </p:txBody>
      </p:sp>
      <p:sp>
        <p:nvSpPr>
          <p:cNvPr id="10" name="Text 8"/>
          <p:cNvSpPr txBox="1"/>
          <p:nvPr/>
        </p:nvSpPr>
        <p:spPr>
          <a:xfrm>
            <a:off x="868680" y="3520440"/>
            <a:ext cx="2971800" cy="1097280"/>
          </a:xfrm>
          <a:prstGeom prst="rect">
            <a:avLst/>
          </a:prstGeom>
          <a:noFill/>
          <a:ln/>
        </p:spPr>
        <p:txBody>
          <a:bodyPr wrap="square" lIns="0" tIns="0" rIns="0" bIns="0" rtlCol="0" anchor="ctr"/>
          <a:lstStyle/>
          <a:p>
            <a:pPr algn="ctr" indent="0" marL="0">
              <a:buNone/>
            </a:pPr>
            <a:r>
              <a:rPr lang="en-US" sz="1300" dirty="0">
                <a:solidFill>
                  <a:srgbClr val="475569"/>
                </a:solidFill>
                <a:latin typeface="Calibri" pitchFamily="34" charset="0"/>
                <a:ea typeface="Calibri" pitchFamily="34" charset="-122"/>
                <a:cs typeface="Calibri" pitchFamily="34" charset="-120"/>
              </a:rPr>
              <a:t>Konto, które utworzyło plik lub zostało mu przypisane przez chown</a:t>
            </a:r>
            <a:endParaRPr lang="en-US" sz="1300" dirty="0"/>
          </a:p>
        </p:txBody>
      </p:sp>
      <p:sp>
        <p:nvSpPr>
          <p:cNvPr id="11" name="Shape 9"/>
          <p:cNvSpPr/>
          <p:nvPr/>
        </p:nvSpPr>
        <p:spPr>
          <a:xfrm>
            <a:off x="4370832" y="1737360"/>
            <a:ext cx="3611880" cy="3017520"/>
          </a:xfrm>
          <a:prstGeom prst="roundRect">
            <a:avLst>
              <a:gd name="adj" fmla="val 3030"/>
            </a:avLst>
          </a:prstGeom>
          <a:solidFill>
            <a:srgbClr val="F1F5F9"/>
          </a:solidFill>
          <a:ln/>
          <a:effectLst>
            <a:outerShdw sx="100000" sy="100000" kx="0" ky="0" algn="bl" rotWithShape="0" blurRad="127000" dist="38100" dir="5400000">
              <a:srgbClr val="000000">
                <a:alpha val="12000"/>
              </a:srgbClr>
            </a:outerShdw>
          </a:effectLst>
        </p:spPr>
      </p:sp>
      <p:sp>
        <p:nvSpPr>
          <p:cNvPr id="12" name="Shape 10"/>
          <p:cNvSpPr/>
          <p:nvPr/>
        </p:nvSpPr>
        <p:spPr>
          <a:xfrm>
            <a:off x="5715000" y="2011680"/>
            <a:ext cx="914400" cy="914400"/>
          </a:xfrm>
          <a:prstGeom prst="ellipse">
            <a:avLst/>
          </a:prstGeom>
          <a:solidFill>
            <a:srgbClr val="34D399"/>
          </a:solidFill>
          <a:ln/>
        </p:spPr>
      </p:sp>
      <p:sp>
        <p:nvSpPr>
          <p:cNvPr id="13" name="Text 11"/>
          <p:cNvSpPr txBox="1"/>
          <p:nvPr/>
        </p:nvSpPr>
        <p:spPr>
          <a:xfrm>
            <a:off x="5715000" y="201168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g</a:t>
            </a:r>
            <a:endParaRPr lang="en-US" sz="3200" dirty="0"/>
          </a:p>
        </p:txBody>
      </p:sp>
      <p:sp>
        <p:nvSpPr>
          <p:cNvPr id="14" name="Text 12"/>
          <p:cNvSpPr txBox="1"/>
          <p:nvPr/>
        </p:nvSpPr>
        <p:spPr>
          <a:xfrm>
            <a:off x="4553712" y="3063240"/>
            <a:ext cx="3246120" cy="41148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Grupa</a:t>
            </a:r>
            <a:endParaRPr lang="en-US" sz="1800" dirty="0"/>
          </a:p>
        </p:txBody>
      </p:sp>
      <p:sp>
        <p:nvSpPr>
          <p:cNvPr id="15" name="Text 13"/>
          <p:cNvSpPr txBox="1"/>
          <p:nvPr/>
        </p:nvSpPr>
        <p:spPr>
          <a:xfrm>
            <a:off x="4690872" y="3520440"/>
            <a:ext cx="2971800" cy="1097280"/>
          </a:xfrm>
          <a:prstGeom prst="rect">
            <a:avLst/>
          </a:prstGeom>
          <a:noFill/>
          <a:ln/>
        </p:spPr>
        <p:txBody>
          <a:bodyPr wrap="square" lIns="0" tIns="0" rIns="0" bIns="0" rtlCol="0" anchor="ctr"/>
          <a:lstStyle/>
          <a:p>
            <a:pPr algn="ctr" indent="0" marL="0">
              <a:buNone/>
            </a:pPr>
            <a:r>
              <a:rPr lang="en-US" sz="1300" dirty="0">
                <a:solidFill>
                  <a:srgbClr val="475569"/>
                </a:solidFill>
                <a:latin typeface="Calibri" pitchFamily="34" charset="0"/>
                <a:ea typeface="Calibri" pitchFamily="34" charset="-122"/>
                <a:cs typeface="Calibri" pitchFamily="34" charset="-120"/>
              </a:rPr>
              <a:t>Grupa systemowa powiązana z plikiem</a:t>
            </a:r>
            <a:endParaRPr lang="en-US" sz="1300" dirty="0"/>
          </a:p>
        </p:txBody>
      </p:sp>
      <p:sp>
        <p:nvSpPr>
          <p:cNvPr id="16" name="Shape 14"/>
          <p:cNvSpPr/>
          <p:nvPr/>
        </p:nvSpPr>
        <p:spPr>
          <a:xfrm>
            <a:off x="8193024" y="1737360"/>
            <a:ext cx="3611880" cy="3017520"/>
          </a:xfrm>
          <a:prstGeom prst="roundRect">
            <a:avLst>
              <a:gd name="adj" fmla="val 3030"/>
            </a:avLst>
          </a:prstGeom>
          <a:solidFill>
            <a:srgbClr val="F1F5F9"/>
          </a:solidFill>
          <a:ln/>
          <a:effectLst>
            <a:outerShdw sx="100000" sy="100000" kx="0" ky="0" algn="bl" rotWithShape="0" blurRad="127000" dist="38100" dir="5400000">
              <a:srgbClr val="000000">
                <a:alpha val="12000"/>
              </a:srgbClr>
            </a:outerShdw>
          </a:effectLst>
        </p:spPr>
      </p:sp>
      <p:sp>
        <p:nvSpPr>
          <p:cNvPr id="17" name="Shape 15"/>
          <p:cNvSpPr/>
          <p:nvPr/>
        </p:nvSpPr>
        <p:spPr>
          <a:xfrm>
            <a:off x="9537192" y="2011680"/>
            <a:ext cx="914400" cy="914400"/>
          </a:xfrm>
          <a:prstGeom prst="ellipse">
            <a:avLst/>
          </a:prstGeom>
          <a:solidFill>
            <a:srgbClr val="FBBF24"/>
          </a:solidFill>
          <a:ln/>
        </p:spPr>
      </p:sp>
      <p:sp>
        <p:nvSpPr>
          <p:cNvPr id="18" name="Text 16"/>
          <p:cNvSpPr txBox="1"/>
          <p:nvPr/>
        </p:nvSpPr>
        <p:spPr>
          <a:xfrm>
            <a:off x="9537192" y="201168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o</a:t>
            </a:r>
            <a:endParaRPr lang="en-US" sz="3200" dirty="0"/>
          </a:p>
        </p:txBody>
      </p:sp>
      <p:sp>
        <p:nvSpPr>
          <p:cNvPr id="19" name="Text 17"/>
          <p:cNvSpPr txBox="1"/>
          <p:nvPr/>
        </p:nvSpPr>
        <p:spPr>
          <a:xfrm>
            <a:off x="8375904" y="3063240"/>
            <a:ext cx="3246120" cy="41148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Inni</a:t>
            </a:r>
            <a:endParaRPr lang="en-US" sz="1800" dirty="0"/>
          </a:p>
        </p:txBody>
      </p:sp>
      <p:sp>
        <p:nvSpPr>
          <p:cNvPr id="20" name="Text 18"/>
          <p:cNvSpPr txBox="1"/>
          <p:nvPr/>
        </p:nvSpPr>
        <p:spPr>
          <a:xfrm>
            <a:off x="8513064" y="3520440"/>
            <a:ext cx="2971800" cy="1097280"/>
          </a:xfrm>
          <a:prstGeom prst="rect">
            <a:avLst/>
          </a:prstGeom>
          <a:noFill/>
          <a:ln/>
        </p:spPr>
        <p:txBody>
          <a:bodyPr wrap="square" lIns="0" tIns="0" rIns="0" bIns="0" rtlCol="0" anchor="ctr"/>
          <a:lstStyle/>
          <a:p>
            <a:pPr algn="ctr" indent="0" marL="0">
              <a:buNone/>
            </a:pPr>
            <a:r>
              <a:rPr lang="en-US" sz="1300" dirty="0">
                <a:solidFill>
                  <a:srgbClr val="475569"/>
                </a:solidFill>
                <a:latin typeface="Calibri" pitchFamily="34" charset="0"/>
                <a:ea typeface="Calibri" pitchFamily="34" charset="-122"/>
                <a:cs typeface="Calibri" pitchFamily="34" charset="-120"/>
              </a:rPr>
              <a:t>Wszyscy pozostali użytkownicy systemu</a:t>
            </a:r>
            <a:endParaRPr lang="en-US" sz="1300" dirty="0"/>
          </a:p>
        </p:txBody>
      </p:sp>
      <p:sp>
        <p:nvSpPr>
          <p:cNvPr id="21" name="Text 19"/>
          <p:cNvSpPr txBox="1"/>
          <p:nvPr/>
        </p:nvSpPr>
        <p:spPr>
          <a:xfrm>
            <a:off x="548640" y="4983480"/>
            <a:ext cx="10881360" cy="5486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Każdy plik i katalog w systemie uniksowym posiada trzy niezależne zestawy uprawnień — po jednym dla każdej z powyższych kategorii.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1. POSIX</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Typy uprawnień i notacja</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 POSIX</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691640"/>
            <a:ext cx="777240" cy="777240"/>
          </a:xfrm>
          <a:prstGeom prst="roundRect">
            <a:avLst>
              <a:gd name="adj" fmla="val 11765"/>
            </a:avLst>
          </a:prstGeom>
          <a:solidFill>
            <a:srgbClr val="38BDF8"/>
          </a:solidFill>
          <a:ln/>
        </p:spPr>
      </p:sp>
      <p:sp>
        <p:nvSpPr>
          <p:cNvPr id="7" name="Text 5"/>
          <p:cNvSpPr txBox="1"/>
          <p:nvPr/>
        </p:nvSpPr>
        <p:spPr>
          <a:xfrm>
            <a:off x="548640" y="169164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onsolas" pitchFamily="34" charset="0"/>
                <a:ea typeface="Consolas" pitchFamily="34" charset="-122"/>
                <a:cs typeface="Consolas" pitchFamily="34" charset="-120"/>
              </a:rPr>
              <a:t>r</a:t>
            </a:r>
            <a:endParaRPr lang="en-US" sz="2800" dirty="0"/>
          </a:p>
        </p:txBody>
      </p:sp>
      <p:sp>
        <p:nvSpPr>
          <p:cNvPr id="8" name="Text 6"/>
          <p:cNvSpPr txBox="1"/>
          <p:nvPr/>
        </p:nvSpPr>
        <p:spPr>
          <a:xfrm>
            <a:off x="1508760" y="1719072"/>
            <a:ext cx="41148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read  (waga: 4)</a:t>
            </a:r>
            <a:endParaRPr lang="en-US" sz="1600" dirty="0"/>
          </a:p>
        </p:txBody>
      </p:sp>
      <p:sp>
        <p:nvSpPr>
          <p:cNvPr id="9" name="Text 7"/>
          <p:cNvSpPr txBox="1"/>
          <p:nvPr/>
        </p:nvSpPr>
        <p:spPr>
          <a:xfrm>
            <a:off x="1508760" y="2075688"/>
            <a:ext cx="6217920" cy="36576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odczyt pliku / listowanie katalogu</a:t>
            </a:r>
            <a:endParaRPr lang="en-US" sz="1300" dirty="0"/>
          </a:p>
        </p:txBody>
      </p:sp>
      <p:sp>
        <p:nvSpPr>
          <p:cNvPr id="10" name="Shape 8"/>
          <p:cNvSpPr/>
          <p:nvPr/>
        </p:nvSpPr>
        <p:spPr>
          <a:xfrm>
            <a:off x="548640" y="2651760"/>
            <a:ext cx="777240" cy="777240"/>
          </a:xfrm>
          <a:prstGeom prst="roundRect">
            <a:avLst>
              <a:gd name="adj" fmla="val 11765"/>
            </a:avLst>
          </a:prstGeom>
          <a:solidFill>
            <a:srgbClr val="34D399"/>
          </a:solidFill>
          <a:ln/>
        </p:spPr>
      </p:sp>
      <p:sp>
        <p:nvSpPr>
          <p:cNvPr id="11" name="Text 9"/>
          <p:cNvSpPr txBox="1"/>
          <p:nvPr/>
        </p:nvSpPr>
        <p:spPr>
          <a:xfrm>
            <a:off x="548640" y="26517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onsolas" pitchFamily="34" charset="0"/>
                <a:ea typeface="Consolas" pitchFamily="34" charset="-122"/>
                <a:cs typeface="Consolas" pitchFamily="34" charset="-120"/>
              </a:rPr>
              <a:t>w</a:t>
            </a:r>
            <a:endParaRPr lang="en-US" sz="2800" dirty="0"/>
          </a:p>
        </p:txBody>
      </p:sp>
      <p:sp>
        <p:nvSpPr>
          <p:cNvPr id="12" name="Text 10"/>
          <p:cNvSpPr txBox="1"/>
          <p:nvPr/>
        </p:nvSpPr>
        <p:spPr>
          <a:xfrm>
            <a:off x="1508760" y="2679192"/>
            <a:ext cx="41148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write  (waga: 2)</a:t>
            </a:r>
            <a:endParaRPr lang="en-US" sz="1600" dirty="0"/>
          </a:p>
        </p:txBody>
      </p:sp>
      <p:sp>
        <p:nvSpPr>
          <p:cNvPr id="13" name="Text 11"/>
          <p:cNvSpPr txBox="1"/>
          <p:nvPr/>
        </p:nvSpPr>
        <p:spPr>
          <a:xfrm>
            <a:off x="1508760" y="3035808"/>
            <a:ext cx="6217920" cy="36576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zapis/modyfikacja / tworzenie i usuwanie wpisów</a:t>
            </a:r>
            <a:endParaRPr lang="en-US" sz="1300" dirty="0"/>
          </a:p>
        </p:txBody>
      </p:sp>
      <p:sp>
        <p:nvSpPr>
          <p:cNvPr id="14" name="Shape 12"/>
          <p:cNvSpPr/>
          <p:nvPr/>
        </p:nvSpPr>
        <p:spPr>
          <a:xfrm>
            <a:off x="548640" y="3611880"/>
            <a:ext cx="777240" cy="777240"/>
          </a:xfrm>
          <a:prstGeom prst="roundRect">
            <a:avLst>
              <a:gd name="adj" fmla="val 11765"/>
            </a:avLst>
          </a:prstGeom>
          <a:solidFill>
            <a:srgbClr val="FBBF24"/>
          </a:solidFill>
          <a:ln/>
        </p:spPr>
      </p:sp>
      <p:sp>
        <p:nvSpPr>
          <p:cNvPr id="15" name="Text 13"/>
          <p:cNvSpPr txBox="1"/>
          <p:nvPr/>
        </p:nvSpPr>
        <p:spPr>
          <a:xfrm>
            <a:off x="548640" y="361188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onsolas" pitchFamily="34" charset="0"/>
                <a:ea typeface="Consolas" pitchFamily="34" charset="-122"/>
                <a:cs typeface="Consolas" pitchFamily="34" charset="-120"/>
              </a:rPr>
              <a:t>x</a:t>
            </a:r>
            <a:endParaRPr lang="en-US" sz="2800" dirty="0"/>
          </a:p>
        </p:txBody>
      </p:sp>
      <p:sp>
        <p:nvSpPr>
          <p:cNvPr id="16" name="Text 14"/>
          <p:cNvSpPr txBox="1"/>
          <p:nvPr/>
        </p:nvSpPr>
        <p:spPr>
          <a:xfrm>
            <a:off x="1508760" y="3639312"/>
            <a:ext cx="41148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execute  (waga: 1)</a:t>
            </a:r>
            <a:endParaRPr lang="en-US" sz="1600" dirty="0"/>
          </a:p>
        </p:txBody>
      </p:sp>
      <p:sp>
        <p:nvSpPr>
          <p:cNvPr id="17" name="Text 15"/>
          <p:cNvSpPr txBox="1"/>
          <p:nvPr/>
        </p:nvSpPr>
        <p:spPr>
          <a:xfrm>
            <a:off x="1508760" y="3995928"/>
            <a:ext cx="6217920" cy="36576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uruchomienie programu / wejście do katalogu (cd)</a:t>
            </a:r>
            <a:endParaRPr lang="en-US" sz="1300" dirty="0"/>
          </a:p>
        </p:txBody>
      </p:sp>
      <p:sp>
        <p:nvSpPr>
          <p:cNvPr id="18" name="Shape 16"/>
          <p:cNvSpPr/>
          <p:nvPr/>
        </p:nvSpPr>
        <p:spPr>
          <a:xfrm>
            <a:off x="7223760" y="1691640"/>
            <a:ext cx="4434840" cy="2011680"/>
          </a:xfrm>
          <a:prstGeom prst="roundRect">
            <a:avLst>
              <a:gd name="adj" fmla="val 3636"/>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19" name="Text 17"/>
          <p:cNvSpPr txBox="1"/>
          <p:nvPr/>
        </p:nvSpPr>
        <p:spPr>
          <a:xfrm>
            <a:off x="7452360" y="1874520"/>
            <a:ext cx="3977640" cy="1645920"/>
          </a:xfrm>
          <a:prstGeom prst="rect">
            <a:avLst/>
          </a:prstGeom>
          <a:noFill/>
          <a:ln/>
        </p:spPr>
        <p:txBody>
          <a:bodyPr wrap="square" lIns="0" tIns="0" rIns="0" bIns="0" rtlCol="0" anchor="t"/>
          <a:lstStyle/>
          <a:p>
            <a:pPr indent="0" marL="0">
              <a:spcAft>
                <a:spcPts val="200"/>
              </a:spcAft>
              <a:buNone/>
            </a:pPr>
            <a:r>
              <a:rPr lang="en-US" sz="1300" dirty="0">
                <a:solidFill>
                  <a:srgbClr val="94A3B8"/>
                </a:solidFill>
                <a:latin typeface="Consolas" pitchFamily="34" charset="0"/>
                <a:ea typeface="Consolas" pitchFamily="34" charset="-122"/>
                <a:cs typeface="Consolas" pitchFamily="34" charset="-120"/>
              </a:rPr>
              <a:t>$ ls -l plik.txt</a:t>
            </a:r>
            <a:endParaRPr lang="en-US" sz="1300" dirty="0"/>
          </a:p>
          <a:p>
            <a:pPr indent="0" marL="0">
              <a:spcAft>
                <a:spcPts val="200"/>
              </a:spcAft>
              <a:buNone/>
            </a:pPr>
            <a:r>
              <a:rPr lang="en-US" sz="1300" dirty="0">
                <a:solidFill>
                  <a:srgbClr val="7DD3FC"/>
                </a:solidFill>
                <a:latin typeface="Consolas" pitchFamily="34" charset="0"/>
                <a:ea typeface="Consolas" pitchFamily="34" charset="-122"/>
                <a:cs typeface="Consolas" pitchFamily="34" charset="-120"/>
              </a:rPr>
              <a:t>-rwxr-xr-- 1 jnowak dzial_it 4096 wrz 18 10:00 plik.txt</a:t>
            </a:r>
            <a:endParaRPr lang="en-US" sz="1300" dirty="0"/>
          </a:p>
          <a:p>
            <a:pPr indent="0" marL="0">
              <a:spcAft>
                <a:spcPts val="200"/>
              </a:spcAft>
              <a:buNone/>
            </a:pPr>
            <a:endParaRPr lang="en-US" sz="1300" dirty="0"/>
          </a:p>
          <a:p>
            <a:pPr indent="0" marL="0">
              <a:spcAft>
                <a:spcPts val="200"/>
              </a:spcAft>
              <a:buNone/>
            </a:pPr>
            <a:r>
              <a:rPr lang="en-US" sz="1300" dirty="0">
                <a:solidFill>
                  <a:srgbClr val="34D399"/>
                </a:solidFill>
                <a:latin typeface="Consolas" pitchFamily="34" charset="0"/>
                <a:ea typeface="Consolas" pitchFamily="34" charset="-122"/>
                <a:cs typeface="Consolas" pitchFamily="34" charset="-120"/>
              </a:rPr>
              <a:t>symbolicznie:  rwx r-x r--</a:t>
            </a:r>
            <a:endParaRPr lang="en-US" sz="1300" dirty="0"/>
          </a:p>
          <a:p>
            <a:pPr indent="0" marL="0">
              <a:spcAft>
                <a:spcPts val="200"/>
              </a:spcAft>
              <a:buNone/>
            </a:pPr>
            <a:r>
              <a:rPr lang="en-US" sz="1300" dirty="0">
                <a:solidFill>
                  <a:srgbClr val="FBBF24"/>
                </a:solidFill>
                <a:latin typeface="Consolas" pitchFamily="34" charset="0"/>
                <a:ea typeface="Consolas" pitchFamily="34" charset="-122"/>
                <a:cs typeface="Consolas" pitchFamily="34" charset="-120"/>
              </a:rPr>
              <a:t>ósemkowo:      7   5   4   -&gt;  754</a:t>
            </a:r>
            <a:endParaRPr lang="en-US" sz="1300" dirty="0"/>
          </a:p>
        </p:txBody>
      </p:sp>
      <p:sp>
        <p:nvSpPr>
          <p:cNvPr id="20" name="Text 18"/>
          <p:cNvSpPr txBox="1"/>
          <p:nvPr/>
        </p:nvSpPr>
        <p:spPr>
          <a:xfrm>
            <a:off x="548640" y="4983480"/>
            <a:ext cx="10972800" cy="5486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Uprawnienia zapisujemy w notacji symbolicznej (rwxr-xr--) albo ósemkowej, sumując wagi bitów w każdej triadzie (np. 754).</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1. POSIX</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Zmiana uprawnień poleceniem chmod</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 POSIX</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48640" y="1691640"/>
            <a:ext cx="6400800" cy="2834640"/>
          </a:xfrm>
          <a:prstGeom prst="roundRect">
            <a:avLst>
              <a:gd name="adj" fmla="val 2581"/>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74520"/>
            <a:ext cx="5943600" cy="2468880"/>
          </a:xfrm>
          <a:prstGeom prst="rect">
            <a:avLst/>
          </a:prstGeom>
          <a:noFill/>
          <a:ln/>
        </p:spPr>
        <p:txBody>
          <a:bodyPr wrap="square" lIns="0" tIns="0" rIns="0" bIns="0" rtlCol="0" anchor="t"/>
          <a:lstStyle/>
          <a:p>
            <a:pPr indent="0" marL="0">
              <a:spcAft>
                <a:spcPts val="200"/>
              </a:spcAft>
              <a:buNone/>
            </a:pPr>
            <a:r>
              <a:rPr lang="en-US" sz="1400" dirty="0">
                <a:solidFill>
                  <a:srgbClr val="64748B"/>
                </a:solidFill>
                <a:latin typeface="Consolas" pitchFamily="34" charset="0"/>
                <a:ea typeface="Consolas" pitchFamily="34" charset="-122"/>
                <a:cs typeface="Consolas" pitchFamily="34" charset="-120"/>
              </a:rPr>
              <a:t># Odczyt aktualnych uprawnień</a:t>
            </a:r>
            <a:endParaRPr lang="en-US" sz="1400" dirty="0"/>
          </a:p>
          <a:p>
            <a:pPr indent="0" marL="0">
              <a:spcAft>
                <a:spcPts val="200"/>
              </a:spcAft>
              <a:buNone/>
            </a:pPr>
            <a:r>
              <a:rPr lang="en-US" sz="1400" dirty="0">
                <a:solidFill>
                  <a:srgbClr val="E2E8F0"/>
                </a:solidFill>
                <a:latin typeface="Consolas" pitchFamily="34" charset="0"/>
                <a:ea typeface="Consolas" pitchFamily="34" charset="-122"/>
                <a:cs typeface="Consolas" pitchFamily="34" charset="-120"/>
              </a:rPr>
              <a:t>$ ls -l plik.txt</a:t>
            </a:r>
            <a:endParaRPr lang="en-US" sz="1400" dirty="0"/>
          </a:p>
          <a:p>
            <a:pPr indent="0" marL="0">
              <a:spcAft>
                <a:spcPts val="200"/>
              </a:spcAft>
              <a:buNone/>
            </a:pPr>
            <a:r>
              <a:rPr lang="en-US" sz="1400" dirty="0">
                <a:solidFill>
                  <a:srgbClr val="7DD3FC"/>
                </a:solidFill>
                <a:latin typeface="Consolas" pitchFamily="34" charset="0"/>
                <a:ea typeface="Consolas" pitchFamily="34" charset="-122"/>
                <a:cs typeface="Consolas" pitchFamily="34" charset="-120"/>
              </a:rPr>
              <a:t>-rwxr-xr-- 1 jnowak dzial_it 4096 wrz 18 10:00 plik.txt</a:t>
            </a:r>
            <a:endParaRPr lang="en-US" sz="1400" dirty="0"/>
          </a:p>
          <a:p>
            <a:pPr indent="0" marL="0">
              <a:spcAft>
                <a:spcPts val="200"/>
              </a:spcAft>
              <a:buNone/>
            </a:pPr>
            <a:endParaRPr lang="en-US" sz="1400" dirty="0"/>
          </a:p>
          <a:p>
            <a:pPr indent="0" marL="0">
              <a:spcAft>
                <a:spcPts val="200"/>
              </a:spcAft>
              <a:buNone/>
            </a:pPr>
            <a:r>
              <a:rPr lang="en-US" sz="1400" dirty="0">
                <a:solidFill>
                  <a:srgbClr val="64748B"/>
                </a:solidFill>
                <a:latin typeface="Consolas" pitchFamily="34" charset="0"/>
                <a:ea typeface="Consolas" pitchFamily="34" charset="-122"/>
                <a:cs typeface="Consolas" pitchFamily="34" charset="-120"/>
              </a:rPr>
              <a:t># Notacja symboliczna</a:t>
            </a:r>
            <a:endParaRPr lang="en-US" sz="1400" dirty="0"/>
          </a:p>
          <a:p>
            <a:pPr indent="0" marL="0">
              <a:spcAft>
                <a:spcPts val="200"/>
              </a:spcAft>
              <a:buNone/>
            </a:pPr>
            <a:r>
              <a:rPr lang="en-US" sz="1400" dirty="0">
                <a:solidFill>
                  <a:srgbClr val="34D399"/>
                </a:solidFill>
                <a:latin typeface="Consolas" pitchFamily="34" charset="0"/>
                <a:ea typeface="Consolas" pitchFamily="34" charset="-122"/>
                <a:cs typeface="Consolas" pitchFamily="34" charset="-120"/>
              </a:rPr>
              <a:t>$ chmod u+x,g-w,o=r plik.txt</a:t>
            </a:r>
            <a:endParaRPr lang="en-US" sz="1400" dirty="0"/>
          </a:p>
          <a:p>
            <a:pPr indent="0" marL="0">
              <a:spcAft>
                <a:spcPts val="200"/>
              </a:spcAft>
              <a:buNone/>
            </a:pPr>
            <a:endParaRPr lang="en-US" sz="1400" dirty="0"/>
          </a:p>
          <a:p>
            <a:pPr indent="0" marL="0">
              <a:spcAft>
                <a:spcPts val="200"/>
              </a:spcAft>
              <a:buNone/>
            </a:pPr>
            <a:r>
              <a:rPr lang="en-US" sz="1400" dirty="0">
                <a:solidFill>
                  <a:srgbClr val="64748B"/>
                </a:solidFill>
                <a:latin typeface="Consolas" pitchFamily="34" charset="0"/>
                <a:ea typeface="Consolas" pitchFamily="34" charset="-122"/>
                <a:cs typeface="Consolas" pitchFamily="34" charset="-120"/>
              </a:rPr>
              <a:t># Notacja ósemkowa</a:t>
            </a:r>
            <a:endParaRPr lang="en-US" sz="1400" dirty="0"/>
          </a:p>
          <a:p>
            <a:pPr indent="0" marL="0">
              <a:spcAft>
                <a:spcPts val="200"/>
              </a:spcAft>
              <a:buNone/>
            </a:pPr>
            <a:r>
              <a:rPr lang="en-US" sz="1400" dirty="0">
                <a:solidFill>
                  <a:srgbClr val="FBBF24"/>
                </a:solidFill>
                <a:latin typeface="Consolas" pitchFamily="34" charset="0"/>
                <a:ea typeface="Consolas" pitchFamily="34" charset="-122"/>
                <a:cs typeface="Consolas" pitchFamily="34" charset="-120"/>
              </a:rPr>
              <a:t>$ chmod 754 plik.txt</a:t>
            </a:r>
            <a:endParaRPr lang="en-US" sz="1400" dirty="0"/>
          </a:p>
        </p:txBody>
      </p:sp>
      <p:sp>
        <p:nvSpPr>
          <p:cNvPr id="8" name="Text 6"/>
          <p:cNvSpPr txBox="1"/>
          <p:nvPr/>
        </p:nvSpPr>
        <p:spPr>
          <a:xfrm>
            <a:off x="7223760" y="1783080"/>
            <a:ext cx="4434840" cy="2743200"/>
          </a:xfrm>
          <a:prstGeom prst="rect">
            <a:avLst/>
          </a:prstGeom>
          <a:noFill/>
          <a:ln/>
        </p:spPr>
        <p:txBody>
          <a:bodyPr wrap="square" lIns="0" tIns="0" rIns="0" bIns="0" rtlCol="0" anchor="t"/>
          <a:lstStyle/>
          <a:p>
            <a:pPr marL="342900" indent="-342900">
              <a:lnSpc>
                <a:spcPct val="108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u+x  — dodaj prawo wykonania właścicielowi</a:t>
            </a:r>
            <a:endParaRPr lang="en-US" sz="1400" dirty="0"/>
          </a:p>
          <a:p>
            <a:pPr marL="342900" indent="-342900">
              <a:lnSpc>
                <a:spcPct val="108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g-w  — odbierz prawo zapisu grupie</a:t>
            </a:r>
            <a:endParaRPr lang="en-US" sz="1400" dirty="0"/>
          </a:p>
          <a:p>
            <a:pPr marL="342900" indent="-342900">
              <a:lnSpc>
                <a:spcPct val="108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o=r  — ustaw dla innych wyłącznie odczyt</a:t>
            </a:r>
            <a:endParaRPr lang="en-US" sz="1400" dirty="0"/>
          </a:p>
          <a:p>
            <a:pPr marL="342900" indent="-342900">
              <a:lnSpc>
                <a:spcPct val="108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Notacja ósemkowa ustawia wszystkie triady naraz</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BBF24"/>
                </a:solidFill>
                <a:latin typeface="Calibri" pitchFamily="34" charset="0"/>
                <a:ea typeface="Calibri" pitchFamily="34" charset="-122"/>
                <a:cs typeface="Calibri" pitchFamily="34" charset="-120"/>
              </a:rPr>
              <a:t>1. POSIX — bity specjalne</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SUID (Set User ID)</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 POSIX — bity specjalne</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640080" y="1737360"/>
            <a:ext cx="1188720" cy="1188720"/>
          </a:xfrm>
          <a:prstGeom prst="ellipse">
            <a:avLst/>
          </a:prstGeom>
          <a:solidFill>
            <a:srgbClr val="FBBF24"/>
          </a:solidFill>
          <a:ln/>
        </p:spPr>
      </p:sp>
      <p:sp>
        <p:nvSpPr>
          <p:cNvPr id="7" name="Text 5"/>
          <p:cNvSpPr txBox="1"/>
          <p:nvPr/>
        </p:nvSpPr>
        <p:spPr>
          <a:xfrm>
            <a:off x="640080" y="1737360"/>
            <a:ext cx="1188720" cy="1188720"/>
          </a:xfrm>
          <a:prstGeom prst="rect">
            <a:avLst/>
          </a:prstGeom>
          <a:noFill/>
          <a:ln/>
        </p:spPr>
        <p:txBody>
          <a:bodyPr wrap="square" lIns="0" tIns="0" rIns="0" bIns="0" rtlCol="0" anchor="ctr"/>
          <a:lstStyle/>
          <a:p>
            <a:pPr algn="ctr" indent="0" marL="0">
              <a:buNone/>
            </a:pPr>
            <a:r>
              <a:rPr lang="en-US" sz="4160" b="1" dirty="0">
                <a:solidFill>
                  <a:srgbClr val="FFFFFF"/>
                </a:solidFill>
                <a:latin typeface="Calibri" pitchFamily="34" charset="0"/>
                <a:ea typeface="Calibri" pitchFamily="34" charset="-122"/>
                <a:cs typeface="Calibri" pitchFamily="34" charset="-120"/>
              </a:rPr>
              <a:t>S</a:t>
            </a:r>
            <a:endParaRPr lang="en-US" sz="4160" dirty="0"/>
          </a:p>
        </p:txBody>
      </p:sp>
      <p:sp>
        <p:nvSpPr>
          <p:cNvPr id="8" name="Text 6"/>
          <p:cNvSpPr txBox="1"/>
          <p:nvPr/>
        </p:nvSpPr>
        <p:spPr>
          <a:xfrm>
            <a:off x="2103120" y="1874520"/>
            <a:ext cx="9144000" cy="411480"/>
          </a:xfrm>
          <a:prstGeom prst="rect">
            <a:avLst/>
          </a:prstGeom>
          <a:noFill/>
          <a:ln/>
        </p:spPr>
        <p:txBody>
          <a:bodyPr wrap="square" lIns="0" tIns="0" rIns="0" bIns="0" rtlCol="0" anchor="ctr"/>
          <a:lstStyle/>
          <a:p>
            <a:pPr indent="0" marL="0">
              <a:buNone/>
            </a:pPr>
            <a:r>
              <a:rPr lang="en-US" sz="1500" b="1" dirty="0">
                <a:solidFill>
                  <a:srgbClr val="0F172A"/>
                </a:solidFill>
                <a:latin typeface="Consolas" pitchFamily="34" charset="0"/>
                <a:ea typeface="Consolas" pitchFamily="34" charset="-122"/>
                <a:cs typeface="Consolas" pitchFamily="34" charset="-120"/>
              </a:rPr>
              <a:t>Wartość ósemkowa: 4000  •  notacja: s w miejscu x właściciela</a:t>
            </a:r>
            <a:endParaRPr lang="en-US" sz="1500" dirty="0"/>
          </a:p>
        </p:txBody>
      </p:sp>
      <p:sp>
        <p:nvSpPr>
          <p:cNvPr id="9" name="Text 7"/>
          <p:cNvSpPr txBox="1"/>
          <p:nvPr/>
        </p:nvSpPr>
        <p:spPr>
          <a:xfrm>
            <a:off x="2103120" y="2331720"/>
            <a:ext cx="9144000" cy="640080"/>
          </a:xfrm>
          <a:prstGeom prst="rect">
            <a:avLst/>
          </a:prstGeom>
          <a:noFill/>
          <a:ln/>
        </p:spPr>
        <p:txBody>
          <a:bodyPr wrap="square" lIns="0" tIns="0" rIns="0" bIns="0" rtlCol="0" anchor="ctr"/>
          <a:lstStyle/>
          <a:p>
            <a:pPr indent="0" marL="0">
              <a:buNone/>
            </a:pPr>
            <a:r>
              <a:rPr lang="en-US" sz="1500" dirty="0">
                <a:solidFill>
                  <a:srgbClr val="475569"/>
                </a:solidFill>
                <a:latin typeface="Calibri" pitchFamily="34" charset="0"/>
                <a:ea typeface="Calibri" pitchFamily="34" charset="-122"/>
                <a:cs typeface="Calibri" pitchFamily="34" charset="-120"/>
              </a:rPr>
              <a:t>Proces uruchamiany jest z uprawnieniami właściciela pliku, a nie użytkownika, który go wywołał.</a:t>
            </a:r>
            <a:endParaRPr lang="en-US" sz="1500" dirty="0"/>
          </a:p>
        </p:txBody>
      </p:sp>
      <p:sp>
        <p:nvSpPr>
          <p:cNvPr id="10" name="Shape 8"/>
          <p:cNvSpPr/>
          <p:nvPr/>
        </p:nvSpPr>
        <p:spPr>
          <a:xfrm>
            <a:off x="548640" y="3246120"/>
            <a:ext cx="6400800" cy="1737360"/>
          </a:xfrm>
          <a:prstGeom prst="roundRect">
            <a:avLst>
              <a:gd name="adj" fmla="val 4211"/>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11" name="Text 9"/>
          <p:cNvSpPr txBox="1"/>
          <p:nvPr/>
        </p:nvSpPr>
        <p:spPr>
          <a:xfrm>
            <a:off x="777240" y="3429000"/>
            <a:ext cx="5943600" cy="1371600"/>
          </a:xfrm>
          <a:prstGeom prst="rect">
            <a:avLst/>
          </a:prstGeom>
          <a:noFill/>
          <a:ln/>
        </p:spPr>
        <p:txBody>
          <a:bodyPr wrap="square" lIns="0" tIns="0" rIns="0" bIns="0" rtlCol="0" anchor="t"/>
          <a:lstStyle/>
          <a:p>
            <a:pPr indent="0" marL="0">
              <a:spcAft>
                <a:spcPts val="200"/>
              </a:spcAft>
              <a:buNone/>
            </a:pPr>
            <a:r>
              <a:rPr lang="en-US" sz="1400" dirty="0">
                <a:solidFill>
                  <a:srgbClr val="94A3B8"/>
                </a:solidFill>
                <a:latin typeface="Consolas" pitchFamily="34" charset="0"/>
                <a:ea typeface="Consolas" pitchFamily="34" charset="-122"/>
                <a:cs typeface="Consolas" pitchFamily="34" charset="-120"/>
              </a:rPr>
              <a:t>$ ls -l /usr/bin/passwd</a:t>
            </a:r>
            <a:endParaRPr lang="en-US" sz="1400" dirty="0"/>
          </a:p>
          <a:p>
            <a:pPr indent="0" marL="0">
              <a:spcAft>
                <a:spcPts val="200"/>
              </a:spcAft>
              <a:buNone/>
            </a:pPr>
            <a:r>
              <a:rPr lang="en-US" sz="1400" dirty="0">
                <a:solidFill>
                  <a:srgbClr val="FBBF24"/>
                </a:solidFill>
                <a:latin typeface="Consolas" pitchFamily="34" charset="0"/>
                <a:ea typeface="Consolas" pitchFamily="34" charset="-122"/>
                <a:cs typeface="Consolas" pitchFamily="34" charset="-120"/>
              </a:rPr>
              <a:t>-rwsr-xr-x 1 root root 68208 ... /usr/bin/passwd</a:t>
            </a:r>
            <a:endParaRPr lang="en-US" sz="1400" dirty="0"/>
          </a:p>
          <a:p>
            <a:pPr indent="0" marL="0">
              <a:spcAft>
                <a:spcPts val="200"/>
              </a:spcAft>
              <a:buNone/>
            </a:pPr>
            <a:endParaRPr lang="en-US" sz="1400" dirty="0"/>
          </a:p>
          <a:p>
            <a:pPr indent="0" marL="0">
              <a:spcAft>
                <a:spcPts val="200"/>
              </a:spcAft>
              <a:buNone/>
            </a:pPr>
            <a:r>
              <a:rPr lang="en-US" sz="1400" dirty="0">
                <a:solidFill>
                  <a:srgbClr val="64748B"/>
                </a:solidFill>
                <a:latin typeface="Consolas" pitchFamily="34" charset="0"/>
                <a:ea typeface="Consolas" pitchFamily="34" charset="-122"/>
                <a:cs typeface="Consolas" pitchFamily="34" charset="-120"/>
              </a:rPr>
              <a:t># zwykły user może zmienic wlasne haslo,</a:t>
            </a:r>
            <a:endParaRPr lang="en-US" sz="1400" dirty="0"/>
          </a:p>
          <a:p>
            <a:pPr indent="0" marL="0">
              <a:spcAft>
                <a:spcPts val="200"/>
              </a:spcAft>
              <a:buNone/>
            </a:pPr>
            <a:r>
              <a:rPr lang="en-US" sz="1400" dirty="0">
                <a:solidFill>
                  <a:srgbClr val="64748B"/>
                </a:solidFill>
                <a:latin typeface="Consolas" pitchFamily="34" charset="0"/>
                <a:ea typeface="Consolas" pitchFamily="34" charset="-122"/>
                <a:cs typeface="Consolas" pitchFamily="34" charset="-120"/>
              </a:rPr>
              <a:t># bo proces na chwile dziala jako root</a:t>
            </a:r>
            <a:endParaRPr lang="en-US" sz="1400" dirty="0"/>
          </a:p>
        </p:txBody>
      </p:sp>
      <p:sp>
        <p:nvSpPr>
          <p:cNvPr id="12" name="Shape 10"/>
          <p:cNvSpPr/>
          <p:nvPr/>
        </p:nvSpPr>
        <p:spPr>
          <a:xfrm>
            <a:off x="7223760" y="3246120"/>
            <a:ext cx="4434840" cy="1737360"/>
          </a:xfrm>
          <a:prstGeom prst="roundRect">
            <a:avLst>
              <a:gd name="adj" fmla="val 4211"/>
            </a:avLst>
          </a:prstGeom>
          <a:solidFill>
            <a:srgbClr val="FEF3C7"/>
          </a:solidFill>
          <a:ln w="12700">
            <a:solidFill>
              <a:srgbClr val="FBBF24"/>
            </a:solidFill>
            <a:prstDash val="solid"/>
          </a:ln>
        </p:spPr>
      </p:sp>
      <p:sp>
        <p:nvSpPr>
          <p:cNvPr id="13" name="Text 11"/>
          <p:cNvSpPr txBox="1"/>
          <p:nvPr/>
        </p:nvSpPr>
        <p:spPr>
          <a:xfrm>
            <a:off x="7452360" y="3401568"/>
            <a:ext cx="4023360" cy="365760"/>
          </a:xfrm>
          <a:prstGeom prst="rect">
            <a:avLst/>
          </a:prstGeom>
          <a:noFill/>
          <a:ln/>
        </p:spPr>
        <p:txBody>
          <a:bodyPr wrap="square" lIns="0" tIns="0" rIns="0" bIns="0" rtlCol="0" anchor="ctr"/>
          <a:lstStyle/>
          <a:p>
            <a:pPr indent="0" marL="0">
              <a:buNone/>
            </a:pPr>
            <a:r>
              <a:rPr lang="en-US" sz="1400" b="1" dirty="0">
                <a:solidFill>
                  <a:srgbClr val="92400E"/>
                </a:solidFill>
                <a:latin typeface="Calibri" pitchFamily="34" charset="0"/>
                <a:ea typeface="Calibri" pitchFamily="34" charset="-122"/>
                <a:cs typeface="Calibri" pitchFamily="34" charset="-120"/>
              </a:rPr>
              <a:t>⚠ Uwaga bezpieczeństwa</a:t>
            </a:r>
            <a:endParaRPr lang="en-US" sz="1400" dirty="0"/>
          </a:p>
        </p:txBody>
      </p:sp>
      <p:sp>
        <p:nvSpPr>
          <p:cNvPr id="14" name="Text 12"/>
          <p:cNvSpPr txBox="1"/>
          <p:nvPr/>
        </p:nvSpPr>
        <p:spPr>
          <a:xfrm>
            <a:off x="7452360" y="3749040"/>
            <a:ext cx="4023360" cy="1143000"/>
          </a:xfrm>
          <a:prstGeom prst="rect">
            <a:avLst/>
          </a:prstGeom>
          <a:noFill/>
          <a:ln/>
        </p:spPr>
        <p:txBody>
          <a:bodyPr wrap="square" lIns="0" tIns="0" rIns="0" bIns="0" rtlCol="0" anchor="ctr"/>
          <a:lstStyle/>
          <a:p>
            <a:pPr indent="0" marL="0">
              <a:buNone/>
            </a:pPr>
            <a:r>
              <a:rPr lang="en-US" sz="1250" dirty="0">
                <a:solidFill>
                  <a:srgbClr val="78350F"/>
                </a:solidFill>
                <a:latin typeface="Calibri" pitchFamily="34" charset="0"/>
                <a:ea typeface="Calibri" pitchFamily="34" charset="-122"/>
                <a:cs typeface="Calibri" pitchFamily="34" charset="-120"/>
              </a:rPr>
              <a:t>Binaria z SUID należące do root to jeden z najczęstszych wektorów eskalacji uprawnień. Audytuj poleceniem:</a:t>
            </a:r>
            <a:endParaRPr lang="en-US" sz="1250" dirty="0"/>
          </a:p>
          <a:p>
            <a:pPr indent="0" marL="0">
              <a:buNone/>
            </a:pPr>
            <a:r>
              <a:rPr lang="en-US" sz="1250" dirty="0">
                <a:solidFill>
                  <a:srgbClr val="78350F"/>
                </a:solidFill>
                <a:latin typeface="Calibri" pitchFamily="34" charset="0"/>
                <a:ea typeface="Calibri" pitchFamily="34" charset="-122"/>
                <a:cs typeface="Calibri" pitchFamily="34" charset="-120"/>
              </a:rPr>
              <a:t>find / -perm -4000</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4D399"/>
                </a:solidFill>
                <a:latin typeface="Calibri" pitchFamily="34" charset="0"/>
                <a:ea typeface="Calibri" pitchFamily="34" charset="-122"/>
                <a:cs typeface="Calibri" pitchFamily="34" charset="-120"/>
              </a:rPr>
              <a:t>1. POSIX — bity specjalne</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SGID i sticky bit</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 POSIX — bity specjalne</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548640" y="1691640"/>
            <a:ext cx="5486400" cy="3200400"/>
          </a:xfrm>
          <a:prstGeom prst="roundRect">
            <a:avLst>
              <a:gd name="adj" fmla="val 2857"/>
            </a:avLst>
          </a:prstGeom>
          <a:solidFill>
            <a:srgbClr val="F1F5F9"/>
          </a:solidFill>
          <a:ln/>
        </p:spPr>
      </p:sp>
      <p:sp>
        <p:nvSpPr>
          <p:cNvPr id="7" name="Shape 5"/>
          <p:cNvSpPr/>
          <p:nvPr/>
        </p:nvSpPr>
        <p:spPr>
          <a:xfrm>
            <a:off x="822960" y="1920240"/>
            <a:ext cx="731520" cy="731520"/>
          </a:xfrm>
          <a:prstGeom prst="ellipse">
            <a:avLst/>
          </a:prstGeom>
          <a:solidFill>
            <a:srgbClr val="34D399"/>
          </a:solidFill>
          <a:ln/>
        </p:spPr>
      </p:sp>
      <p:sp>
        <p:nvSpPr>
          <p:cNvPr id="8" name="Text 6"/>
          <p:cNvSpPr txBox="1"/>
          <p:nvPr/>
        </p:nvSpPr>
        <p:spPr>
          <a:xfrm>
            <a:off x="822960" y="1920240"/>
            <a:ext cx="731520" cy="731520"/>
          </a:xfrm>
          <a:prstGeom prst="rect">
            <a:avLst/>
          </a:prstGeom>
          <a:noFill/>
          <a:ln/>
        </p:spPr>
        <p:txBody>
          <a:bodyPr wrap="square" lIns="0" tIns="0" rIns="0" bIns="0" rtlCol="0" anchor="ctr"/>
          <a:lstStyle/>
          <a:p>
            <a:pPr algn="ctr" indent="0" marL="0">
              <a:buNone/>
            </a:pPr>
            <a:r>
              <a:rPr lang="en-US" sz="2560" b="1" dirty="0">
                <a:solidFill>
                  <a:srgbClr val="FFFFFF"/>
                </a:solidFill>
                <a:latin typeface="Calibri" pitchFamily="34" charset="0"/>
                <a:ea typeface="Calibri" pitchFamily="34" charset="-122"/>
                <a:cs typeface="Calibri" pitchFamily="34" charset="-120"/>
              </a:rPr>
              <a:t>G</a:t>
            </a:r>
            <a:endParaRPr lang="en-US" sz="2560" dirty="0"/>
          </a:p>
        </p:txBody>
      </p:sp>
      <p:sp>
        <p:nvSpPr>
          <p:cNvPr id="9" name="Text 7"/>
          <p:cNvSpPr txBox="1"/>
          <p:nvPr/>
        </p:nvSpPr>
        <p:spPr>
          <a:xfrm>
            <a:off x="1737360" y="1965960"/>
            <a:ext cx="41148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SGID — 2000</a:t>
            </a:r>
            <a:endParaRPr lang="en-US" sz="1600" dirty="0"/>
          </a:p>
        </p:txBody>
      </p:sp>
      <p:sp>
        <p:nvSpPr>
          <p:cNvPr id="10" name="Text 8"/>
          <p:cNvSpPr txBox="1"/>
          <p:nvPr/>
        </p:nvSpPr>
        <p:spPr>
          <a:xfrm>
            <a:off x="822960" y="2514600"/>
            <a:ext cx="4937760" cy="100584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Na plikach: proces dziedziczy GID grupy pliku.</a:t>
            </a:r>
            <a:endParaRPr lang="en-US" sz="1300" dirty="0"/>
          </a:p>
          <a:p>
            <a:pPr indent="0" marL="0">
              <a:buNone/>
            </a:pPr>
            <a:r>
              <a:rPr lang="en-US" sz="1300" dirty="0">
                <a:solidFill>
                  <a:srgbClr val="475569"/>
                </a:solidFill>
                <a:latin typeface="Calibri" pitchFamily="34" charset="0"/>
                <a:ea typeface="Calibri" pitchFamily="34" charset="-122"/>
                <a:cs typeface="Calibri" pitchFamily="34" charset="-120"/>
              </a:rPr>
              <a:t>Na katalogach: nowe pliki dziedziczą grupę katalogu nadrzędnego.</a:t>
            </a:r>
            <a:endParaRPr lang="en-US" sz="1300" dirty="0"/>
          </a:p>
        </p:txBody>
      </p:sp>
      <p:sp>
        <p:nvSpPr>
          <p:cNvPr id="11" name="Shape 9"/>
          <p:cNvSpPr/>
          <p:nvPr/>
        </p:nvSpPr>
        <p:spPr>
          <a:xfrm>
            <a:off x="822960" y="3611880"/>
            <a:ext cx="4937760" cy="1097280"/>
          </a:xfrm>
          <a:prstGeom prst="roundRect">
            <a:avLst>
              <a:gd name="adj" fmla="val 6667"/>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12" name="Text 10"/>
          <p:cNvSpPr txBox="1"/>
          <p:nvPr/>
        </p:nvSpPr>
        <p:spPr>
          <a:xfrm>
            <a:off x="1051560" y="3794760"/>
            <a:ext cx="4480560" cy="731520"/>
          </a:xfrm>
          <a:prstGeom prst="rect">
            <a:avLst/>
          </a:prstGeom>
          <a:noFill/>
          <a:ln/>
        </p:spPr>
        <p:txBody>
          <a:bodyPr wrap="square" lIns="0" tIns="0" rIns="0" bIns="0" rtlCol="0" anchor="t"/>
          <a:lstStyle/>
          <a:p>
            <a:pPr indent="0" marL="0">
              <a:spcAft>
                <a:spcPts val="200"/>
              </a:spcAft>
              <a:buNone/>
            </a:pPr>
            <a:r>
              <a:rPr lang="en-US" sz="1300" dirty="0">
                <a:solidFill>
                  <a:srgbClr val="34D399"/>
                </a:solidFill>
                <a:latin typeface="Consolas" pitchFamily="34" charset="0"/>
                <a:ea typeface="Consolas" pitchFamily="34" charset="-122"/>
                <a:cs typeface="Consolas" pitchFamily="34" charset="-120"/>
              </a:rPr>
              <a:t>$ chmod 2775 /srv/projekty</a:t>
            </a:r>
            <a:endParaRPr lang="en-US" sz="1300" dirty="0"/>
          </a:p>
          <a:p>
            <a:pPr indent="0" marL="0">
              <a:spcAft>
                <a:spcPts val="200"/>
              </a:spcAft>
              <a:buNone/>
            </a:pPr>
            <a:r>
              <a:rPr lang="en-US" sz="1300" dirty="0">
                <a:solidFill>
                  <a:srgbClr val="64748B"/>
                </a:solidFill>
                <a:latin typeface="Consolas" pitchFamily="34" charset="0"/>
                <a:ea typeface="Consolas" pitchFamily="34" charset="-122"/>
                <a:cs typeface="Consolas" pitchFamily="34" charset="-120"/>
              </a:rPr>
              <a:t># SGID + rwxrwxr-x</a:t>
            </a:r>
            <a:endParaRPr lang="en-US" sz="1300" dirty="0"/>
          </a:p>
          <a:p>
            <a:pPr indent="0" marL="0">
              <a:spcAft>
                <a:spcPts val="200"/>
              </a:spcAft>
              <a:buNone/>
            </a:pPr>
            <a:r>
              <a:rPr lang="en-US" sz="1300" dirty="0">
                <a:solidFill>
                  <a:srgbClr val="64748B"/>
                </a:solidFill>
                <a:latin typeface="Consolas" pitchFamily="34" charset="0"/>
                <a:ea typeface="Consolas" pitchFamily="34" charset="-122"/>
                <a:cs typeface="Consolas" pitchFamily="34" charset="-120"/>
              </a:rPr>
              <a:t># wspoldzielony katalog projektowy</a:t>
            </a:r>
            <a:endParaRPr lang="en-US" sz="1300" dirty="0"/>
          </a:p>
        </p:txBody>
      </p:sp>
      <p:sp>
        <p:nvSpPr>
          <p:cNvPr id="13" name="Shape 11"/>
          <p:cNvSpPr/>
          <p:nvPr/>
        </p:nvSpPr>
        <p:spPr>
          <a:xfrm>
            <a:off x="6263640" y="1691640"/>
            <a:ext cx="5394960" cy="3200400"/>
          </a:xfrm>
          <a:prstGeom prst="roundRect">
            <a:avLst>
              <a:gd name="adj" fmla="val 2857"/>
            </a:avLst>
          </a:prstGeom>
          <a:solidFill>
            <a:srgbClr val="F1F5F9"/>
          </a:solidFill>
          <a:ln/>
        </p:spPr>
      </p:sp>
      <p:sp>
        <p:nvSpPr>
          <p:cNvPr id="14" name="Shape 12"/>
          <p:cNvSpPr/>
          <p:nvPr/>
        </p:nvSpPr>
        <p:spPr>
          <a:xfrm>
            <a:off x="6537960" y="1920240"/>
            <a:ext cx="731520" cy="731520"/>
          </a:xfrm>
          <a:prstGeom prst="ellipse">
            <a:avLst/>
          </a:prstGeom>
          <a:solidFill>
            <a:srgbClr val="A78BFA"/>
          </a:solidFill>
          <a:ln/>
        </p:spPr>
      </p:sp>
      <p:sp>
        <p:nvSpPr>
          <p:cNvPr id="15" name="Text 13"/>
          <p:cNvSpPr txBox="1"/>
          <p:nvPr/>
        </p:nvSpPr>
        <p:spPr>
          <a:xfrm>
            <a:off x="6537960" y="1920240"/>
            <a:ext cx="731520" cy="731520"/>
          </a:xfrm>
          <a:prstGeom prst="rect">
            <a:avLst/>
          </a:prstGeom>
          <a:noFill/>
          <a:ln/>
        </p:spPr>
        <p:txBody>
          <a:bodyPr wrap="square" lIns="0" tIns="0" rIns="0" bIns="0" rtlCol="0" anchor="ctr"/>
          <a:lstStyle/>
          <a:p>
            <a:pPr algn="ctr" indent="0" marL="0">
              <a:buNone/>
            </a:pPr>
            <a:r>
              <a:rPr lang="en-US" sz="2560" b="1" dirty="0">
                <a:solidFill>
                  <a:srgbClr val="FFFFFF"/>
                </a:solidFill>
                <a:latin typeface="Calibri" pitchFamily="34" charset="0"/>
                <a:ea typeface="Calibri" pitchFamily="34" charset="-122"/>
                <a:cs typeface="Calibri" pitchFamily="34" charset="-120"/>
              </a:rPr>
              <a:t>T</a:t>
            </a:r>
            <a:endParaRPr lang="en-US" sz="2560" dirty="0"/>
          </a:p>
        </p:txBody>
      </p:sp>
      <p:sp>
        <p:nvSpPr>
          <p:cNvPr id="16" name="Text 14"/>
          <p:cNvSpPr txBox="1"/>
          <p:nvPr/>
        </p:nvSpPr>
        <p:spPr>
          <a:xfrm>
            <a:off x="7452360" y="1965960"/>
            <a:ext cx="402336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Sticky bit — 1000</a:t>
            </a:r>
            <a:endParaRPr lang="en-US" sz="1600" dirty="0"/>
          </a:p>
        </p:txBody>
      </p:sp>
      <p:sp>
        <p:nvSpPr>
          <p:cNvPr id="17" name="Text 15"/>
          <p:cNvSpPr txBox="1"/>
          <p:nvPr/>
        </p:nvSpPr>
        <p:spPr>
          <a:xfrm>
            <a:off x="6537960" y="2514600"/>
            <a:ext cx="4846320" cy="100584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Na katalogach: tylko właściciel pliku (lub root) może go usunąć — nawet gdy katalog ma prawo zapisu dla wszystkich.</a:t>
            </a:r>
            <a:endParaRPr lang="en-US" sz="1300" dirty="0"/>
          </a:p>
        </p:txBody>
      </p:sp>
      <p:sp>
        <p:nvSpPr>
          <p:cNvPr id="18" name="Shape 16"/>
          <p:cNvSpPr/>
          <p:nvPr/>
        </p:nvSpPr>
        <p:spPr>
          <a:xfrm>
            <a:off x="6537960" y="3611880"/>
            <a:ext cx="4846320" cy="914400"/>
          </a:xfrm>
          <a:prstGeom prst="roundRect">
            <a:avLst>
              <a:gd name="adj" fmla="val 800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19" name="Text 17"/>
          <p:cNvSpPr txBox="1"/>
          <p:nvPr/>
        </p:nvSpPr>
        <p:spPr>
          <a:xfrm>
            <a:off x="6766560" y="3794760"/>
            <a:ext cx="4389120" cy="548640"/>
          </a:xfrm>
          <a:prstGeom prst="rect">
            <a:avLst/>
          </a:prstGeom>
          <a:noFill/>
          <a:ln/>
        </p:spPr>
        <p:txBody>
          <a:bodyPr wrap="square" lIns="0" tIns="0" rIns="0" bIns="0" rtlCol="0" anchor="t"/>
          <a:lstStyle/>
          <a:p>
            <a:pPr indent="0" marL="0">
              <a:spcAft>
                <a:spcPts val="200"/>
              </a:spcAft>
              <a:buNone/>
            </a:pPr>
            <a:r>
              <a:rPr lang="en-US" sz="1300" dirty="0">
                <a:solidFill>
                  <a:srgbClr val="C4B5FD"/>
                </a:solidFill>
                <a:latin typeface="Consolas" pitchFamily="34" charset="0"/>
                <a:ea typeface="Consolas" pitchFamily="34" charset="-122"/>
                <a:cs typeface="Consolas" pitchFamily="34" charset="-120"/>
              </a:rPr>
              <a:t>$ chmod 1777 /tmp</a:t>
            </a:r>
            <a:endParaRPr lang="en-US" sz="1300" dirty="0"/>
          </a:p>
          <a:p>
            <a:pPr indent="0" marL="0">
              <a:spcAft>
                <a:spcPts val="200"/>
              </a:spcAft>
              <a:buNone/>
            </a:pPr>
            <a:r>
              <a:rPr lang="en-US" sz="1300" dirty="0">
                <a:solidFill>
                  <a:srgbClr val="64748B"/>
                </a:solidFill>
                <a:latin typeface="Consolas" pitchFamily="34" charset="0"/>
                <a:ea typeface="Consolas" pitchFamily="34" charset="-122"/>
                <a:cs typeface="Consolas" pitchFamily="34" charset="-120"/>
              </a:rPr>
              <a:t># standard dla katalogow tymczasowych</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87171"/>
                </a:solidFill>
                <a:latin typeface="Calibri" pitchFamily="34" charset="0"/>
                <a:ea typeface="Calibri" pitchFamily="34" charset="-122"/>
                <a:cs typeface="Calibri" pitchFamily="34" charset="-120"/>
              </a:rPr>
              <a:t>1. POSIX</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Gdzie model POSIX przestaje wystarczać?</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 POSIX</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9</a:t>
            </a:r>
            <a:endParaRPr lang="en-US" sz="1000" dirty="0"/>
          </a:p>
        </p:txBody>
      </p:sp>
      <p:sp>
        <p:nvSpPr>
          <p:cNvPr id="6" name="Shape 4"/>
          <p:cNvSpPr/>
          <p:nvPr/>
        </p:nvSpPr>
        <p:spPr>
          <a:xfrm>
            <a:off x="548640" y="1828800"/>
            <a:ext cx="548640" cy="548640"/>
          </a:xfrm>
          <a:prstGeom prst="roundRect">
            <a:avLst>
              <a:gd name="adj" fmla="val 50000"/>
            </a:avLst>
          </a:prstGeom>
          <a:solidFill>
            <a:srgbClr val="F87171">
              <a:alpha val="85000"/>
            </a:srgbClr>
          </a:solidFill>
          <a:ln/>
        </p:spPr>
      </p:sp>
      <p:sp>
        <p:nvSpPr>
          <p:cNvPr id="7" name="Text 5"/>
          <p:cNvSpPr txBox="1"/>
          <p:nvPr/>
        </p:nvSpPr>
        <p:spPr>
          <a:xfrm>
            <a:off x="548640" y="1828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txBox="1"/>
          <p:nvPr/>
        </p:nvSpPr>
        <p:spPr>
          <a:xfrm>
            <a:off x="1280160" y="1783080"/>
            <a:ext cx="10332720" cy="6858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Nadanie prawa odczytu jednemu konkretnemu użytkownikowi spoza grupy właściciela, bez zmiany uprawnień dla „innych”</a:t>
            </a:r>
            <a:endParaRPr lang="en-US" sz="1600" dirty="0"/>
          </a:p>
        </p:txBody>
      </p:sp>
      <p:sp>
        <p:nvSpPr>
          <p:cNvPr id="9" name="Shape 7"/>
          <p:cNvSpPr/>
          <p:nvPr/>
        </p:nvSpPr>
        <p:spPr>
          <a:xfrm>
            <a:off x="548640" y="2743200"/>
            <a:ext cx="548640" cy="548640"/>
          </a:xfrm>
          <a:prstGeom prst="roundRect">
            <a:avLst>
              <a:gd name="adj" fmla="val 50000"/>
            </a:avLst>
          </a:prstGeom>
          <a:solidFill>
            <a:srgbClr val="F87171">
              <a:alpha val="85000"/>
            </a:srgbClr>
          </a:solidFill>
          <a:ln/>
        </p:spPr>
      </p:sp>
      <p:sp>
        <p:nvSpPr>
          <p:cNvPr id="10" name="Text 8"/>
          <p:cNvSpPr txBox="1"/>
          <p:nvPr/>
        </p:nvSpPr>
        <p:spPr>
          <a:xfrm>
            <a:off x="548640" y="2743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280160" y="2697480"/>
            <a:ext cx="10332720" cy="6858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Nadanie różnych poziomów dostępu kilku grupom jednocześnie do tego samego zasobu</a:t>
            </a:r>
            <a:endParaRPr lang="en-US" sz="1600" dirty="0"/>
          </a:p>
        </p:txBody>
      </p:sp>
      <p:sp>
        <p:nvSpPr>
          <p:cNvPr id="12" name="Shape 10"/>
          <p:cNvSpPr/>
          <p:nvPr/>
        </p:nvSpPr>
        <p:spPr>
          <a:xfrm>
            <a:off x="548640" y="3657600"/>
            <a:ext cx="548640" cy="548640"/>
          </a:xfrm>
          <a:prstGeom prst="roundRect">
            <a:avLst>
              <a:gd name="adj" fmla="val 50000"/>
            </a:avLst>
          </a:prstGeom>
          <a:solidFill>
            <a:srgbClr val="F87171">
              <a:alpha val="85000"/>
            </a:srgbClr>
          </a:solidFill>
          <a:ln/>
        </p:spPr>
      </p:sp>
      <p:sp>
        <p:nvSpPr>
          <p:cNvPr id="13" name="Text 11"/>
          <p:cNvSpPr txBox="1"/>
          <p:nvPr/>
        </p:nvSpPr>
        <p:spPr>
          <a:xfrm>
            <a:off x="548640" y="36576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1280160" y="3611880"/>
            <a:ext cx="10332720" cy="6858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Zdefiniowanie domyślnych uprawnień dziedziczonych automatycznie przez nowe pliki w katalogu współdzielonym</a:t>
            </a:r>
            <a:endParaRPr lang="en-US" sz="1600" dirty="0"/>
          </a:p>
        </p:txBody>
      </p:sp>
      <p:sp>
        <p:nvSpPr>
          <p:cNvPr id="15" name="Shape 13"/>
          <p:cNvSpPr/>
          <p:nvPr/>
        </p:nvSpPr>
        <p:spPr>
          <a:xfrm>
            <a:off x="548640" y="4754880"/>
            <a:ext cx="11064240" cy="868680"/>
          </a:xfrm>
          <a:prstGeom prst="roundRect">
            <a:avLst>
              <a:gd name="adj" fmla="val 8421"/>
            </a:avLst>
          </a:prstGeom>
          <a:solidFill>
            <a:srgbClr val="DBEAFE"/>
          </a:solidFill>
          <a:ln/>
        </p:spPr>
      </p:sp>
      <p:sp>
        <p:nvSpPr>
          <p:cNvPr id="16" name="Text 14"/>
          <p:cNvSpPr txBox="1"/>
          <p:nvPr/>
        </p:nvSpPr>
        <p:spPr>
          <a:xfrm>
            <a:off x="822960" y="4754880"/>
            <a:ext cx="10515600" cy="868680"/>
          </a:xfrm>
          <a:prstGeom prst="rect">
            <a:avLst/>
          </a:prstGeom>
          <a:noFill/>
          <a:ln/>
        </p:spPr>
        <p:txBody>
          <a:bodyPr wrap="square" lIns="0" tIns="0" rIns="0" bIns="0" rtlCol="0" anchor="ctr"/>
          <a:lstStyle/>
          <a:p>
            <a:pPr indent="0" marL="0">
              <a:buNone/>
            </a:pPr>
            <a:r>
              <a:rPr lang="en-US" sz="1800" b="1" dirty="0">
                <a:solidFill>
                  <a:srgbClr val="1E40AF"/>
                </a:solidFill>
                <a:latin typeface="Cambria" pitchFamily="34" charset="0"/>
                <a:ea typeface="Cambria" pitchFamily="34" charset="-122"/>
                <a:cs typeface="Cambria" pitchFamily="34" charset="-120"/>
              </a:rPr>
              <a:t>Rozwiązaniem tych ograniczeń są rozszerzone listy kontroli dostępu — ACL.</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31520" y="2331720"/>
            <a:ext cx="5486400" cy="457200"/>
          </a:xfrm>
          <a:prstGeom prst="rect">
            <a:avLst/>
          </a:prstGeom>
          <a:noFill/>
          <a:ln/>
        </p:spPr>
        <p:txBody>
          <a:bodyPr wrap="square" lIns="0" tIns="0" rIns="0" bIns="0" rtlCol="0" anchor="ctr"/>
          <a:lstStyle/>
          <a:p>
            <a:pPr indent="0" marL="0">
              <a:buNone/>
            </a:pPr>
            <a:r>
              <a:rPr lang="en-US" sz="1600" b="1" spc="300" kern="0" dirty="0">
                <a:solidFill>
                  <a:srgbClr val="34D399"/>
                </a:solidFill>
                <a:latin typeface="Calibri" pitchFamily="34" charset="0"/>
                <a:ea typeface="Calibri" pitchFamily="34" charset="-122"/>
                <a:cs typeface="Calibri" pitchFamily="34" charset="-120"/>
              </a:rPr>
              <a:t>CZĘŚĆ 2</a:t>
            </a:r>
            <a:endParaRPr lang="en-US" sz="1600" dirty="0"/>
          </a:p>
        </p:txBody>
      </p:sp>
      <p:sp>
        <p:nvSpPr>
          <p:cNvPr id="3" name="Text 1"/>
          <p:cNvSpPr txBox="1"/>
          <p:nvPr/>
        </p:nvSpPr>
        <p:spPr>
          <a:xfrm>
            <a:off x="731520" y="2743200"/>
            <a:ext cx="10515600" cy="14630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Rozszerzone listy ACL</a:t>
            </a:r>
            <a:endParaRPr lang="en-US" sz="4400" dirty="0"/>
          </a:p>
        </p:txBody>
      </p:sp>
      <p:sp>
        <p:nvSpPr>
          <p:cNvPr id="4" name="Text 2"/>
          <p:cNvSpPr txBox="1"/>
          <p:nvPr/>
        </p:nvSpPr>
        <p:spPr>
          <a:xfrm>
            <a:off x="731520" y="4114800"/>
            <a:ext cx="9601200" cy="73152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Precyzyjna kontrola dostępu dla konkretnych użytkowników i grup</a:t>
            </a:r>
            <a:endParaRPr lang="en-US" sz="1800" dirty="0"/>
          </a:p>
        </p:txBody>
      </p:sp>
      <p:sp>
        <p:nvSpPr>
          <p:cNvPr id="5" name="Shape 3"/>
          <p:cNvSpPr/>
          <p:nvPr/>
        </p:nvSpPr>
        <p:spPr>
          <a:xfrm>
            <a:off x="10332720" y="1097280"/>
            <a:ext cx="1463040" cy="1463040"/>
          </a:xfrm>
          <a:prstGeom prst="ellipse">
            <a:avLst/>
          </a:prstGeom>
          <a:solidFill>
            <a:srgbClr val="34D399">
              <a:alpha val="15000"/>
            </a:srgbClr>
          </a:solidFill>
          <a:ln w="19050">
            <a:solidFill>
              <a:srgbClr val="34D399"/>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4D399"/>
                </a:solidFill>
                <a:latin typeface="Calibri" pitchFamily="34" charset="0"/>
                <a:ea typeface="Calibri" pitchFamily="34" charset="-122"/>
                <a:cs typeface="Calibri" pitchFamily="34" charset="-120"/>
              </a:rPr>
              <a:t>2. ACL</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Koncepcja i wymagania systemowe</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2. ACL</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11</a:t>
            </a:r>
            <a:endParaRPr lang="en-US" sz="1000" dirty="0"/>
          </a:p>
        </p:txBody>
      </p:sp>
      <p:sp>
        <p:nvSpPr>
          <p:cNvPr id="6" name="Text 4"/>
          <p:cNvSpPr txBox="1"/>
          <p:nvPr/>
        </p:nvSpPr>
        <p:spPr>
          <a:xfrm>
            <a:off x="548640" y="1691640"/>
            <a:ext cx="6309360" cy="3108960"/>
          </a:xfrm>
          <a:prstGeom prst="rect">
            <a:avLst/>
          </a:prstGeom>
          <a:noFill/>
          <a:ln/>
        </p:spPr>
        <p:txBody>
          <a:bodyPr wrap="square" lIns="0" tIns="0" rIns="0" bIns="0" rtlCol="0" anchor="t"/>
          <a:lstStyle/>
          <a:p>
            <a:pPr marL="342900" indent="-342900">
              <a:lnSpc>
                <a:spcPct val="108000"/>
              </a:lnSpc>
              <a:spcAft>
                <a:spcPts val="1000"/>
              </a:spcAft>
              <a:buSzPct val="100000"/>
              <a:buChar char="▸"/>
            </a:pPr>
            <a:r>
              <a:rPr lang="en-US" sz="1500" dirty="0">
                <a:solidFill>
                  <a:srgbClr val="0F172A"/>
                </a:solidFill>
                <a:latin typeface="Calibri" pitchFamily="34" charset="0"/>
                <a:ea typeface="Calibri" pitchFamily="34" charset="-122"/>
                <a:cs typeface="Calibri" pitchFamily="34" charset="-120"/>
              </a:rPr>
              <a:t>ACL (Access Control List) w standardzie POSIX.1e rozszerza model o dowolną liczbę dodatkowych wpisów dla konkretnych użytkowników i grup</a:t>
            </a:r>
            <a:endParaRPr lang="en-US" sz="1500" dirty="0"/>
          </a:p>
          <a:p>
            <a:pPr marL="342900" indent="-342900">
              <a:lnSpc>
                <a:spcPct val="108000"/>
              </a:lnSpc>
              <a:spcAft>
                <a:spcPts val="1000"/>
              </a:spcAft>
              <a:buSzPct val="100000"/>
              <a:buChar char="▸"/>
            </a:pPr>
            <a:r>
              <a:rPr lang="en-US" sz="1500" dirty="0">
                <a:solidFill>
                  <a:srgbClr val="0F172A"/>
                </a:solidFill>
                <a:latin typeface="Calibri" pitchFamily="34" charset="0"/>
                <a:ea typeface="Calibri" pitchFamily="34" charset="-122"/>
                <a:cs typeface="Calibri" pitchFamily="34" charset="-120"/>
              </a:rPr>
              <a:t>System plików musi wspierać ACL — ext4, XFS i Btrfs obsługują je natywnie</a:t>
            </a:r>
            <a:endParaRPr lang="en-US" sz="1500" dirty="0"/>
          </a:p>
          <a:p>
            <a:pPr marL="342900" indent="-342900">
              <a:lnSpc>
                <a:spcPct val="108000"/>
              </a:lnSpc>
              <a:spcAft>
                <a:spcPts val="1000"/>
              </a:spcAft>
              <a:buSzPct val="100000"/>
              <a:buChar char="▸"/>
            </a:pPr>
            <a:r>
              <a:rPr lang="en-US" sz="1500" dirty="0">
                <a:solidFill>
                  <a:srgbClr val="0F172A"/>
                </a:solidFill>
                <a:latin typeface="Calibri" pitchFamily="34" charset="0"/>
                <a:ea typeface="Calibri" pitchFamily="34" charset="-122"/>
                <a:cs typeface="Calibri" pitchFamily="34" charset="-120"/>
              </a:rPr>
              <a:t>We współczesnych jądrach Linux obsługa ACL jest zazwyczaj domyślnie włączona</a:t>
            </a:r>
            <a:endParaRPr lang="en-US" sz="1500" dirty="0"/>
          </a:p>
          <a:p>
            <a:pPr marL="342900" indent="-342900">
              <a:lnSpc>
                <a:spcPct val="108000"/>
              </a:lnSpc>
              <a:spcAft>
                <a:spcPts val="1000"/>
              </a:spcAft>
              <a:buSzPct val="100000"/>
              <a:buChar char="▸"/>
            </a:pPr>
            <a:r>
              <a:rPr lang="en-US" sz="1500" dirty="0">
                <a:solidFill>
                  <a:srgbClr val="0F172A"/>
                </a:solidFill>
                <a:latin typeface="Calibri" pitchFamily="34" charset="0"/>
                <a:ea typeface="Calibri" pitchFamily="34" charset="-122"/>
                <a:cs typeface="Calibri" pitchFamily="34" charset="-120"/>
              </a:rPr>
              <a:t>Narzędzia znajdują się w pakiecie acl</a:t>
            </a:r>
            <a:endParaRPr lang="en-US" sz="1500" dirty="0"/>
          </a:p>
        </p:txBody>
      </p:sp>
      <p:sp>
        <p:nvSpPr>
          <p:cNvPr id="7" name="Shape 5"/>
          <p:cNvSpPr/>
          <p:nvPr/>
        </p:nvSpPr>
        <p:spPr>
          <a:xfrm>
            <a:off x="7040880" y="1691640"/>
            <a:ext cx="4617720" cy="3200400"/>
          </a:xfrm>
          <a:prstGeom prst="roundRect">
            <a:avLst>
              <a:gd name="adj" fmla="val 2286"/>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8" name="Text 6"/>
          <p:cNvSpPr txBox="1"/>
          <p:nvPr/>
        </p:nvSpPr>
        <p:spPr>
          <a:xfrm>
            <a:off x="7269480" y="1874520"/>
            <a:ext cx="4160520" cy="2834640"/>
          </a:xfrm>
          <a:prstGeom prst="rect">
            <a:avLst/>
          </a:prstGeom>
          <a:noFill/>
          <a:ln/>
        </p:spPr>
        <p:txBody>
          <a:bodyPr wrap="square" lIns="0" tIns="0" rIns="0" bIns="0" rtlCol="0" anchor="t"/>
          <a:lstStyle/>
          <a:p>
            <a:pPr indent="0" marL="0">
              <a:spcAft>
                <a:spcPts val="200"/>
              </a:spcAft>
              <a:buNone/>
            </a:pPr>
            <a:r>
              <a:rPr lang="en-US" sz="1250" dirty="0">
                <a:solidFill>
                  <a:srgbClr val="64748B"/>
                </a:solidFill>
                <a:latin typeface="Consolas" pitchFamily="34" charset="0"/>
                <a:ea typeface="Consolas" pitchFamily="34" charset="-122"/>
                <a:cs typeface="Consolas" pitchFamily="34" charset="-120"/>
              </a:rPr>
              <a:t># Sprawdzenie czy fs obsluguje ACL</a:t>
            </a:r>
            <a:endParaRPr lang="en-US" sz="1250" dirty="0"/>
          </a:p>
          <a:p>
            <a:pPr indent="0" marL="0">
              <a:spcAft>
                <a:spcPts val="200"/>
              </a:spcAft>
              <a:buNone/>
            </a:pPr>
            <a:r>
              <a:rPr lang="en-US" sz="1250" dirty="0">
                <a:solidFill>
                  <a:srgbClr val="7DD3FC"/>
                </a:solidFill>
                <a:latin typeface="Consolas" pitchFamily="34" charset="0"/>
                <a:ea typeface="Consolas" pitchFamily="34" charset="-122"/>
                <a:cs typeface="Consolas" pitchFamily="34" charset="-120"/>
              </a:rPr>
              <a:t>$ mount | grep acl</a:t>
            </a:r>
            <a:endParaRPr lang="en-US" sz="1250" dirty="0"/>
          </a:p>
          <a:p>
            <a:pPr indent="0" marL="0">
              <a:spcAft>
                <a:spcPts val="200"/>
              </a:spcAft>
              <a:buNone/>
            </a:pPr>
            <a:endParaRPr lang="en-US" sz="1250" dirty="0"/>
          </a:p>
          <a:p>
            <a:pPr indent="0" marL="0">
              <a:spcAft>
                <a:spcPts val="200"/>
              </a:spcAft>
              <a:buNone/>
            </a:pPr>
            <a:r>
              <a:rPr lang="en-US" sz="1250" dirty="0">
                <a:solidFill>
                  <a:srgbClr val="64748B"/>
                </a:solidFill>
                <a:latin typeface="Consolas" pitchFamily="34" charset="0"/>
                <a:ea typeface="Consolas" pitchFamily="34" charset="-122"/>
                <a:cs typeface="Consolas" pitchFamily="34" charset="-120"/>
              </a:rPr>
              <a:t># Instalacja narzedzi</a:t>
            </a:r>
            <a:endParaRPr lang="en-US" sz="1250" dirty="0"/>
          </a:p>
          <a:p>
            <a:pPr indent="0" marL="0">
              <a:spcAft>
                <a:spcPts val="200"/>
              </a:spcAft>
              <a:buNone/>
            </a:pPr>
            <a:r>
              <a:rPr lang="en-US" sz="1250" dirty="0">
                <a:solidFill>
                  <a:srgbClr val="34D399"/>
                </a:solidFill>
                <a:latin typeface="Consolas" pitchFamily="34" charset="0"/>
                <a:ea typeface="Consolas" pitchFamily="34" charset="-122"/>
                <a:cs typeface="Consolas" pitchFamily="34" charset="-120"/>
              </a:rPr>
              <a:t>$ apt install acl      # Debian/Ubuntu</a:t>
            </a:r>
            <a:endParaRPr lang="en-US" sz="1250" dirty="0"/>
          </a:p>
          <a:p>
            <a:pPr indent="0" marL="0">
              <a:spcAft>
                <a:spcPts val="200"/>
              </a:spcAft>
              <a:buNone/>
            </a:pPr>
            <a:r>
              <a:rPr lang="en-US" sz="1250" dirty="0">
                <a:solidFill>
                  <a:srgbClr val="34D399"/>
                </a:solidFill>
                <a:latin typeface="Consolas" pitchFamily="34" charset="0"/>
                <a:ea typeface="Consolas" pitchFamily="34" charset="-122"/>
                <a:cs typeface="Consolas" pitchFamily="34" charset="-120"/>
              </a:rPr>
              <a:t>$ dnf install acl      # RHEL/Fedora</a:t>
            </a:r>
            <a:endParaRPr lang="en-US" sz="1250" dirty="0"/>
          </a:p>
          <a:p>
            <a:pPr indent="0" marL="0">
              <a:spcAft>
                <a:spcPts val="200"/>
              </a:spcAft>
              <a:buNone/>
            </a:pPr>
            <a:endParaRPr lang="en-US" sz="1250" dirty="0"/>
          </a:p>
          <a:p>
            <a:pPr indent="0" marL="0">
              <a:spcAft>
                <a:spcPts val="200"/>
              </a:spcAft>
              <a:buNone/>
            </a:pPr>
            <a:r>
              <a:rPr lang="en-US" sz="1250" dirty="0">
                <a:solidFill>
                  <a:srgbClr val="64748B"/>
                </a:solidFill>
                <a:latin typeface="Consolas" pitchFamily="34" charset="0"/>
                <a:ea typeface="Consolas" pitchFamily="34" charset="-122"/>
                <a:cs typeface="Consolas" pitchFamily="34" charset="-120"/>
              </a:rPr>
              <a:t># /etc/fstab</a:t>
            </a:r>
            <a:endParaRPr lang="en-US" sz="1250" dirty="0"/>
          </a:p>
          <a:p>
            <a:pPr indent="0" marL="0">
              <a:spcAft>
                <a:spcPts val="200"/>
              </a:spcAft>
              <a:buNone/>
            </a:pPr>
            <a:r>
              <a:rPr lang="en-US" sz="1250" dirty="0">
                <a:solidFill>
                  <a:srgbClr val="FBBF24"/>
                </a:solidFill>
                <a:latin typeface="Consolas" pitchFamily="34" charset="0"/>
                <a:ea typeface="Consolas" pitchFamily="34" charset="-122"/>
                <a:cs typeface="Consolas" pitchFamily="34" charset="-120"/>
              </a:rPr>
              <a:t>/dev/sda1 /srv ext4 defaults,acl 0 2</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4D399"/>
                </a:solidFill>
                <a:latin typeface="Calibri" pitchFamily="34" charset="0"/>
                <a:ea typeface="Calibri" pitchFamily="34" charset="-122"/>
                <a:cs typeface="Calibri" pitchFamily="34" charset="-120"/>
              </a:rPr>
              <a:t>2. ACL</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Odczyt ACL — getfacl</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2. ACL</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1691640"/>
            <a:ext cx="5577840" cy="3337560"/>
          </a:xfrm>
          <a:prstGeom prst="roundRect">
            <a:avLst>
              <a:gd name="adj" fmla="val 2192"/>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74520"/>
            <a:ext cx="5120640" cy="2971800"/>
          </a:xfrm>
          <a:prstGeom prst="rect">
            <a:avLst/>
          </a:prstGeom>
          <a:noFill/>
          <a:ln/>
        </p:spPr>
        <p:txBody>
          <a:bodyPr wrap="square" lIns="0" tIns="0" rIns="0" bIns="0" rtlCol="0" anchor="t"/>
          <a:lstStyle/>
          <a:p>
            <a:pPr indent="0" marL="0">
              <a:spcAft>
                <a:spcPts val="200"/>
              </a:spcAft>
              <a:buNone/>
            </a:pPr>
            <a:r>
              <a:rPr lang="en-US" sz="1350" dirty="0">
                <a:solidFill>
                  <a:srgbClr val="94A3B8"/>
                </a:solidFill>
                <a:latin typeface="Consolas" pitchFamily="34" charset="0"/>
                <a:ea typeface="Consolas" pitchFamily="34" charset="-122"/>
                <a:cs typeface="Consolas" pitchFamily="34" charset="-120"/>
              </a:rPr>
              <a:t>$ getfacl raport.csv</a:t>
            </a:r>
            <a:endParaRPr lang="en-US" sz="1350" dirty="0"/>
          </a:p>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file: raport.csv</a:t>
            </a:r>
            <a:endParaRPr lang="en-US" sz="1350" dirty="0"/>
          </a:p>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owner: jnowak</a:t>
            </a:r>
            <a:endParaRPr lang="en-US" sz="1350" dirty="0"/>
          </a:p>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group: dzial_ksiegowosci</a:t>
            </a:r>
            <a:endParaRPr lang="en-US" sz="1350" dirty="0"/>
          </a:p>
          <a:p>
            <a:pPr indent="0" marL="0">
              <a:spcAft>
                <a:spcPts val="200"/>
              </a:spcAft>
              <a:buNone/>
            </a:pPr>
            <a:r>
              <a:rPr lang="en-US" sz="1350" dirty="0">
                <a:solidFill>
                  <a:srgbClr val="E2E8F0"/>
                </a:solidFill>
                <a:latin typeface="Consolas" pitchFamily="34" charset="0"/>
                <a:ea typeface="Consolas" pitchFamily="34" charset="-122"/>
                <a:cs typeface="Consolas" pitchFamily="34" charset="-120"/>
              </a:rPr>
              <a:t>user::rw-</a:t>
            </a:r>
            <a:endParaRPr lang="en-US" sz="1350" dirty="0"/>
          </a:p>
          <a:p>
            <a:pPr indent="0" marL="0">
              <a:spcAft>
                <a:spcPts val="200"/>
              </a:spcAft>
              <a:buNone/>
            </a:pPr>
            <a:r>
              <a:rPr lang="en-US" sz="1350" dirty="0">
                <a:solidFill>
                  <a:srgbClr val="7DD3FC"/>
                </a:solidFill>
                <a:latin typeface="Consolas" pitchFamily="34" charset="0"/>
                <a:ea typeface="Consolas" pitchFamily="34" charset="-122"/>
                <a:cs typeface="Consolas" pitchFamily="34" charset="-120"/>
              </a:rPr>
              <a:t>user:kkowalski:r--</a:t>
            </a:r>
            <a:endParaRPr lang="en-US" sz="1350" dirty="0"/>
          </a:p>
          <a:p>
            <a:pPr indent="0" marL="0">
              <a:spcAft>
                <a:spcPts val="200"/>
              </a:spcAft>
              <a:buNone/>
            </a:pPr>
            <a:r>
              <a:rPr lang="en-US" sz="1350" dirty="0">
                <a:solidFill>
                  <a:srgbClr val="E2E8F0"/>
                </a:solidFill>
                <a:latin typeface="Consolas" pitchFamily="34" charset="0"/>
                <a:ea typeface="Consolas" pitchFamily="34" charset="-122"/>
                <a:cs typeface="Consolas" pitchFamily="34" charset="-120"/>
              </a:rPr>
              <a:t>group::r--</a:t>
            </a:r>
            <a:endParaRPr lang="en-US" sz="1350" dirty="0"/>
          </a:p>
          <a:p>
            <a:pPr indent="0" marL="0">
              <a:spcAft>
                <a:spcPts val="200"/>
              </a:spcAft>
              <a:buNone/>
            </a:pPr>
            <a:r>
              <a:rPr lang="en-US" sz="1350" dirty="0">
                <a:solidFill>
                  <a:srgbClr val="34D399"/>
                </a:solidFill>
                <a:latin typeface="Consolas" pitchFamily="34" charset="0"/>
                <a:ea typeface="Consolas" pitchFamily="34" charset="-122"/>
                <a:cs typeface="Consolas" pitchFamily="34" charset="-120"/>
              </a:rPr>
              <a:t>group:audytorzy:rw-</a:t>
            </a:r>
            <a:endParaRPr lang="en-US" sz="1350" dirty="0"/>
          </a:p>
          <a:p>
            <a:pPr indent="0" marL="0">
              <a:spcAft>
                <a:spcPts val="200"/>
              </a:spcAft>
              <a:buNone/>
            </a:pPr>
            <a:r>
              <a:rPr lang="en-US" sz="1350" dirty="0">
                <a:solidFill>
                  <a:srgbClr val="FBBF24"/>
                </a:solidFill>
                <a:latin typeface="Consolas" pitchFamily="34" charset="0"/>
                <a:ea typeface="Consolas" pitchFamily="34" charset="-122"/>
                <a:cs typeface="Consolas" pitchFamily="34" charset="-120"/>
              </a:rPr>
              <a:t>mask::rw-</a:t>
            </a:r>
            <a:endParaRPr lang="en-US" sz="1350" dirty="0"/>
          </a:p>
          <a:p>
            <a:pPr indent="0" marL="0">
              <a:spcAft>
                <a:spcPts val="200"/>
              </a:spcAft>
              <a:buNone/>
            </a:pPr>
            <a:r>
              <a:rPr lang="en-US" sz="1350" dirty="0">
                <a:solidFill>
                  <a:srgbClr val="F87171"/>
                </a:solidFill>
                <a:latin typeface="Consolas" pitchFamily="34" charset="0"/>
                <a:ea typeface="Consolas" pitchFamily="34" charset="-122"/>
                <a:cs typeface="Consolas" pitchFamily="34" charset="-120"/>
              </a:rPr>
              <a:t>other::---</a:t>
            </a:r>
            <a:endParaRPr lang="en-US" sz="1350" dirty="0"/>
          </a:p>
        </p:txBody>
      </p:sp>
      <p:sp>
        <p:nvSpPr>
          <p:cNvPr id="8" name="Text 6"/>
          <p:cNvSpPr txBox="1"/>
          <p:nvPr/>
        </p:nvSpPr>
        <p:spPr>
          <a:xfrm>
            <a:off x="6355080" y="1783080"/>
            <a:ext cx="5303520" cy="3291840"/>
          </a:xfrm>
          <a:prstGeom prst="rect">
            <a:avLst/>
          </a:prstGeom>
          <a:noFill/>
          <a:ln/>
        </p:spPr>
        <p:txBody>
          <a:bodyPr wrap="square" lIns="0" tIns="0" rIns="0" bIns="0" rtlCol="0" anchor="t"/>
          <a:lstStyle/>
          <a:p>
            <a:pPr marL="342900" indent="-342900">
              <a:lnSpc>
                <a:spcPct val="108000"/>
              </a:lnSpc>
              <a:spcAft>
                <a:spcPts val="1000"/>
              </a:spcAft>
              <a:buSzPct val="100000"/>
              <a:buChar char="▸"/>
            </a:pPr>
            <a:r>
              <a:rPr lang="en-US" sz="1350" b="1" dirty="0">
                <a:solidFill>
                  <a:srgbClr val="0F172A"/>
                </a:solidFill>
                <a:latin typeface="Calibri" pitchFamily="34" charset="0"/>
                <a:ea typeface="Calibri" pitchFamily="34" charset="-122"/>
                <a:cs typeface="Calibri" pitchFamily="34" charset="-120"/>
              </a:rPr>
              <a:t>user:: i group::</a:t>
            </a:r>
            <a:endParaRPr lang="en-US" sz="1350" dirty="0"/>
          </a:p>
          <a:p>
            <a:pPr marL="342900" indent="-342900">
              <a:lnSpc>
                <a:spcPct val="108000"/>
              </a:lnSpc>
              <a:spcAft>
                <a:spcPts val="1000"/>
              </a:spcAft>
              <a:buSzPct val="100000"/>
              <a:buChar char="▸"/>
            </a:pPr>
            <a:r>
              <a:rPr lang="en-US" sz="1350" b="1" dirty="0">
                <a:solidFill>
                  <a:srgbClr val="0F172A"/>
                </a:solidFill>
                <a:latin typeface="Calibri" pitchFamily="34" charset="0"/>
                <a:ea typeface="Calibri" pitchFamily="34" charset="-122"/>
                <a:cs typeface="Calibri" pitchFamily="34" charset="-120"/>
              </a:rPr>
              <a:t>user:nazwa: / group:nazwa:</a:t>
            </a:r>
            <a:endParaRPr lang="en-US" sz="1350" dirty="0"/>
          </a:p>
          <a:p>
            <a:pPr marL="342900" indent="-342900">
              <a:lnSpc>
                <a:spcPct val="108000"/>
              </a:lnSpc>
              <a:spcAft>
                <a:spcPts val="1000"/>
              </a:spcAft>
              <a:buSzPct val="100000"/>
              <a:buChar char="▸"/>
            </a:pPr>
            <a:r>
              <a:rPr lang="en-US" sz="1350" dirty="0">
                <a:solidFill>
                  <a:srgbClr val="0F172A"/>
                </a:solidFill>
                <a:latin typeface="Calibri" pitchFamily="34" charset="0"/>
                <a:ea typeface="Calibri" pitchFamily="34" charset="-122"/>
                <a:cs typeface="Calibri" pitchFamily="34" charset="-120"/>
              </a:rPr>
              <a:t>— tzw. named entries, prawa dla konkretnych kont/grup</a:t>
            </a:r>
            <a:endParaRPr lang="en-US" sz="1350" dirty="0"/>
          </a:p>
          <a:p>
            <a:pPr marL="342900" indent="-342900">
              <a:lnSpc>
                <a:spcPct val="108000"/>
              </a:lnSpc>
              <a:spcAft>
                <a:spcPts val="1000"/>
              </a:spcAft>
              <a:buSzPct val="100000"/>
              <a:buChar char="▸"/>
            </a:pPr>
            <a:r>
              <a:rPr lang="en-US" sz="1350" b="1" dirty="0">
                <a:solidFill>
                  <a:srgbClr val="0F172A"/>
                </a:solidFill>
                <a:latin typeface="Calibri" pitchFamily="34" charset="0"/>
                <a:ea typeface="Calibri" pitchFamily="34" charset="-122"/>
                <a:cs typeface="Calibri" pitchFamily="34" charset="-120"/>
              </a:rPr>
              <a:t>mask::</a:t>
            </a:r>
            <a:endParaRPr lang="en-US" sz="1350" dirty="0"/>
          </a:p>
          <a:p>
            <a:pPr marL="342900" indent="-342900">
              <a:lnSpc>
                <a:spcPct val="108000"/>
              </a:lnSpc>
              <a:spcAft>
                <a:spcPts val="1000"/>
              </a:spcAft>
              <a:buSzPct val="100000"/>
              <a:buChar char="▸"/>
            </a:pPr>
            <a:r>
              <a:rPr lang="en-US" sz="1350" dirty="0">
                <a:solidFill>
                  <a:srgbClr val="0F172A"/>
                </a:solidFill>
                <a:latin typeface="Calibri" pitchFamily="34" charset="0"/>
                <a:ea typeface="Calibri" pitchFamily="34" charset="-122"/>
                <a:cs typeface="Calibri" pitchFamily="34" charset="-120"/>
              </a:rPr>
              <a:t>— górny limit efektywnych uprawnień dla wpisów nazwanych</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4D399"/>
                </a:solidFill>
                <a:latin typeface="Calibri" pitchFamily="34" charset="0"/>
                <a:ea typeface="Calibri" pitchFamily="34" charset="-122"/>
                <a:cs typeface="Calibri" pitchFamily="34" charset="-120"/>
              </a:rPr>
              <a:t>2. ACL</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Modyfikacja ACL — setfacl</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2. ACL</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548640" y="1691640"/>
            <a:ext cx="11109960" cy="3657600"/>
          </a:xfrm>
          <a:prstGeom prst="roundRect">
            <a:avLst>
              <a:gd name="adj" fmla="val 200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74520"/>
            <a:ext cx="10652760" cy="3291840"/>
          </a:xfrm>
          <a:prstGeom prst="rect">
            <a:avLst/>
          </a:prstGeom>
          <a:noFill/>
          <a:ln/>
        </p:spPr>
        <p:txBody>
          <a:bodyPr wrap="square" lIns="0" tIns="0" rIns="0" bIns="0" rtlCol="0" anchor="t"/>
          <a:lstStyle/>
          <a:p>
            <a:pPr indent="0" marL="0">
              <a:spcAft>
                <a:spcPts val="200"/>
              </a:spcAft>
              <a:buNone/>
            </a:pPr>
            <a:r>
              <a:rPr lang="en-US" sz="1400" dirty="0">
                <a:solidFill>
                  <a:srgbClr val="64748B"/>
                </a:solidFill>
                <a:latin typeface="Consolas" pitchFamily="34" charset="0"/>
                <a:ea typeface="Consolas" pitchFamily="34" charset="-122"/>
                <a:cs typeface="Consolas" pitchFamily="34" charset="-120"/>
              </a:rPr>
              <a:t># Nadanie prawa odczytu i zapisu uzytkownikowi</a:t>
            </a:r>
            <a:endParaRPr lang="en-US" sz="1400" dirty="0"/>
          </a:p>
          <a:p>
            <a:pPr indent="0" marL="0">
              <a:spcAft>
                <a:spcPts val="200"/>
              </a:spcAft>
              <a:buNone/>
            </a:pPr>
            <a:r>
              <a:rPr lang="en-US" sz="1400" dirty="0">
                <a:solidFill>
                  <a:srgbClr val="34D399"/>
                </a:solidFill>
                <a:latin typeface="Consolas" pitchFamily="34" charset="0"/>
                <a:ea typeface="Consolas" pitchFamily="34" charset="-122"/>
                <a:cs typeface="Consolas" pitchFamily="34" charset="-120"/>
              </a:rPr>
              <a:t>$ setfacl -m u:kkowalski:rw- raport.csv</a:t>
            </a:r>
            <a:endParaRPr lang="en-US" sz="1400" dirty="0"/>
          </a:p>
          <a:p>
            <a:pPr indent="0" marL="0">
              <a:spcAft>
                <a:spcPts val="200"/>
              </a:spcAft>
              <a:buNone/>
            </a:pPr>
            <a:endParaRPr lang="en-US" sz="1400" dirty="0"/>
          </a:p>
          <a:p>
            <a:pPr indent="0" marL="0">
              <a:spcAft>
                <a:spcPts val="200"/>
              </a:spcAft>
              <a:buNone/>
            </a:pPr>
            <a:r>
              <a:rPr lang="en-US" sz="1400" dirty="0">
                <a:solidFill>
                  <a:srgbClr val="64748B"/>
                </a:solidFill>
                <a:latin typeface="Consolas" pitchFamily="34" charset="0"/>
                <a:ea typeface="Consolas" pitchFamily="34" charset="-122"/>
                <a:cs typeface="Consolas" pitchFamily="34" charset="-120"/>
              </a:rPr>
              <a:t># Nadanie prawa dla grupy</a:t>
            </a:r>
            <a:endParaRPr lang="en-US" sz="1400" dirty="0"/>
          </a:p>
          <a:p>
            <a:pPr indent="0" marL="0">
              <a:spcAft>
                <a:spcPts val="200"/>
              </a:spcAft>
              <a:buNone/>
            </a:pPr>
            <a:r>
              <a:rPr lang="en-US" sz="1400" dirty="0">
                <a:solidFill>
                  <a:srgbClr val="7DD3FC"/>
                </a:solidFill>
                <a:latin typeface="Consolas" pitchFamily="34" charset="0"/>
                <a:ea typeface="Consolas" pitchFamily="34" charset="-122"/>
                <a:cs typeface="Consolas" pitchFamily="34" charset="-120"/>
              </a:rPr>
              <a:t>$ setfacl -m g:audytorzy:r-x katalog_raportow/</a:t>
            </a:r>
            <a:endParaRPr lang="en-US" sz="1400" dirty="0"/>
          </a:p>
          <a:p>
            <a:pPr indent="0" marL="0">
              <a:spcAft>
                <a:spcPts val="200"/>
              </a:spcAft>
              <a:buNone/>
            </a:pPr>
            <a:endParaRPr lang="en-US" sz="1400" dirty="0"/>
          </a:p>
          <a:p>
            <a:pPr indent="0" marL="0">
              <a:spcAft>
                <a:spcPts val="200"/>
              </a:spcAft>
              <a:buNone/>
            </a:pPr>
            <a:r>
              <a:rPr lang="en-US" sz="1400" dirty="0">
                <a:solidFill>
                  <a:srgbClr val="64748B"/>
                </a:solidFill>
                <a:latin typeface="Consolas" pitchFamily="34" charset="0"/>
                <a:ea typeface="Consolas" pitchFamily="34" charset="-122"/>
                <a:cs typeface="Consolas" pitchFamily="34" charset="-120"/>
              </a:rPr>
              <a:t># Usuniecie konkretnego wpisu</a:t>
            </a:r>
            <a:endParaRPr lang="en-US" sz="1400" dirty="0"/>
          </a:p>
          <a:p>
            <a:pPr indent="0" marL="0">
              <a:spcAft>
                <a:spcPts val="200"/>
              </a:spcAft>
              <a:buNone/>
            </a:pPr>
            <a:r>
              <a:rPr lang="en-US" sz="1400" dirty="0">
                <a:solidFill>
                  <a:srgbClr val="FBBF24"/>
                </a:solidFill>
                <a:latin typeface="Consolas" pitchFamily="34" charset="0"/>
                <a:ea typeface="Consolas" pitchFamily="34" charset="-122"/>
                <a:cs typeface="Consolas" pitchFamily="34" charset="-120"/>
              </a:rPr>
              <a:t>$ setfacl -x u:kkowalski raport.csv</a:t>
            </a:r>
            <a:endParaRPr lang="en-US" sz="1400" dirty="0"/>
          </a:p>
          <a:p>
            <a:pPr indent="0" marL="0">
              <a:spcAft>
                <a:spcPts val="200"/>
              </a:spcAft>
              <a:buNone/>
            </a:pPr>
            <a:endParaRPr lang="en-US" sz="1400" dirty="0"/>
          </a:p>
          <a:p>
            <a:pPr indent="0" marL="0">
              <a:spcAft>
                <a:spcPts val="200"/>
              </a:spcAft>
              <a:buNone/>
            </a:pPr>
            <a:r>
              <a:rPr lang="en-US" sz="1400" dirty="0">
                <a:solidFill>
                  <a:srgbClr val="64748B"/>
                </a:solidFill>
                <a:latin typeface="Consolas" pitchFamily="34" charset="0"/>
                <a:ea typeface="Consolas" pitchFamily="34" charset="-122"/>
                <a:cs typeface="Consolas" pitchFamily="34" charset="-120"/>
              </a:rPr>
              <a:t># Usuniecie WSZYSTKICH rozszerzonych wpisow</a:t>
            </a:r>
            <a:endParaRPr lang="en-US" sz="1400" dirty="0"/>
          </a:p>
          <a:p>
            <a:pPr indent="0" marL="0">
              <a:spcAft>
                <a:spcPts val="200"/>
              </a:spcAft>
              <a:buNone/>
            </a:pPr>
            <a:r>
              <a:rPr lang="en-US" sz="1400" dirty="0">
                <a:solidFill>
                  <a:srgbClr val="F87171"/>
                </a:solidFill>
                <a:latin typeface="Consolas" pitchFamily="34" charset="0"/>
                <a:ea typeface="Consolas" pitchFamily="34" charset="-122"/>
                <a:cs typeface="Consolas" pitchFamily="34" charset="-120"/>
              </a:rPr>
              <a:t>$ setfacl -b raport.csv</a:t>
            </a:r>
            <a:endParaRPr lang="en-US" sz="1400" dirty="0"/>
          </a:p>
          <a:p>
            <a:pPr indent="0" marL="0">
              <a:spcAft>
                <a:spcPts val="200"/>
              </a:spcAft>
              <a:buNone/>
            </a:pPr>
            <a:endParaRPr lang="en-US" sz="1400" dirty="0"/>
          </a:p>
          <a:p>
            <a:pPr indent="0" marL="0">
              <a:spcAft>
                <a:spcPts val="200"/>
              </a:spcAft>
              <a:buNone/>
            </a:pPr>
            <a:r>
              <a:rPr lang="en-US" sz="1400" dirty="0">
                <a:solidFill>
                  <a:srgbClr val="64748B"/>
                </a:solidFill>
                <a:latin typeface="Consolas" pitchFamily="34" charset="0"/>
                <a:ea typeface="Consolas" pitchFamily="34" charset="-122"/>
                <a:cs typeface="Consolas" pitchFamily="34" charset="-120"/>
              </a:rPr>
              <a:t># Rekursywnie, w calym drzewie katalogow</a:t>
            </a:r>
            <a:endParaRPr lang="en-US" sz="1400" dirty="0"/>
          </a:p>
          <a:p>
            <a:pPr indent="0" marL="0">
              <a:spcAft>
                <a:spcPts val="200"/>
              </a:spcAft>
              <a:buNone/>
            </a:pPr>
            <a:r>
              <a:rPr lang="en-US" sz="1400" dirty="0">
                <a:solidFill>
                  <a:srgbClr val="C4B5FD"/>
                </a:solidFill>
                <a:latin typeface="Consolas" pitchFamily="34" charset="0"/>
                <a:ea typeface="Consolas" pitchFamily="34" charset="-122"/>
                <a:cs typeface="Consolas" pitchFamily="34" charset="-120"/>
              </a:rPr>
              <a:t>$ setfacl -R -m u:kkowalski:rx katalog_projektu/</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4D399"/>
                </a:solidFill>
                <a:latin typeface="Calibri" pitchFamily="34" charset="0"/>
                <a:ea typeface="Calibri" pitchFamily="34" charset="-122"/>
                <a:cs typeface="Calibri" pitchFamily="34" charset="-120"/>
              </a:rPr>
              <a:t>2. ACL</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ACL domyślne — dziedziczenie w katalogach</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2. ACL</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548640" y="1691640"/>
            <a:ext cx="6675120" cy="2743200"/>
          </a:xfrm>
          <a:prstGeom prst="roundRect">
            <a:avLst>
              <a:gd name="adj" fmla="val 2667"/>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74520"/>
            <a:ext cx="6217920" cy="2377440"/>
          </a:xfrm>
          <a:prstGeom prst="rect">
            <a:avLst/>
          </a:prstGeom>
          <a:noFill/>
          <a:ln/>
        </p:spPr>
        <p:txBody>
          <a:bodyPr wrap="square" lIns="0" tIns="0" rIns="0" bIns="0" rtlCol="0" anchor="t"/>
          <a:lstStyle/>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Ustawienie domyslnego ACL na katalogu</a:t>
            </a:r>
            <a:endParaRPr lang="en-US" sz="1350" dirty="0"/>
          </a:p>
          <a:p>
            <a:pPr indent="0" marL="0">
              <a:spcAft>
                <a:spcPts val="200"/>
              </a:spcAft>
              <a:buNone/>
            </a:pPr>
            <a:r>
              <a:rPr lang="en-US" sz="1350" dirty="0">
                <a:solidFill>
                  <a:srgbClr val="34D399"/>
                </a:solidFill>
                <a:latin typeface="Consolas" pitchFamily="34" charset="0"/>
                <a:ea typeface="Consolas" pitchFamily="34" charset="-122"/>
                <a:cs typeface="Consolas" pitchFamily="34" charset="-120"/>
              </a:rPr>
              <a:t>$ setfacl -d -m g:dzial_ksiegowosci:rwx /srv/ksiegowosc</a:t>
            </a:r>
            <a:endParaRPr lang="en-US" sz="1350" dirty="0"/>
          </a:p>
          <a:p>
            <a:pPr indent="0" marL="0">
              <a:spcAft>
                <a:spcPts val="200"/>
              </a:spcAft>
              <a:buNone/>
            </a:pPr>
            <a:endParaRPr lang="en-US" sz="1350" dirty="0"/>
          </a:p>
          <a:p>
            <a:pPr indent="0" marL="0">
              <a:spcAft>
                <a:spcPts val="200"/>
              </a:spcAft>
              <a:buNone/>
            </a:pPr>
            <a:r>
              <a:rPr lang="en-US" sz="1350" dirty="0">
                <a:solidFill>
                  <a:srgbClr val="94A3B8"/>
                </a:solidFill>
                <a:latin typeface="Consolas" pitchFamily="34" charset="0"/>
                <a:ea typeface="Consolas" pitchFamily="34" charset="-122"/>
                <a:cs typeface="Consolas" pitchFamily="34" charset="-120"/>
              </a:rPr>
              <a:t>$ getfacl /srv/ksiegowosc</a:t>
            </a:r>
            <a:endParaRPr lang="en-US" sz="1350" dirty="0"/>
          </a:p>
          <a:p>
            <a:pPr indent="0" marL="0">
              <a:spcAft>
                <a:spcPts val="200"/>
              </a:spcAft>
              <a:buNone/>
            </a:pPr>
            <a:r>
              <a:rPr lang="en-US" sz="1350" dirty="0">
                <a:solidFill>
                  <a:srgbClr val="E2E8F0"/>
                </a:solidFill>
                <a:latin typeface="Consolas" pitchFamily="34" charset="0"/>
                <a:ea typeface="Consolas" pitchFamily="34" charset="-122"/>
                <a:cs typeface="Consolas" pitchFamily="34" charset="-120"/>
              </a:rPr>
              <a:t>default:user::rwx</a:t>
            </a:r>
            <a:endParaRPr lang="en-US" sz="1350" dirty="0"/>
          </a:p>
          <a:p>
            <a:pPr indent="0" marL="0">
              <a:spcAft>
                <a:spcPts val="200"/>
              </a:spcAft>
              <a:buNone/>
            </a:pPr>
            <a:r>
              <a:rPr lang="en-US" sz="1350" dirty="0">
                <a:solidFill>
                  <a:srgbClr val="7DD3FC"/>
                </a:solidFill>
                <a:latin typeface="Consolas" pitchFamily="34" charset="0"/>
                <a:ea typeface="Consolas" pitchFamily="34" charset="-122"/>
                <a:cs typeface="Consolas" pitchFamily="34" charset="-120"/>
              </a:rPr>
              <a:t>default:group:dzial_ksiegowosci:rwx</a:t>
            </a:r>
            <a:endParaRPr lang="en-US" sz="1350" dirty="0"/>
          </a:p>
          <a:p>
            <a:pPr indent="0" marL="0">
              <a:spcAft>
                <a:spcPts val="200"/>
              </a:spcAft>
              <a:buNone/>
            </a:pPr>
            <a:r>
              <a:rPr lang="en-US" sz="1350" dirty="0">
                <a:solidFill>
                  <a:srgbClr val="FBBF24"/>
                </a:solidFill>
                <a:latin typeface="Consolas" pitchFamily="34" charset="0"/>
                <a:ea typeface="Consolas" pitchFamily="34" charset="-122"/>
                <a:cs typeface="Consolas" pitchFamily="34" charset="-120"/>
              </a:rPr>
              <a:t>default:mask::rwx</a:t>
            </a:r>
            <a:endParaRPr lang="en-US" sz="1350" dirty="0"/>
          </a:p>
          <a:p>
            <a:pPr indent="0" marL="0">
              <a:spcAft>
                <a:spcPts val="200"/>
              </a:spcAft>
              <a:buNone/>
            </a:pPr>
            <a:r>
              <a:rPr lang="en-US" sz="1350" dirty="0">
                <a:solidFill>
                  <a:srgbClr val="F87171"/>
                </a:solidFill>
                <a:latin typeface="Consolas" pitchFamily="34" charset="0"/>
                <a:ea typeface="Consolas" pitchFamily="34" charset="-122"/>
                <a:cs typeface="Consolas" pitchFamily="34" charset="-120"/>
              </a:rPr>
              <a:t>default:other::---</a:t>
            </a:r>
            <a:endParaRPr lang="en-US" sz="1350" dirty="0"/>
          </a:p>
        </p:txBody>
      </p:sp>
      <p:sp>
        <p:nvSpPr>
          <p:cNvPr id="8" name="Shape 6"/>
          <p:cNvSpPr/>
          <p:nvPr/>
        </p:nvSpPr>
        <p:spPr>
          <a:xfrm>
            <a:off x="7406640" y="1691640"/>
            <a:ext cx="4251960" cy="2743200"/>
          </a:xfrm>
          <a:prstGeom prst="roundRect">
            <a:avLst>
              <a:gd name="adj" fmla="val 3333"/>
            </a:avLst>
          </a:prstGeom>
          <a:solidFill>
            <a:srgbClr val="D1FAE5"/>
          </a:solidFill>
          <a:ln/>
        </p:spPr>
      </p:sp>
      <p:sp>
        <p:nvSpPr>
          <p:cNvPr id="9" name="Text 7"/>
          <p:cNvSpPr txBox="1"/>
          <p:nvPr/>
        </p:nvSpPr>
        <p:spPr>
          <a:xfrm>
            <a:off x="7635240" y="1874520"/>
            <a:ext cx="3840480" cy="365760"/>
          </a:xfrm>
          <a:prstGeom prst="rect">
            <a:avLst/>
          </a:prstGeom>
          <a:noFill/>
          <a:ln/>
        </p:spPr>
        <p:txBody>
          <a:bodyPr wrap="square" lIns="0" tIns="0" rIns="0" bIns="0" rtlCol="0" anchor="ctr"/>
          <a:lstStyle/>
          <a:p>
            <a:pPr indent="0" marL="0">
              <a:buNone/>
            </a:pPr>
            <a:r>
              <a:rPr lang="en-US" sz="1500" b="1" dirty="0">
                <a:solidFill>
                  <a:srgbClr val="065F46"/>
                </a:solidFill>
                <a:latin typeface="Calibri" pitchFamily="34" charset="0"/>
                <a:ea typeface="Calibri" pitchFamily="34" charset="-122"/>
                <a:cs typeface="Calibri" pitchFamily="34" charset="-120"/>
              </a:rPr>
              <a:t>Dlaczego to kluczowe?</a:t>
            </a:r>
            <a:endParaRPr lang="en-US" sz="1500" dirty="0"/>
          </a:p>
        </p:txBody>
      </p:sp>
      <p:sp>
        <p:nvSpPr>
          <p:cNvPr id="10" name="Text 8"/>
          <p:cNvSpPr txBox="1"/>
          <p:nvPr/>
        </p:nvSpPr>
        <p:spPr>
          <a:xfrm>
            <a:off x="7635240" y="2286000"/>
            <a:ext cx="3840480" cy="2011680"/>
          </a:xfrm>
          <a:prstGeom prst="rect">
            <a:avLst/>
          </a:prstGeom>
          <a:noFill/>
          <a:ln/>
        </p:spPr>
        <p:txBody>
          <a:bodyPr wrap="square" lIns="0" tIns="0" rIns="0" bIns="0" rtlCol="0" anchor="ctr"/>
          <a:lstStyle/>
          <a:p>
            <a:pPr indent="0" marL="0">
              <a:buNone/>
            </a:pPr>
            <a:r>
              <a:rPr lang="en-US" sz="1300" dirty="0">
                <a:solidFill>
                  <a:srgbClr val="065F46"/>
                </a:solidFill>
                <a:latin typeface="Calibri" pitchFamily="34" charset="0"/>
                <a:ea typeface="Calibri" pitchFamily="34" charset="-122"/>
                <a:cs typeface="Calibri" pitchFamily="34" charset="-120"/>
              </a:rPr>
              <a:t>Bez domyślnego ACL każdy nowy plik w katalogu współdzielonym wymagałby ręcznego nadania uprawnień. Flaga -d sprawia, że nowo tworzone pliki i podkatalogi automatycznie dziedziczą zdefiniowane reguły.</a:t>
            </a:r>
            <a:endParaRPr lang="en-US" sz="1300" dirty="0"/>
          </a:p>
        </p:txBody>
      </p:sp>
      <p:sp>
        <p:nvSpPr>
          <p:cNvPr id="11" name="Text 9"/>
          <p:cNvSpPr txBox="1"/>
          <p:nvPr/>
        </p:nvSpPr>
        <p:spPr>
          <a:xfrm>
            <a:off x="548640" y="4663440"/>
            <a:ext cx="10515600" cy="5486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To rozwiązanie jest kluczowe w środowiskach współdzielonych — eliminuje ręczne nadawanie uprawnień każdemu nowemu plikowi.</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4D399"/>
                </a:solidFill>
                <a:latin typeface="Calibri" pitchFamily="34" charset="0"/>
                <a:ea typeface="Calibri" pitchFamily="34" charset="-122"/>
                <a:cs typeface="Calibri" pitchFamily="34" charset="-120"/>
              </a:rPr>
              <a:t>2. ACL</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Kopia zapasowa i przenoszenie ACL</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2. ACL</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1920240"/>
            <a:ext cx="11109960" cy="1828800"/>
          </a:xfrm>
          <a:prstGeom prst="roundRect">
            <a:avLst>
              <a:gd name="adj" fmla="val 400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2103120"/>
            <a:ext cx="10652760" cy="1463040"/>
          </a:xfrm>
          <a:prstGeom prst="rect">
            <a:avLst/>
          </a:prstGeom>
          <a:noFill/>
          <a:ln/>
        </p:spPr>
        <p:txBody>
          <a:bodyPr wrap="square" lIns="0" tIns="0" rIns="0" bIns="0" rtlCol="0" anchor="t"/>
          <a:lstStyle/>
          <a:p>
            <a:pPr indent="0" marL="0">
              <a:spcAft>
                <a:spcPts val="200"/>
              </a:spcAft>
              <a:buNone/>
            </a:pPr>
            <a:r>
              <a:rPr lang="en-US" sz="1500" dirty="0">
                <a:solidFill>
                  <a:srgbClr val="64748B"/>
                </a:solidFill>
                <a:latin typeface="Consolas" pitchFamily="34" charset="0"/>
                <a:ea typeface="Consolas" pitchFamily="34" charset="-122"/>
                <a:cs typeface="Consolas" pitchFamily="34" charset="-120"/>
              </a:rPr>
              <a:t># Zapis pelnej struktury ACL do pliku</a:t>
            </a:r>
            <a:endParaRPr lang="en-US" sz="1500" dirty="0"/>
          </a:p>
          <a:p>
            <a:pPr indent="0" marL="0">
              <a:spcAft>
                <a:spcPts val="200"/>
              </a:spcAft>
              <a:buNone/>
            </a:pPr>
            <a:r>
              <a:rPr lang="en-US" sz="1500" dirty="0">
                <a:solidFill>
                  <a:srgbClr val="34D399"/>
                </a:solidFill>
                <a:latin typeface="Consolas" pitchFamily="34" charset="0"/>
                <a:ea typeface="Consolas" pitchFamily="34" charset="-122"/>
                <a:cs typeface="Consolas" pitchFamily="34" charset="-120"/>
              </a:rPr>
              <a:t>$ getfacl -R /srv/projekty &gt; acl_backup.txt</a:t>
            </a:r>
            <a:endParaRPr lang="en-US" sz="1500" dirty="0"/>
          </a:p>
          <a:p>
            <a:pPr indent="0" marL="0">
              <a:spcAft>
                <a:spcPts val="200"/>
              </a:spcAft>
              <a:buNone/>
            </a:pPr>
            <a:endParaRPr lang="en-US" sz="1500" dirty="0"/>
          </a:p>
          <a:p>
            <a:pPr indent="0" marL="0">
              <a:spcAft>
                <a:spcPts val="200"/>
              </a:spcAft>
              <a:buNone/>
            </a:pPr>
            <a:r>
              <a:rPr lang="en-US" sz="1500" dirty="0">
                <a:solidFill>
                  <a:srgbClr val="64748B"/>
                </a:solidFill>
                <a:latin typeface="Consolas" pitchFamily="34" charset="0"/>
                <a:ea typeface="Consolas" pitchFamily="34" charset="-122"/>
                <a:cs typeface="Consolas" pitchFamily="34" charset="-120"/>
              </a:rPr>
              <a:t># Odtworzenie ACL z kopii zapasowej</a:t>
            </a:r>
            <a:endParaRPr lang="en-US" sz="1500" dirty="0"/>
          </a:p>
          <a:p>
            <a:pPr indent="0" marL="0">
              <a:spcAft>
                <a:spcPts val="200"/>
              </a:spcAft>
              <a:buNone/>
            </a:pPr>
            <a:r>
              <a:rPr lang="en-US" sz="1500" dirty="0">
                <a:solidFill>
                  <a:srgbClr val="7DD3FC"/>
                </a:solidFill>
                <a:latin typeface="Consolas" pitchFamily="34" charset="0"/>
                <a:ea typeface="Consolas" pitchFamily="34" charset="-122"/>
                <a:cs typeface="Consolas" pitchFamily="34" charset="-120"/>
              </a:rPr>
              <a:t>$ setfacl --restore=acl_backup.txt</a:t>
            </a:r>
            <a:endParaRPr lang="en-US" sz="1500" dirty="0"/>
          </a:p>
        </p:txBody>
      </p:sp>
      <p:sp>
        <p:nvSpPr>
          <p:cNvPr id="8" name="Shape 6"/>
          <p:cNvSpPr/>
          <p:nvPr/>
        </p:nvSpPr>
        <p:spPr>
          <a:xfrm>
            <a:off x="548640" y="4069080"/>
            <a:ext cx="11109960" cy="1188720"/>
          </a:xfrm>
          <a:prstGeom prst="roundRect">
            <a:avLst>
              <a:gd name="adj" fmla="val 6154"/>
            </a:avLst>
          </a:prstGeom>
          <a:solidFill>
            <a:srgbClr val="FEF3C7"/>
          </a:solidFill>
          <a:ln w="12700">
            <a:solidFill>
              <a:srgbClr val="FBBF24"/>
            </a:solidFill>
            <a:prstDash val="solid"/>
          </a:ln>
        </p:spPr>
      </p:sp>
      <p:sp>
        <p:nvSpPr>
          <p:cNvPr id="9" name="Text 7"/>
          <p:cNvSpPr txBox="1"/>
          <p:nvPr/>
        </p:nvSpPr>
        <p:spPr>
          <a:xfrm>
            <a:off x="822960" y="4206240"/>
            <a:ext cx="10515600" cy="365760"/>
          </a:xfrm>
          <a:prstGeom prst="rect">
            <a:avLst/>
          </a:prstGeom>
          <a:noFill/>
          <a:ln/>
        </p:spPr>
        <p:txBody>
          <a:bodyPr wrap="square" lIns="0" tIns="0" rIns="0" bIns="0" rtlCol="0" anchor="ctr"/>
          <a:lstStyle/>
          <a:p>
            <a:pPr indent="0" marL="0">
              <a:buNone/>
            </a:pPr>
            <a:r>
              <a:rPr lang="en-US" sz="1500" b="1" dirty="0">
                <a:solidFill>
                  <a:srgbClr val="92400E"/>
                </a:solidFill>
                <a:latin typeface="Calibri" pitchFamily="34" charset="0"/>
                <a:ea typeface="Calibri" pitchFamily="34" charset="-122"/>
                <a:cs typeface="Calibri" pitchFamily="34" charset="-120"/>
              </a:rPr>
              <a:t>⚠ Pułapka migracyjna</a:t>
            </a:r>
            <a:endParaRPr lang="en-US" sz="1500" dirty="0"/>
          </a:p>
        </p:txBody>
      </p:sp>
      <p:sp>
        <p:nvSpPr>
          <p:cNvPr id="10" name="Text 8"/>
          <p:cNvSpPr txBox="1"/>
          <p:nvPr/>
        </p:nvSpPr>
        <p:spPr>
          <a:xfrm>
            <a:off x="822960" y="4572000"/>
            <a:ext cx="10515600" cy="640080"/>
          </a:xfrm>
          <a:prstGeom prst="rect">
            <a:avLst/>
          </a:prstGeom>
          <a:noFill/>
          <a:ln/>
        </p:spPr>
        <p:txBody>
          <a:bodyPr wrap="square" lIns="0" tIns="0" rIns="0" bIns="0" rtlCol="0" anchor="ctr"/>
          <a:lstStyle/>
          <a:p>
            <a:pPr indent="0" marL="0">
              <a:buNone/>
            </a:pPr>
            <a:r>
              <a:rPr lang="en-US" sz="1350" dirty="0">
                <a:solidFill>
                  <a:srgbClr val="78350F"/>
                </a:solidFill>
                <a:latin typeface="Calibri" pitchFamily="34" charset="0"/>
                <a:ea typeface="Calibri" pitchFamily="34" charset="-122"/>
                <a:cs typeface="Calibri" pitchFamily="34" charset="-120"/>
              </a:rPr>
              <a:t>Standardowe cp czy tar bez odpowiednich flag (np. --acls) mogą pominąć rozszerzone atrybuty — co jest szczególnie niebezpieczne przy migracjach danych między serwerami.</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31520" y="2331720"/>
            <a:ext cx="5486400" cy="457200"/>
          </a:xfrm>
          <a:prstGeom prst="rect">
            <a:avLst/>
          </a:prstGeom>
          <a:noFill/>
          <a:ln/>
        </p:spPr>
        <p:txBody>
          <a:bodyPr wrap="square" lIns="0" tIns="0" rIns="0" bIns="0" rtlCol="0" anchor="ctr"/>
          <a:lstStyle/>
          <a:p>
            <a:pPr indent="0" marL="0">
              <a:buNone/>
            </a:pPr>
            <a:r>
              <a:rPr lang="en-US" sz="1600" b="1" spc="300" kern="0" dirty="0">
                <a:solidFill>
                  <a:srgbClr val="A78BFA"/>
                </a:solidFill>
                <a:latin typeface="Calibri" pitchFamily="34" charset="0"/>
                <a:ea typeface="Calibri" pitchFamily="34" charset="-122"/>
                <a:cs typeface="Calibri" pitchFamily="34" charset="-120"/>
              </a:rPr>
              <a:t>CZĘŚĆ 3</a:t>
            </a:r>
            <a:endParaRPr lang="en-US" sz="1600" dirty="0"/>
          </a:p>
        </p:txBody>
      </p:sp>
      <p:sp>
        <p:nvSpPr>
          <p:cNvPr id="3" name="Text 1"/>
          <p:cNvSpPr txBox="1"/>
          <p:nvPr/>
        </p:nvSpPr>
        <p:spPr>
          <a:xfrm>
            <a:off x="731520" y="2743200"/>
            <a:ext cx="10515600" cy="14630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Sieciowy system plików NFS</a:t>
            </a:r>
            <a:endParaRPr lang="en-US" sz="4400" dirty="0"/>
          </a:p>
        </p:txBody>
      </p:sp>
      <p:sp>
        <p:nvSpPr>
          <p:cNvPr id="4" name="Text 2"/>
          <p:cNvSpPr txBox="1"/>
          <p:nvPr/>
        </p:nvSpPr>
        <p:spPr>
          <a:xfrm>
            <a:off x="731520" y="4114800"/>
            <a:ext cx="9601200" cy="73152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Jak te same uprawnienia działają, gdy katalog jest udostępniony przez sieć</a:t>
            </a:r>
            <a:endParaRPr lang="en-US" sz="1800" dirty="0"/>
          </a:p>
        </p:txBody>
      </p:sp>
      <p:sp>
        <p:nvSpPr>
          <p:cNvPr id="5" name="Shape 3"/>
          <p:cNvSpPr/>
          <p:nvPr/>
        </p:nvSpPr>
        <p:spPr>
          <a:xfrm>
            <a:off x="10332720" y="1097280"/>
            <a:ext cx="1463040" cy="1463040"/>
          </a:xfrm>
          <a:prstGeom prst="ellipse">
            <a:avLst/>
          </a:prstGeom>
          <a:solidFill>
            <a:srgbClr val="A78BFA">
              <a:alpha val="15000"/>
            </a:srgbClr>
          </a:solidFill>
          <a:ln w="19050">
            <a:solidFill>
              <a:srgbClr val="A78BFA"/>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A78BFA"/>
                </a:solidFill>
                <a:latin typeface="Calibri" pitchFamily="34" charset="0"/>
                <a:ea typeface="Calibri" pitchFamily="34" charset="-122"/>
                <a:cs typeface="Calibri" pitchFamily="34" charset="-120"/>
              </a:rPr>
              <a:t>3. NFS</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Architektura i wersje protokołu</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3. NFS</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17</a:t>
            </a:r>
            <a:endParaRPr lang="en-US" sz="1000" dirty="0"/>
          </a:p>
        </p:txBody>
      </p:sp>
      <p:sp>
        <p:nvSpPr>
          <p:cNvPr id="6" name="Shape 4"/>
          <p:cNvSpPr/>
          <p:nvPr/>
        </p:nvSpPr>
        <p:spPr>
          <a:xfrm>
            <a:off x="640080" y="1783080"/>
            <a:ext cx="3017520" cy="1371600"/>
          </a:xfrm>
          <a:prstGeom prst="roundRect">
            <a:avLst>
              <a:gd name="adj" fmla="val 5333"/>
            </a:avLst>
          </a:prstGeom>
          <a:solidFill>
            <a:srgbClr val="F1F5F9"/>
          </a:solidFill>
          <a:ln w="19050">
            <a:solidFill>
              <a:srgbClr val="38BDF8"/>
            </a:solidFill>
            <a:prstDash val="solid"/>
          </a:ln>
        </p:spPr>
      </p:sp>
      <p:sp>
        <p:nvSpPr>
          <p:cNvPr id="7" name="Text 5"/>
          <p:cNvSpPr txBox="1"/>
          <p:nvPr/>
        </p:nvSpPr>
        <p:spPr>
          <a:xfrm>
            <a:off x="640080" y="1965960"/>
            <a:ext cx="3017520" cy="36576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KLIENT</a:t>
            </a:r>
            <a:endParaRPr lang="en-US" sz="1500" dirty="0"/>
          </a:p>
        </p:txBody>
      </p:sp>
      <p:sp>
        <p:nvSpPr>
          <p:cNvPr id="8" name="Text 6"/>
          <p:cNvSpPr txBox="1"/>
          <p:nvPr/>
        </p:nvSpPr>
        <p:spPr>
          <a:xfrm>
            <a:off x="640080" y="2377440"/>
            <a:ext cx="3017520" cy="365760"/>
          </a:xfrm>
          <a:prstGeom prst="rect">
            <a:avLst/>
          </a:prstGeom>
          <a:noFill/>
          <a:ln/>
        </p:spPr>
        <p:txBody>
          <a:bodyPr wrap="square" lIns="0" tIns="0" rIns="0" bIns="0" rtlCol="0" anchor="ctr"/>
          <a:lstStyle/>
          <a:p>
            <a:pPr algn="ctr" indent="0" marL="0">
              <a:buNone/>
            </a:pPr>
            <a:r>
              <a:rPr lang="en-US" sz="1100" dirty="0">
                <a:solidFill>
                  <a:srgbClr val="475569"/>
                </a:solidFill>
                <a:latin typeface="Consolas" pitchFamily="34" charset="0"/>
                <a:ea typeface="Consolas" pitchFamily="34" charset="-122"/>
                <a:cs typeface="Consolas" pitchFamily="34" charset="-120"/>
              </a:rPr>
              <a:t>mount -t nfs4 ...</a:t>
            </a:r>
            <a:endParaRPr lang="en-US" sz="1100" dirty="0"/>
          </a:p>
        </p:txBody>
      </p:sp>
      <p:sp>
        <p:nvSpPr>
          <p:cNvPr id="9" name="Shape 7"/>
          <p:cNvSpPr/>
          <p:nvPr/>
        </p:nvSpPr>
        <p:spPr>
          <a:xfrm>
            <a:off x="3657600" y="2468880"/>
            <a:ext cx="1920240" cy="0"/>
          </a:xfrm>
          <a:prstGeom prst="line">
            <a:avLst/>
          </a:prstGeom>
          <a:noFill/>
          <a:ln w="31750">
            <a:solidFill>
              <a:srgbClr val="A78BFA"/>
            </a:solidFill>
            <a:prstDash val="dash"/>
          </a:ln>
        </p:spPr>
      </p:sp>
      <p:sp>
        <p:nvSpPr>
          <p:cNvPr id="10" name="Text 8"/>
          <p:cNvSpPr txBox="1"/>
          <p:nvPr/>
        </p:nvSpPr>
        <p:spPr>
          <a:xfrm>
            <a:off x="3657600" y="2057400"/>
            <a:ext cx="1920240" cy="320040"/>
          </a:xfrm>
          <a:prstGeom prst="rect">
            <a:avLst/>
          </a:prstGeom>
          <a:noFill/>
          <a:ln/>
        </p:spPr>
        <p:txBody>
          <a:bodyPr wrap="square" lIns="0" tIns="0" rIns="0" bIns="0" rtlCol="0" anchor="ctr"/>
          <a:lstStyle/>
          <a:p>
            <a:pPr algn="ctr" indent="0" marL="0">
              <a:buNone/>
            </a:pPr>
            <a:r>
              <a:rPr lang="en-US" sz="1200" b="1" dirty="0">
                <a:solidFill>
                  <a:srgbClr val="A78BFA"/>
                </a:solidFill>
                <a:latin typeface="Calibri" pitchFamily="34" charset="0"/>
                <a:ea typeface="Calibri" pitchFamily="34" charset="-122"/>
                <a:cs typeface="Calibri" pitchFamily="34" charset="-120"/>
              </a:rPr>
              <a:t>RPC</a:t>
            </a:r>
            <a:endParaRPr lang="en-US" sz="1200" dirty="0"/>
          </a:p>
        </p:txBody>
      </p:sp>
      <p:sp>
        <p:nvSpPr>
          <p:cNvPr id="11" name="Shape 9"/>
          <p:cNvSpPr/>
          <p:nvPr/>
        </p:nvSpPr>
        <p:spPr>
          <a:xfrm>
            <a:off x="5577840" y="1783080"/>
            <a:ext cx="3017520" cy="1371600"/>
          </a:xfrm>
          <a:prstGeom prst="roundRect">
            <a:avLst>
              <a:gd name="adj" fmla="val 5333"/>
            </a:avLst>
          </a:prstGeom>
          <a:solidFill>
            <a:srgbClr val="F1F5F9"/>
          </a:solidFill>
          <a:ln w="19050">
            <a:solidFill>
              <a:srgbClr val="34D399"/>
            </a:solidFill>
            <a:prstDash val="solid"/>
          </a:ln>
        </p:spPr>
      </p:sp>
      <p:sp>
        <p:nvSpPr>
          <p:cNvPr id="12" name="Text 10"/>
          <p:cNvSpPr txBox="1"/>
          <p:nvPr/>
        </p:nvSpPr>
        <p:spPr>
          <a:xfrm>
            <a:off x="5577840" y="1965960"/>
            <a:ext cx="3017520" cy="36576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SERWER</a:t>
            </a:r>
            <a:endParaRPr lang="en-US" sz="1500" dirty="0"/>
          </a:p>
        </p:txBody>
      </p:sp>
      <p:sp>
        <p:nvSpPr>
          <p:cNvPr id="13" name="Text 11"/>
          <p:cNvSpPr txBox="1"/>
          <p:nvPr/>
        </p:nvSpPr>
        <p:spPr>
          <a:xfrm>
            <a:off x="5577840" y="2377440"/>
            <a:ext cx="3017520" cy="365760"/>
          </a:xfrm>
          <a:prstGeom prst="rect">
            <a:avLst/>
          </a:prstGeom>
          <a:noFill/>
          <a:ln/>
        </p:spPr>
        <p:txBody>
          <a:bodyPr wrap="square" lIns="0" tIns="0" rIns="0" bIns="0" rtlCol="0" anchor="ctr"/>
          <a:lstStyle/>
          <a:p>
            <a:pPr algn="ctr" indent="0" marL="0">
              <a:buNone/>
            </a:pPr>
            <a:r>
              <a:rPr lang="en-US" sz="1100" dirty="0">
                <a:solidFill>
                  <a:srgbClr val="475569"/>
                </a:solidFill>
                <a:latin typeface="Consolas" pitchFamily="34" charset="0"/>
                <a:ea typeface="Consolas" pitchFamily="34" charset="-122"/>
                <a:cs typeface="Consolas" pitchFamily="34" charset="-120"/>
              </a:rPr>
              <a:t>/etc/exports</a:t>
            </a:r>
            <a:endParaRPr lang="en-US" sz="1100" dirty="0"/>
          </a:p>
        </p:txBody>
      </p:sp>
      <p:sp>
        <p:nvSpPr>
          <p:cNvPr id="14" name="Text 12"/>
          <p:cNvSpPr txBox="1"/>
          <p:nvPr/>
        </p:nvSpPr>
        <p:spPr>
          <a:xfrm>
            <a:off x="640080" y="3337560"/>
            <a:ext cx="10881360" cy="68580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NFS pozwala udostępnić katalog z jednej maszyny (serwera) i zamontować go zdalnie na innej (kliencie), tak jakby był lokalnym systemem plików — w oparciu o wywołania zdalnych procedur (RPC).</a:t>
            </a:r>
            <a:endParaRPr lang="en-US" sz="1400" dirty="0"/>
          </a:p>
        </p:txBody>
      </p:sp>
      <p:sp>
        <p:nvSpPr>
          <p:cNvPr id="15" name="Shape 13"/>
          <p:cNvSpPr/>
          <p:nvPr/>
        </p:nvSpPr>
        <p:spPr>
          <a:xfrm>
            <a:off x="640080" y="4251960"/>
            <a:ext cx="1463040" cy="502920"/>
          </a:xfrm>
          <a:prstGeom prst="roundRect">
            <a:avLst>
              <a:gd name="adj" fmla="val 10909"/>
            </a:avLst>
          </a:prstGeom>
          <a:solidFill>
            <a:srgbClr val="A78BFA">
              <a:alpha val="15000"/>
            </a:srgbClr>
          </a:solidFill>
          <a:ln/>
        </p:spPr>
      </p:sp>
      <p:sp>
        <p:nvSpPr>
          <p:cNvPr id="16" name="Text 14"/>
          <p:cNvSpPr txBox="1"/>
          <p:nvPr/>
        </p:nvSpPr>
        <p:spPr>
          <a:xfrm>
            <a:off x="640080" y="4251960"/>
            <a:ext cx="1463040" cy="502920"/>
          </a:xfrm>
          <a:prstGeom prst="rect">
            <a:avLst/>
          </a:prstGeom>
          <a:noFill/>
          <a:ln/>
        </p:spPr>
        <p:txBody>
          <a:bodyPr wrap="square" lIns="0" tIns="0" rIns="0" bIns="0" rtlCol="0" anchor="ctr"/>
          <a:lstStyle/>
          <a:p>
            <a:pPr algn="ctr" indent="0" marL="0">
              <a:buNone/>
            </a:pPr>
            <a:r>
              <a:rPr lang="en-US" sz="1300" b="1" dirty="0">
                <a:solidFill>
                  <a:srgbClr val="A78BFA"/>
                </a:solidFill>
                <a:latin typeface="Consolas" pitchFamily="34" charset="0"/>
                <a:ea typeface="Consolas" pitchFamily="34" charset="-122"/>
                <a:cs typeface="Consolas" pitchFamily="34" charset="-120"/>
              </a:rPr>
              <a:t>NFSv3</a:t>
            </a:r>
            <a:endParaRPr lang="en-US" sz="1300" dirty="0"/>
          </a:p>
        </p:txBody>
      </p:sp>
      <p:sp>
        <p:nvSpPr>
          <p:cNvPr id="17" name="Text 15"/>
          <p:cNvSpPr txBox="1"/>
          <p:nvPr/>
        </p:nvSpPr>
        <p:spPr>
          <a:xfrm>
            <a:off x="2286000" y="4251960"/>
            <a:ext cx="9235440" cy="50292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Bezstanowy; osobne usługi rpcbind, mountd, nlockmgr na kilku portach</a:t>
            </a:r>
            <a:endParaRPr lang="en-US" sz="1250" dirty="0"/>
          </a:p>
        </p:txBody>
      </p:sp>
      <p:sp>
        <p:nvSpPr>
          <p:cNvPr id="18" name="Shape 16"/>
          <p:cNvSpPr/>
          <p:nvPr/>
        </p:nvSpPr>
        <p:spPr>
          <a:xfrm>
            <a:off x="640080" y="4818888"/>
            <a:ext cx="1463040" cy="502920"/>
          </a:xfrm>
          <a:prstGeom prst="roundRect">
            <a:avLst>
              <a:gd name="adj" fmla="val 10909"/>
            </a:avLst>
          </a:prstGeom>
          <a:solidFill>
            <a:srgbClr val="A78BFA">
              <a:alpha val="15000"/>
            </a:srgbClr>
          </a:solidFill>
          <a:ln/>
        </p:spPr>
      </p:sp>
      <p:sp>
        <p:nvSpPr>
          <p:cNvPr id="19" name="Text 17"/>
          <p:cNvSpPr txBox="1"/>
          <p:nvPr/>
        </p:nvSpPr>
        <p:spPr>
          <a:xfrm>
            <a:off x="640080" y="4818888"/>
            <a:ext cx="1463040" cy="502920"/>
          </a:xfrm>
          <a:prstGeom prst="rect">
            <a:avLst/>
          </a:prstGeom>
          <a:noFill/>
          <a:ln/>
        </p:spPr>
        <p:txBody>
          <a:bodyPr wrap="square" lIns="0" tIns="0" rIns="0" bIns="0" rtlCol="0" anchor="ctr"/>
          <a:lstStyle/>
          <a:p>
            <a:pPr algn="ctr" indent="0" marL="0">
              <a:buNone/>
            </a:pPr>
            <a:r>
              <a:rPr lang="en-US" sz="1300" b="1" dirty="0">
                <a:solidFill>
                  <a:srgbClr val="A78BFA"/>
                </a:solidFill>
                <a:latin typeface="Consolas" pitchFamily="34" charset="0"/>
                <a:ea typeface="Consolas" pitchFamily="34" charset="-122"/>
                <a:cs typeface="Consolas" pitchFamily="34" charset="-120"/>
              </a:rPr>
              <a:t>NFSv4</a:t>
            </a:r>
            <a:endParaRPr lang="en-US" sz="1300" dirty="0"/>
          </a:p>
        </p:txBody>
      </p:sp>
      <p:sp>
        <p:nvSpPr>
          <p:cNvPr id="20" name="Text 18"/>
          <p:cNvSpPr txBox="1"/>
          <p:nvPr/>
        </p:nvSpPr>
        <p:spPr>
          <a:xfrm>
            <a:off x="2286000" y="4818888"/>
            <a:ext cx="9235440" cy="50292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Stanowy; wyłącznie port TCP 2049; wbudowane blokady i delegacje; własne ACL stylu NFSv4</a:t>
            </a:r>
            <a:endParaRPr lang="en-US" sz="1250" dirty="0"/>
          </a:p>
        </p:txBody>
      </p:sp>
      <p:sp>
        <p:nvSpPr>
          <p:cNvPr id="21" name="Shape 19"/>
          <p:cNvSpPr/>
          <p:nvPr/>
        </p:nvSpPr>
        <p:spPr>
          <a:xfrm>
            <a:off x="640080" y="5385816"/>
            <a:ext cx="1463040" cy="502920"/>
          </a:xfrm>
          <a:prstGeom prst="roundRect">
            <a:avLst>
              <a:gd name="adj" fmla="val 10909"/>
            </a:avLst>
          </a:prstGeom>
          <a:solidFill>
            <a:srgbClr val="A78BFA">
              <a:alpha val="15000"/>
            </a:srgbClr>
          </a:solidFill>
          <a:ln/>
        </p:spPr>
      </p:sp>
      <p:sp>
        <p:nvSpPr>
          <p:cNvPr id="22" name="Text 20"/>
          <p:cNvSpPr txBox="1"/>
          <p:nvPr/>
        </p:nvSpPr>
        <p:spPr>
          <a:xfrm>
            <a:off x="640080" y="5385816"/>
            <a:ext cx="1463040" cy="502920"/>
          </a:xfrm>
          <a:prstGeom prst="rect">
            <a:avLst/>
          </a:prstGeom>
          <a:noFill/>
          <a:ln/>
        </p:spPr>
        <p:txBody>
          <a:bodyPr wrap="square" lIns="0" tIns="0" rIns="0" bIns="0" rtlCol="0" anchor="ctr"/>
          <a:lstStyle/>
          <a:p>
            <a:pPr algn="ctr" indent="0" marL="0">
              <a:buNone/>
            </a:pPr>
            <a:r>
              <a:rPr lang="en-US" sz="1300" b="1" dirty="0">
                <a:solidFill>
                  <a:srgbClr val="A78BFA"/>
                </a:solidFill>
                <a:latin typeface="Consolas" pitchFamily="34" charset="0"/>
                <a:ea typeface="Consolas" pitchFamily="34" charset="-122"/>
                <a:cs typeface="Consolas" pitchFamily="34" charset="-120"/>
              </a:rPr>
              <a:t>NFSv4.2</a:t>
            </a:r>
            <a:endParaRPr lang="en-US" sz="1300" dirty="0"/>
          </a:p>
        </p:txBody>
      </p:sp>
      <p:sp>
        <p:nvSpPr>
          <p:cNvPr id="23" name="Text 21"/>
          <p:cNvSpPr txBox="1"/>
          <p:nvPr/>
        </p:nvSpPr>
        <p:spPr>
          <a:xfrm>
            <a:off x="2286000" y="5385816"/>
            <a:ext cx="9235440" cy="50292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Dodaje server-side copy, sparse files, integrację z etykietami SELinux</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A78BFA"/>
                </a:solidFill>
                <a:latin typeface="Calibri" pitchFamily="34" charset="0"/>
                <a:ea typeface="Calibri" pitchFamily="34" charset="-122"/>
                <a:cs typeface="Calibri" pitchFamily="34" charset="-120"/>
              </a:rPr>
              <a:t>3. NFS</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Konfiguracja serwera — /etc/exports</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3. NFS</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18</a:t>
            </a:r>
            <a:endParaRPr lang="en-US" sz="1000" dirty="0"/>
          </a:p>
        </p:txBody>
      </p:sp>
      <p:sp>
        <p:nvSpPr>
          <p:cNvPr id="6" name="Shape 4"/>
          <p:cNvSpPr/>
          <p:nvPr/>
        </p:nvSpPr>
        <p:spPr>
          <a:xfrm>
            <a:off x="548640" y="1691640"/>
            <a:ext cx="11109960" cy="3657600"/>
          </a:xfrm>
          <a:prstGeom prst="roundRect">
            <a:avLst>
              <a:gd name="adj" fmla="val 200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74520"/>
            <a:ext cx="10652760" cy="3291840"/>
          </a:xfrm>
          <a:prstGeom prst="rect">
            <a:avLst/>
          </a:prstGeom>
          <a:noFill/>
          <a:ln/>
        </p:spPr>
        <p:txBody>
          <a:bodyPr wrap="square" lIns="0" tIns="0" rIns="0" bIns="0" rtlCol="0" anchor="t"/>
          <a:lstStyle/>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Instalacja</a:t>
            </a:r>
            <a:endParaRPr lang="en-US" sz="1350" dirty="0"/>
          </a:p>
          <a:p>
            <a:pPr indent="0" marL="0">
              <a:spcAft>
                <a:spcPts val="200"/>
              </a:spcAft>
              <a:buNone/>
            </a:pPr>
            <a:r>
              <a:rPr lang="en-US" sz="1350" dirty="0">
                <a:solidFill>
                  <a:srgbClr val="34D399"/>
                </a:solidFill>
                <a:latin typeface="Consolas" pitchFamily="34" charset="0"/>
                <a:ea typeface="Consolas" pitchFamily="34" charset="-122"/>
                <a:cs typeface="Consolas" pitchFamily="34" charset="-120"/>
              </a:rPr>
              <a:t>$ apt install nfs-kernel-server   # Debian/Ubuntu</a:t>
            </a:r>
            <a:endParaRPr lang="en-US" sz="1350" dirty="0"/>
          </a:p>
          <a:p>
            <a:pPr indent="0" marL="0">
              <a:spcAft>
                <a:spcPts val="200"/>
              </a:spcAft>
              <a:buNone/>
            </a:pPr>
            <a:r>
              <a:rPr lang="en-US" sz="1350" dirty="0">
                <a:solidFill>
                  <a:srgbClr val="34D399"/>
                </a:solidFill>
                <a:latin typeface="Consolas" pitchFamily="34" charset="0"/>
                <a:ea typeface="Consolas" pitchFamily="34" charset="-122"/>
                <a:cs typeface="Consolas" pitchFamily="34" charset="-120"/>
              </a:rPr>
              <a:t>$ dnf install nfs-utils            # RHEL/Rocky</a:t>
            </a:r>
            <a:endParaRPr lang="en-US" sz="1350" dirty="0"/>
          </a:p>
          <a:p>
            <a:pPr indent="0" marL="0">
              <a:spcAft>
                <a:spcPts val="200"/>
              </a:spcAft>
              <a:buNone/>
            </a:pPr>
            <a:endParaRPr lang="en-US" sz="1350" dirty="0"/>
          </a:p>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/etc/exports</a:t>
            </a:r>
            <a:endParaRPr lang="en-US" sz="1350" dirty="0"/>
          </a:p>
          <a:p>
            <a:pPr indent="0" marL="0">
              <a:spcAft>
                <a:spcPts val="200"/>
              </a:spcAft>
              <a:buNone/>
            </a:pPr>
            <a:r>
              <a:rPr lang="en-US" sz="1350" dirty="0">
                <a:solidFill>
                  <a:srgbClr val="7DD3FC"/>
                </a:solidFill>
                <a:latin typeface="Consolas" pitchFamily="34" charset="0"/>
                <a:ea typeface="Consolas" pitchFamily="34" charset="-122"/>
                <a:cs typeface="Consolas" pitchFamily="34" charset="-120"/>
              </a:rPr>
              <a:t>/srv/dane      192.168.1.0/24(rw,sync,no_subtree_check)</a:t>
            </a:r>
            <a:endParaRPr lang="en-US" sz="1350" dirty="0"/>
          </a:p>
          <a:p>
            <a:pPr indent="0" marL="0">
              <a:spcAft>
                <a:spcPts val="200"/>
              </a:spcAft>
              <a:buNone/>
            </a:pPr>
            <a:r>
              <a:rPr lang="en-US" sz="1350" dirty="0">
                <a:solidFill>
                  <a:srgbClr val="FBBF24"/>
                </a:solidFill>
                <a:latin typeface="Consolas" pitchFamily="34" charset="0"/>
                <a:ea typeface="Consolas" pitchFamily="34" charset="-122"/>
                <a:cs typeface="Consolas" pitchFamily="34" charset="-120"/>
              </a:rPr>
              <a:t>/srv/publiczne *(ro,sync,all_squash,anonuid=65534)</a:t>
            </a:r>
            <a:endParaRPr lang="en-US" sz="1350" dirty="0"/>
          </a:p>
          <a:p>
            <a:pPr indent="0" marL="0">
              <a:spcAft>
                <a:spcPts val="200"/>
              </a:spcAft>
              <a:buNone/>
            </a:pPr>
            <a:r>
              <a:rPr lang="en-US" sz="1350" dirty="0">
                <a:solidFill>
                  <a:srgbClr val="F87171"/>
                </a:solidFill>
                <a:latin typeface="Consolas" pitchFamily="34" charset="0"/>
                <a:ea typeface="Consolas" pitchFamily="34" charset="-122"/>
                <a:cs typeface="Consolas" pitchFamily="34" charset="-120"/>
              </a:rPr>
              <a:t>/home          10.0.0.15(rw,sync,no_root_squash,sec=krb5p)</a:t>
            </a:r>
            <a:endParaRPr lang="en-US" sz="1350" dirty="0"/>
          </a:p>
          <a:p>
            <a:pPr indent="0" marL="0">
              <a:spcAft>
                <a:spcPts val="200"/>
              </a:spcAft>
              <a:buNone/>
            </a:pPr>
            <a:endParaRPr lang="en-US" sz="1350" dirty="0"/>
          </a:p>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Aktywacja</a:t>
            </a:r>
            <a:endParaRPr lang="en-US" sz="1350" dirty="0"/>
          </a:p>
          <a:p>
            <a:pPr indent="0" marL="0">
              <a:spcAft>
                <a:spcPts val="200"/>
              </a:spcAft>
              <a:buNone/>
            </a:pPr>
            <a:r>
              <a:rPr lang="en-US" sz="1350" dirty="0">
                <a:solidFill>
                  <a:srgbClr val="C4B5FD"/>
                </a:solidFill>
                <a:latin typeface="Consolas" pitchFamily="34" charset="0"/>
                <a:ea typeface="Consolas" pitchFamily="34" charset="-122"/>
                <a:cs typeface="Consolas" pitchFamily="34" charset="-120"/>
              </a:rPr>
              <a:t>$ exportfs -ra</a:t>
            </a:r>
            <a:endParaRPr lang="en-US" sz="1350" dirty="0"/>
          </a:p>
          <a:p>
            <a:pPr indent="0" marL="0">
              <a:spcAft>
                <a:spcPts val="200"/>
              </a:spcAft>
              <a:buNone/>
            </a:pPr>
            <a:r>
              <a:rPr lang="en-US" sz="1350" dirty="0">
                <a:solidFill>
                  <a:srgbClr val="C4B5FD"/>
                </a:solidFill>
                <a:latin typeface="Consolas" pitchFamily="34" charset="0"/>
                <a:ea typeface="Consolas" pitchFamily="34" charset="-122"/>
                <a:cs typeface="Consolas" pitchFamily="34" charset="-120"/>
              </a:rPr>
              <a:t>$ systemctl enable --now nfs-server</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A78BFA"/>
                </a:solidFill>
                <a:latin typeface="Calibri" pitchFamily="34" charset="0"/>
                <a:ea typeface="Calibri" pitchFamily="34" charset="-122"/>
                <a:cs typeface="Calibri" pitchFamily="34" charset="-120"/>
              </a:rPr>
              <a:t>3. NFS</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Kluczowe opcje eksportu</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3. NFS</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19</a:t>
            </a:r>
            <a:endParaRPr lang="en-US" sz="1000" dirty="0"/>
          </a:p>
        </p:txBody>
      </p:sp>
      <p:sp>
        <p:nvSpPr>
          <p:cNvPr id="6" name="Shape 4"/>
          <p:cNvSpPr/>
          <p:nvPr/>
        </p:nvSpPr>
        <p:spPr>
          <a:xfrm>
            <a:off x="548640" y="1691640"/>
            <a:ext cx="73152" cy="566928"/>
          </a:xfrm>
          <a:prstGeom prst="rect">
            <a:avLst/>
          </a:prstGeom>
          <a:solidFill>
            <a:srgbClr val="38BDF8"/>
          </a:solidFill>
          <a:ln/>
        </p:spPr>
      </p:sp>
      <p:sp>
        <p:nvSpPr>
          <p:cNvPr id="7" name="Text 5"/>
          <p:cNvSpPr txBox="1"/>
          <p:nvPr/>
        </p:nvSpPr>
        <p:spPr>
          <a:xfrm>
            <a:off x="777240" y="1691640"/>
            <a:ext cx="3200400" cy="566928"/>
          </a:xfrm>
          <a:prstGeom prst="rect">
            <a:avLst/>
          </a:prstGeom>
          <a:noFill/>
          <a:ln/>
        </p:spPr>
        <p:txBody>
          <a:bodyPr wrap="square" lIns="0" tIns="0" rIns="0" bIns="0" rtlCol="0" anchor="ctr"/>
          <a:lstStyle/>
          <a:p>
            <a:pPr indent="0" marL="0">
              <a:buNone/>
            </a:pPr>
            <a:r>
              <a:rPr lang="en-US" sz="1300" b="1" dirty="0">
                <a:solidFill>
                  <a:srgbClr val="0F172A"/>
                </a:solidFill>
                <a:latin typeface="Consolas" pitchFamily="34" charset="0"/>
                <a:ea typeface="Consolas" pitchFamily="34" charset="-122"/>
                <a:cs typeface="Consolas" pitchFamily="34" charset="-120"/>
              </a:rPr>
              <a:t>rw / ro</a:t>
            </a:r>
            <a:endParaRPr lang="en-US" sz="1300" dirty="0"/>
          </a:p>
        </p:txBody>
      </p:sp>
      <p:sp>
        <p:nvSpPr>
          <p:cNvPr id="8" name="Text 6"/>
          <p:cNvSpPr txBox="1"/>
          <p:nvPr/>
        </p:nvSpPr>
        <p:spPr>
          <a:xfrm>
            <a:off x="4023360" y="1691640"/>
            <a:ext cx="7589520" cy="566928"/>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odczyt-zapis / tylko odczyt</a:t>
            </a:r>
            <a:endParaRPr lang="en-US" sz="1250" dirty="0"/>
          </a:p>
        </p:txBody>
      </p:sp>
      <p:sp>
        <p:nvSpPr>
          <p:cNvPr id="9" name="Shape 7"/>
          <p:cNvSpPr/>
          <p:nvPr/>
        </p:nvSpPr>
        <p:spPr>
          <a:xfrm>
            <a:off x="548640" y="2331720"/>
            <a:ext cx="73152" cy="566928"/>
          </a:xfrm>
          <a:prstGeom prst="rect">
            <a:avLst/>
          </a:prstGeom>
          <a:solidFill>
            <a:srgbClr val="38BDF8"/>
          </a:solidFill>
          <a:ln/>
        </p:spPr>
      </p:sp>
      <p:sp>
        <p:nvSpPr>
          <p:cNvPr id="10" name="Text 8"/>
          <p:cNvSpPr txBox="1"/>
          <p:nvPr/>
        </p:nvSpPr>
        <p:spPr>
          <a:xfrm>
            <a:off x="777240" y="2331720"/>
            <a:ext cx="3200400" cy="566928"/>
          </a:xfrm>
          <a:prstGeom prst="rect">
            <a:avLst/>
          </a:prstGeom>
          <a:noFill/>
          <a:ln/>
        </p:spPr>
        <p:txBody>
          <a:bodyPr wrap="square" lIns="0" tIns="0" rIns="0" bIns="0" rtlCol="0" anchor="ctr"/>
          <a:lstStyle/>
          <a:p>
            <a:pPr indent="0" marL="0">
              <a:buNone/>
            </a:pPr>
            <a:r>
              <a:rPr lang="en-US" sz="1300" b="1" dirty="0">
                <a:solidFill>
                  <a:srgbClr val="0F172A"/>
                </a:solidFill>
                <a:latin typeface="Consolas" pitchFamily="34" charset="0"/>
                <a:ea typeface="Consolas" pitchFamily="34" charset="-122"/>
                <a:cs typeface="Consolas" pitchFamily="34" charset="-120"/>
              </a:rPr>
              <a:t>sync / async</a:t>
            </a:r>
            <a:endParaRPr lang="en-US" sz="1300" dirty="0"/>
          </a:p>
        </p:txBody>
      </p:sp>
      <p:sp>
        <p:nvSpPr>
          <p:cNvPr id="11" name="Text 9"/>
          <p:cNvSpPr txBox="1"/>
          <p:nvPr/>
        </p:nvSpPr>
        <p:spPr>
          <a:xfrm>
            <a:off x="4023360" y="2331720"/>
            <a:ext cx="7589520" cy="566928"/>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sync potwierdza zapis dopiero po zapisaniu na dysku (bezpieczniej)</a:t>
            </a:r>
            <a:endParaRPr lang="en-US" sz="1250" dirty="0"/>
          </a:p>
        </p:txBody>
      </p:sp>
      <p:sp>
        <p:nvSpPr>
          <p:cNvPr id="12" name="Shape 10"/>
          <p:cNvSpPr/>
          <p:nvPr/>
        </p:nvSpPr>
        <p:spPr>
          <a:xfrm>
            <a:off x="548640" y="2971800"/>
            <a:ext cx="73152" cy="566928"/>
          </a:xfrm>
          <a:prstGeom prst="rect">
            <a:avLst/>
          </a:prstGeom>
          <a:solidFill>
            <a:srgbClr val="34D399"/>
          </a:solidFill>
          <a:ln/>
        </p:spPr>
      </p:sp>
      <p:sp>
        <p:nvSpPr>
          <p:cNvPr id="13" name="Text 11"/>
          <p:cNvSpPr txBox="1"/>
          <p:nvPr/>
        </p:nvSpPr>
        <p:spPr>
          <a:xfrm>
            <a:off x="777240" y="2971800"/>
            <a:ext cx="3200400" cy="566928"/>
          </a:xfrm>
          <a:prstGeom prst="rect">
            <a:avLst/>
          </a:prstGeom>
          <a:noFill/>
          <a:ln/>
        </p:spPr>
        <p:txBody>
          <a:bodyPr wrap="square" lIns="0" tIns="0" rIns="0" bIns="0" rtlCol="0" anchor="ctr"/>
          <a:lstStyle/>
          <a:p>
            <a:pPr indent="0" marL="0">
              <a:buNone/>
            </a:pPr>
            <a:r>
              <a:rPr lang="en-US" sz="1300" b="1" dirty="0">
                <a:solidFill>
                  <a:srgbClr val="0F172A"/>
                </a:solidFill>
                <a:latin typeface="Consolas" pitchFamily="34" charset="0"/>
                <a:ea typeface="Consolas" pitchFamily="34" charset="-122"/>
                <a:cs typeface="Consolas" pitchFamily="34" charset="-120"/>
              </a:rPr>
              <a:t>root_squash</a:t>
            </a:r>
            <a:endParaRPr lang="en-US" sz="1300" dirty="0"/>
          </a:p>
        </p:txBody>
      </p:sp>
      <p:sp>
        <p:nvSpPr>
          <p:cNvPr id="14" name="Text 12"/>
          <p:cNvSpPr txBox="1"/>
          <p:nvPr/>
        </p:nvSpPr>
        <p:spPr>
          <a:xfrm>
            <a:off x="4023360" y="2971800"/>
            <a:ext cx="7589520" cy="566928"/>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domyślne; żądania roota klienta mapowane na konto nobody</a:t>
            </a:r>
            <a:endParaRPr lang="en-US" sz="1250" dirty="0"/>
          </a:p>
        </p:txBody>
      </p:sp>
      <p:sp>
        <p:nvSpPr>
          <p:cNvPr id="15" name="Shape 13"/>
          <p:cNvSpPr/>
          <p:nvPr/>
        </p:nvSpPr>
        <p:spPr>
          <a:xfrm>
            <a:off x="548640" y="3611880"/>
            <a:ext cx="73152" cy="566928"/>
          </a:xfrm>
          <a:prstGeom prst="rect">
            <a:avLst/>
          </a:prstGeom>
          <a:solidFill>
            <a:srgbClr val="F87171"/>
          </a:solidFill>
          <a:ln/>
        </p:spPr>
      </p:sp>
      <p:sp>
        <p:nvSpPr>
          <p:cNvPr id="16" name="Text 14"/>
          <p:cNvSpPr txBox="1"/>
          <p:nvPr/>
        </p:nvSpPr>
        <p:spPr>
          <a:xfrm>
            <a:off x="777240" y="3611880"/>
            <a:ext cx="3200400" cy="566928"/>
          </a:xfrm>
          <a:prstGeom prst="rect">
            <a:avLst/>
          </a:prstGeom>
          <a:noFill/>
          <a:ln/>
        </p:spPr>
        <p:txBody>
          <a:bodyPr wrap="square" lIns="0" tIns="0" rIns="0" bIns="0" rtlCol="0" anchor="ctr"/>
          <a:lstStyle/>
          <a:p>
            <a:pPr indent="0" marL="0">
              <a:buNone/>
            </a:pPr>
            <a:r>
              <a:rPr lang="en-US" sz="1300" b="1" dirty="0">
                <a:solidFill>
                  <a:srgbClr val="0F172A"/>
                </a:solidFill>
                <a:latin typeface="Consolas" pitchFamily="34" charset="0"/>
                <a:ea typeface="Consolas" pitchFamily="34" charset="-122"/>
                <a:cs typeface="Consolas" pitchFamily="34" charset="-120"/>
              </a:rPr>
              <a:t>no_root_squash</a:t>
            </a:r>
            <a:endParaRPr lang="en-US" sz="1300" dirty="0"/>
          </a:p>
        </p:txBody>
      </p:sp>
      <p:sp>
        <p:nvSpPr>
          <p:cNvPr id="17" name="Text 15"/>
          <p:cNvSpPr txBox="1"/>
          <p:nvPr/>
        </p:nvSpPr>
        <p:spPr>
          <a:xfrm>
            <a:off x="4023360" y="3611880"/>
            <a:ext cx="7589520" cy="566928"/>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root klienta zachowuje uprawnienia roota na serwerze — RYZYKOWNE</a:t>
            </a:r>
            <a:endParaRPr lang="en-US" sz="1250" dirty="0"/>
          </a:p>
        </p:txBody>
      </p:sp>
      <p:sp>
        <p:nvSpPr>
          <p:cNvPr id="18" name="Shape 16"/>
          <p:cNvSpPr/>
          <p:nvPr/>
        </p:nvSpPr>
        <p:spPr>
          <a:xfrm>
            <a:off x="548640" y="4251960"/>
            <a:ext cx="73152" cy="566928"/>
          </a:xfrm>
          <a:prstGeom prst="rect">
            <a:avLst/>
          </a:prstGeom>
          <a:solidFill>
            <a:srgbClr val="FBBF24"/>
          </a:solidFill>
          <a:ln/>
        </p:spPr>
      </p:sp>
      <p:sp>
        <p:nvSpPr>
          <p:cNvPr id="19" name="Text 17"/>
          <p:cNvSpPr txBox="1"/>
          <p:nvPr/>
        </p:nvSpPr>
        <p:spPr>
          <a:xfrm>
            <a:off x="777240" y="4251960"/>
            <a:ext cx="3200400" cy="566928"/>
          </a:xfrm>
          <a:prstGeom prst="rect">
            <a:avLst/>
          </a:prstGeom>
          <a:noFill/>
          <a:ln/>
        </p:spPr>
        <p:txBody>
          <a:bodyPr wrap="square" lIns="0" tIns="0" rIns="0" bIns="0" rtlCol="0" anchor="ctr"/>
          <a:lstStyle/>
          <a:p>
            <a:pPr indent="0" marL="0">
              <a:buNone/>
            </a:pPr>
            <a:r>
              <a:rPr lang="en-US" sz="1300" b="1" dirty="0">
                <a:solidFill>
                  <a:srgbClr val="0F172A"/>
                </a:solidFill>
                <a:latin typeface="Consolas" pitchFamily="34" charset="0"/>
                <a:ea typeface="Consolas" pitchFamily="34" charset="-122"/>
                <a:cs typeface="Consolas" pitchFamily="34" charset="-120"/>
              </a:rPr>
              <a:t>all_squash</a:t>
            </a:r>
            <a:endParaRPr lang="en-US" sz="1300" dirty="0"/>
          </a:p>
        </p:txBody>
      </p:sp>
      <p:sp>
        <p:nvSpPr>
          <p:cNvPr id="20" name="Text 18"/>
          <p:cNvSpPr txBox="1"/>
          <p:nvPr/>
        </p:nvSpPr>
        <p:spPr>
          <a:xfrm>
            <a:off x="4023360" y="4251960"/>
            <a:ext cx="7589520" cy="566928"/>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wszyscy zdalni użytkownicy mapowani na jedno konto (anonuid/anongid)</a:t>
            </a:r>
            <a:endParaRPr lang="en-US" sz="1250" dirty="0"/>
          </a:p>
        </p:txBody>
      </p:sp>
      <p:sp>
        <p:nvSpPr>
          <p:cNvPr id="21" name="Shape 19"/>
          <p:cNvSpPr/>
          <p:nvPr/>
        </p:nvSpPr>
        <p:spPr>
          <a:xfrm>
            <a:off x="548640" y="4892040"/>
            <a:ext cx="73152" cy="566928"/>
          </a:xfrm>
          <a:prstGeom prst="rect">
            <a:avLst/>
          </a:prstGeom>
          <a:solidFill>
            <a:srgbClr val="A78BFA"/>
          </a:solidFill>
          <a:ln/>
        </p:spPr>
      </p:sp>
      <p:sp>
        <p:nvSpPr>
          <p:cNvPr id="22" name="Text 20"/>
          <p:cNvSpPr txBox="1"/>
          <p:nvPr/>
        </p:nvSpPr>
        <p:spPr>
          <a:xfrm>
            <a:off x="777240" y="4892040"/>
            <a:ext cx="3200400" cy="566928"/>
          </a:xfrm>
          <a:prstGeom prst="rect">
            <a:avLst/>
          </a:prstGeom>
          <a:noFill/>
          <a:ln/>
        </p:spPr>
        <p:txBody>
          <a:bodyPr wrap="square" lIns="0" tIns="0" rIns="0" bIns="0" rtlCol="0" anchor="ctr"/>
          <a:lstStyle/>
          <a:p>
            <a:pPr indent="0" marL="0">
              <a:buNone/>
            </a:pPr>
            <a:r>
              <a:rPr lang="en-US" sz="1300" b="1" dirty="0">
                <a:solidFill>
                  <a:srgbClr val="0F172A"/>
                </a:solidFill>
                <a:latin typeface="Consolas" pitchFamily="34" charset="0"/>
                <a:ea typeface="Consolas" pitchFamily="34" charset="-122"/>
                <a:cs typeface="Consolas" pitchFamily="34" charset="-120"/>
              </a:rPr>
              <a:t>sec=sys|krb5|krb5i|krb5p</a:t>
            </a:r>
            <a:endParaRPr lang="en-US" sz="1300" dirty="0"/>
          </a:p>
        </p:txBody>
      </p:sp>
      <p:sp>
        <p:nvSpPr>
          <p:cNvPr id="23" name="Text 21"/>
          <p:cNvSpPr txBox="1"/>
          <p:nvPr/>
        </p:nvSpPr>
        <p:spPr>
          <a:xfrm>
            <a:off x="4023360" y="4892040"/>
            <a:ext cx="7589520" cy="566928"/>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metoda uwierzytelniania; krb5p dodaje pełne szyfrowanie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A78BFA"/>
                </a:solidFill>
                <a:latin typeface="Calibri" pitchFamily="34" charset="0"/>
                <a:ea typeface="Calibri" pitchFamily="34" charset="-122"/>
                <a:cs typeface="Calibri" pitchFamily="34" charset="-120"/>
              </a:rPr>
              <a:t>3. NFS</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Konfiguracja klienta</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3. NFS</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20</a:t>
            </a:r>
            <a:endParaRPr lang="en-US" sz="1000" dirty="0"/>
          </a:p>
        </p:txBody>
      </p:sp>
      <p:sp>
        <p:nvSpPr>
          <p:cNvPr id="6" name="Shape 4"/>
          <p:cNvSpPr/>
          <p:nvPr/>
        </p:nvSpPr>
        <p:spPr>
          <a:xfrm>
            <a:off x="548640" y="1691640"/>
            <a:ext cx="6492240" cy="3657600"/>
          </a:xfrm>
          <a:prstGeom prst="roundRect">
            <a:avLst>
              <a:gd name="adj" fmla="val 200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74520"/>
            <a:ext cx="6035040" cy="3291840"/>
          </a:xfrm>
          <a:prstGeom prst="rect">
            <a:avLst/>
          </a:prstGeom>
          <a:noFill/>
          <a:ln/>
        </p:spPr>
        <p:txBody>
          <a:bodyPr wrap="square" lIns="0" tIns="0" rIns="0" bIns="0" rtlCol="0" anchor="t"/>
          <a:lstStyle/>
          <a:p>
            <a:pPr indent="0" marL="0">
              <a:spcAft>
                <a:spcPts val="200"/>
              </a:spcAft>
              <a:buNone/>
            </a:pPr>
            <a:r>
              <a:rPr lang="en-US" sz="1300" dirty="0">
                <a:solidFill>
                  <a:srgbClr val="64748B"/>
                </a:solidFill>
                <a:latin typeface="Consolas" pitchFamily="34" charset="0"/>
                <a:ea typeface="Consolas" pitchFamily="34" charset="-122"/>
                <a:cs typeface="Consolas" pitchFamily="34" charset="-120"/>
              </a:rPr>
              <a:t># Instalacja narzedzi klienckich</a:t>
            </a:r>
            <a:endParaRPr lang="en-US" sz="1300" dirty="0"/>
          </a:p>
          <a:p>
            <a:pPr indent="0" marL="0">
              <a:spcAft>
                <a:spcPts val="200"/>
              </a:spcAft>
              <a:buNone/>
            </a:pPr>
            <a:r>
              <a:rPr lang="en-US" sz="1300" dirty="0">
                <a:solidFill>
                  <a:srgbClr val="34D399"/>
                </a:solidFill>
                <a:latin typeface="Consolas" pitchFamily="34" charset="0"/>
                <a:ea typeface="Consolas" pitchFamily="34" charset="-122"/>
                <a:cs typeface="Consolas" pitchFamily="34" charset="-120"/>
              </a:rPr>
              <a:t>$ apt install nfs-common     # Debian/Ubuntu</a:t>
            </a:r>
            <a:endParaRPr lang="en-US" sz="1300" dirty="0"/>
          </a:p>
          <a:p>
            <a:pPr indent="0" marL="0">
              <a:spcAft>
                <a:spcPts val="200"/>
              </a:spcAft>
              <a:buNone/>
            </a:pPr>
            <a:endParaRPr lang="en-US" sz="1300" dirty="0"/>
          </a:p>
          <a:p>
            <a:pPr indent="0" marL="0">
              <a:spcAft>
                <a:spcPts val="200"/>
              </a:spcAft>
              <a:buNone/>
            </a:pPr>
            <a:r>
              <a:rPr lang="en-US" sz="1300" dirty="0">
                <a:solidFill>
                  <a:srgbClr val="64748B"/>
                </a:solidFill>
                <a:latin typeface="Consolas" pitchFamily="34" charset="0"/>
                <a:ea typeface="Consolas" pitchFamily="34" charset="-122"/>
                <a:cs typeface="Consolas" pitchFamily="34" charset="-120"/>
              </a:rPr>
              <a:t># Montowanie reczne</a:t>
            </a:r>
            <a:endParaRPr lang="en-US" sz="1300" dirty="0"/>
          </a:p>
          <a:p>
            <a:pPr indent="0" marL="0">
              <a:spcAft>
                <a:spcPts val="200"/>
              </a:spcAft>
              <a:buNone/>
            </a:pPr>
            <a:r>
              <a:rPr lang="en-US" sz="1300" dirty="0">
                <a:solidFill>
                  <a:srgbClr val="7DD3FC"/>
                </a:solidFill>
                <a:latin typeface="Consolas" pitchFamily="34" charset="0"/>
                <a:ea typeface="Consolas" pitchFamily="34" charset="-122"/>
                <a:cs typeface="Consolas" pitchFamily="34" charset="-120"/>
              </a:rPr>
              <a:t>$ mkdir -p /mnt/dane</a:t>
            </a:r>
            <a:endParaRPr lang="en-US" sz="1300" dirty="0"/>
          </a:p>
          <a:p>
            <a:pPr indent="0" marL="0">
              <a:spcAft>
                <a:spcPts val="200"/>
              </a:spcAft>
              <a:buNone/>
            </a:pPr>
            <a:r>
              <a:rPr lang="en-US" sz="1300" dirty="0">
                <a:solidFill>
                  <a:srgbClr val="7DD3FC"/>
                </a:solidFill>
                <a:latin typeface="Consolas" pitchFamily="34" charset="0"/>
                <a:ea typeface="Consolas" pitchFamily="34" charset="-122"/>
                <a:cs typeface="Consolas" pitchFamily="34" charset="-120"/>
              </a:rPr>
              <a:t>$ mount -t nfs4 -o rw,sync \</a:t>
            </a:r>
            <a:endParaRPr lang="en-US" sz="1300" dirty="0"/>
          </a:p>
          <a:p>
            <a:pPr indent="0" marL="0">
              <a:spcAft>
                <a:spcPts val="200"/>
              </a:spcAft>
              <a:buNone/>
            </a:pPr>
            <a:r>
              <a:rPr lang="en-US" sz="1300" dirty="0">
                <a:solidFill>
                  <a:srgbClr val="7DD3FC"/>
                </a:solidFill>
                <a:latin typeface="Consolas" pitchFamily="34" charset="0"/>
                <a:ea typeface="Consolas" pitchFamily="34" charset="-122"/>
                <a:cs typeface="Consolas" pitchFamily="34" charset="-120"/>
              </a:rPr>
              <a:t>    serwer.firma.local:/srv/dane /mnt/dane</a:t>
            </a:r>
            <a:endParaRPr lang="en-US" sz="1300" dirty="0"/>
          </a:p>
          <a:p>
            <a:pPr indent="0" marL="0">
              <a:spcAft>
                <a:spcPts val="200"/>
              </a:spcAft>
              <a:buNone/>
            </a:pPr>
            <a:endParaRPr lang="en-US" sz="1300" dirty="0"/>
          </a:p>
          <a:p>
            <a:pPr indent="0" marL="0">
              <a:spcAft>
                <a:spcPts val="200"/>
              </a:spcAft>
              <a:buNone/>
            </a:pPr>
            <a:r>
              <a:rPr lang="en-US" sz="1300" dirty="0">
                <a:solidFill>
                  <a:srgbClr val="64748B"/>
                </a:solidFill>
                <a:latin typeface="Consolas" pitchFamily="34" charset="0"/>
                <a:ea typeface="Consolas" pitchFamily="34" charset="-122"/>
                <a:cs typeface="Consolas" pitchFamily="34" charset="-120"/>
              </a:rPr>
              <a:t># Montowanie trwale - /etc/fstab</a:t>
            </a:r>
            <a:endParaRPr lang="en-US" sz="1300" dirty="0"/>
          </a:p>
          <a:p>
            <a:pPr indent="0" marL="0">
              <a:spcAft>
                <a:spcPts val="200"/>
              </a:spcAft>
              <a:buNone/>
            </a:pPr>
            <a:r>
              <a:rPr lang="en-US" sz="1300" dirty="0">
                <a:solidFill>
                  <a:srgbClr val="FBBF24"/>
                </a:solidFill>
                <a:latin typeface="Consolas" pitchFamily="34" charset="0"/>
                <a:ea typeface="Consolas" pitchFamily="34" charset="-122"/>
                <a:cs typeface="Consolas" pitchFamily="34" charset="-120"/>
              </a:rPr>
              <a:t>serwer.firma.local:/srv/dane /mnt/dane nfs4 \</a:t>
            </a:r>
            <a:endParaRPr lang="en-US" sz="1300" dirty="0"/>
          </a:p>
          <a:p>
            <a:pPr indent="0" marL="0">
              <a:spcAft>
                <a:spcPts val="200"/>
              </a:spcAft>
              <a:buNone/>
            </a:pPr>
            <a:r>
              <a:rPr lang="en-US" sz="1300" dirty="0">
                <a:solidFill>
                  <a:srgbClr val="FBBF24"/>
                </a:solidFill>
                <a:latin typeface="Consolas" pitchFamily="34" charset="0"/>
                <a:ea typeface="Consolas" pitchFamily="34" charset="-122"/>
                <a:cs typeface="Consolas" pitchFamily="34" charset="-120"/>
              </a:rPr>
              <a:t>  rw,sync,_netdev,noatime 0 0</a:t>
            </a:r>
            <a:endParaRPr lang="en-US" sz="1300" dirty="0"/>
          </a:p>
        </p:txBody>
      </p:sp>
      <p:sp>
        <p:nvSpPr>
          <p:cNvPr id="8" name="Shape 6"/>
          <p:cNvSpPr/>
          <p:nvPr/>
        </p:nvSpPr>
        <p:spPr>
          <a:xfrm>
            <a:off x="7223760" y="1691640"/>
            <a:ext cx="4434840" cy="3657600"/>
          </a:xfrm>
          <a:prstGeom prst="roundRect">
            <a:avLst>
              <a:gd name="adj" fmla="val 2500"/>
            </a:avLst>
          </a:prstGeom>
          <a:solidFill>
            <a:srgbClr val="F1F5F9"/>
          </a:solidFill>
          <a:ln/>
        </p:spPr>
      </p:sp>
      <p:sp>
        <p:nvSpPr>
          <p:cNvPr id="9" name="Text 7"/>
          <p:cNvSpPr txBox="1"/>
          <p:nvPr/>
        </p:nvSpPr>
        <p:spPr>
          <a:xfrm>
            <a:off x="7452360" y="1874520"/>
            <a:ext cx="4023360" cy="4572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autofs — montowanie na żądanie</a:t>
            </a:r>
            <a:endParaRPr lang="en-US" sz="1500" dirty="0"/>
          </a:p>
        </p:txBody>
      </p:sp>
      <p:sp>
        <p:nvSpPr>
          <p:cNvPr id="10" name="Text 8"/>
          <p:cNvSpPr txBox="1"/>
          <p:nvPr/>
        </p:nvSpPr>
        <p:spPr>
          <a:xfrm>
            <a:off x="7452360" y="2377440"/>
            <a:ext cx="4023360" cy="82296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Dla zasobów używanych sporadycznie — montuje katalog dopiero przy pierwszym dostępie i odmontowuje po okresie bezczynności.</a:t>
            </a:r>
            <a:endParaRPr lang="en-US" sz="1300" dirty="0"/>
          </a:p>
        </p:txBody>
      </p:sp>
      <p:sp>
        <p:nvSpPr>
          <p:cNvPr id="11" name="Shape 9"/>
          <p:cNvSpPr/>
          <p:nvPr/>
        </p:nvSpPr>
        <p:spPr>
          <a:xfrm>
            <a:off x="7452360" y="3246120"/>
            <a:ext cx="4023360" cy="1920240"/>
          </a:xfrm>
          <a:prstGeom prst="roundRect">
            <a:avLst>
              <a:gd name="adj" fmla="val 381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12" name="Text 10"/>
          <p:cNvSpPr txBox="1"/>
          <p:nvPr/>
        </p:nvSpPr>
        <p:spPr>
          <a:xfrm>
            <a:off x="7680960" y="3429000"/>
            <a:ext cx="3566160" cy="1554480"/>
          </a:xfrm>
          <a:prstGeom prst="rect">
            <a:avLst/>
          </a:prstGeom>
          <a:noFill/>
          <a:ln/>
        </p:spPr>
        <p:txBody>
          <a:bodyPr wrap="square" lIns="0" tIns="0" rIns="0" bIns="0" rtlCol="0" anchor="t"/>
          <a:lstStyle/>
          <a:p>
            <a:pPr indent="0" marL="0">
              <a:spcAft>
                <a:spcPts val="200"/>
              </a:spcAft>
              <a:buNone/>
            </a:pPr>
            <a:r>
              <a:rPr lang="en-US" sz="1150" dirty="0">
                <a:solidFill>
                  <a:srgbClr val="64748B"/>
                </a:solidFill>
                <a:latin typeface="Consolas" pitchFamily="34" charset="0"/>
                <a:ea typeface="Consolas" pitchFamily="34" charset="-122"/>
                <a:cs typeface="Consolas" pitchFamily="34" charset="-120"/>
              </a:rPr>
              <a:t>/etc/auto.master:</a:t>
            </a:r>
            <a:endParaRPr lang="en-US" sz="1150" dirty="0"/>
          </a:p>
          <a:p>
            <a:pPr indent="0" marL="0">
              <a:spcAft>
                <a:spcPts val="200"/>
              </a:spcAft>
              <a:buNone/>
            </a:pPr>
            <a:r>
              <a:rPr lang="en-US" sz="1150" dirty="0">
                <a:solidFill>
                  <a:srgbClr val="C4B5FD"/>
                </a:solidFill>
                <a:latin typeface="Consolas" pitchFamily="34" charset="0"/>
                <a:ea typeface="Consolas" pitchFamily="34" charset="-122"/>
                <a:cs typeface="Consolas" pitchFamily="34" charset="-120"/>
              </a:rPr>
              <a:t>/mnt/auto  /etc/auto.nfs</a:t>
            </a:r>
            <a:endParaRPr lang="en-US" sz="1150" dirty="0"/>
          </a:p>
          <a:p>
            <a:pPr indent="0" marL="0">
              <a:spcAft>
                <a:spcPts val="200"/>
              </a:spcAft>
              <a:buNone/>
            </a:pPr>
            <a:endParaRPr lang="en-US" sz="1150" dirty="0"/>
          </a:p>
          <a:p>
            <a:pPr indent="0" marL="0">
              <a:spcAft>
                <a:spcPts val="200"/>
              </a:spcAft>
              <a:buNone/>
            </a:pPr>
            <a:r>
              <a:rPr lang="en-US" sz="1150" dirty="0">
                <a:solidFill>
                  <a:srgbClr val="64748B"/>
                </a:solidFill>
                <a:latin typeface="Consolas" pitchFamily="34" charset="0"/>
                <a:ea typeface="Consolas" pitchFamily="34" charset="-122"/>
                <a:cs typeface="Consolas" pitchFamily="34" charset="-120"/>
              </a:rPr>
              <a:t>/etc/auto.nfs:</a:t>
            </a:r>
            <a:endParaRPr lang="en-US" sz="1150" dirty="0"/>
          </a:p>
          <a:p>
            <a:pPr indent="0" marL="0">
              <a:spcAft>
                <a:spcPts val="200"/>
              </a:spcAft>
              <a:buNone/>
            </a:pPr>
            <a:r>
              <a:rPr lang="en-US" sz="1150" dirty="0">
                <a:solidFill>
                  <a:srgbClr val="C4B5FD"/>
                </a:solidFill>
                <a:latin typeface="Consolas" pitchFamily="34" charset="0"/>
                <a:ea typeface="Consolas" pitchFamily="34" charset="-122"/>
                <a:cs typeface="Consolas" pitchFamily="34" charset="-120"/>
              </a:rPr>
              <a:t>dane -rw,soft,intr serwer:/srv/dane</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BBF24"/>
                </a:solidFill>
                <a:latin typeface="Calibri" pitchFamily="34" charset="0"/>
                <a:ea typeface="Calibri" pitchFamily="34" charset="-122"/>
                <a:cs typeface="Calibri" pitchFamily="34" charset="-120"/>
              </a:rPr>
              <a:t>3. NFS + POSIX/ACL</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Mapowanie identyfikatorów UID/GID</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3. NFS + POSIX/ACL</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21</a:t>
            </a:r>
            <a:endParaRPr lang="en-US" sz="1000" dirty="0"/>
          </a:p>
        </p:txBody>
      </p:sp>
      <p:sp>
        <p:nvSpPr>
          <p:cNvPr id="6" name="Shape 4"/>
          <p:cNvSpPr/>
          <p:nvPr/>
        </p:nvSpPr>
        <p:spPr>
          <a:xfrm>
            <a:off x="548640" y="1737360"/>
            <a:ext cx="11109960" cy="1371600"/>
          </a:xfrm>
          <a:prstGeom prst="roundRect">
            <a:avLst>
              <a:gd name="adj" fmla="val 5333"/>
            </a:avLst>
          </a:prstGeom>
          <a:solidFill>
            <a:srgbClr val="FEF3C7"/>
          </a:solidFill>
          <a:ln w="12700">
            <a:solidFill>
              <a:srgbClr val="FBBF24"/>
            </a:solidFill>
            <a:prstDash val="solid"/>
          </a:ln>
        </p:spPr>
      </p:sp>
      <p:sp>
        <p:nvSpPr>
          <p:cNvPr id="7" name="Text 5"/>
          <p:cNvSpPr txBox="1"/>
          <p:nvPr/>
        </p:nvSpPr>
        <p:spPr>
          <a:xfrm>
            <a:off x="822960" y="1874520"/>
            <a:ext cx="10515600" cy="365760"/>
          </a:xfrm>
          <a:prstGeom prst="rect">
            <a:avLst/>
          </a:prstGeom>
          <a:noFill/>
          <a:ln/>
        </p:spPr>
        <p:txBody>
          <a:bodyPr wrap="square" lIns="0" tIns="0" rIns="0" bIns="0" rtlCol="0" anchor="ctr"/>
          <a:lstStyle/>
          <a:p>
            <a:pPr indent="0" marL="0">
              <a:buNone/>
            </a:pPr>
            <a:r>
              <a:rPr lang="en-US" sz="1500" b="1" dirty="0">
                <a:solidFill>
                  <a:srgbClr val="92400E"/>
                </a:solidFill>
                <a:latin typeface="Calibri" pitchFamily="34" charset="0"/>
                <a:ea typeface="Calibri" pitchFamily="34" charset="-122"/>
                <a:cs typeface="Calibri" pitchFamily="34" charset="-120"/>
              </a:rPr>
              <a:t>NFSv3 przesyła numeryczne UID/GID „na wprost”</a:t>
            </a:r>
            <a:endParaRPr lang="en-US" sz="1500" dirty="0"/>
          </a:p>
        </p:txBody>
      </p:sp>
      <p:sp>
        <p:nvSpPr>
          <p:cNvPr id="8" name="Text 6"/>
          <p:cNvSpPr txBox="1"/>
          <p:nvPr/>
        </p:nvSpPr>
        <p:spPr>
          <a:xfrm>
            <a:off x="822960" y="2240280"/>
            <a:ext cx="10515600" cy="777240"/>
          </a:xfrm>
          <a:prstGeom prst="rect">
            <a:avLst/>
          </a:prstGeom>
          <a:noFill/>
          <a:ln/>
        </p:spPr>
        <p:txBody>
          <a:bodyPr wrap="square" lIns="0" tIns="0" rIns="0" bIns="0" rtlCol="0" anchor="ctr"/>
          <a:lstStyle/>
          <a:p>
            <a:pPr indent="0" marL="0">
              <a:buNone/>
            </a:pPr>
            <a:r>
              <a:rPr lang="en-US" sz="1300" dirty="0">
                <a:solidFill>
                  <a:srgbClr val="78350F"/>
                </a:solidFill>
                <a:latin typeface="Calibri" pitchFamily="34" charset="0"/>
                <a:ea typeface="Calibri" pitchFamily="34" charset="-122"/>
                <a:cs typeface="Calibri" pitchFamily="34" charset="-120"/>
              </a:rPr>
              <a:t>Jeśli jnowak ma UID 1001 na serwerze, a na kliencie UID 1001 należy do zupełnie innego konta — dojdzie do niezamierzonego udostępnienia danych. Spójność bazy UID/GID jest absolutnym wymogiem (LDAP, FreeIPA, AD + SSSD).</a:t>
            </a:r>
            <a:endParaRPr lang="en-US" sz="1300" dirty="0"/>
          </a:p>
        </p:txBody>
      </p:sp>
      <p:sp>
        <p:nvSpPr>
          <p:cNvPr id="9" name="Shape 7"/>
          <p:cNvSpPr/>
          <p:nvPr/>
        </p:nvSpPr>
        <p:spPr>
          <a:xfrm>
            <a:off x="548640" y="3429000"/>
            <a:ext cx="5577840" cy="1920240"/>
          </a:xfrm>
          <a:prstGeom prst="roundRect">
            <a:avLst>
              <a:gd name="adj" fmla="val 3810"/>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10" name="Text 8"/>
          <p:cNvSpPr txBox="1"/>
          <p:nvPr/>
        </p:nvSpPr>
        <p:spPr>
          <a:xfrm>
            <a:off x="777240" y="3611880"/>
            <a:ext cx="5120640" cy="1554480"/>
          </a:xfrm>
          <a:prstGeom prst="rect">
            <a:avLst/>
          </a:prstGeom>
          <a:noFill/>
          <a:ln/>
        </p:spPr>
        <p:txBody>
          <a:bodyPr wrap="square" lIns="0" tIns="0" rIns="0" bIns="0" rtlCol="0" anchor="t"/>
          <a:lstStyle/>
          <a:p>
            <a:pPr indent="0" marL="0">
              <a:spcAft>
                <a:spcPts val="200"/>
              </a:spcAft>
              <a:buNone/>
            </a:pPr>
            <a:r>
              <a:rPr lang="en-US" sz="1400" dirty="0">
                <a:solidFill>
                  <a:srgbClr val="64748B"/>
                </a:solidFill>
                <a:latin typeface="Consolas" pitchFamily="34" charset="0"/>
                <a:ea typeface="Consolas" pitchFamily="34" charset="-122"/>
                <a:cs typeface="Consolas" pitchFamily="34" charset="-120"/>
              </a:rPr>
              <a:t># NFSv4 - identyfikatory user@domena</a:t>
            </a:r>
            <a:endParaRPr lang="en-US" sz="1400" dirty="0"/>
          </a:p>
          <a:p>
            <a:pPr indent="0" marL="0">
              <a:spcAft>
                <a:spcPts val="200"/>
              </a:spcAft>
              <a:buNone/>
            </a:pPr>
            <a:r>
              <a:rPr lang="en-US" sz="1400" dirty="0">
                <a:solidFill>
                  <a:srgbClr val="64748B"/>
                </a:solidFill>
                <a:latin typeface="Consolas" pitchFamily="34" charset="0"/>
                <a:ea typeface="Consolas" pitchFamily="34" charset="-122"/>
                <a:cs typeface="Consolas" pitchFamily="34" charset="-120"/>
              </a:rPr>
              <a:t># tlumaczone przez rpc.idmapd</a:t>
            </a:r>
            <a:endParaRPr lang="en-US" sz="1400" dirty="0"/>
          </a:p>
          <a:p>
            <a:pPr indent="0" marL="0">
              <a:spcAft>
                <a:spcPts val="200"/>
              </a:spcAft>
              <a:buNone/>
            </a:pPr>
            <a:endParaRPr lang="en-US" sz="1400" dirty="0"/>
          </a:p>
          <a:p>
            <a:pPr indent="0" marL="0">
              <a:spcAft>
                <a:spcPts val="200"/>
              </a:spcAft>
              <a:buNone/>
            </a:pPr>
            <a:r>
              <a:rPr lang="en-US" sz="1400" dirty="0">
                <a:solidFill>
                  <a:srgbClr val="64748B"/>
                </a:solidFill>
                <a:latin typeface="Consolas" pitchFamily="34" charset="0"/>
                <a:ea typeface="Consolas" pitchFamily="34" charset="-122"/>
                <a:cs typeface="Consolas" pitchFamily="34" charset="-120"/>
              </a:rPr>
              <a:t># /etc/idmapd.conf</a:t>
            </a:r>
            <a:endParaRPr lang="en-US" sz="1400" dirty="0"/>
          </a:p>
          <a:p>
            <a:pPr indent="0" marL="0">
              <a:spcAft>
                <a:spcPts val="200"/>
              </a:spcAft>
              <a:buNone/>
            </a:pPr>
            <a:r>
              <a:rPr lang="en-US" sz="1400" dirty="0">
                <a:solidFill>
                  <a:srgbClr val="7DD3FC"/>
                </a:solidFill>
                <a:latin typeface="Consolas" pitchFamily="34" charset="0"/>
                <a:ea typeface="Consolas" pitchFamily="34" charset="-122"/>
                <a:cs typeface="Consolas" pitchFamily="34" charset="-120"/>
              </a:rPr>
              <a:t>[General]</a:t>
            </a:r>
            <a:endParaRPr lang="en-US" sz="1400" dirty="0"/>
          </a:p>
          <a:p>
            <a:pPr indent="0" marL="0">
              <a:spcAft>
                <a:spcPts val="200"/>
              </a:spcAft>
              <a:buNone/>
            </a:pPr>
            <a:r>
              <a:rPr lang="en-US" sz="1400" dirty="0">
                <a:solidFill>
                  <a:srgbClr val="7DD3FC"/>
                </a:solidFill>
                <a:latin typeface="Consolas" pitchFamily="34" charset="0"/>
                <a:ea typeface="Consolas" pitchFamily="34" charset="-122"/>
                <a:cs typeface="Consolas" pitchFamily="34" charset="-120"/>
              </a:rPr>
              <a:t>Domain = firma.local</a:t>
            </a:r>
            <a:endParaRPr lang="en-US" sz="1400" dirty="0"/>
          </a:p>
        </p:txBody>
      </p:sp>
      <p:sp>
        <p:nvSpPr>
          <p:cNvPr id="11" name="Shape 9"/>
          <p:cNvSpPr/>
          <p:nvPr/>
        </p:nvSpPr>
        <p:spPr>
          <a:xfrm>
            <a:off x="6355080" y="3429000"/>
            <a:ext cx="5303520" cy="1920240"/>
          </a:xfrm>
          <a:prstGeom prst="roundRect">
            <a:avLst>
              <a:gd name="adj" fmla="val 4762"/>
            </a:avLst>
          </a:prstGeom>
          <a:solidFill>
            <a:srgbClr val="F1F5F9"/>
          </a:solidFill>
          <a:ln/>
        </p:spPr>
      </p:sp>
      <p:sp>
        <p:nvSpPr>
          <p:cNvPr id="12" name="Text 10"/>
          <p:cNvSpPr txBox="1"/>
          <p:nvPr/>
        </p:nvSpPr>
        <p:spPr>
          <a:xfrm>
            <a:off x="6583680" y="3611880"/>
            <a:ext cx="484632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Gdy domeny się nie zgadzają...</a:t>
            </a:r>
            <a:endParaRPr lang="en-US" sz="1400" dirty="0"/>
          </a:p>
        </p:txBody>
      </p:sp>
      <p:sp>
        <p:nvSpPr>
          <p:cNvPr id="13" name="Text 11"/>
          <p:cNvSpPr txBox="1"/>
          <p:nvPr/>
        </p:nvSpPr>
        <p:spPr>
          <a:xfrm>
            <a:off x="6583680" y="4023360"/>
            <a:ext cx="4846320" cy="118872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Jeśli domena NFSv4 w idmapd.conf różni się między serwerem a klientem, użytkownicy zobaczą pliki jako należące do konta nobody.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BBF24"/>
                </a:solidFill>
                <a:latin typeface="Calibri" pitchFamily="34" charset="0"/>
                <a:ea typeface="Calibri" pitchFamily="34" charset="-122"/>
                <a:cs typeface="Calibri" pitchFamily="34" charset="-120"/>
              </a:rPr>
              <a:t>3. NFS + POSIX/ACL</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ACL POSIX vs ACL NFSv4 i squashing</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3. NFS + POSIX/ACL</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22</a:t>
            </a:r>
            <a:endParaRPr lang="en-US" sz="1000" dirty="0"/>
          </a:p>
        </p:txBody>
      </p:sp>
      <p:sp>
        <p:nvSpPr>
          <p:cNvPr id="6" name="Shape 4"/>
          <p:cNvSpPr/>
          <p:nvPr/>
        </p:nvSpPr>
        <p:spPr>
          <a:xfrm>
            <a:off x="548640" y="1691640"/>
            <a:ext cx="5440680" cy="2286000"/>
          </a:xfrm>
          <a:prstGeom prst="roundRect">
            <a:avLst>
              <a:gd name="adj" fmla="val 4000"/>
            </a:avLst>
          </a:prstGeom>
          <a:solidFill>
            <a:srgbClr val="F1F5F9"/>
          </a:solidFill>
          <a:ln/>
        </p:spPr>
      </p:sp>
      <p:sp>
        <p:nvSpPr>
          <p:cNvPr id="7" name="Text 5"/>
          <p:cNvSpPr txBox="1"/>
          <p:nvPr/>
        </p:nvSpPr>
        <p:spPr>
          <a:xfrm>
            <a:off x="777240" y="1828800"/>
            <a:ext cx="5029200" cy="365760"/>
          </a:xfrm>
          <a:prstGeom prst="rect">
            <a:avLst/>
          </a:prstGeom>
          <a:noFill/>
          <a:ln/>
        </p:spPr>
        <p:txBody>
          <a:bodyPr wrap="square" lIns="0" tIns="0" rIns="0" bIns="0" rtlCol="0" anchor="ctr"/>
          <a:lstStyle/>
          <a:p>
            <a:pPr indent="0" marL="0">
              <a:buNone/>
            </a:pPr>
            <a:r>
              <a:rPr lang="en-US" sz="1600" b="1" dirty="0">
                <a:solidFill>
                  <a:srgbClr val="38BDF8"/>
                </a:solidFill>
                <a:latin typeface="Calibri" pitchFamily="34" charset="0"/>
                <a:ea typeface="Calibri" pitchFamily="34" charset="-122"/>
                <a:cs typeface="Calibri" pitchFamily="34" charset="-120"/>
              </a:rPr>
              <a:t>ACL POSIX.1e</a:t>
            </a:r>
            <a:endParaRPr lang="en-US" sz="1600" dirty="0"/>
          </a:p>
        </p:txBody>
      </p:sp>
      <p:sp>
        <p:nvSpPr>
          <p:cNvPr id="8" name="Text 6"/>
          <p:cNvSpPr txBox="1"/>
          <p:nvPr/>
        </p:nvSpPr>
        <p:spPr>
          <a:xfrm>
            <a:off x="777240" y="2240280"/>
            <a:ext cx="5029200" cy="82296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getfacl / setfacl, propagowane przez NFSv4 tylko częściowo (zależnie od implementacji jądra).</a:t>
            </a:r>
            <a:endParaRPr lang="en-US" sz="1300" dirty="0"/>
          </a:p>
        </p:txBody>
      </p:sp>
      <p:sp>
        <p:nvSpPr>
          <p:cNvPr id="9" name="Shape 7"/>
          <p:cNvSpPr/>
          <p:nvPr/>
        </p:nvSpPr>
        <p:spPr>
          <a:xfrm>
            <a:off x="6126480" y="1691640"/>
            <a:ext cx="5532120" cy="2286000"/>
          </a:xfrm>
          <a:prstGeom prst="roundRect">
            <a:avLst>
              <a:gd name="adj" fmla="val 4000"/>
            </a:avLst>
          </a:prstGeom>
          <a:solidFill>
            <a:srgbClr val="F1F5F9"/>
          </a:solidFill>
          <a:ln/>
        </p:spPr>
      </p:sp>
      <p:sp>
        <p:nvSpPr>
          <p:cNvPr id="10" name="Text 8"/>
          <p:cNvSpPr txBox="1"/>
          <p:nvPr/>
        </p:nvSpPr>
        <p:spPr>
          <a:xfrm>
            <a:off x="6355080" y="1828800"/>
            <a:ext cx="5120640" cy="365760"/>
          </a:xfrm>
          <a:prstGeom prst="rect">
            <a:avLst/>
          </a:prstGeom>
          <a:noFill/>
          <a:ln/>
        </p:spPr>
        <p:txBody>
          <a:bodyPr wrap="square" lIns="0" tIns="0" rIns="0" bIns="0" rtlCol="0" anchor="ctr"/>
          <a:lstStyle/>
          <a:p>
            <a:pPr indent="0" marL="0">
              <a:buNone/>
            </a:pPr>
            <a:r>
              <a:rPr lang="en-US" sz="1600" b="1" dirty="0">
                <a:solidFill>
                  <a:srgbClr val="A78BFA"/>
                </a:solidFill>
                <a:latin typeface="Calibri" pitchFamily="34" charset="0"/>
                <a:ea typeface="Calibri" pitchFamily="34" charset="-122"/>
                <a:cs typeface="Calibri" pitchFamily="34" charset="-120"/>
              </a:rPr>
              <a:t>ACL natywne NFSv4</a:t>
            </a:r>
            <a:endParaRPr lang="en-US" sz="1600" dirty="0"/>
          </a:p>
        </p:txBody>
      </p:sp>
      <p:sp>
        <p:nvSpPr>
          <p:cNvPr id="11" name="Text 9"/>
          <p:cNvSpPr txBox="1"/>
          <p:nvPr/>
        </p:nvSpPr>
        <p:spPr>
          <a:xfrm>
            <a:off x="6355080" y="2240280"/>
            <a:ext cx="5120640" cy="82296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Model ALLOW/DENY zbliżony do NTFS, zarządzany nfs4_getfacl / nfs4_setfacl. Dla środowisk mieszanych (Windows/macOS).</a:t>
            </a:r>
            <a:endParaRPr lang="en-US" sz="1300" dirty="0"/>
          </a:p>
        </p:txBody>
      </p:sp>
      <p:sp>
        <p:nvSpPr>
          <p:cNvPr id="12" name="Shape 10"/>
          <p:cNvSpPr/>
          <p:nvPr/>
        </p:nvSpPr>
        <p:spPr>
          <a:xfrm>
            <a:off x="548640" y="4160520"/>
            <a:ext cx="11109960" cy="1737360"/>
          </a:xfrm>
          <a:prstGeom prst="roundRect">
            <a:avLst>
              <a:gd name="adj" fmla="val 4211"/>
            </a:avLst>
          </a:prstGeom>
          <a:solidFill>
            <a:srgbClr val="FEE2E2"/>
          </a:solidFill>
          <a:ln w="12700">
            <a:solidFill>
              <a:srgbClr val="F87171"/>
            </a:solidFill>
            <a:prstDash val="solid"/>
          </a:ln>
        </p:spPr>
      </p:sp>
      <p:sp>
        <p:nvSpPr>
          <p:cNvPr id="13" name="Text 11"/>
          <p:cNvSpPr txBox="1"/>
          <p:nvPr/>
        </p:nvSpPr>
        <p:spPr>
          <a:xfrm>
            <a:off x="822960" y="4315968"/>
            <a:ext cx="10515600" cy="365760"/>
          </a:xfrm>
          <a:prstGeom prst="rect">
            <a:avLst/>
          </a:prstGeom>
          <a:noFill/>
          <a:ln/>
        </p:spPr>
        <p:txBody>
          <a:bodyPr wrap="square" lIns="0" tIns="0" rIns="0" bIns="0" rtlCol="0" anchor="ctr"/>
          <a:lstStyle/>
          <a:p>
            <a:pPr indent="0" marL="0">
              <a:buNone/>
            </a:pPr>
            <a:r>
              <a:rPr lang="en-US" sz="1500" b="1" dirty="0">
                <a:solidFill>
                  <a:srgbClr val="991B1B"/>
                </a:solidFill>
                <a:latin typeface="Calibri" pitchFamily="34" charset="0"/>
                <a:ea typeface="Calibri" pitchFamily="34" charset="-122"/>
                <a:cs typeface="Calibri" pitchFamily="34" charset="-120"/>
              </a:rPr>
              <a:t>Squashing działa NA POZIOMIE SERWERA NFS, niezależnie od ACL/POSIX</a:t>
            </a:r>
            <a:endParaRPr lang="en-US" sz="1500" dirty="0"/>
          </a:p>
        </p:txBody>
      </p:sp>
      <p:sp>
        <p:nvSpPr>
          <p:cNvPr id="14" name="Text 12"/>
          <p:cNvSpPr txBox="1"/>
          <p:nvPr/>
        </p:nvSpPr>
        <p:spPr>
          <a:xfrm>
            <a:off x="822960" y="4663440"/>
            <a:ext cx="10515600" cy="1143000"/>
          </a:xfrm>
          <a:prstGeom prst="rect">
            <a:avLst/>
          </a:prstGeom>
          <a:noFill/>
          <a:ln/>
        </p:spPr>
        <p:txBody>
          <a:bodyPr wrap="square" lIns="0" tIns="0" rIns="0" bIns="0" rtlCol="0" anchor="ctr"/>
          <a:lstStyle/>
          <a:p>
            <a:pPr indent="0" marL="0">
              <a:buNone/>
            </a:pPr>
            <a:r>
              <a:rPr lang="en-US" sz="1300" dirty="0">
                <a:solidFill>
                  <a:srgbClr val="7F1D1D"/>
                </a:solidFill>
                <a:latin typeface="Calibri" pitchFamily="34" charset="0"/>
                <a:ea typeface="Calibri" pitchFamily="34" charset="-122"/>
                <a:cs typeface="Calibri" pitchFamily="34" charset="-120"/>
              </a:rPr>
              <a:t>Nawet jeśli lokalne ACL nadają danemu UID pełne prawa, serwer może zmapować żądanie na nobody, jeśli klient łączy się jako root, a eksport ma root_squash. Efektywne uprawnienia to zawsze ILOCZYN: eksportu NFS × POSIX/ACL × SELinux/AppArmor.</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F87171"/>
                </a:solidFill>
                <a:latin typeface="Calibri" pitchFamily="34" charset="0"/>
                <a:ea typeface="Calibri" pitchFamily="34" charset="-122"/>
                <a:cs typeface="Calibri" pitchFamily="34" charset="-120"/>
              </a:rPr>
              <a:t>Bezpieczeństwo</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Utwardzanie konfiguracji NFS</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Bezpieczeństwo</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23</a:t>
            </a:r>
            <a:endParaRPr lang="en-US" sz="1000" dirty="0"/>
          </a:p>
        </p:txBody>
      </p:sp>
      <p:sp>
        <p:nvSpPr>
          <p:cNvPr id="6" name="Shape 4"/>
          <p:cNvSpPr/>
          <p:nvPr/>
        </p:nvSpPr>
        <p:spPr>
          <a:xfrm>
            <a:off x="548640" y="1691640"/>
            <a:ext cx="5394960" cy="1417320"/>
          </a:xfrm>
          <a:prstGeom prst="roundRect">
            <a:avLst>
              <a:gd name="adj" fmla="val 5161"/>
            </a:avLst>
          </a:prstGeom>
          <a:solidFill>
            <a:srgbClr val="F1F5F9"/>
          </a:solidFill>
          <a:ln/>
        </p:spPr>
      </p:sp>
      <p:sp>
        <p:nvSpPr>
          <p:cNvPr id="7" name="Shape 5"/>
          <p:cNvSpPr/>
          <p:nvPr/>
        </p:nvSpPr>
        <p:spPr>
          <a:xfrm>
            <a:off x="731520" y="1874520"/>
            <a:ext cx="457200" cy="457200"/>
          </a:xfrm>
          <a:prstGeom prst="ellipse">
            <a:avLst/>
          </a:prstGeom>
          <a:solidFill>
            <a:srgbClr val="F87171"/>
          </a:solidFill>
          <a:ln/>
        </p:spPr>
      </p:sp>
      <p:sp>
        <p:nvSpPr>
          <p:cNvPr id="8" name="Text 6"/>
          <p:cNvSpPr txBox="1"/>
          <p:nvPr/>
        </p:nvSpPr>
        <p:spPr>
          <a:xfrm>
            <a:off x="73152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7"/>
          <p:cNvSpPr txBox="1"/>
          <p:nvPr/>
        </p:nvSpPr>
        <p:spPr>
          <a:xfrm>
            <a:off x="1371600" y="1801368"/>
            <a:ext cx="4434840" cy="11887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Unikaj no_root_squash poza wąsko kontrolowanymi scenariuszami — najczęstsza przyczyna eskalacji uprawnień przez NFS</a:t>
            </a:r>
            <a:endParaRPr lang="en-US" sz="1200" dirty="0"/>
          </a:p>
        </p:txBody>
      </p:sp>
      <p:sp>
        <p:nvSpPr>
          <p:cNvPr id="10" name="Shape 8"/>
          <p:cNvSpPr/>
          <p:nvPr/>
        </p:nvSpPr>
        <p:spPr>
          <a:xfrm>
            <a:off x="6172200" y="1691640"/>
            <a:ext cx="5394960" cy="1417320"/>
          </a:xfrm>
          <a:prstGeom prst="roundRect">
            <a:avLst>
              <a:gd name="adj" fmla="val 5161"/>
            </a:avLst>
          </a:prstGeom>
          <a:solidFill>
            <a:srgbClr val="F1F5F9"/>
          </a:solidFill>
          <a:ln/>
        </p:spPr>
      </p:sp>
      <p:sp>
        <p:nvSpPr>
          <p:cNvPr id="11" name="Shape 9"/>
          <p:cNvSpPr/>
          <p:nvPr/>
        </p:nvSpPr>
        <p:spPr>
          <a:xfrm>
            <a:off x="6355080" y="1874520"/>
            <a:ext cx="457200" cy="457200"/>
          </a:xfrm>
          <a:prstGeom prst="ellipse">
            <a:avLst/>
          </a:prstGeom>
          <a:solidFill>
            <a:srgbClr val="F87171"/>
          </a:solidFill>
          <a:ln/>
        </p:spPr>
      </p:sp>
      <p:sp>
        <p:nvSpPr>
          <p:cNvPr id="12" name="Text 10"/>
          <p:cNvSpPr txBox="1"/>
          <p:nvPr/>
        </p:nvSpPr>
        <p:spPr>
          <a:xfrm>
            <a:off x="635508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txBox="1"/>
          <p:nvPr/>
        </p:nvSpPr>
        <p:spPr>
          <a:xfrm>
            <a:off x="6995160" y="1801368"/>
            <a:ext cx="4434840" cy="11887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Ogranicz eksporty do konkretnych podsieci lub hostów zamiast używać *</a:t>
            </a:r>
            <a:endParaRPr lang="en-US" sz="1200" dirty="0"/>
          </a:p>
        </p:txBody>
      </p:sp>
      <p:sp>
        <p:nvSpPr>
          <p:cNvPr id="14" name="Shape 12"/>
          <p:cNvSpPr/>
          <p:nvPr/>
        </p:nvSpPr>
        <p:spPr>
          <a:xfrm>
            <a:off x="548640" y="3246120"/>
            <a:ext cx="5394960" cy="1417320"/>
          </a:xfrm>
          <a:prstGeom prst="roundRect">
            <a:avLst>
              <a:gd name="adj" fmla="val 5161"/>
            </a:avLst>
          </a:prstGeom>
          <a:solidFill>
            <a:srgbClr val="F1F5F9"/>
          </a:solidFill>
          <a:ln/>
        </p:spPr>
      </p:sp>
      <p:sp>
        <p:nvSpPr>
          <p:cNvPr id="15" name="Shape 13"/>
          <p:cNvSpPr/>
          <p:nvPr/>
        </p:nvSpPr>
        <p:spPr>
          <a:xfrm>
            <a:off x="731520" y="3429000"/>
            <a:ext cx="457200" cy="457200"/>
          </a:xfrm>
          <a:prstGeom prst="ellipse">
            <a:avLst/>
          </a:prstGeom>
          <a:solidFill>
            <a:srgbClr val="F87171"/>
          </a:solidFill>
          <a:ln/>
        </p:spPr>
      </p:sp>
      <p:sp>
        <p:nvSpPr>
          <p:cNvPr id="16" name="Text 14"/>
          <p:cNvSpPr txBox="1"/>
          <p:nvPr/>
        </p:nvSpPr>
        <p:spPr>
          <a:xfrm>
            <a:off x="731520" y="3429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txBox="1"/>
          <p:nvPr/>
        </p:nvSpPr>
        <p:spPr>
          <a:xfrm>
            <a:off x="1371600" y="3355848"/>
            <a:ext cx="4434840" cy="11887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Stosuj sec=krb5p tam, gdzie dane są wrażliwe — domyślne sec=sys opiera się wyłącznie na zaufaniu do UID</a:t>
            </a:r>
            <a:endParaRPr lang="en-US" sz="1200" dirty="0"/>
          </a:p>
        </p:txBody>
      </p:sp>
      <p:sp>
        <p:nvSpPr>
          <p:cNvPr id="18" name="Shape 16"/>
          <p:cNvSpPr/>
          <p:nvPr/>
        </p:nvSpPr>
        <p:spPr>
          <a:xfrm>
            <a:off x="6172200" y="3246120"/>
            <a:ext cx="5394960" cy="1417320"/>
          </a:xfrm>
          <a:prstGeom prst="roundRect">
            <a:avLst>
              <a:gd name="adj" fmla="val 5161"/>
            </a:avLst>
          </a:prstGeom>
          <a:solidFill>
            <a:srgbClr val="F1F5F9"/>
          </a:solidFill>
          <a:ln/>
        </p:spPr>
      </p:sp>
      <p:sp>
        <p:nvSpPr>
          <p:cNvPr id="19" name="Shape 17"/>
          <p:cNvSpPr/>
          <p:nvPr/>
        </p:nvSpPr>
        <p:spPr>
          <a:xfrm>
            <a:off x="6355080" y="3429000"/>
            <a:ext cx="457200" cy="457200"/>
          </a:xfrm>
          <a:prstGeom prst="ellipse">
            <a:avLst/>
          </a:prstGeom>
          <a:solidFill>
            <a:srgbClr val="F87171"/>
          </a:solidFill>
          <a:ln/>
        </p:spPr>
      </p:sp>
      <p:sp>
        <p:nvSpPr>
          <p:cNvPr id="20" name="Text 18"/>
          <p:cNvSpPr txBox="1"/>
          <p:nvPr/>
        </p:nvSpPr>
        <p:spPr>
          <a:xfrm>
            <a:off x="6355080" y="3429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1" name="Text 19"/>
          <p:cNvSpPr txBox="1"/>
          <p:nvPr/>
        </p:nvSpPr>
        <p:spPr>
          <a:xfrm>
            <a:off x="6995160" y="3355848"/>
            <a:ext cx="4434840" cy="11887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Nie eksportuj NFS do sieci publicznej bez VPN lub tunelu</a:t>
            </a:r>
            <a:endParaRPr lang="en-US" sz="1200" dirty="0"/>
          </a:p>
        </p:txBody>
      </p:sp>
      <p:sp>
        <p:nvSpPr>
          <p:cNvPr id="22" name="Shape 20"/>
          <p:cNvSpPr/>
          <p:nvPr/>
        </p:nvSpPr>
        <p:spPr>
          <a:xfrm>
            <a:off x="548640" y="4800600"/>
            <a:ext cx="5394960" cy="1417320"/>
          </a:xfrm>
          <a:prstGeom prst="roundRect">
            <a:avLst>
              <a:gd name="adj" fmla="val 5161"/>
            </a:avLst>
          </a:prstGeom>
          <a:solidFill>
            <a:srgbClr val="F1F5F9"/>
          </a:solidFill>
          <a:ln/>
        </p:spPr>
      </p:sp>
      <p:sp>
        <p:nvSpPr>
          <p:cNvPr id="23" name="Shape 21"/>
          <p:cNvSpPr/>
          <p:nvPr/>
        </p:nvSpPr>
        <p:spPr>
          <a:xfrm>
            <a:off x="731520" y="4983480"/>
            <a:ext cx="457200" cy="457200"/>
          </a:xfrm>
          <a:prstGeom prst="ellipse">
            <a:avLst/>
          </a:prstGeom>
          <a:solidFill>
            <a:srgbClr val="F87171"/>
          </a:solidFill>
          <a:ln/>
        </p:spPr>
      </p:sp>
      <p:sp>
        <p:nvSpPr>
          <p:cNvPr id="24" name="Text 22"/>
          <p:cNvSpPr txBox="1"/>
          <p:nvPr/>
        </p:nvSpPr>
        <p:spPr>
          <a:xfrm>
            <a:off x="731520" y="4983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5" name="Text 23"/>
          <p:cNvSpPr txBox="1"/>
          <p:nvPr/>
        </p:nvSpPr>
        <p:spPr>
          <a:xfrm>
            <a:off x="1371600" y="4910328"/>
            <a:ext cx="4434840" cy="11887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Regularnie audytuj ACL (getfacl -R) na katalogach wrażliwych</a:t>
            </a:r>
            <a:endParaRPr lang="en-US" sz="1200" dirty="0"/>
          </a:p>
        </p:txBody>
      </p:sp>
      <p:sp>
        <p:nvSpPr>
          <p:cNvPr id="26" name="Shape 24"/>
          <p:cNvSpPr/>
          <p:nvPr/>
        </p:nvSpPr>
        <p:spPr>
          <a:xfrm>
            <a:off x="6172200" y="4800600"/>
            <a:ext cx="5394960" cy="1417320"/>
          </a:xfrm>
          <a:prstGeom prst="roundRect">
            <a:avLst>
              <a:gd name="adj" fmla="val 5161"/>
            </a:avLst>
          </a:prstGeom>
          <a:solidFill>
            <a:srgbClr val="F1F5F9"/>
          </a:solidFill>
          <a:ln/>
        </p:spPr>
      </p:sp>
      <p:sp>
        <p:nvSpPr>
          <p:cNvPr id="27" name="Shape 25"/>
          <p:cNvSpPr/>
          <p:nvPr/>
        </p:nvSpPr>
        <p:spPr>
          <a:xfrm>
            <a:off x="6355080" y="4983480"/>
            <a:ext cx="457200" cy="457200"/>
          </a:xfrm>
          <a:prstGeom prst="ellipse">
            <a:avLst/>
          </a:prstGeom>
          <a:solidFill>
            <a:srgbClr val="F87171"/>
          </a:solidFill>
          <a:ln/>
        </p:spPr>
      </p:sp>
      <p:sp>
        <p:nvSpPr>
          <p:cNvPr id="28" name="Text 26"/>
          <p:cNvSpPr txBox="1"/>
          <p:nvPr/>
        </p:nvSpPr>
        <p:spPr>
          <a:xfrm>
            <a:off x="6355080" y="4983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9" name="Text 27"/>
          <p:cNvSpPr txBox="1"/>
          <p:nvPr/>
        </p:nvSpPr>
        <p:spPr>
          <a:xfrm>
            <a:off x="6995160" y="4910328"/>
            <a:ext cx="4434840" cy="118872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Montuj z opcją nosuid na eksportach, gdzie nie jest to potrzebne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32004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Diagnostyka</a:t>
            </a:r>
            <a:endParaRPr lang="en-US" sz="1200" dirty="0"/>
          </a:p>
        </p:txBody>
      </p:sp>
      <p:sp>
        <p:nvSpPr>
          <p:cNvPr id="3" name="Text 1"/>
          <p:cNvSpPr txBox="1"/>
          <p:nvPr/>
        </p:nvSpPr>
        <p:spPr>
          <a:xfrm>
            <a:off x="548640" y="411480"/>
            <a:ext cx="11064240" cy="868680"/>
          </a:xfrm>
          <a:prstGeom prst="rect">
            <a:avLst/>
          </a:prstGeom>
          <a:noFill/>
          <a:ln/>
        </p:spPr>
        <p:txBody>
          <a:bodyPr wrap="square" lIns="0" tIns="0" rIns="0" bIns="0" rtlCol="0" anchor="ctr"/>
          <a:lstStyle/>
          <a:p>
            <a:pPr algn="l" indent="0" marL="0">
              <a:buNone/>
            </a:pPr>
            <a:r>
              <a:rPr lang="en-US" sz="3200" b="1" dirty="0">
                <a:solidFill>
                  <a:srgbClr val="0F172A"/>
                </a:solidFill>
                <a:latin typeface="Cambria" pitchFamily="34" charset="0"/>
                <a:ea typeface="Cambria" pitchFamily="34" charset="-122"/>
                <a:cs typeface="Cambria" pitchFamily="34" charset="-120"/>
              </a:rPr>
              <a:t>Narzędzia i scenariusz rozwiązywania problemów</a:t>
            </a:r>
            <a:endParaRPr lang="en-US" sz="3200" dirty="0"/>
          </a:p>
        </p:txBody>
      </p:sp>
      <p:sp>
        <p:nvSpPr>
          <p:cNvPr id="4" name="Text 2"/>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Diagnostyka</a:t>
            </a:r>
            <a:endParaRPr lang="en-US" sz="1000" dirty="0"/>
          </a:p>
        </p:txBody>
      </p:sp>
      <p:sp>
        <p:nvSpPr>
          <p:cNvPr id="5" name="Text 3"/>
          <p:cNvSpPr txBox="1"/>
          <p:nvPr/>
        </p:nvSpPr>
        <p:spPr>
          <a:xfrm>
            <a:off x="11430000" y="6510528"/>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24</a:t>
            </a:r>
            <a:endParaRPr lang="en-US" sz="1000" dirty="0"/>
          </a:p>
        </p:txBody>
      </p:sp>
      <p:sp>
        <p:nvSpPr>
          <p:cNvPr id="6" name="Shape 4"/>
          <p:cNvSpPr/>
          <p:nvPr/>
        </p:nvSpPr>
        <p:spPr>
          <a:xfrm>
            <a:off x="548640" y="1691640"/>
            <a:ext cx="11109960" cy="2331720"/>
          </a:xfrm>
          <a:prstGeom prst="roundRect">
            <a:avLst>
              <a:gd name="adj" fmla="val 3137"/>
            </a:avLst>
          </a:prstGeom>
          <a:solidFill>
            <a:srgbClr val="0B1220"/>
          </a:solidFill>
          <a:ln w="12700">
            <a:solidFill>
              <a:srgbClr val="1E293B"/>
            </a:solidFill>
            <a:prstDash val="solid"/>
          </a:ln>
          <a:effectLst>
            <a:outerShdw sx="100000" sy="100000" kx="0" ky="0" algn="bl" rotWithShape="0" blurRad="101600" dist="38100" dir="5400000">
              <a:srgbClr val="000000">
                <a:alpha val="25000"/>
              </a:srgbClr>
            </a:outerShdw>
          </a:effectLst>
        </p:spPr>
      </p:sp>
      <p:sp>
        <p:nvSpPr>
          <p:cNvPr id="7" name="Text 5"/>
          <p:cNvSpPr txBox="1"/>
          <p:nvPr/>
        </p:nvSpPr>
        <p:spPr>
          <a:xfrm>
            <a:off x="777240" y="1874520"/>
            <a:ext cx="10652760" cy="1965960"/>
          </a:xfrm>
          <a:prstGeom prst="rect">
            <a:avLst/>
          </a:prstGeom>
          <a:noFill/>
          <a:ln/>
        </p:spPr>
        <p:txBody>
          <a:bodyPr wrap="square" lIns="0" tIns="0" rIns="0" bIns="0" rtlCol="0" anchor="t"/>
          <a:lstStyle/>
          <a:p>
            <a:pPr indent="0" marL="0">
              <a:spcAft>
                <a:spcPts val="200"/>
              </a:spcAft>
              <a:buNone/>
            </a:pPr>
            <a:r>
              <a:rPr lang="en-US" sz="1350" dirty="0">
                <a:solidFill>
                  <a:srgbClr val="7DD3FC"/>
                </a:solidFill>
                <a:latin typeface="Consolas" pitchFamily="34" charset="0"/>
                <a:ea typeface="Consolas" pitchFamily="34" charset="-122"/>
                <a:cs typeface="Consolas" pitchFamily="34" charset="-120"/>
              </a:rPr>
              <a:t>showmount -e serwer      # eksporty dostepne na serwerze</a:t>
            </a:r>
            <a:endParaRPr lang="en-US" sz="1350" dirty="0"/>
          </a:p>
          <a:p>
            <a:pPr indent="0" marL="0">
              <a:spcAft>
                <a:spcPts val="200"/>
              </a:spcAft>
              <a:buNone/>
            </a:pPr>
            <a:r>
              <a:rPr lang="en-US" sz="1350" dirty="0">
                <a:solidFill>
                  <a:srgbClr val="34D399"/>
                </a:solidFill>
                <a:latin typeface="Consolas" pitchFamily="34" charset="0"/>
                <a:ea typeface="Consolas" pitchFamily="34" charset="-122"/>
                <a:cs typeface="Consolas" pitchFamily="34" charset="-120"/>
              </a:rPr>
              <a:t>rpcinfo -p serwer        # zarejestrowane uslugi RPC</a:t>
            </a:r>
            <a:endParaRPr lang="en-US" sz="1350" dirty="0"/>
          </a:p>
          <a:p>
            <a:pPr indent="0" marL="0">
              <a:spcAft>
                <a:spcPts val="200"/>
              </a:spcAft>
              <a:buNone/>
            </a:pPr>
            <a:r>
              <a:rPr lang="en-US" sz="1350" dirty="0">
                <a:solidFill>
                  <a:srgbClr val="FBBF24"/>
                </a:solidFill>
                <a:latin typeface="Consolas" pitchFamily="34" charset="0"/>
                <a:ea typeface="Consolas" pitchFamily="34" charset="-122"/>
                <a:cs typeface="Consolas" pitchFamily="34" charset="-120"/>
              </a:rPr>
              <a:t>nfsstat -c / -s          # statystyki klient / serwer</a:t>
            </a:r>
            <a:endParaRPr lang="en-US" sz="1350" dirty="0"/>
          </a:p>
          <a:p>
            <a:pPr indent="0" marL="0">
              <a:spcAft>
                <a:spcPts val="200"/>
              </a:spcAft>
              <a:buNone/>
            </a:pPr>
            <a:r>
              <a:rPr lang="en-US" sz="1350" dirty="0">
                <a:solidFill>
                  <a:srgbClr val="C4B5FD"/>
                </a:solidFill>
                <a:latin typeface="Consolas" pitchFamily="34" charset="0"/>
                <a:ea typeface="Consolas" pitchFamily="34" charset="-122"/>
                <a:cs typeface="Consolas" pitchFamily="34" charset="-120"/>
              </a:rPr>
              <a:t>mount -v                 # rzeczywiscie uzyte opcje</a:t>
            </a:r>
            <a:endParaRPr lang="en-US" sz="1350" dirty="0"/>
          </a:p>
          <a:p>
            <a:pPr indent="0" marL="0">
              <a:spcAft>
                <a:spcPts val="200"/>
              </a:spcAft>
              <a:buNone/>
            </a:pPr>
            <a:r>
              <a:rPr lang="en-US" sz="1350" dirty="0">
                <a:solidFill>
                  <a:srgbClr val="7DD3FC"/>
                </a:solidFill>
                <a:latin typeface="Consolas" pitchFamily="34" charset="0"/>
                <a:ea typeface="Consolas" pitchFamily="34" charset="-122"/>
                <a:cs typeface="Consolas" pitchFamily="34" charset="-120"/>
              </a:rPr>
              <a:t>exportfs -v              # aktywne eksporty z opcjami</a:t>
            </a:r>
            <a:endParaRPr lang="en-US" sz="1350" dirty="0"/>
          </a:p>
          <a:p>
            <a:pPr indent="0" marL="0">
              <a:spcAft>
                <a:spcPts val="200"/>
              </a:spcAft>
              <a:buNone/>
            </a:pPr>
            <a:r>
              <a:rPr lang="en-US" sz="1350" dirty="0">
                <a:solidFill>
                  <a:srgbClr val="34D399"/>
                </a:solidFill>
                <a:latin typeface="Consolas" pitchFamily="34" charset="0"/>
                <a:ea typeface="Consolas" pitchFamily="34" charset="-122"/>
                <a:cs typeface="Consolas" pitchFamily="34" charset="-120"/>
              </a:rPr>
              <a:t>dmesg | grep -i nfs      # komunikaty jadra</a:t>
            </a:r>
            <a:endParaRPr lang="en-US" sz="1350" dirty="0"/>
          </a:p>
          <a:p>
            <a:pPr indent="0" marL="0">
              <a:spcAft>
                <a:spcPts val="200"/>
              </a:spcAft>
              <a:buNone/>
            </a:pPr>
            <a:r>
              <a:rPr lang="en-US" sz="1350" dirty="0">
                <a:solidFill>
                  <a:srgbClr val="FBBF24"/>
                </a:solidFill>
                <a:latin typeface="Consolas" pitchFamily="34" charset="0"/>
                <a:ea typeface="Consolas" pitchFamily="34" charset="-122"/>
                <a:cs typeface="Consolas" pitchFamily="34" charset="-120"/>
              </a:rPr>
              <a:t>getfacl / nfs4_getfacl   # uprawnienia widoczne u klienta</a:t>
            </a:r>
            <a:endParaRPr lang="en-US" sz="1350" dirty="0"/>
          </a:p>
        </p:txBody>
      </p:sp>
      <p:sp>
        <p:nvSpPr>
          <p:cNvPr id="8" name="Shape 6"/>
          <p:cNvSpPr/>
          <p:nvPr/>
        </p:nvSpPr>
        <p:spPr>
          <a:xfrm>
            <a:off x="548640" y="4206240"/>
            <a:ext cx="11109960" cy="1691640"/>
          </a:xfrm>
          <a:prstGeom prst="roundRect">
            <a:avLst>
              <a:gd name="adj" fmla="val 4324"/>
            </a:avLst>
          </a:prstGeom>
          <a:solidFill>
            <a:srgbClr val="DBEAFE"/>
          </a:solidFill>
          <a:ln/>
        </p:spPr>
      </p:sp>
      <p:sp>
        <p:nvSpPr>
          <p:cNvPr id="9" name="Text 7"/>
          <p:cNvSpPr txBox="1"/>
          <p:nvPr/>
        </p:nvSpPr>
        <p:spPr>
          <a:xfrm>
            <a:off x="822960" y="4343400"/>
            <a:ext cx="10515600" cy="365760"/>
          </a:xfrm>
          <a:prstGeom prst="rect">
            <a:avLst/>
          </a:prstGeom>
          <a:noFill/>
          <a:ln/>
        </p:spPr>
        <p:txBody>
          <a:bodyPr wrap="square" lIns="0" tIns="0" rIns="0" bIns="0" rtlCol="0" anchor="ctr"/>
          <a:lstStyle/>
          <a:p>
            <a:pPr indent="0" marL="0">
              <a:buNone/>
            </a:pPr>
            <a:r>
              <a:rPr lang="en-US" sz="1500" b="1" dirty="0">
                <a:solidFill>
                  <a:srgbClr val="1E40AF"/>
                </a:solidFill>
                <a:latin typeface="Calibri" pitchFamily="34" charset="0"/>
                <a:ea typeface="Calibri" pitchFamily="34" charset="-122"/>
                <a:cs typeface="Calibri" pitchFamily="34" charset="-120"/>
              </a:rPr>
              <a:t>Typowy scenariusz: „brak dostępu mimo poprawnych uprawnień lokalnych”</a:t>
            </a:r>
            <a:endParaRPr lang="en-US" sz="1500" dirty="0"/>
          </a:p>
        </p:txBody>
      </p:sp>
      <p:sp>
        <p:nvSpPr>
          <p:cNvPr id="10" name="Text 8"/>
          <p:cNvSpPr txBox="1"/>
          <p:nvPr/>
        </p:nvSpPr>
        <p:spPr>
          <a:xfrm>
            <a:off x="822960" y="4754880"/>
            <a:ext cx="10515600" cy="1051560"/>
          </a:xfrm>
          <a:prstGeom prst="rect">
            <a:avLst/>
          </a:prstGeom>
          <a:noFill/>
          <a:ln/>
        </p:spPr>
        <p:txBody>
          <a:bodyPr wrap="square" lIns="0" tIns="0" rIns="0" bIns="0" rtlCol="0" anchor="ctr"/>
          <a:lstStyle/>
          <a:p>
            <a:pPr indent="0" marL="0">
              <a:buNone/>
            </a:pPr>
            <a:r>
              <a:rPr lang="en-US" sz="1300" dirty="0">
                <a:solidFill>
                  <a:srgbClr val="1E3A8A"/>
                </a:solidFill>
                <a:latin typeface="Calibri" pitchFamily="34" charset="0"/>
                <a:ea typeface="Calibri" pitchFamily="34" charset="-122"/>
                <a:cs typeface="Calibri" pitchFamily="34" charset="-120"/>
              </a:rPr>
              <a:t>1) Czy eksport obejmuje dany host — showmount -e   2) Czy UID/GID klienta i serwera się zgadzają — id   3) Czy nie działa squash mapujący na nobody   4) Czy lokalne ACL/POSIX rzeczywiście zezwalają — getfacl</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31520" y="548640"/>
            <a:ext cx="5486400" cy="365760"/>
          </a:xfrm>
          <a:prstGeom prst="rect">
            <a:avLst/>
          </a:prstGeom>
          <a:noFill/>
          <a:ln/>
        </p:spPr>
        <p:txBody>
          <a:bodyPr wrap="square" lIns="0" tIns="0" rIns="0" bIns="0" rtlCol="0" anchor="ctr"/>
          <a:lstStyle/>
          <a:p>
            <a:pPr indent="0" marL="0">
              <a:buNone/>
            </a:pPr>
            <a:r>
              <a:rPr lang="en-US" sz="1400" b="1" spc="300" kern="0" dirty="0">
                <a:solidFill>
                  <a:srgbClr val="38BDF8"/>
                </a:solidFill>
                <a:latin typeface="Calibri" pitchFamily="34" charset="0"/>
                <a:ea typeface="Calibri" pitchFamily="34" charset="-122"/>
                <a:cs typeface="Calibri" pitchFamily="34" charset="-120"/>
              </a:rPr>
              <a:t>PODSUMOWANIE</a:t>
            </a:r>
            <a:endParaRPr lang="en-US" sz="1400" dirty="0"/>
          </a:p>
        </p:txBody>
      </p:sp>
      <p:sp>
        <p:nvSpPr>
          <p:cNvPr id="3" name="Text 1"/>
          <p:cNvSpPr txBox="1"/>
          <p:nvPr/>
        </p:nvSpPr>
        <p:spPr>
          <a:xfrm>
            <a:off x="731520" y="914400"/>
            <a:ext cx="10698480" cy="9144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Trzy warstwy jednego mechanizmu kontroli dostępu</a:t>
            </a:r>
            <a:endParaRPr lang="en-US" sz="3200" dirty="0"/>
          </a:p>
        </p:txBody>
      </p:sp>
      <p:sp>
        <p:nvSpPr>
          <p:cNvPr id="4" name="Shape 2"/>
          <p:cNvSpPr/>
          <p:nvPr/>
        </p:nvSpPr>
        <p:spPr>
          <a:xfrm>
            <a:off x="731520" y="2103120"/>
            <a:ext cx="3520440" cy="2377440"/>
          </a:xfrm>
          <a:prstGeom prst="roundRect">
            <a:avLst>
              <a:gd name="adj" fmla="val 3846"/>
            </a:avLst>
          </a:prstGeom>
          <a:solidFill>
            <a:srgbClr val="121B2E"/>
          </a:solidFill>
          <a:ln w="15875">
            <a:solidFill>
              <a:srgbClr val="38BDF8"/>
            </a:solidFill>
            <a:prstDash val="solid"/>
          </a:ln>
        </p:spPr>
      </p:sp>
      <p:sp>
        <p:nvSpPr>
          <p:cNvPr id="5" name="Text 3"/>
          <p:cNvSpPr txBox="1"/>
          <p:nvPr/>
        </p:nvSpPr>
        <p:spPr>
          <a:xfrm>
            <a:off x="1005840" y="2286000"/>
            <a:ext cx="2971800" cy="457200"/>
          </a:xfrm>
          <a:prstGeom prst="rect">
            <a:avLst/>
          </a:prstGeom>
          <a:noFill/>
          <a:ln/>
        </p:spPr>
        <p:txBody>
          <a:bodyPr wrap="square" lIns="0" tIns="0" rIns="0" bIns="0" rtlCol="0" anchor="ctr"/>
          <a:lstStyle/>
          <a:p>
            <a:pPr indent="0" marL="0">
              <a:buNone/>
            </a:pPr>
            <a:r>
              <a:rPr lang="en-US" sz="2200" b="1" dirty="0">
                <a:solidFill>
                  <a:srgbClr val="38BDF8"/>
                </a:solidFill>
                <a:latin typeface="Cambria" pitchFamily="34" charset="0"/>
                <a:ea typeface="Cambria" pitchFamily="34" charset="-122"/>
                <a:cs typeface="Cambria" pitchFamily="34" charset="-120"/>
              </a:rPr>
              <a:t>POSIX</a:t>
            </a:r>
            <a:endParaRPr lang="en-US" sz="2200" dirty="0"/>
          </a:p>
        </p:txBody>
      </p:sp>
      <p:sp>
        <p:nvSpPr>
          <p:cNvPr id="6" name="Text 4"/>
          <p:cNvSpPr txBox="1"/>
          <p:nvPr/>
        </p:nvSpPr>
        <p:spPr>
          <a:xfrm>
            <a:off x="1005840" y="2834640"/>
            <a:ext cx="2971800" cy="155448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rwx dla właściciela, grupy i innych + bity SUID/SGID/sticky</a:t>
            </a:r>
            <a:endParaRPr lang="en-US" sz="1300" dirty="0"/>
          </a:p>
        </p:txBody>
      </p:sp>
      <p:sp>
        <p:nvSpPr>
          <p:cNvPr id="7" name="Shape 5"/>
          <p:cNvSpPr/>
          <p:nvPr/>
        </p:nvSpPr>
        <p:spPr>
          <a:xfrm>
            <a:off x="4480560" y="2103120"/>
            <a:ext cx="3520440" cy="2377440"/>
          </a:xfrm>
          <a:prstGeom prst="roundRect">
            <a:avLst>
              <a:gd name="adj" fmla="val 3846"/>
            </a:avLst>
          </a:prstGeom>
          <a:solidFill>
            <a:srgbClr val="121B2E"/>
          </a:solidFill>
          <a:ln w="15875">
            <a:solidFill>
              <a:srgbClr val="34D399"/>
            </a:solidFill>
            <a:prstDash val="solid"/>
          </a:ln>
        </p:spPr>
      </p:sp>
      <p:sp>
        <p:nvSpPr>
          <p:cNvPr id="8" name="Text 6"/>
          <p:cNvSpPr txBox="1"/>
          <p:nvPr/>
        </p:nvSpPr>
        <p:spPr>
          <a:xfrm>
            <a:off x="4754880" y="2286000"/>
            <a:ext cx="2971800" cy="457200"/>
          </a:xfrm>
          <a:prstGeom prst="rect">
            <a:avLst/>
          </a:prstGeom>
          <a:noFill/>
          <a:ln/>
        </p:spPr>
        <p:txBody>
          <a:bodyPr wrap="square" lIns="0" tIns="0" rIns="0" bIns="0" rtlCol="0" anchor="ctr"/>
          <a:lstStyle/>
          <a:p>
            <a:pPr indent="0" marL="0">
              <a:buNone/>
            </a:pPr>
            <a:r>
              <a:rPr lang="en-US" sz="2200" b="1" dirty="0">
                <a:solidFill>
                  <a:srgbClr val="34D399"/>
                </a:solidFill>
                <a:latin typeface="Cambria" pitchFamily="34" charset="0"/>
                <a:ea typeface="Cambria" pitchFamily="34" charset="-122"/>
                <a:cs typeface="Cambria" pitchFamily="34" charset="-120"/>
              </a:rPr>
              <a:t>ACL</a:t>
            </a:r>
            <a:endParaRPr lang="en-US" sz="2200" dirty="0"/>
          </a:p>
        </p:txBody>
      </p:sp>
      <p:sp>
        <p:nvSpPr>
          <p:cNvPr id="9" name="Text 7"/>
          <p:cNvSpPr txBox="1"/>
          <p:nvPr/>
        </p:nvSpPr>
        <p:spPr>
          <a:xfrm>
            <a:off x="4754880" y="2834640"/>
            <a:ext cx="2971800" cy="155448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precyzyjne, wielopodmiotowe reguły dostępu z dziedziczeniem (getfacl/setfacl)</a:t>
            </a:r>
            <a:endParaRPr lang="en-US" sz="1300" dirty="0"/>
          </a:p>
        </p:txBody>
      </p:sp>
      <p:sp>
        <p:nvSpPr>
          <p:cNvPr id="10" name="Shape 8"/>
          <p:cNvSpPr/>
          <p:nvPr/>
        </p:nvSpPr>
        <p:spPr>
          <a:xfrm>
            <a:off x="8229600" y="2103120"/>
            <a:ext cx="3520440" cy="2377440"/>
          </a:xfrm>
          <a:prstGeom prst="roundRect">
            <a:avLst>
              <a:gd name="adj" fmla="val 3846"/>
            </a:avLst>
          </a:prstGeom>
          <a:solidFill>
            <a:srgbClr val="121B2E"/>
          </a:solidFill>
          <a:ln w="15875">
            <a:solidFill>
              <a:srgbClr val="A78BFA"/>
            </a:solidFill>
            <a:prstDash val="solid"/>
          </a:ln>
        </p:spPr>
      </p:sp>
      <p:sp>
        <p:nvSpPr>
          <p:cNvPr id="11" name="Text 9"/>
          <p:cNvSpPr txBox="1"/>
          <p:nvPr/>
        </p:nvSpPr>
        <p:spPr>
          <a:xfrm>
            <a:off x="8503920" y="2286000"/>
            <a:ext cx="2971800" cy="457200"/>
          </a:xfrm>
          <a:prstGeom prst="rect">
            <a:avLst/>
          </a:prstGeom>
          <a:noFill/>
          <a:ln/>
        </p:spPr>
        <p:txBody>
          <a:bodyPr wrap="square" lIns="0" tIns="0" rIns="0" bIns="0" rtlCol="0" anchor="ctr"/>
          <a:lstStyle/>
          <a:p>
            <a:pPr indent="0" marL="0">
              <a:buNone/>
            </a:pPr>
            <a:r>
              <a:rPr lang="en-US" sz="2200" b="1" dirty="0">
                <a:solidFill>
                  <a:srgbClr val="A78BFA"/>
                </a:solidFill>
                <a:latin typeface="Cambria" pitchFamily="34" charset="0"/>
                <a:ea typeface="Cambria" pitchFamily="34" charset="-122"/>
                <a:cs typeface="Cambria" pitchFamily="34" charset="-120"/>
              </a:rPr>
              <a:t>NFS</a:t>
            </a:r>
            <a:endParaRPr lang="en-US" sz="2200" dirty="0"/>
          </a:p>
        </p:txBody>
      </p:sp>
      <p:sp>
        <p:nvSpPr>
          <p:cNvPr id="12" name="Text 10"/>
          <p:cNvSpPr txBox="1"/>
          <p:nvPr/>
        </p:nvSpPr>
        <p:spPr>
          <a:xfrm>
            <a:off x="8503920" y="2834640"/>
            <a:ext cx="2971800" cy="155448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te same reguły w środowisku rozproszonym + mapowanie UID/GID i squashing</a:t>
            </a:r>
            <a:endParaRPr lang="en-US" sz="1300" dirty="0"/>
          </a:p>
        </p:txBody>
      </p:sp>
      <p:sp>
        <p:nvSpPr>
          <p:cNvPr id="13" name="Shape 11"/>
          <p:cNvSpPr/>
          <p:nvPr/>
        </p:nvSpPr>
        <p:spPr>
          <a:xfrm>
            <a:off x="731520" y="4800600"/>
            <a:ext cx="10744200" cy="1143000"/>
          </a:xfrm>
          <a:prstGeom prst="roundRect">
            <a:avLst>
              <a:gd name="adj" fmla="val 6400"/>
            </a:avLst>
          </a:prstGeom>
          <a:solidFill>
            <a:srgbClr val="121B2E"/>
          </a:solidFill>
          <a:ln/>
        </p:spPr>
      </p:sp>
      <p:sp>
        <p:nvSpPr>
          <p:cNvPr id="14" name="Text 12"/>
          <p:cNvSpPr txBox="1"/>
          <p:nvPr/>
        </p:nvSpPr>
        <p:spPr>
          <a:xfrm>
            <a:off x="1005840" y="4937760"/>
            <a:ext cx="10195560" cy="868680"/>
          </a:xfrm>
          <a:prstGeom prst="rect">
            <a:avLst/>
          </a:prstGeom>
          <a:noFill/>
          <a:ln/>
        </p:spPr>
        <p:txBody>
          <a:bodyPr wrap="square" lIns="0" tIns="0" rIns="0" bIns="0" rtlCol="0" anchor="ctr"/>
          <a:lstStyle/>
          <a:p>
            <a:pPr indent="0" marL="0">
              <a:buNone/>
            </a:pPr>
            <a:r>
              <a:rPr lang="en-US" sz="1450" i="1" dirty="0">
                <a:solidFill>
                  <a:srgbClr val="FFFFFF"/>
                </a:solidFill>
                <a:latin typeface="Calibri" pitchFamily="34" charset="0"/>
                <a:ea typeface="Calibri" pitchFamily="34" charset="-122"/>
                <a:cs typeface="Calibri" pitchFamily="34" charset="-120"/>
              </a:rPr>
              <a:t>Żadna z tych warstw nie działa w izolacji — efektywne uprawnienia użytkownika sieciowego są zawsze wypadkową ograniczeń eksportu NFS, lokalnych ACL/POSIX oraz mechanizmów squashingu i uwierzytelniania.</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Technik informatyk - INF.02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Zarzadzanie prawami i NFS</dc:title>
  <dc:subject>PptxGenJS Presentation</dc:subject>
  <dc:creator>Administracja systemami uniksowymi</dc:creator>
  <cp:lastModifiedBy>Administracja systemami uniksowymi</cp:lastModifiedBy>
  <cp:revision>1</cp:revision>
  <dcterms:created xsi:type="dcterms:W3CDTF">2026-10-09T05:53:59Z</dcterms:created>
  <dcterms:modified xsi:type="dcterms:W3CDTF">2026-10-09T05:53:59Z</dcterms:modified>
</cp:coreProperties>
</file>