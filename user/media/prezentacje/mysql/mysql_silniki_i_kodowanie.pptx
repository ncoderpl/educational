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prowadzenie" id="{0f62de74-dfcb-ba3e-a2fe-f1c6b09fb5ab}">
          <p14:sldIdLst>
            <p14:sldId id="256"/>
            <p14:sldId id="257"/>
            <p14:sldId id="258"/>
          </p14:sldIdLst>
        </p14:section>
        <p14:section name="Silniki składowania" id="{b06ae45b-8702-f2cd-43be-0876342acb34}">
          <p14:sldIdLst>
            <p14:sldId id="259"/>
            <p14:sldId id="260"/>
            <p14:sldId id="261"/>
            <p14:sldId id="262"/>
            <p14:sldId id="263"/>
            <p14:sldId id="264"/>
            <p14:sldId id="265"/>
          </p14:sldIdLst>
        </p14:section>
        <p14:section name="Kodowanie znaków" id="{676b20ba-f093-d302-f0c9-fc06d20c048f}">
          <p14:sldIdLst>
            <p14:sldId id="266"/>
            <p14:sldId id="267"/>
            <p14:sldId id="268"/>
          </p14:sldIdLst>
        </p14:section>
        <p14:section name="Hierarchia ustawień" id="{9114f48b-4bdb-ebf9-9d54-40086bcde6e5}">
          <p14:sldIdLst>
            <p14:sldId id="269"/>
            <p14:sldId id="270"/>
            <p14:sldId id="271"/>
            <p14:sldId id="272"/>
          </p14:sldIdLst>
        </p14:section>
        <p14:section name="Praktyka i podsumowanie" id="{fc9ddc45-706d-d3e4-90dd-27cd425eba19}">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Dzień dobry wszystkim. Dzisiaj porozmawiamy o czymś, co na pierwszy rzut oka wygląda na drobny szczegół techniczny, a w praktyce potrafi zdecydować o tym, czy nasza baza danych będzie szybka, bezpieczna i poprawnie wyświetli polskie znaki, czy też będzie nam sprawiać kłopoty przy każdej awarii i przy każdym sortowaniu nazwisk.
Temat brzmi: mechanizmy składowania danych i systemy kodowania znaków w MySQL. To są dwie rzeczy, o których początkujący często zapominają, bo przecież „tabela działa, dane się zapisują”. A potem okazuje się, że po restarcie serwera zniknęła połowa danych, albo że w raporcie zamiast „Łódź” widzimy jakieś dziwne hieroglify.
Mamy na to około trzydziestu minut. Zaczniemy od silników bazodanowych, czyli od tego, w jaki sposób MySQL fizycznie zapisuje nasze tabele. Potem przejdziemy do kodowania znaków i reguł porównywania tekstu, następnie zobaczymy, na jakich poziomach można to wszystko ustawiać, a na końcu zbierzemy praktyczne wskazówki. Na zakończenie zostawię Państwu kilka pytań do przemyślenia. Zaczynajmy.
Jeszcze jedno zastrzeżenie na początek. Część przykładów w tej prezentacji pochodzi z materiałów, które pamiętają starsze wersje MySQL, dlatego tam, gdzie świat poszedł do przodu, będę to wyraźnie zaznaczał. Dotyczy to zwłaszcza kodowania utf8 oraz roli silnika MyISAM. Dzięki temu dostaną Państwo obraz, który jest zarazem poprawny pojęciowo i aktualny w praktyce.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Najpierw krótko o planie, żeby każdy wiedział, dokąd zmierzamy.
W pierwszej części, najdłuższej, omówimy silniki składowania. Poznamy cztery najważniejsze: InnoDB, MyISAM, MEMORY i ARCHIVE. Dla każdego powiemy, co potrafi, czego nie potrafi i do czego naprawdę się nadaje.
W drugiej części zajmiemy się kodowaniem znaków. Wyjaśnię różnicę między zestawem znaków a regułami porównywania, bo te dwa pojęcia bardzo często się mylą. Przejdziemy też przez najważniejsze zestawy, z którymi można się spotkać w polskich projektach.
Część trzecia to hierarchia ustawień. MySQL pozwala ustawić kodowanie na kilku poziomach: na serwerze, w bazie, w tabeli, a nawet w pojedynczej kolumnie. Do tego dochodzi jeszcze kodowanie samego połączenia z klienta. Zobaczymy, jak te poziomy się ze sobą wiążą.
I wreszcie część czwarta: praktyka. Kilka rad, które mogą Państwu oszczędzić sporo nerwów, oraz krótkie podsumowanie całości. Łącznie powinno nam to zająć około trzydziestu minut, więc proszę się nie obawiać, że będzie za długo.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Zanim wejdziemy w szczegóły, chciałbym, żebyśmy zapamiętali jedną rzecz: w MySQL poza samym projektem tabel, czyli kluczami, normalizacją i typami danych, mamy jeszcze dwie dodatkowe warstwy, którymi możemy świadomie sterować.
Pierwsza warstwa to silnik składowania. To jest mechanizm, który fizycznie zapisuje wiersze na dysku, odczytuje je i indeksuje. Od niego zależy, jak szybko baza działa, czy dane przetrwają awarię, jak zachowuje się przy równoczesnej pracy wielu użytkowników i czy w ogóle możemy korzystać z transakcji.
Druga warstwa to kodowanie znaków i reguły porównywania. To jest sposób, w jaki tekst jest zamieniany na bajty, oraz sposób, w jaki dwa teksty są ze sobą porównywane i sortowane. Od tego zależy, czy „ą” i „ł” zostaną zapisane poprawnie i czy nazwisko na „Ł” trafi we właściwe miejsce na liście.
Proszę zwrócić uwagę na dolny pasek. Obie decyzje podejmujemy osobno dla każdej tabeli, a kodowanie nawet dla każdej kolumny. To jedna z cech wyróżniających MySQL: dwie tabele w tej samej bazie mogą mieć zupełnie inną charakterystykę fizyczną. To jest ogromna elastyczność, ale też odpowiedzialność.
Mówię o tym tak dokładnie, bo w realnych projektach te decyzje podejmuje się często pod presją czasu, na samym początku, i potem zostają na lata. Zmiana silnika albo kodowania w działającej bazie z milionami rekordów to operacja, którą trzeba zaplanować, przetestować i wykonać w oknie serwisowym. Dużo taniej jest zrobić to dobrze od razu, a do tego właśnie dążymy.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Przejdźmy więc do silników. Czym właściwie jest silnik składowania?
To komponent serwera, który odpowiada za fizyczną realizację tabeli. Czyli za format plików na dysku, za sposób indeksowania, za blokady, kiedy kilka osób sięga po te same dane, a opcjonalnie także za obsługę transakcji. Dla nas, jako użytkowników, tabela wygląda zawsze tak samo: kolumny, wiersze, zapytania SELECT. Ale pod spodem, w zależności od silnika, może się dziać coś zupełnie innego.
Silnik przypisujemy tabeli podczas jej tworzenia, tak jak widać po prawej stronie, za pomocą klauzuli ENGINE. Możemy go też zmienić później poleceniem ALTER TABLE. Trzeba jednak pamiętać, że przy dużych tabelach taka zmiana oznacza przebudowanie danych, więc nie jest to operacja natychmiastowa.
Jeśli chcemy sprawdzić, jakiego silnika używa konkretna tabela, wystarczy polecenie SHOW TABLE STATUS.
Gdy pominiemy klauzulę ENGINE, serwer użyje silnika domyślnego. Ustawia się go w pliku konfiguracyjnym, parametrem default-storage-engine. W nowoczesnych wersjach MySQL jest nim InnoDB, o którym zaraz opowiem.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InnoDB to dziś domyślny silnik MySQL i podstawowy wybór wszędzie tam, gdzie liczy się spójność danych. Przejdźmy przez jego najważniejsze cechy.
Po pierwsze, transakcje. Możemy rozpocząć transakcję, wykonać kilka operacji, a potem albo je zatwierdzić poleceniem COMMIT, albo wycofać przez ROLLBACK. Działa to zgodnie z zasadą ACID, czyli atomowość, spójność, izolacja i trwałość.
Po drugie, klucze obce. InnoDB sam pilnuje integralności referencyjnej, więc nie da się dodać zamówienia dla klienta, który nie istnieje. Ta kontrola jest w bazie, a nie tylko w kodzie aplikacji.
Po trzecie, blokowanie na poziomie wiersza. Gdy ktoś modyfikuje jeden wiersz, inni mogą spokojnie pracować na pozostałych. Przy dużym ruchu to ogromna różnica.
Po czwarte, indeks klastrowy. Wiersze są fizycznie ułożone według klucza głównego, więc odczyt po tym kluczu jest bardzo szybki.
I po piąte, odzyskiwanie po awarii. Dzięki dziennikowi transakcji, zwanemu redo log, po nagłym wyłączeniu serwera baza potrafi wrócić do spójnego stanu.
Naturalne zastosowania to sklepy internetowe, banki, księgowość, systemy CRM i ERP. Wszędzie tam, gdzie zamówienie bez klienta jest po prostu niedopuszczalne.
Warto podkreślić jeszcze jeden aspekt, który często umyka. Transakcyjność to nie jest tylko wygoda. Wyobraźmy sobie przelew bankowy: z jednego konta schodzą pieniądze, na drugie wpływają. Jeśli awaria nastąpi pomiędzy tymi dwiema operacjami, a baza nie ma transakcji, pieniądze po prostu znikną. Z transakcją albo wykonają się obie operacje, albo żadna. Tak wygląda różnica między systemem, któremu można zaufać, a takim, który działa tylko do pierwszej awarii.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Teraz MyISAM. To był kiedyś silnik domyślny, w starszych wersjach MySQL, i do dziś można go spotkać w starszych systemach.
Jego największą cechą jest to, czego nie ma. Po lewej stronie widzimy mocne strony, ale zacznę od ograniczeń, bo to one decydują o zastosowaniu. Nie ma transakcji, więc każde polecenie INSERT, UPDATE czy DELETE jest wykonywane natychmiast i nieodwracalnie. Nie ma kluczy obcych, więc integralność trzeba pilnować w aplikacji. A blokowanie odbywa się na poziomie całej tabeli. Kiedy ktoś zapisuje, reszta musi poczekać, co przy dużej liczbie równoczesnych zapisów staje się wąskim gardłem.
Po drugiej stronie mamy to, za co MyISAM bywał lubiany. Wbudowane przeszukiwanie pełnotekstowe, czyli FULLTEXT, oraz spakowane indeksy, które zmniejszają rozmiar plików. Dla uczciwości dodam od siebie, że nowsze wersje InnoDB również obsługują indeksy pełnotekstowe, więc ta przewaga dziś mocno się zmniejszyła.
MyISAM sprawdzi się tam, gdzie odczytów jest dużo więcej niż zapisów i gdzie nie potrzebujemy transakcji: archiwalne zestawienia raportowe, proste wyszukiwarki treści. Natomiast dla danych krytycznych, jak finanse czy zamówienia, byłby to wybór ryzykowny.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Kolejny silnik to MEMORY, dawniej nazywany HEAP. Jego idea jest prosta: cała zawartość tabeli leży w pamięci operacyjnej serwera.
Co to daje? Ogromną szybkość. Odczyt i zapis pomijają dysk, więc są wręcz błyskawiczne. Domyślnie stosowane są indeksy typu HASH, które świetnie sprawdzają się przy wyszukiwaniu konkretnej wartości, choć można też wybrać BTREE.
Ale jest cena, i to bardzo wysoka. Dane są nietrwałe. Po restarcie serwera albo po awarii zasilania zawartość tabeli znika całkowicie. Zostaje sama struktura, a dane przepadają. Dlatego na slajdzie zero trwałości jest zaznaczone na czerwono. Do tego silnik nie obsługuje kolumn typu BLOB ani TEXT.
Gdzie więc go używać? Typowo do tabel tymczasowych, w których przechowujemy pośrednie wyniki zapytań, do tablic przeglądowych, czyli lookup tables, używanych wielokrotnie w krótkim czasie, albo do cache’owania sesji.
Zasada jest jedna i bardzo prosta: MEMORY traktujemy jako narzędzie tymczasowe, nigdy jako magazyn danych trwałych. Jeśli ktoś ma wątpliwość, czy dane mogą zniknąć, to znaczy, że nie powinny trafić do tabeli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Czwarty silnik, ARCHIVE, został zaprojektowany do czegoś zupełnie innego: do przechowywania dużych ilości danych, które rzadko się zmieniają.
Spójrzmy na jego cechy. Pozwala wyłącznie na operacje INSERT i SELECT. Można dopisywać nowe wiersze i je odczytywać, ale nie da się modyfikować ani usuwać pojedynczych rekordów. Brzmi to jak wada, ale w praktyce to właśnie sedno tego silnika.
Druga cecha to silna kompresja, algorytmem zlib. Dane zajmują na dysku wyraźnie mniej miejsca, a przy milionach rekordów logów to naprawdę ma znaczenie.
Trzecia cecha to cena tej oszczędności: silnik ma bardzo ograniczone możliwości indeksowania, więc odczyt losowy bywa wolniejszy niż w InnoDB czy MyISAM.
Dlaczego mimo to znajduje zastosowanie? Bo logi zdarzeń, dane audytowe czy historyczne zapisy transakcji mają pewną wspólną cechę: nikt ich nie powinien zmieniać, a wręcz nie wolno ich zmieniać. Odczytujemy je sporadycznie, na przykład podczas kontroli. I wtedy to ograniczenie przestaje być problemem, a staje się zaletą: gwarantuje, że historia pozostaje nienaruszona.
Jeśli ktoś lubi liczby: przy tysiącach wierszy różnica w rozmiarze będzie niezauważalna, ale przy setkach milionów rekordów logów kompresja potrafi oszczędzić setki gigabajtów. Dlatego ARCHIVE jest świetnym kandydatem na tabelę, do której co sekundę coś dopisujemy, a zaglądamy może raz w miesiącu.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Zbierzmy to wszystko w jednej tabeli. Warto ją po prostu zapamiętać, bo to jest taki ściągawkowy obraz czterech silników.
InnoDB: transakcje tak, klucze obce tak, blokada na poziomie wiersza. Zastosowanie: systemy transakcyjne i e-commerce.
MyISAM: transakcji nie ma, kluczy obcych nie ma, blokada całej tabeli. Zastosowanie: raporty z przewagą odczytów oraz wyszukiwanie pełnotekstowe.
MEMORY: tak samo bez transakcji i kluczy obcych, blokada tabeli. Zastosowanie: dane tymczasowe i cache.
ARCHIVE: brak transakcji i kluczy obcych, blokada nie ma tu większego znaczenia, bo mamy tylko dopisywanie. Zastosowanie: logi, archiwa, dane audytowe.
Wniosek, który widać wyraźnie, jest na dole slajdu: tylko InnoDB łączy transakcje, klucze obce i blokowanie wierszy. To dlatego jest domyślny i to dlatego, jeśli nie mamy bardzo konkretnego powodu, żeby użyć innego silnika, wybieramy właśnie jego.
Pozostałe silniki to wyspecjalizowane narzędzia. Każde z nich robi coś jednego dobrze, ale płaci za to rezygnacją z innych możliwości. Warto o tym pamiętać, przechodząc do następnego slajdu.
Przypomnę jeszcze, że wybór nie jest dożywotni. Jeśli okaże się, że tabela logów potrzebuje jednak indeksów albo modyfikacji, zawsze można zmienić silnik poleceniem ALTER TABLE. Ważne tylko, żeby robić to świadomie i najlepiej najpierw na kopii danych, bo przebudowa dużej tabeli trwa i obciąża serwer.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dobrze, a jak to przełożyć na praktyczny wybór? Najlepsza reguła brzmi: silnik dobieramy do charakteru danych, a nie na sztywno dla całej bazy.
Na slajdzie widzimy cztery typowe sytuacje. Zamówienia, płatności, klienci: to dane, które muszą być spójne, więc InnoDB. Tabele tymczasowe i cache sesji: tu liczy się szybkość, a utrata danych nie boli, więc MEMORY. Logi zdarzeń i dane audytowe: dużo danych, tylko dopisywanie, więc ARCHIVE. Archiwalne raporty i wyszukiwanie pełnotekstowe: tu może się sprawdzić MyISAM.
Po prawej stronie jest ważna informacja: MySQL pozwala mieszać silniki w obrębie jednej bazy danych. Nic nie stoi na przeszkodzie, żeby tabela zamówień działała w InnoDB, a towarzysząca jej tabela logów zdarzeń w ARCHIVE. Każda tabela dostaje silnik, który najlepiej pasuje do jej roli.
Od siebie dodam uczciwą uwagę: w praktyce dzisiaj InnoDB w zdecydowanej większości przypadków wystarcza. Jest bezpiecznym punktem wyjścia. Inne silniki wybieramy świadomie, z konkretnego powodu, a nie dlatego, że „może będzie szybciej”. Z tym przekonaniem zamykamy pierwszą część i przechodzimy do znaków.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Zostawiamy silniki i przechodzimy do drugiego tematu: kodowania znaków. Zacznijmy od rozróżnienia, które bardzo często sprawia kłopot.
Prawidłowa obsługa tekstu wymaga ustalenia dwóch niezależnych, choć powiązanych elementów.
Pierwszy to zestaw znaków, po angielsku character set. Określa, jakie znaki w ogóle są dostępne i jak są zakodowane bajtowo. Na przykład, ile bajtów zajmuje jeden znak. Litera „a” w jednym kodowaniu zajmie jeden bajt, a polskie „ą” w innym może zająć dwa.
Drugi element to reguły porównywania, czyli collation. One mówią, jak dwa teksty są porównywane i sortowane. Czy „Kowalski” i „kowalski” to ten sam napis? Czy „ą” sortuje się zaraz po „a”, czy na samym końcu alfabetu, za „z”? Na to odpowiada właśnie collation.
Proszę zauważyć, że zestaw znaków mówi, jak tekst jest przechowywany, a collation mówi, jak jest traktowany przy porównaniach.
Na szczęście każdy zestaw ma przypisaną domyślną regułę porównywania, więc w praktyce często wystarczy wskazać sam zestaw znaków. Ale jak zobaczymy za chwilę, w polskich projektach warto o collation pomyśleć świadomie.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Zobaczmy, jakie zestawy znaków najczęściej będą nas interesować.
Na górze utf8mb4: pełny Unicode, nowoczesny standard, od jednego do czterech bajtów na znak. Tu muszę dodać ważną uwagę od siebie. W MySQL nazwa „utf8” oznacza w rzeczywistości starszą, ograniczoną wersję, utf8mb3, która obsługuje tylko trzy bajty na znak. Nie zmieści więc na przykład emotikonów. W nowych projektach wybieramy zatem utf8mb4. W materiałach, na których się opieramy, używa się nazwy utf8, więc w przykładach też ją zobaczymy, ale pamiętajmy o tej różnicy.
Dalej mamy trzy zestawy jednobajtowe, historyczne. Latin2, czyli ISO-8859-2, starszy standard środkowoeuropejski. Cp1250, czyli Windows-1250, strona kodowa systemów Windows dla naszego regionu. I cp852, stosowana dawniej w DOS-ie. Z nimi spotkamy się głównie przy migracji starych danych.
Po prawej stronie widać trzy polecenia, które pozwalają sprawdzić, co dokładnie mamy w danej instalacji. SHOW CHARACTER SET pokazuje dostępne zestawy, SHOW COLLATION wszystkie reguły porównywania, a wersja z LIKE pozwala zawęzić listę, na przykład do reguł dla latin2.
Dodam praktyczny przykład z życia. Kolumna z nazwiskami w collation general_ci potrafi ustawić „Łukasz” w innym miejscu, niż oczekuje użytkownik, albo traktować różne litery jako równoważne. Użytkownik widzi wtedy listę, która „coś nie gra”, choć żadne dane nie zostały uszkodzone. To zwykle właśnie wina źle dobranej reguły porównywania, a nie samych danych.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Nazwy reguł porównywania nie są przypadkowe. Zwykle składają się z nazwy zestawu znaków i przyrostka, który opisuje zachowanie. Warto nauczyć się je czytać, bo to ułatwia życie.
Przyrostek „general_ci”, gdzie „ci” oznacza case insensitive, to porównywanie ogólne, bez rozróżniania wielkości liter. „Kowalski” i „KOWALSKI” są tu równe. Minusem jest to, że znaki narodowe są sortowane w sposób uproszczony.
Przyrostek „bin” oznacza porównywanie binarne, bajt po bajcie. To najściślejsza metoda, rozróżnia wielkość liter, ale jest najmniej naturalna językowo. Dobrze nadaje się do haseł albo kodów, gdzie liczy się dokładne dopasowanie.
I przyrostek „polish_ci”. To reguły uwzględniające polską kolejność alfabetyczną. Dzięki nim znaki „ą”, „ć”, „ł”, „ń”, „ó”, „ś”, „ź” i „ż” są sortowane tak, jak oczekuje polski użytkownik.
Przykłady widać na dole: utf8_polish_ci, cp1250_general_ci, latin2_bin. Wystarczy spojrzeć na nazwę, żeby wiedzieć, jaki zestaw znaków i jaki sposób porównywania mamy na myśli.
Na dalszych slajdach zobaczymy, gdzie dokładnie takie ustawienia wpisujemy.
Ta zasada dziedziczenia ma jeszcze jedną konsekwencję. Jeśli w pliku konfiguracyjnym serwera zmienimy ustawienie, to nie przerobi ono automatycznie istniejących baz. Zadziała dopiero dla nowo tworzonych. Dlatego przy migracjach zawsze warto po prostu wypisać aktualne ustawienia wszystkich poziomów i sprawdzić, czy się zgadzają, zamiast zakładać, że wiemy, jak jest.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Przechodzimy do hierarchii. Kodowanie znaków w MySQL można ustalić na czterech niezależnych poziomach: serwera, bazy danych, tabeli i kolumny.
Najważniejsza zasada jest taka: każdy niższy poziom dziedziczy ustawienie z wyższego, jeśli go jawnie nie nadpiszemy. Wyobraźmy sobie kaskadę. Ustawienie serwera jest domyślne dla wszystkich nowych baz. Ustawienie bazy jest domyślne dla wszystkich jej tabel. Ustawienie tabeli dotyczy jej kolumn tekstowych. A kolumna może mieć swoje własne ustawienie, które wszystko przesłania.
To trochę jak w firmie: ogólny regulamin obowiązuje wszystkich, dopóki dział czy zespół nie wprowadzi własnej, szczególnej reguły. Wtedy ta bardziej szczegółowa wygrywa.
Wynika z tego bardzo praktyczna rada. Jeśli diagnozujemy problem z kodowaniem, nie wystarczy sprawdzić jednego miejsca. Trzeba przejść całą ścieżkę: serwer, baza, tabela, kolumna. Bardzo często okazuje się, że gdzieś po drodze jedna kolumna ma inne ustawienie niż reszta.
Przejdźmy teraz po kolei przez każdy poziom, zaczynając od serwera i bazy danych.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Zacznijmy od poziomu serwera, po lewej stronie. Ustawiamy go w pliku my.ini lub my.cnf, za pomocą dwóch parametrów: character-set-server oraz collation-server. Możemy też podać zestaw znaków przy uruchamianiu procesu z wiersza poleceń, tak jak widać w ostatniej linijce. To ustawienie staje się domyślne dla wszystkich nowo tworzonych baz, które nie określą własnego zestawu.
Po prawej mamy poziom bazy danych. Przy tworzeniu bazy dopisujemy CHARACTER SET, a opcjonalnie także COLLATE. W pierwszym przykładzie tworzymy bazę „sklep” z zestawem latin2 i regułą binarną. Poniżej widzimy, jak zmienić ustawienia istniejącej bazy poleceniem ALTER DATABASE, na przykład na utf8 z regułą polską.
I tu ważna uwaga, którą widać na dole slajdu. Zmiana ustawienia bazy dotyczy tabel tworzonych później. Tabele, które już istnieją, zachowują swoje dotychczasowe kodowanie. To jedna z częstych pułapek: ktoś zmienia kodowanie bazy, zakłada, że problem rozwiązany, a stare tabele wciąż są w starym kodowaniu. Żeby je zmienić, trzeba to zrobić osobno dla każdej tabeli.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Teraz poziom tabeli i kolumny. Na slajdzie jest jeden przykład, który pokazuje oba poziomy naraz.
Tworzymy tabelę „klienci”. Na samym końcu definicji widzimy, że cała tabela ma zestaw znaków utf8. To jest ustawienie na poziomie tabeli. Dotyczy wszystkich kolumn tekstowych, które nie mają własnych ustawień.
Kolumna „nazwa” jawnie deklaruje utf8 z regułą utf8_polish_ci. Czyli nazwy klientów będą poprawnie sortowane po polsku. Natomiast kolumna „kod_pocztowy” ma ustawione cp1250. Nadpisuje więc ustawienie tabeli.
Po co ktoś miałby to robić? Po prawej mamy odpowiedź: to przydaje się na przykład przy migracji danych ze starszego systemu, gdy tylko wybrane pola pochodzą z innego źródła kodowania. Zamiast przekodowywać wszystko naraz, możemy ostrożnie wyróżnić jedną kolumnę.
Takie ustawienia można nadawać kolumnom typu CHAR, VARCHAR i TEXT, a także ENUM i SET. Natomiast proszę pamiętać, że to jest narzędzie do używania z rozwagą. Im więcej kolumn z odmiennymi ustawieniami, tym trudniej potem porównywać dane między tabelami. O tym powiemy za chwilę, przy wskazówkach.
Dobrym nawykiem jest też to, żeby po każdej zmianie środowiska, na przykład po przeniesieniu aplikacji na nowy serwer, wykonać prosty test: wstawić do tabeli napis zawierający wszystkie polskie litery, odczytać go i porównać. Jeśli „zażółć gęślą jaźń” wraca dokładnie takie, jakie wysłaliśmy, to cały łańcuch jest skonfigurowany poprawnie. To kilka sekund pracy, a oszczędza godziny szukania błędu.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Ostatni element układanki to kodowanie połączenia klienckiego. I tu wiele osób się potyka, bo ustawili wszystko poprawnie na serwerze, w bazie i w tabeli, a polskie znaki nadal wyglądają źle.
Powód jest taki, że każde połączenie klienta z serwerem ma własne reguły kodowania. Serwer musi wiedzieć, w jakim kodowaniu klient wysyła zapytania, i w jakim ma odesłać wyniki. Na schemacie widzimy to jako dwukierunkową strzałkę pomiędzy klientem a serwerem.
Służy do tego polecenie SET NAMES. Możemy podać sam zestaw znaków, na przykład cp1250, albo dodatkowo wskazać regułę porównywania, jak w drugim przykładzie.
A teraz uwaga praktyczna, po prawej stronie. Kodowanie samego klienta, na przykład konsoli, z której łączymy się poleceniem mysql, musi być zgodne z tym, co zadeklarowaliśmy przez SET NAMES. Jeśli konsola pracuje w jednym kodowaniu, a my powiemy serwerowi, że w innym, to zamiast polskich liter zobaczymy tak zwane krzaczki. W skrajnych przypadkach klient może się nawet nieoczekiwanie zamknąć.
Dlatego pamiętajmy: kodowanie to łańcuch. Wystarczy, że jedno ogniwo, w tym połączenie, jest niezgodne, i cały wysiłek idzie na marne.
Jeśli miałbym dodać jeszcze jedną myśl, to taką: w zespołach warto spisać standard. Jeden zestaw znaków, jedna reguła porównywania, jeden domyślny silnik, i wyjątki wyłącznie uzasadnione. Wtedy nowa osoba w projekcie nie musi zgadywać, a ryzyko niespójności maleje, zanim jeszcze pojawi się pierwszy błąd.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Zbierzmy wszystko w pięć praktycznych zasad. Gdybym miał zapamiętać z tej prezentacji tylko jeden slajd, byłby to ten.
Pierwsza zasada: ustalaj kodowanie świadomie, a nie przez przypadek. Poleganie na domyślnych ustawieniach serwera bywa ryzykowne, bo gdy aplikacja trafi na inną instalację MySQL z innymi ustawieniami fabrycznymi, wszystko może się nagle zmienić.
Druga: zachowuj spójność w obrębie jednej bazy. Mieszanie różnych zestawów znaków utrudnia porównania między tabelami. Na przykład JOIN po kolumnie tekstowej może wymagać jawnej konwersji funkcją CONVERT, jeśli kodowania po obu stronach się różnią.
Trzecia: dobieraj regułę porównywania do języka danych. General_ci sortuje znaki narodowe w uproszczony sposób, więc dla polskich nazwisk i miast sięgnij po wariant polish_ci.
Czwarta: dobieraj silnik do charakteru danych, nie na sztywno dla całej bazy. Tabela transakcyjna w InnoDB i jej logi w ARCHIVE to w pełni poprawne połączenie.
I piąta: MEMORY tylko tymczasowo. Każdy restart usługi lub awaria zasilania oznacza całkowitą utratę zawartości tabeli.
Pięć zasad, a każda z nich ratuje przed konkretnym, realnym problemem.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Czas na podsumowanie, które zamyka całość w jednej tabeli.
Pierwszy wiersz: silnik składowania. Wybieramy spośród InnoDB, MyISAM, MEMORY i ARCHIVE, a ustawiamy to klauzulą ENGINE w poleceniach CREATE TABLE lub ALTER TABLE.
Drugi wiersz: zestaw znaków. Tu wybieramy między utf8mb4, utf8, latin2 i cp1250, i możemy go ustawić na czterech poziomach: serwera, bazy, tabeli i kolumny.
Trzeci wiersz: reguły porównywania, czyli general_ci, bin albo polish_ci. Ustawiamy je w tych samych czterech miejscach co zestaw znaków.
Czwarty wiersz: kodowanie połączenia, które ma być zgodne z klientem, a ustawiamy je poleceniem SET NAMES.
I na dole najważniejsza myśl całej prezentacji. Wybór silnika decyduje o tym, jak bezpiecznie i wydajnie dane są zapisywane i odczytywane. Wybór kodowania i collation decyduje o tym, czy tekst jest poprawnie przechowywany, wyświetlany i sortowany.
Obie decyzje są niezależne od siebie i od logicznego modelu danych. Ale bez ich świadomego ustawienia nawet najlepiej zaprojektowany schemat może zawieść: przez utratę danych po awarii, spadek wydajności albo błędnie wyświetlane polskie znaki.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już koniec prezentacji. Bardzo dziękuję za uwagę.
Na zakończenie zostawiam Państwu kilka pytań sprawdzających. Nie musimy na nie odpowiadać od razu, ale warto je sobie przemyśleć, bo dobrze pokazują, czy temat został naprawdę zrozumiany.
Zastanówmy się: czym różni się blokowanie na poziomie wiersza od blokowania całej tabeli i który silnik stosuje które? Dlaczego ARCHIVE nie pozwala na UPDATE i DELETE, a mimo to jest użyteczny w prawdziwych systemach? Czym różni się zestaw znaków od reguły porównywania? Co może się stać, gdy porównujemy w JOIN kolumny o różnych zestawach znaków? I wreszcie, dlaczego wybór silnika i wybór kodowania są od siebie niezależne, mimo że oba ustawiamy w tej samej instrukcji CREATE TABLE?
Jeśli ktoś ma ochotę, możemy teraz przejść do pytań i dyskusji. Chętnie wrócę do któregokolwiek slajdu, pokażę przykład na żywo albo omówię konkretny problem z Państwa projektów. Jeszcze raz dziękuję.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YTUL">
    <p:bg>
      <p:bgPr>
        <a:solidFill>
          <a:srgbClr val="0B2A3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6766560" cy="2194560"/>
          </a:xfrm>
          <a:prstGeom prst="rect">
            <a:avLst/>
          </a:prstGeom>
          <a:noFill/>
          <a:ln/>
        </p:spPr>
        <p:txBody>
          <a:bodyPr wrap="square" rtlCol="0"/>
          <a:lstStyle>
            <a:lvl1pPr algn="l" indent="0" marL="0">
              <a:buNone/>
              <a:defRPr lang="en-US" sz="4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200" dirty="0"/>
          </a:p>
        </p:txBody>
      </p:sp>
      <p:sp>
        <p:nvSpPr>
          <p:cNvPr id="3" name="Text 0"/>
          <p:cNvSpPr/>
          <p:nvPr>
            <p:ph idx="101" type="body" hasCustomPrompt="1"/>
          </p:nvPr>
        </p:nvSpPr>
        <p:spPr>
          <a:xfrm>
            <a:off x="731520" y="4114800"/>
            <a:ext cx="6583680" cy="1005840"/>
          </a:xfrm>
          <a:prstGeom prst="rect">
            <a:avLst/>
          </a:prstGeom>
          <a:noFill/>
          <a:ln/>
        </p:spPr>
        <p:txBody>
          <a:bodyPr wrap="square" rtlCol="0"/>
          <a:lstStyle>
            <a:lvl1pPr algn="l" indent="0" marL="0">
              <a:buNone/>
              <a:defRPr lang="en-US" sz="2000" dirty="0">
                <a:solidFill>
                  <a:schemeClr val="accent6"/>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RESC">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68680"/>
          </a:xfrm>
          <a:prstGeom prst="rect">
            <a:avLst/>
          </a:prstGeom>
          <a:noFill/>
          <a:ln/>
        </p:spPr>
        <p:txBody>
          <a:bodyPr wrap="square" rtlCol="0"/>
          <a:lstStyle>
            <a:lvl1pPr algn="l" indent="0" marL="0">
              <a:buNone/>
              <a:defRPr lang="en-US" sz="3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p:nvPr/>
        </p:nvSpPr>
        <p:spPr>
          <a:xfrm>
            <a:off x="640080" y="6400800"/>
            <a:ext cx="6400800" cy="274320"/>
          </a:xfrm>
          <a:prstGeom prst="rect">
            <a:avLst/>
          </a:prstGeom>
          <a:noFill/>
          <a:ln/>
        </p:spPr>
        <p:txBody>
          <a:bodyPr wrap="square" lIns="0" tIns="0" rIns="0" bIns="0" rtlCol="0" anchor="ctr"/>
          <a:lstStyle/>
          <a:p>
            <a:pPr indent="0" marL="0">
              <a:buNone/>
            </a:pPr>
            <a:r>
              <a:rPr lang="en-US" sz="1100" dirty="0">
                <a:solidFill>
                  <a:schemeClr val="accent4"/>
                </a:solidFill>
              </a:rPr>
              <a:t>MySQL · silniki składowania i kodowanie znaków</a:t>
            </a:r>
            <a:endParaRPr lang="en-US" sz="11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3.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0" type="title" hasCustomPrompt="1"/>
          </p:nvPr>
        </p:nvSpPr>
        <p:spPr>
          <a:xfrm>
            <a:off x="731520" y="1737360"/>
            <a:ext cx="6766560" cy="2194560"/>
          </a:xfrm>
          <a:prstGeom prst="rect">
            <a:avLst/>
          </a:prstGeom>
          <a:noFill/>
          <a:ln/>
        </p:spPr>
        <p:txBody>
          <a:bodyPr wrap="square" lIns="0" tIns="0" rIns="0" bIns="0" rtlCol="0" anchor="b"/>
          <a:lstStyle/>
          <a:p>
            <a:pPr algn="l" indent="0" marL="0">
              <a:buNone/>
            </a:pPr>
            <a:r>
              <a:rPr lang="en-US" sz="4200" b="1" dirty="0">
                <a:solidFill>
                  <a:schemeClr val="bg1"/>
                </a:solidFill>
                <a:latin typeface="Cambria" pitchFamily="34" charset="0"/>
                <a:ea typeface="Cambria" pitchFamily="34" charset="-122"/>
                <a:cs typeface="Cambria" pitchFamily="34" charset="-120"/>
              </a:rPr>
              <a:t>Mechanizmy składowania danych i systemy kodowania znaków</a:t>
            </a:r>
            <a:endParaRPr lang="en-US" sz="4200" dirty="0"/>
          </a:p>
        </p:txBody>
      </p:sp>
      <p:sp>
        <p:nvSpPr>
          <p:cNvPr id="4" name="Text 0"/>
          <p:cNvSpPr/>
          <p:nvPr>
            <p:ph idx="101" type="body" hasCustomPrompt="1"/>
          </p:nvPr>
        </p:nvSpPr>
        <p:spPr>
          <a:xfrm>
            <a:off x="731520" y="4114800"/>
            <a:ext cx="6583680" cy="1005840"/>
          </a:xfrm>
          <a:prstGeom prst="rect">
            <a:avLst/>
          </a:prstGeom>
          <a:noFill/>
          <a:ln/>
        </p:spPr>
        <p:txBody>
          <a:bodyPr wrap="square" lIns="0" tIns="0" rIns="0" bIns="0" rtlCol="0" anchor="t"/>
          <a:lstStyle/>
          <a:p>
            <a:pPr algn="l" indent="0" marL="0">
              <a:buNone/>
            </a:pPr>
            <a:r>
              <a:rPr lang="en-US" sz="2000" dirty="0">
                <a:solidFill>
                  <a:schemeClr val="accent6"/>
                </a:solidFill>
              </a:rPr>
              <a:t>Silniki bazodanowe, zestawy znaków i reguły porównywania w MySQL</a:t>
            </a:r>
            <a:endParaRPr lang="en-US" sz="2000" dirty="0"/>
          </a:p>
        </p:txBody>
      </p:sp>
      <p:sp>
        <p:nvSpPr>
          <p:cNvPr id="5" name="Koło"/>
          <p:cNvSpPr/>
          <p:nvPr/>
        </p:nvSpPr>
        <p:spPr>
          <a:xfrm>
            <a:off x="8229600" y="1371600"/>
            <a:ext cx="3291840" cy="3291840"/>
          </a:xfrm>
          <a:prstGeom prst="ellipse">
            <a:avLst/>
          </a:prstGeom>
          <a:solidFill>
            <a:schemeClr val="tx2"/>
          </a:solidFill>
          <a:ln/>
        </p:spPr>
      </p:sp>
      <p:pic>
        <p:nvPicPr>
          <p:cNvPr id="6" name="Ikona bazy" descr="preencoded.png">    </p:cNvPr>
          <p:cNvPicPr>
            <a:picLocks noChangeAspect="1"/>
          </p:cNvPicPr>
          <p:nvPr/>
        </p:nvPicPr>
        <p:blipFill>
          <a:blip r:embed="rId1"/>
          <a:stretch>
            <a:fillRect/>
          </a:stretch>
        </p:blipFill>
        <p:spPr>
          <a:xfrm>
            <a:off x="9235440" y="2377440"/>
            <a:ext cx="1280160" cy="1280160"/>
          </a:xfrm>
          <a:prstGeom prst="rect">
            <a:avLst/>
          </a:prstGeom>
        </p:spPr>
      </p:pic>
      <p:sp>
        <p:nvSpPr>
          <p:cNvPr id="7" name="Chip InnoDB"/>
          <p:cNvSpPr/>
          <p:nvPr/>
        </p:nvSpPr>
        <p:spPr>
          <a:xfrm>
            <a:off x="7772400" y="5029200"/>
            <a:ext cx="914400" cy="365760"/>
          </a:xfrm>
          <a:prstGeom prst="roundRect">
            <a:avLst>
              <a:gd name="adj" fmla="val 50000"/>
            </a:avLst>
          </a:prstGeom>
          <a:solidFill>
            <a:schemeClr val="accent1"/>
          </a:solidFill>
          <a:ln/>
        </p:spPr>
      </p:sp>
      <p:sp>
        <p:nvSpPr>
          <p:cNvPr id="8" name="Text 4"/>
          <p:cNvSpPr txBox="1"/>
          <p:nvPr/>
        </p:nvSpPr>
        <p:spPr>
          <a:xfrm>
            <a:off x="7772400" y="5029200"/>
            <a:ext cx="914400" cy="365760"/>
          </a:xfrm>
          <a:prstGeom prst="rect">
            <a:avLst/>
          </a:prstGeom>
          <a:noFill/>
          <a:ln/>
        </p:spPr>
        <p:txBody>
          <a:bodyPr wrap="square" lIns="0" tIns="0" rIns="0" bIns="0" rtlCol="0" anchor="ctr"/>
          <a:lstStyle/>
          <a:p>
            <a:pPr algn="ctr" indent="0" marL="0">
              <a:buNone/>
            </a:pPr>
            <a:r>
              <a:rPr lang="en-US" sz="1100" b="1" dirty="0">
                <a:solidFill>
                  <a:schemeClr val="bg1"/>
                </a:solidFill>
              </a:rPr>
              <a:t>InnoDB</a:t>
            </a:r>
            <a:endParaRPr lang="en-US" sz="1100" dirty="0"/>
          </a:p>
        </p:txBody>
      </p:sp>
      <p:sp>
        <p:nvSpPr>
          <p:cNvPr id="9" name="Chip MyISAM"/>
          <p:cNvSpPr/>
          <p:nvPr/>
        </p:nvSpPr>
        <p:spPr>
          <a:xfrm>
            <a:off x="8778240" y="5029200"/>
            <a:ext cx="914400" cy="365760"/>
          </a:xfrm>
          <a:prstGeom prst="roundRect">
            <a:avLst>
              <a:gd name="adj" fmla="val 50000"/>
            </a:avLst>
          </a:prstGeom>
          <a:solidFill>
            <a:schemeClr val="accent1"/>
          </a:solidFill>
          <a:ln/>
        </p:spPr>
      </p:sp>
      <p:sp>
        <p:nvSpPr>
          <p:cNvPr id="10" name="Text 6"/>
          <p:cNvSpPr txBox="1"/>
          <p:nvPr/>
        </p:nvSpPr>
        <p:spPr>
          <a:xfrm>
            <a:off x="8778240" y="5029200"/>
            <a:ext cx="914400" cy="365760"/>
          </a:xfrm>
          <a:prstGeom prst="rect">
            <a:avLst/>
          </a:prstGeom>
          <a:noFill/>
          <a:ln/>
        </p:spPr>
        <p:txBody>
          <a:bodyPr wrap="square" lIns="0" tIns="0" rIns="0" bIns="0" rtlCol="0" anchor="ctr"/>
          <a:lstStyle/>
          <a:p>
            <a:pPr algn="ctr" indent="0" marL="0">
              <a:buNone/>
            </a:pPr>
            <a:r>
              <a:rPr lang="en-US" sz="1100" b="1" dirty="0">
                <a:solidFill>
                  <a:schemeClr val="bg1"/>
                </a:solidFill>
              </a:rPr>
              <a:t>MyISAM</a:t>
            </a:r>
            <a:endParaRPr lang="en-US" sz="1100" dirty="0"/>
          </a:p>
        </p:txBody>
      </p:sp>
      <p:sp>
        <p:nvSpPr>
          <p:cNvPr id="11" name="Chip MEMORY"/>
          <p:cNvSpPr/>
          <p:nvPr/>
        </p:nvSpPr>
        <p:spPr>
          <a:xfrm>
            <a:off x="9784080" y="5029200"/>
            <a:ext cx="914400" cy="365760"/>
          </a:xfrm>
          <a:prstGeom prst="roundRect">
            <a:avLst>
              <a:gd name="adj" fmla="val 50000"/>
            </a:avLst>
          </a:prstGeom>
          <a:solidFill>
            <a:schemeClr val="accent1"/>
          </a:solidFill>
          <a:ln/>
        </p:spPr>
      </p:sp>
      <p:sp>
        <p:nvSpPr>
          <p:cNvPr id="12" name="Text 8"/>
          <p:cNvSpPr txBox="1"/>
          <p:nvPr/>
        </p:nvSpPr>
        <p:spPr>
          <a:xfrm>
            <a:off x="9784080" y="5029200"/>
            <a:ext cx="914400" cy="365760"/>
          </a:xfrm>
          <a:prstGeom prst="rect">
            <a:avLst/>
          </a:prstGeom>
          <a:noFill/>
          <a:ln/>
        </p:spPr>
        <p:txBody>
          <a:bodyPr wrap="square" lIns="0" tIns="0" rIns="0" bIns="0" rtlCol="0" anchor="ctr"/>
          <a:lstStyle/>
          <a:p>
            <a:pPr algn="ctr" indent="0" marL="0">
              <a:buNone/>
            </a:pPr>
            <a:r>
              <a:rPr lang="en-US" sz="1100" b="1" dirty="0">
                <a:solidFill>
                  <a:schemeClr val="bg1"/>
                </a:solidFill>
              </a:rPr>
              <a:t>MEMORY</a:t>
            </a:r>
            <a:endParaRPr lang="en-US" sz="1100" dirty="0"/>
          </a:p>
        </p:txBody>
      </p:sp>
      <p:sp>
        <p:nvSpPr>
          <p:cNvPr id="13" name="Chip ARCHIVE"/>
          <p:cNvSpPr/>
          <p:nvPr/>
        </p:nvSpPr>
        <p:spPr>
          <a:xfrm>
            <a:off x="10789920" y="5029200"/>
            <a:ext cx="914400" cy="365760"/>
          </a:xfrm>
          <a:prstGeom prst="roundRect">
            <a:avLst>
              <a:gd name="adj" fmla="val 50000"/>
            </a:avLst>
          </a:prstGeom>
          <a:solidFill>
            <a:schemeClr val="accent1"/>
          </a:solidFill>
          <a:ln/>
        </p:spPr>
      </p:sp>
      <p:sp>
        <p:nvSpPr>
          <p:cNvPr id="14" name="Text 10"/>
          <p:cNvSpPr txBox="1"/>
          <p:nvPr/>
        </p:nvSpPr>
        <p:spPr>
          <a:xfrm>
            <a:off x="10789920" y="5029200"/>
            <a:ext cx="914400" cy="365760"/>
          </a:xfrm>
          <a:prstGeom prst="rect">
            <a:avLst/>
          </a:prstGeom>
          <a:noFill/>
          <a:ln/>
        </p:spPr>
        <p:txBody>
          <a:bodyPr wrap="square" lIns="0" tIns="0" rIns="0" bIns="0" rtlCol="0" anchor="ctr"/>
          <a:lstStyle/>
          <a:p>
            <a:pPr algn="ctr" indent="0" marL="0">
              <a:buNone/>
            </a:pPr>
            <a:r>
              <a:rPr lang="en-US" sz="1100" b="1" dirty="0">
                <a:solidFill>
                  <a:schemeClr val="bg1"/>
                </a:solidFill>
              </a:rPr>
              <a:t>ARCHIVE</a:t>
            </a:r>
            <a:endParaRPr lang="en-US" sz="1100" dirty="0"/>
          </a:p>
        </p:txBody>
      </p:sp>
      <p:sp>
        <p:nvSpPr>
          <p:cNvPr id="15" name="Chip utf8"/>
          <p:cNvSpPr/>
          <p:nvPr/>
        </p:nvSpPr>
        <p:spPr>
          <a:xfrm>
            <a:off x="8275320" y="5532120"/>
            <a:ext cx="960120" cy="365760"/>
          </a:xfrm>
          <a:prstGeom prst="roundRect">
            <a:avLst>
              <a:gd name="adj" fmla="val 50000"/>
            </a:avLst>
          </a:prstGeom>
          <a:solidFill>
            <a:schemeClr val="accent2"/>
          </a:solidFill>
          <a:ln/>
        </p:spPr>
      </p:sp>
      <p:sp>
        <p:nvSpPr>
          <p:cNvPr id="16" name="Text 12"/>
          <p:cNvSpPr txBox="1"/>
          <p:nvPr/>
        </p:nvSpPr>
        <p:spPr>
          <a:xfrm>
            <a:off x="8275320" y="5532120"/>
            <a:ext cx="960120" cy="365760"/>
          </a:xfrm>
          <a:prstGeom prst="rect">
            <a:avLst/>
          </a:prstGeom>
          <a:noFill/>
          <a:ln/>
        </p:spPr>
        <p:txBody>
          <a:bodyPr wrap="square" lIns="0" tIns="0" rIns="0" bIns="0" rtlCol="0" anchor="ctr"/>
          <a:lstStyle/>
          <a:p>
            <a:pPr algn="ctr" indent="0" marL="0">
              <a:buNone/>
            </a:pPr>
            <a:r>
              <a:rPr lang="en-US" sz="1100" b="1" dirty="0">
                <a:solidFill>
                  <a:schemeClr val="tx1"/>
                </a:solidFill>
              </a:rPr>
              <a:t>utf8</a:t>
            </a:r>
            <a:endParaRPr lang="en-US" sz="1100" dirty="0"/>
          </a:p>
        </p:txBody>
      </p:sp>
      <p:sp>
        <p:nvSpPr>
          <p:cNvPr id="17" name="Chip latin2"/>
          <p:cNvSpPr/>
          <p:nvPr/>
        </p:nvSpPr>
        <p:spPr>
          <a:xfrm>
            <a:off x="9326880" y="5532120"/>
            <a:ext cx="960120" cy="365760"/>
          </a:xfrm>
          <a:prstGeom prst="roundRect">
            <a:avLst>
              <a:gd name="adj" fmla="val 50000"/>
            </a:avLst>
          </a:prstGeom>
          <a:solidFill>
            <a:schemeClr val="accent2"/>
          </a:solidFill>
          <a:ln/>
        </p:spPr>
      </p:sp>
      <p:sp>
        <p:nvSpPr>
          <p:cNvPr id="18" name="Text 14"/>
          <p:cNvSpPr txBox="1"/>
          <p:nvPr/>
        </p:nvSpPr>
        <p:spPr>
          <a:xfrm>
            <a:off x="9326880" y="5532120"/>
            <a:ext cx="960120" cy="365760"/>
          </a:xfrm>
          <a:prstGeom prst="rect">
            <a:avLst/>
          </a:prstGeom>
          <a:noFill/>
          <a:ln/>
        </p:spPr>
        <p:txBody>
          <a:bodyPr wrap="square" lIns="0" tIns="0" rIns="0" bIns="0" rtlCol="0" anchor="ctr"/>
          <a:lstStyle/>
          <a:p>
            <a:pPr algn="ctr" indent="0" marL="0">
              <a:buNone/>
            </a:pPr>
            <a:r>
              <a:rPr lang="en-US" sz="1100" b="1" dirty="0">
                <a:solidFill>
                  <a:schemeClr val="tx1"/>
                </a:solidFill>
              </a:rPr>
              <a:t>latin2</a:t>
            </a:r>
            <a:endParaRPr lang="en-US" sz="1100" dirty="0"/>
          </a:p>
        </p:txBody>
      </p:sp>
      <p:sp>
        <p:nvSpPr>
          <p:cNvPr id="19" name="Chip cp1250"/>
          <p:cNvSpPr/>
          <p:nvPr/>
        </p:nvSpPr>
        <p:spPr>
          <a:xfrm>
            <a:off x="10378440" y="5532120"/>
            <a:ext cx="960120" cy="365760"/>
          </a:xfrm>
          <a:prstGeom prst="roundRect">
            <a:avLst>
              <a:gd name="adj" fmla="val 50000"/>
            </a:avLst>
          </a:prstGeom>
          <a:solidFill>
            <a:schemeClr val="accent2"/>
          </a:solidFill>
          <a:ln/>
        </p:spPr>
      </p:sp>
      <p:sp>
        <p:nvSpPr>
          <p:cNvPr id="20" name="Text 16"/>
          <p:cNvSpPr txBox="1"/>
          <p:nvPr/>
        </p:nvSpPr>
        <p:spPr>
          <a:xfrm>
            <a:off x="10378440" y="5532120"/>
            <a:ext cx="960120" cy="365760"/>
          </a:xfrm>
          <a:prstGeom prst="rect">
            <a:avLst/>
          </a:prstGeom>
          <a:noFill/>
          <a:ln/>
        </p:spPr>
        <p:txBody>
          <a:bodyPr wrap="square" lIns="0" tIns="0" rIns="0" bIns="0" rtlCol="0" anchor="ctr"/>
          <a:lstStyle/>
          <a:p>
            <a:pPr algn="ctr" indent="0" marL="0">
              <a:buNone/>
            </a:pPr>
            <a:r>
              <a:rPr lang="en-US" sz="1100" b="1" dirty="0">
                <a:solidFill>
                  <a:schemeClr val="tx1"/>
                </a:solidFill>
              </a:rPr>
              <a:t>cp1250</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title" hasCustomPrompt="1"/>
          </p:nvPr>
        </p:nvSpPr>
        <p:spPr>
          <a:xfrm>
            <a:off x="640080" y="365760"/>
            <a:ext cx="10881360" cy="86868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Plan na najbliższe 30 minut</a:t>
            </a:r>
            <a:endParaRPr lang="en-US" sz="3400" dirty="0"/>
          </a:p>
        </p:txBody>
      </p:sp>
      <p:sp>
        <p:nvSpPr>
          <p:cNvPr id="4" name="Karta Silniki składowania"/>
          <p:cNvSpPr/>
          <p:nvPr/>
        </p:nvSpPr>
        <p:spPr>
          <a:xfrm>
            <a:off x="640080" y="1737360"/>
            <a:ext cx="2560320" cy="4023360"/>
          </a:xfrm>
          <a:prstGeom prst="roundRect">
            <a:avLst>
              <a:gd name="adj" fmla="val 4286"/>
            </a:avLst>
          </a:prstGeom>
          <a:solidFill>
            <a:schemeClr val="bg2"/>
          </a:solidFill>
          <a:ln/>
          <a:effectLst>
            <a:outerShdw sx="100000" sy="100000" kx="0" ky="0" algn="bl" rotWithShape="0" blurRad="101600" dist="25400" dir="5400000">
              <a:srgbClr val="0B2A3F">
                <a:alpha val="12000"/>
              </a:srgbClr>
            </a:outerShdw>
          </a:effectLst>
        </p:spPr>
      </p:sp>
      <p:sp>
        <p:nvSpPr>
          <p:cNvPr id="5" name="Text 2"/>
          <p:cNvSpPr txBox="1"/>
          <p:nvPr/>
        </p:nvSpPr>
        <p:spPr>
          <a:xfrm>
            <a:off x="914400" y="1965960"/>
            <a:ext cx="2011680" cy="100584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01</a:t>
            </a:r>
            <a:endParaRPr lang="en-US" sz="5400" dirty="0"/>
          </a:p>
        </p:txBody>
      </p:sp>
      <p:sp>
        <p:nvSpPr>
          <p:cNvPr id="6" name="Text 3"/>
          <p:cNvSpPr txBox="1"/>
          <p:nvPr/>
        </p:nvSpPr>
        <p:spPr>
          <a:xfrm>
            <a:off x="914400" y="3108960"/>
            <a:ext cx="2103120" cy="822960"/>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Silniki składowania</a:t>
            </a:r>
            <a:endParaRPr lang="en-US" sz="2100" dirty="0"/>
          </a:p>
        </p:txBody>
      </p:sp>
      <p:sp>
        <p:nvSpPr>
          <p:cNvPr id="7" name="Text 4"/>
          <p:cNvSpPr txBox="1"/>
          <p:nvPr/>
        </p:nvSpPr>
        <p:spPr>
          <a:xfrm>
            <a:off x="914400" y="4023360"/>
            <a:ext cx="2103120" cy="1463040"/>
          </a:xfrm>
          <a:prstGeom prst="rect">
            <a:avLst/>
          </a:prstGeom>
          <a:noFill/>
          <a:ln/>
        </p:spPr>
        <p:txBody>
          <a:bodyPr wrap="square" lIns="0" tIns="0" rIns="0" bIns="0" rtlCol="0" anchor="t"/>
          <a:lstStyle/>
          <a:p>
            <a:pPr indent="0" marL="0">
              <a:buNone/>
            </a:pPr>
            <a:r>
              <a:rPr lang="en-US" sz="1500" dirty="0">
                <a:solidFill>
                  <a:schemeClr val="tx1"/>
                </a:solidFill>
              </a:rPr>
              <a:t>InnoDB, MyISAM, MEMORY, ARCHIVE i jak je dobierać</a:t>
            </a:r>
            <a:endParaRPr lang="en-US" sz="1500" dirty="0"/>
          </a:p>
        </p:txBody>
      </p:sp>
      <p:sp>
        <p:nvSpPr>
          <p:cNvPr id="8" name="Karta Kodowanie znaków"/>
          <p:cNvSpPr/>
          <p:nvPr/>
        </p:nvSpPr>
        <p:spPr>
          <a:xfrm>
            <a:off x="3429000" y="1737360"/>
            <a:ext cx="2560320" cy="4023360"/>
          </a:xfrm>
          <a:prstGeom prst="roundRect">
            <a:avLst>
              <a:gd name="adj" fmla="val 4286"/>
            </a:avLst>
          </a:prstGeom>
          <a:solidFill>
            <a:schemeClr val="bg2"/>
          </a:solidFill>
          <a:ln/>
          <a:effectLst>
            <a:outerShdw sx="100000" sy="100000" kx="0" ky="0" algn="bl" rotWithShape="0" blurRad="101600" dist="25400" dir="5400000">
              <a:srgbClr val="0B2A3F">
                <a:alpha val="12000"/>
              </a:srgbClr>
            </a:outerShdw>
          </a:effectLst>
        </p:spPr>
      </p:sp>
      <p:sp>
        <p:nvSpPr>
          <p:cNvPr id="9" name="Text 6"/>
          <p:cNvSpPr txBox="1"/>
          <p:nvPr/>
        </p:nvSpPr>
        <p:spPr>
          <a:xfrm>
            <a:off x="3703320" y="1965960"/>
            <a:ext cx="2011680" cy="100584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02</a:t>
            </a:r>
            <a:endParaRPr lang="en-US" sz="5400" dirty="0"/>
          </a:p>
        </p:txBody>
      </p:sp>
      <p:sp>
        <p:nvSpPr>
          <p:cNvPr id="10" name="Text 7"/>
          <p:cNvSpPr txBox="1"/>
          <p:nvPr/>
        </p:nvSpPr>
        <p:spPr>
          <a:xfrm>
            <a:off x="3703320" y="3108960"/>
            <a:ext cx="2103120" cy="822960"/>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Kodowanie znaków</a:t>
            </a:r>
            <a:endParaRPr lang="en-US" sz="2100" dirty="0"/>
          </a:p>
        </p:txBody>
      </p:sp>
      <p:sp>
        <p:nvSpPr>
          <p:cNvPr id="11" name="Text 8"/>
          <p:cNvSpPr txBox="1"/>
          <p:nvPr/>
        </p:nvSpPr>
        <p:spPr>
          <a:xfrm>
            <a:off x="3703320" y="4023360"/>
            <a:ext cx="2103120" cy="1463040"/>
          </a:xfrm>
          <a:prstGeom prst="rect">
            <a:avLst/>
          </a:prstGeom>
          <a:noFill/>
          <a:ln/>
        </p:spPr>
        <p:txBody>
          <a:bodyPr wrap="square" lIns="0" tIns="0" rIns="0" bIns="0" rtlCol="0" anchor="t"/>
          <a:lstStyle/>
          <a:p>
            <a:pPr indent="0" marL="0">
              <a:buNone/>
            </a:pPr>
            <a:r>
              <a:rPr lang="en-US" sz="1500" dirty="0">
                <a:solidFill>
                  <a:schemeClr val="tx1"/>
                </a:solidFill>
              </a:rPr>
              <a:t>Character set, collation i najważniejsze zestawy</a:t>
            </a:r>
            <a:endParaRPr lang="en-US" sz="1500" dirty="0"/>
          </a:p>
        </p:txBody>
      </p:sp>
      <p:sp>
        <p:nvSpPr>
          <p:cNvPr id="12" name="Karta Hierarchia ustawień"/>
          <p:cNvSpPr/>
          <p:nvPr/>
        </p:nvSpPr>
        <p:spPr>
          <a:xfrm>
            <a:off x="6217920" y="1737360"/>
            <a:ext cx="2560320" cy="4023360"/>
          </a:xfrm>
          <a:prstGeom prst="roundRect">
            <a:avLst>
              <a:gd name="adj" fmla="val 4286"/>
            </a:avLst>
          </a:prstGeom>
          <a:solidFill>
            <a:schemeClr val="bg2"/>
          </a:solidFill>
          <a:ln/>
          <a:effectLst>
            <a:outerShdw sx="100000" sy="100000" kx="0" ky="0" algn="bl" rotWithShape="0" blurRad="101600" dist="25400" dir="5400000">
              <a:srgbClr val="0B2A3F">
                <a:alpha val="12000"/>
              </a:srgbClr>
            </a:outerShdw>
          </a:effectLst>
        </p:spPr>
      </p:sp>
      <p:sp>
        <p:nvSpPr>
          <p:cNvPr id="13" name="Text 10"/>
          <p:cNvSpPr txBox="1"/>
          <p:nvPr/>
        </p:nvSpPr>
        <p:spPr>
          <a:xfrm>
            <a:off x="6492240" y="1965960"/>
            <a:ext cx="2011680" cy="100584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03</a:t>
            </a:r>
            <a:endParaRPr lang="en-US" sz="5400" dirty="0"/>
          </a:p>
        </p:txBody>
      </p:sp>
      <p:sp>
        <p:nvSpPr>
          <p:cNvPr id="14" name="Text 11"/>
          <p:cNvSpPr txBox="1"/>
          <p:nvPr/>
        </p:nvSpPr>
        <p:spPr>
          <a:xfrm>
            <a:off x="6492240" y="3108960"/>
            <a:ext cx="2103120" cy="822960"/>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Hierarchia ustawień</a:t>
            </a:r>
            <a:endParaRPr lang="en-US" sz="2100" dirty="0"/>
          </a:p>
        </p:txBody>
      </p:sp>
      <p:sp>
        <p:nvSpPr>
          <p:cNvPr id="15" name="Text 12"/>
          <p:cNvSpPr txBox="1"/>
          <p:nvPr/>
        </p:nvSpPr>
        <p:spPr>
          <a:xfrm>
            <a:off x="6492240" y="4023360"/>
            <a:ext cx="2103120" cy="1463040"/>
          </a:xfrm>
          <a:prstGeom prst="rect">
            <a:avLst/>
          </a:prstGeom>
          <a:noFill/>
          <a:ln/>
        </p:spPr>
        <p:txBody>
          <a:bodyPr wrap="square" lIns="0" tIns="0" rIns="0" bIns="0" rtlCol="0" anchor="t"/>
          <a:lstStyle/>
          <a:p>
            <a:pPr indent="0" marL="0">
              <a:buNone/>
            </a:pPr>
            <a:r>
              <a:rPr lang="en-US" sz="1500" dirty="0">
                <a:solidFill>
                  <a:schemeClr val="tx1"/>
                </a:solidFill>
              </a:rPr>
              <a:t>Serwer, baza, tabela, kolumna i połączenie</a:t>
            </a:r>
            <a:endParaRPr lang="en-US" sz="1500" dirty="0"/>
          </a:p>
        </p:txBody>
      </p:sp>
      <p:sp>
        <p:nvSpPr>
          <p:cNvPr id="16" name="Karta Praktyka"/>
          <p:cNvSpPr/>
          <p:nvPr/>
        </p:nvSpPr>
        <p:spPr>
          <a:xfrm>
            <a:off x="9006840" y="1737360"/>
            <a:ext cx="2560320" cy="4023360"/>
          </a:xfrm>
          <a:prstGeom prst="roundRect">
            <a:avLst>
              <a:gd name="adj" fmla="val 4286"/>
            </a:avLst>
          </a:prstGeom>
          <a:solidFill>
            <a:schemeClr val="bg2"/>
          </a:solidFill>
          <a:ln/>
          <a:effectLst>
            <a:outerShdw sx="100000" sy="100000" kx="0" ky="0" algn="bl" rotWithShape="0" blurRad="101600" dist="25400" dir="5400000">
              <a:srgbClr val="0B2A3F">
                <a:alpha val="12000"/>
              </a:srgbClr>
            </a:outerShdw>
          </a:effectLst>
        </p:spPr>
      </p:sp>
      <p:sp>
        <p:nvSpPr>
          <p:cNvPr id="17" name="Text 14"/>
          <p:cNvSpPr txBox="1"/>
          <p:nvPr/>
        </p:nvSpPr>
        <p:spPr>
          <a:xfrm>
            <a:off x="9281160" y="1965960"/>
            <a:ext cx="2011680" cy="100584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04</a:t>
            </a:r>
            <a:endParaRPr lang="en-US" sz="5400" dirty="0"/>
          </a:p>
        </p:txBody>
      </p:sp>
      <p:sp>
        <p:nvSpPr>
          <p:cNvPr id="18" name="Text 15"/>
          <p:cNvSpPr txBox="1"/>
          <p:nvPr/>
        </p:nvSpPr>
        <p:spPr>
          <a:xfrm>
            <a:off x="9281160" y="3108960"/>
            <a:ext cx="2103120" cy="822960"/>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Praktyka</a:t>
            </a:r>
            <a:endParaRPr lang="en-US" sz="2100" dirty="0"/>
          </a:p>
        </p:txBody>
      </p:sp>
      <p:sp>
        <p:nvSpPr>
          <p:cNvPr id="19" name="Text 16"/>
          <p:cNvSpPr txBox="1"/>
          <p:nvPr/>
        </p:nvSpPr>
        <p:spPr>
          <a:xfrm>
            <a:off x="9281160" y="4023360"/>
            <a:ext cx="2103120" cy="1463040"/>
          </a:xfrm>
          <a:prstGeom prst="rect">
            <a:avLst/>
          </a:prstGeom>
          <a:noFill/>
          <a:ln/>
        </p:spPr>
        <p:txBody>
          <a:bodyPr wrap="square" lIns="0" tIns="0" rIns="0" bIns="0" rtlCol="0" anchor="t"/>
          <a:lstStyle/>
          <a:p>
            <a:pPr indent="0" marL="0">
              <a:buNone/>
            </a:pPr>
            <a:r>
              <a:rPr lang="en-US" sz="1500" dirty="0">
                <a:solidFill>
                  <a:schemeClr val="tx1"/>
                </a:solidFill>
              </a:rPr>
              <a:t>Dobre rady projektowe i podsumowanie</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ph idx="100" type="title" hasCustomPrompt="1"/>
          </p:nvPr>
        </p:nvSpPr>
        <p:spPr>
          <a:xfrm>
            <a:off x="640080" y="365760"/>
            <a:ext cx="10881360" cy="86868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Dwie decyzje, które kształtują bazę danych</a:t>
            </a:r>
            <a:endParaRPr lang="en-US" sz="3400" dirty="0"/>
          </a:p>
        </p:txBody>
      </p:sp>
      <p:sp>
        <p:nvSpPr>
          <p:cNvPr id="4" name="Karta Silnik składowania"/>
          <p:cNvSpPr/>
          <p:nvPr/>
        </p:nvSpPr>
        <p:spPr>
          <a:xfrm>
            <a:off x="640080" y="1554480"/>
            <a:ext cx="5394960" cy="3383280"/>
          </a:xfrm>
          <a:prstGeom prst="roundRect">
            <a:avLst>
              <a:gd name="adj" fmla="val 3243"/>
            </a:avLst>
          </a:prstGeom>
          <a:solidFill>
            <a:schemeClr val="bg2"/>
          </a:solidFill>
          <a:ln/>
          <a:effectLst>
            <a:outerShdw sx="100000" sy="100000" kx="0" ky="0" algn="bl" rotWithShape="0" blurRad="101600" dist="25400" dir="5400000">
              <a:srgbClr val="0B2A3F">
                <a:alpha val="12000"/>
              </a:srgbClr>
            </a:outerShdw>
          </a:effectLst>
        </p:spPr>
      </p:sp>
      <p:sp>
        <p:nvSpPr>
          <p:cNvPr id="5" name="Ikona tło"/>
          <p:cNvSpPr/>
          <p:nvPr/>
        </p:nvSpPr>
        <p:spPr>
          <a:xfrm>
            <a:off x="914400" y="1828800"/>
            <a:ext cx="640080" cy="640080"/>
          </a:xfrm>
          <a:prstGeom prst="ellipse">
            <a:avLst/>
          </a:prstGeom>
          <a:solidFill>
            <a:schemeClr val="accent1"/>
          </a:solidFill>
          <a:ln/>
        </p:spPr>
      </p:sp>
      <p:pic>
        <p:nvPicPr>
          <p:cNvPr id="6" name="Ikona Silnik składowania" descr="preencoded.png">    </p:cNvPr>
          <p:cNvPicPr>
            <a:picLocks noChangeAspect="1"/>
          </p:cNvPicPr>
          <p:nvPr/>
        </p:nvPicPr>
        <p:blipFill>
          <a:blip r:embed="rId1"/>
          <a:stretch>
            <a:fillRect/>
          </a:stretch>
        </p:blipFill>
        <p:spPr>
          <a:xfrm>
            <a:off x="1051560" y="1965960"/>
            <a:ext cx="365760" cy="365760"/>
          </a:xfrm>
          <a:prstGeom prst="rect">
            <a:avLst/>
          </a:prstGeom>
        </p:spPr>
      </p:pic>
      <p:sp>
        <p:nvSpPr>
          <p:cNvPr id="7" name="Text 3"/>
          <p:cNvSpPr txBox="1"/>
          <p:nvPr/>
        </p:nvSpPr>
        <p:spPr>
          <a:xfrm>
            <a:off x="1691640" y="1783080"/>
            <a:ext cx="4114800" cy="73152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Silnik składowania</a:t>
            </a:r>
            <a:endParaRPr lang="en-US" sz="2200" dirty="0"/>
          </a:p>
        </p:txBody>
      </p:sp>
      <p:sp>
        <p:nvSpPr>
          <p:cNvPr id="8" name="Text 4"/>
          <p:cNvSpPr txBox="1"/>
          <p:nvPr/>
        </p:nvSpPr>
        <p:spPr>
          <a:xfrm>
            <a:off x="914400" y="2606040"/>
            <a:ext cx="4846320" cy="2194560"/>
          </a:xfrm>
          <a:prstGeom prst="rect">
            <a:avLst/>
          </a:prstGeom>
          <a:noFill/>
          <a:ln/>
        </p:spPr>
        <p:txBody>
          <a:bodyPr wrap="square" lIns="0" tIns="0" rIns="0" bIns="0" rtlCol="0" anchor="t"/>
          <a:lstStyle/>
          <a:p>
            <a:pPr indent="0" marL="0">
              <a:spcAft>
                <a:spcPts val="400"/>
              </a:spcAft>
              <a:buNone/>
            </a:pPr>
            <a:r>
              <a:rPr lang="en-US" sz="2200" dirty="0">
                <a:solidFill>
                  <a:schemeClr val="tx1"/>
                </a:solidFill>
              </a:rPr>
              <a:t>Mechanizm, który fizycznie zapisuje, odczytuje i indeksuje wiersze tabeli.</a:t>
            </a:r>
            <a:endParaRPr lang="en-US" sz="2200" dirty="0"/>
          </a:p>
          <a:p>
            <a:pPr indent="0" marL="0">
              <a:spcAft>
                <a:spcPts val="400"/>
              </a:spcAft>
              <a:buNone/>
            </a:pPr>
            <a:r>
              <a:rPr lang="en-US" sz="2200" dirty="0">
                <a:solidFill>
                  <a:schemeClr val="tx1"/>
                </a:solidFill>
              </a:rPr>
              <a:t>Decyduje o wydajności, trwałości, blokadach i transakcjach.</a:t>
            </a:r>
            <a:endParaRPr lang="en-US" sz="2200" dirty="0"/>
          </a:p>
        </p:txBody>
      </p:sp>
      <p:sp>
        <p:nvSpPr>
          <p:cNvPr id="9" name="Karta Kodowanie i collation"/>
          <p:cNvSpPr/>
          <p:nvPr/>
        </p:nvSpPr>
        <p:spPr>
          <a:xfrm>
            <a:off x="6309360" y="1554480"/>
            <a:ext cx="5212080" cy="3383280"/>
          </a:xfrm>
          <a:prstGeom prst="roundRect">
            <a:avLst>
              <a:gd name="adj" fmla="val 3243"/>
            </a:avLst>
          </a:prstGeom>
          <a:solidFill>
            <a:schemeClr val="bg2"/>
          </a:solidFill>
          <a:ln/>
          <a:effectLst>
            <a:outerShdw sx="100000" sy="100000" kx="0" ky="0" algn="bl" rotWithShape="0" blurRad="101600" dist="25400" dir="5400000">
              <a:srgbClr val="0B2A3F">
                <a:alpha val="12000"/>
              </a:srgbClr>
            </a:outerShdw>
          </a:effectLst>
        </p:spPr>
      </p:sp>
      <p:sp>
        <p:nvSpPr>
          <p:cNvPr id="10" name="Ikona tło"/>
          <p:cNvSpPr/>
          <p:nvPr/>
        </p:nvSpPr>
        <p:spPr>
          <a:xfrm>
            <a:off x="6583680" y="1828800"/>
            <a:ext cx="640080" cy="640080"/>
          </a:xfrm>
          <a:prstGeom prst="ellipse">
            <a:avLst/>
          </a:prstGeom>
          <a:solidFill>
            <a:schemeClr val="accent2"/>
          </a:solidFill>
          <a:ln/>
        </p:spPr>
      </p:sp>
      <p:pic>
        <p:nvPicPr>
          <p:cNvPr id="11" name="Ikona Kodowanie i collation" descr="preencoded.png">    </p:cNvPr>
          <p:cNvPicPr>
            <a:picLocks noChangeAspect="1"/>
          </p:cNvPicPr>
          <p:nvPr/>
        </p:nvPicPr>
        <p:blipFill>
          <a:blip r:embed="rId2"/>
          <a:stretch>
            <a:fillRect/>
          </a:stretch>
        </p:blipFill>
        <p:spPr>
          <a:xfrm>
            <a:off x="6720840" y="1965960"/>
            <a:ext cx="365760" cy="365760"/>
          </a:xfrm>
          <a:prstGeom prst="rect">
            <a:avLst/>
          </a:prstGeom>
        </p:spPr>
      </p:pic>
      <p:sp>
        <p:nvSpPr>
          <p:cNvPr id="12" name="Text 7"/>
          <p:cNvSpPr txBox="1"/>
          <p:nvPr/>
        </p:nvSpPr>
        <p:spPr>
          <a:xfrm>
            <a:off x="7360920" y="1783080"/>
            <a:ext cx="3931920" cy="73152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Kodowanie i collation</a:t>
            </a:r>
            <a:endParaRPr lang="en-US" sz="2200" dirty="0"/>
          </a:p>
        </p:txBody>
      </p:sp>
      <p:sp>
        <p:nvSpPr>
          <p:cNvPr id="13" name="Text 8"/>
          <p:cNvSpPr txBox="1"/>
          <p:nvPr/>
        </p:nvSpPr>
        <p:spPr>
          <a:xfrm>
            <a:off x="6583680" y="2606040"/>
            <a:ext cx="4663440" cy="2194560"/>
          </a:xfrm>
          <a:prstGeom prst="rect">
            <a:avLst/>
          </a:prstGeom>
          <a:noFill/>
          <a:ln/>
        </p:spPr>
        <p:txBody>
          <a:bodyPr wrap="square" lIns="0" tIns="0" rIns="0" bIns="0" rtlCol="0" anchor="t"/>
          <a:lstStyle/>
          <a:p>
            <a:pPr indent="0" marL="0">
              <a:spcAft>
                <a:spcPts val="400"/>
              </a:spcAft>
              <a:buNone/>
            </a:pPr>
            <a:r>
              <a:rPr lang="en-US" sz="2200" dirty="0">
                <a:solidFill>
                  <a:schemeClr val="tx1"/>
                </a:solidFill>
              </a:rPr>
              <a:t>Sposób zapisu tekstu w bajtach oraz reguły jego porównywania i sortowania.</a:t>
            </a:r>
            <a:endParaRPr lang="en-US" sz="2200" dirty="0"/>
          </a:p>
          <a:p>
            <a:pPr indent="0" marL="0">
              <a:spcAft>
                <a:spcPts val="400"/>
              </a:spcAft>
              <a:buNone/>
            </a:pPr>
            <a:r>
              <a:rPr lang="en-US" sz="2200" dirty="0">
                <a:solidFill>
                  <a:schemeClr val="tx1"/>
                </a:solidFill>
              </a:rPr>
              <a:t>Decyduje o tym, czy „ą” i „ł” będą poprawne.</a:t>
            </a:r>
            <a:endParaRPr lang="en-US" sz="2200" dirty="0"/>
          </a:p>
        </p:txBody>
      </p:sp>
      <p:sp>
        <p:nvSpPr>
          <p:cNvPr id="14" name="Pasek wniosku"/>
          <p:cNvSpPr/>
          <p:nvPr/>
        </p:nvSpPr>
        <p:spPr>
          <a:xfrm>
            <a:off x="640080" y="5257800"/>
            <a:ext cx="10881360" cy="822960"/>
          </a:xfrm>
          <a:prstGeom prst="roundRect">
            <a:avLst>
              <a:gd name="adj" fmla="val 13333"/>
            </a:avLst>
          </a:prstGeom>
          <a:solidFill>
            <a:schemeClr val="tx1"/>
          </a:solidFill>
          <a:ln/>
        </p:spPr>
      </p:sp>
      <p:sp>
        <p:nvSpPr>
          <p:cNvPr id="15" name="Text 10"/>
          <p:cNvSpPr txBox="1"/>
          <p:nvPr/>
        </p:nvSpPr>
        <p:spPr>
          <a:xfrm>
            <a:off x="914400" y="5257800"/>
            <a:ext cx="10332720" cy="822960"/>
          </a:xfrm>
          <a:prstGeom prst="rect">
            <a:avLst/>
          </a:prstGeom>
          <a:noFill/>
          <a:ln/>
        </p:spPr>
        <p:txBody>
          <a:bodyPr wrap="square" lIns="0" tIns="0" rIns="0" bIns="0" rtlCol="0" anchor="ctr"/>
          <a:lstStyle/>
          <a:p>
            <a:pPr indent="0" marL="0">
              <a:buNone/>
            </a:pPr>
            <a:r>
              <a:rPr lang="en-US" sz="1900" b="1" dirty="0">
                <a:solidFill>
                  <a:schemeClr val="bg1"/>
                </a:solidFill>
              </a:rPr>
              <a:t>Obie decyzje podejmujemy per tabela — kodowanie nawet per kolumna.</a:t>
            </a:r>
            <a:endParaRPr lang="en-US" sz="19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ph idx="100" type="title" hasCustomPrompt="1"/>
          </p:nvPr>
        </p:nvSpPr>
        <p:spPr>
          <a:xfrm>
            <a:off x="640080" y="365760"/>
            <a:ext cx="10881360" cy="86868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Czym jest silnik składowania</a:t>
            </a:r>
            <a:endParaRPr lang="en-US" sz="3400" dirty="0"/>
          </a:p>
        </p:txBody>
      </p:sp>
      <p:sp>
        <p:nvSpPr>
          <p:cNvPr id="4" name="Text 1"/>
          <p:cNvSpPr txBox="1"/>
          <p:nvPr/>
        </p:nvSpPr>
        <p:spPr>
          <a:xfrm>
            <a:off x="640080" y="1554480"/>
            <a:ext cx="5212080" cy="438912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chemeClr val="tx1"/>
                </a:solidFill>
              </a:rPr>
              <a:t>Komponent serwera odpowiedzialny za fizyczną implementację tabeli</a:t>
            </a:r>
            <a:endParaRPr lang="en-US" sz="2000" dirty="0"/>
          </a:p>
          <a:p>
            <a:pPr marL="342900" indent="-342900">
              <a:spcAft>
                <a:spcPts val="800"/>
              </a:spcAft>
              <a:buSzPct val="100000"/>
              <a:buChar char="•"/>
            </a:pPr>
            <a:r>
              <a:rPr lang="en-US" sz="2000" dirty="0">
                <a:solidFill>
                  <a:schemeClr val="tx1"/>
                </a:solidFill>
              </a:rPr>
              <a:t>Format plików na dysku i sposób indeksowania</a:t>
            </a:r>
            <a:endParaRPr lang="en-US" sz="2000" dirty="0"/>
          </a:p>
          <a:p>
            <a:pPr marL="342900" indent="-342900">
              <a:spcAft>
                <a:spcPts val="800"/>
              </a:spcAft>
              <a:buSzPct val="100000"/>
              <a:buChar char="•"/>
            </a:pPr>
            <a:r>
              <a:rPr lang="en-US" sz="2000" dirty="0">
                <a:solidFill>
                  <a:schemeClr val="tx1"/>
                </a:solidFill>
              </a:rPr>
              <a:t>Blokady przy współbieżnym dostępie</a:t>
            </a:r>
            <a:endParaRPr lang="en-US" sz="2000" dirty="0"/>
          </a:p>
          <a:p>
            <a:pPr marL="342900" indent="-342900">
              <a:spcAft>
                <a:spcPts val="800"/>
              </a:spcAft>
              <a:buSzPct val="100000"/>
              <a:buChar char="•"/>
            </a:pPr>
            <a:r>
              <a:rPr lang="en-US" sz="2000" dirty="0">
                <a:solidFill>
                  <a:schemeClr val="tx1"/>
                </a:solidFill>
              </a:rPr>
              <a:t>Opcjonalnie: obsługa transakcji</a:t>
            </a:r>
            <a:endParaRPr lang="en-US" sz="2000" dirty="0"/>
          </a:p>
          <a:p>
            <a:pPr marL="342900" indent="-342900">
              <a:spcAft>
                <a:spcPts val="800"/>
              </a:spcAft>
              <a:buSzPct val="100000"/>
              <a:buChar char="•"/>
            </a:pPr>
            <a:r>
              <a:rPr lang="en-US" sz="2000" dirty="0">
                <a:solidFill>
                  <a:schemeClr val="tx1"/>
                </a:solidFill>
              </a:rPr>
              <a:t>Przypisywany przy tworzeniu tabeli lub zmieniany później</a:t>
            </a:r>
            <a:endParaRPr lang="en-US" sz="2000" dirty="0"/>
          </a:p>
        </p:txBody>
      </p:sp>
      <p:sp>
        <p:nvSpPr>
          <p:cNvPr id="5" name="Blok kodu"/>
          <p:cNvSpPr/>
          <p:nvPr/>
        </p:nvSpPr>
        <p:spPr>
          <a:xfrm>
            <a:off x="6217920" y="1554480"/>
            <a:ext cx="5303520" cy="4389120"/>
          </a:xfrm>
          <a:prstGeom prst="roundRect">
            <a:avLst>
              <a:gd name="adj" fmla="val 2083"/>
            </a:avLst>
          </a:prstGeom>
          <a:solidFill>
            <a:srgbClr val="0B2A3F"/>
          </a:solidFill>
          <a:ln/>
        </p:spPr>
      </p:sp>
      <p:sp>
        <p:nvSpPr>
          <p:cNvPr id="6" name="Text 3"/>
          <p:cNvSpPr txBox="1"/>
          <p:nvPr/>
        </p:nvSpPr>
        <p:spPr>
          <a:xfrm>
            <a:off x="6446520" y="1691640"/>
            <a:ext cx="4846320" cy="4114800"/>
          </a:xfrm>
          <a:prstGeom prst="rect">
            <a:avLst/>
          </a:prstGeom>
          <a:noFill/>
          <a:ln/>
        </p:spPr>
        <p:txBody>
          <a:bodyPr wrap="square" lIns="0" tIns="0" rIns="0" bIns="0" rtlCol="0" anchor="t"/>
          <a:lstStyle/>
          <a:p>
            <a:pPr indent="0" marL="0">
              <a:buNone/>
            </a:pPr>
            <a:r>
              <a:rPr lang="en-US" sz="1600" dirty="0">
                <a:solidFill>
                  <a:srgbClr val="EAF3F6"/>
                </a:solidFill>
                <a:latin typeface="Courier New" pitchFamily="34" charset="0"/>
                <a:ea typeface="Courier New" pitchFamily="34" charset="-122"/>
                <a:cs typeface="Courier New" pitchFamily="34" charset="-120"/>
              </a:rPr>
              <a:t>-- przy tworzeniu tabeli</a:t>
            </a:r>
            <a:endParaRPr lang="en-US" sz="1600" dirty="0"/>
          </a:p>
          <a:p>
            <a:pPr indent="0" marL="0">
              <a:buNone/>
            </a:pPr>
            <a:r>
              <a:rPr lang="en-US" sz="1600" dirty="0">
                <a:solidFill>
                  <a:srgbClr val="EAF3F6"/>
                </a:solidFill>
                <a:latin typeface="Courier New" pitchFamily="34" charset="0"/>
                <a:ea typeface="Courier New" pitchFamily="34" charset="-122"/>
                <a:cs typeface="Courier New" pitchFamily="34" charset="-120"/>
              </a:rPr>
              <a:t>CREATE TABLE zamowienia (</a:t>
            </a:r>
            <a:endParaRPr lang="en-US" sz="1600" dirty="0"/>
          </a:p>
          <a:p>
            <a:pPr indent="0" marL="0">
              <a:buNone/>
            </a:pPr>
            <a:r>
              <a:rPr lang="en-US" sz="1600" dirty="0">
                <a:solidFill>
                  <a:srgbClr val="EAF3F6"/>
                </a:solidFill>
                <a:latin typeface="Courier New" pitchFamily="34" charset="0"/>
                <a:ea typeface="Courier New" pitchFamily="34" charset="-122"/>
                <a:cs typeface="Courier New" pitchFamily="34" charset="-120"/>
              </a:rPr>
              <a:t>  id_zamowienia INT PRIMARY KEY,</a:t>
            </a:r>
            <a:endParaRPr lang="en-US" sz="1600" dirty="0"/>
          </a:p>
          <a:p>
            <a:pPr indent="0" marL="0">
              <a:buNone/>
            </a:pPr>
            <a:r>
              <a:rPr lang="en-US" sz="1600" dirty="0">
                <a:solidFill>
                  <a:srgbClr val="EAF3F6"/>
                </a:solidFill>
                <a:latin typeface="Courier New" pitchFamily="34" charset="0"/>
                <a:ea typeface="Courier New" pitchFamily="34" charset="-122"/>
                <a:cs typeface="Courier New" pitchFamily="34" charset="-120"/>
              </a:rPr>
              <a:t>  klient_id INT,</a:t>
            </a:r>
            <a:endParaRPr lang="en-US" sz="1600" dirty="0"/>
          </a:p>
          <a:p>
            <a:pPr indent="0" marL="0">
              <a:buNone/>
            </a:pPr>
            <a:r>
              <a:rPr lang="en-US" sz="1600" dirty="0">
                <a:solidFill>
                  <a:srgbClr val="EAF3F6"/>
                </a:solidFill>
                <a:latin typeface="Courier New" pitchFamily="34" charset="0"/>
                <a:ea typeface="Courier New" pitchFamily="34" charset="-122"/>
                <a:cs typeface="Courier New" pitchFamily="34" charset="-120"/>
              </a:rPr>
              <a:t>  data_zlozenia DATE</a:t>
            </a:r>
            <a:endParaRPr lang="en-US" sz="1600" dirty="0"/>
          </a:p>
          <a:p>
            <a:pPr indent="0" marL="0">
              <a:buNone/>
            </a:pPr>
            <a:r>
              <a:rPr lang="en-US" sz="1600" dirty="0">
                <a:solidFill>
                  <a:srgbClr val="EAF3F6"/>
                </a:solidFill>
                <a:latin typeface="Courier New" pitchFamily="34" charset="0"/>
                <a:ea typeface="Courier New" pitchFamily="34" charset="-122"/>
                <a:cs typeface="Courier New" pitchFamily="34" charset="-120"/>
              </a:rPr>
              <a:t>) ENGINE = InnoDB;</a:t>
            </a:r>
            <a:endParaRPr lang="en-US" sz="1600" dirty="0"/>
          </a:p>
          <a:p>
            <a:pPr indent="0" marL="0">
              <a:buNone/>
            </a:pPr>
            <a:endParaRPr lang="en-US" sz="1600" dirty="0"/>
          </a:p>
          <a:p>
            <a:pPr indent="0" marL="0">
              <a:buNone/>
            </a:pPr>
            <a:r>
              <a:rPr lang="en-US" sz="1600" dirty="0">
                <a:solidFill>
                  <a:srgbClr val="EAF3F6"/>
                </a:solidFill>
                <a:latin typeface="Courier New" pitchFamily="34" charset="0"/>
                <a:ea typeface="Courier New" pitchFamily="34" charset="-122"/>
                <a:cs typeface="Courier New" pitchFamily="34" charset="-120"/>
              </a:rPr>
              <a:t>-- zmiana silnika</a:t>
            </a:r>
            <a:endParaRPr lang="en-US" sz="1600" dirty="0"/>
          </a:p>
          <a:p>
            <a:pPr indent="0" marL="0">
              <a:buNone/>
            </a:pPr>
            <a:r>
              <a:rPr lang="en-US" sz="1600" dirty="0">
                <a:solidFill>
                  <a:srgbClr val="EAF3F6"/>
                </a:solidFill>
                <a:latin typeface="Courier New" pitchFamily="34" charset="0"/>
                <a:ea typeface="Courier New" pitchFamily="34" charset="-122"/>
                <a:cs typeface="Courier New" pitchFamily="34" charset="-120"/>
              </a:rPr>
              <a:t>ALTER TABLE zamowienia</a:t>
            </a:r>
            <a:endParaRPr lang="en-US" sz="1600" dirty="0"/>
          </a:p>
          <a:p>
            <a:pPr indent="0" marL="0">
              <a:buNone/>
            </a:pPr>
            <a:r>
              <a:rPr lang="en-US" sz="1600" dirty="0">
                <a:solidFill>
                  <a:srgbClr val="EAF3F6"/>
                </a:solidFill>
                <a:latin typeface="Courier New" pitchFamily="34" charset="0"/>
                <a:ea typeface="Courier New" pitchFamily="34" charset="-122"/>
                <a:cs typeface="Courier New" pitchFamily="34" charset="-120"/>
              </a:rPr>
              <a:t>  ENGINE = MyISAM;</a:t>
            </a:r>
            <a:endParaRPr lang="en-US" sz="1600" dirty="0"/>
          </a:p>
          <a:p>
            <a:pPr indent="0" marL="0">
              <a:buNone/>
            </a:pPr>
            <a:endParaRPr lang="en-US" sz="1600" dirty="0"/>
          </a:p>
          <a:p>
            <a:pPr indent="0" marL="0">
              <a:buNone/>
            </a:pPr>
            <a:r>
              <a:rPr lang="en-US" sz="1600" dirty="0">
                <a:solidFill>
                  <a:srgbClr val="EAF3F6"/>
                </a:solidFill>
                <a:latin typeface="Courier New" pitchFamily="34" charset="0"/>
                <a:ea typeface="Courier New" pitchFamily="34" charset="-122"/>
                <a:cs typeface="Courier New" pitchFamily="34" charset="-120"/>
              </a:rPr>
              <a:t>-- który silnik?</a:t>
            </a:r>
            <a:endParaRPr lang="en-US" sz="1600" dirty="0"/>
          </a:p>
          <a:p>
            <a:pPr indent="0" marL="0">
              <a:buNone/>
            </a:pPr>
            <a:r>
              <a:rPr lang="en-US" sz="1600" dirty="0">
                <a:solidFill>
                  <a:srgbClr val="EAF3F6"/>
                </a:solidFill>
                <a:latin typeface="Courier New" pitchFamily="34" charset="0"/>
                <a:ea typeface="Courier New" pitchFamily="34" charset="-122"/>
                <a:cs typeface="Courier New" pitchFamily="34" charset="-120"/>
              </a:rPr>
              <a:t>SHOW TABLE STATUS</a:t>
            </a:r>
            <a:endParaRPr lang="en-US" sz="1600" dirty="0"/>
          </a:p>
          <a:p>
            <a:pPr indent="0" marL="0">
              <a:buNone/>
            </a:pPr>
            <a:r>
              <a:rPr lang="en-US" sz="1600" dirty="0">
                <a:solidFill>
                  <a:srgbClr val="EAF3F6"/>
                </a:solidFill>
                <a:latin typeface="Courier New" pitchFamily="34" charset="0"/>
                <a:ea typeface="Courier New" pitchFamily="34" charset="-122"/>
                <a:cs typeface="Courier New" pitchFamily="34" charset="-120"/>
              </a:rPr>
              <a:t>  LIKE 'zamowienia';</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ph idx="100" type="title" hasCustomPrompt="1"/>
          </p:nvPr>
        </p:nvSpPr>
        <p:spPr>
          <a:xfrm>
            <a:off x="640080" y="365760"/>
            <a:ext cx="10881360" cy="86868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InnoDB — silnik transakcyjny</a:t>
            </a:r>
            <a:endParaRPr lang="en-US" sz="3400" dirty="0"/>
          </a:p>
        </p:txBody>
      </p:sp>
      <p:sp>
        <p:nvSpPr>
          <p:cNvPr id="4" name="Ikona tło"/>
          <p:cNvSpPr/>
          <p:nvPr/>
        </p:nvSpPr>
        <p:spPr>
          <a:xfrm>
            <a:off x="640080" y="1554480"/>
            <a:ext cx="594360" cy="594360"/>
          </a:xfrm>
          <a:prstGeom prst="ellipse">
            <a:avLst/>
          </a:prstGeom>
          <a:solidFill>
            <a:schemeClr val="accent1"/>
          </a:solidFill>
          <a:ln/>
        </p:spPr>
      </p:sp>
      <p:pic>
        <p:nvPicPr>
          <p:cNvPr id="5" name="Ikona Transakcje ACID" descr="preencoded.png">    </p:cNvPr>
          <p:cNvPicPr>
            <a:picLocks noChangeAspect="1"/>
          </p:cNvPicPr>
          <p:nvPr/>
        </p:nvPicPr>
        <p:blipFill>
          <a:blip r:embed="rId1"/>
          <a:stretch>
            <a:fillRect/>
          </a:stretch>
        </p:blipFill>
        <p:spPr>
          <a:xfrm>
            <a:off x="786384" y="1700784"/>
            <a:ext cx="301752" cy="301752"/>
          </a:xfrm>
          <a:prstGeom prst="rect">
            <a:avLst/>
          </a:prstGeom>
        </p:spPr>
      </p:pic>
      <p:sp>
        <p:nvSpPr>
          <p:cNvPr id="6" name="Text 2"/>
          <p:cNvSpPr txBox="1"/>
          <p:nvPr/>
        </p:nvSpPr>
        <p:spPr>
          <a:xfrm>
            <a:off x="1463040" y="1508760"/>
            <a:ext cx="5760720" cy="731520"/>
          </a:xfrm>
          <a:prstGeom prst="rect">
            <a:avLst/>
          </a:prstGeom>
          <a:noFill/>
          <a:ln/>
        </p:spPr>
        <p:txBody>
          <a:bodyPr wrap="square" lIns="0" tIns="0" rIns="0" bIns="0" rtlCol="0" anchor="ctr"/>
          <a:lstStyle/>
          <a:p>
            <a:pPr indent="0" marL="0">
              <a:buNone/>
            </a:pPr>
            <a:r>
              <a:rPr lang="en-US" sz="2000" b="1" dirty="0">
                <a:solidFill>
                  <a:schemeClr val="tx1"/>
                </a:solidFill>
              </a:rPr>
              <a:t>Transakcje ACID</a:t>
            </a:r>
            <a:endParaRPr lang="en-US" sz="2000" dirty="0"/>
          </a:p>
          <a:p>
            <a:pPr indent="0" marL="0">
              <a:buNone/>
            </a:pPr>
            <a:r>
              <a:rPr lang="en-US" sz="1600" dirty="0">
                <a:solidFill>
                  <a:schemeClr val="tx1"/>
                </a:solidFill>
              </a:rPr>
              <a:t>START TRANSACTION, COMMIT, ROLLBACK</a:t>
            </a:r>
            <a:endParaRPr lang="en-US" sz="2000" dirty="0"/>
          </a:p>
        </p:txBody>
      </p:sp>
      <p:sp>
        <p:nvSpPr>
          <p:cNvPr id="7" name="Ikona tło"/>
          <p:cNvSpPr/>
          <p:nvPr/>
        </p:nvSpPr>
        <p:spPr>
          <a:xfrm>
            <a:off x="640080" y="2468880"/>
            <a:ext cx="594360" cy="594360"/>
          </a:xfrm>
          <a:prstGeom prst="ellipse">
            <a:avLst/>
          </a:prstGeom>
          <a:solidFill>
            <a:schemeClr val="accent1"/>
          </a:solidFill>
          <a:ln/>
        </p:spPr>
      </p:sp>
      <p:pic>
        <p:nvPicPr>
          <p:cNvPr id="8" name="Ikona Klucze obce" descr="preencoded.png">    </p:cNvPr>
          <p:cNvPicPr>
            <a:picLocks noChangeAspect="1"/>
          </p:cNvPicPr>
          <p:nvPr/>
        </p:nvPicPr>
        <p:blipFill>
          <a:blip r:embed="rId2"/>
          <a:stretch>
            <a:fillRect/>
          </a:stretch>
        </p:blipFill>
        <p:spPr>
          <a:xfrm>
            <a:off x="786384" y="2615184"/>
            <a:ext cx="301752" cy="301752"/>
          </a:xfrm>
          <a:prstGeom prst="rect">
            <a:avLst/>
          </a:prstGeom>
        </p:spPr>
      </p:pic>
      <p:sp>
        <p:nvSpPr>
          <p:cNvPr id="9" name="Text 4"/>
          <p:cNvSpPr txBox="1"/>
          <p:nvPr/>
        </p:nvSpPr>
        <p:spPr>
          <a:xfrm>
            <a:off x="1463040" y="2423160"/>
            <a:ext cx="5760720" cy="731520"/>
          </a:xfrm>
          <a:prstGeom prst="rect">
            <a:avLst/>
          </a:prstGeom>
          <a:noFill/>
          <a:ln/>
        </p:spPr>
        <p:txBody>
          <a:bodyPr wrap="square" lIns="0" tIns="0" rIns="0" bIns="0" rtlCol="0" anchor="ctr"/>
          <a:lstStyle/>
          <a:p>
            <a:pPr indent="0" marL="0">
              <a:buNone/>
            </a:pPr>
            <a:r>
              <a:rPr lang="en-US" sz="2000" b="1" dirty="0">
                <a:solidFill>
                  <a:schemeClr val="tx1"/>
                </a:solidFill>
              </a:rPr>
              <a:t>Klucze obce</a:t>
            </a:r>
            <a:endParaRPr lang="en-US" sz="2000" dirty="0"/>
          </a:p>
          <a:p>
            <a:pPr indent="0" marL="0">
              <a:buNone/>
            </a:pPr>
            <a:r>
              <a:rPr lang="en-US" sz="1600" dirty="0">
                <a:solidFill>
                  <a:schemeClr val="tx1"/>
                </a:solidFill>
              </a:rPr>
              <a:t>Integralność referencyjna w silniku</a:t>
            </a:r>
            <a:endParaRPr lang="en-US" sz="2000" dirty="0"/>
          </a:p>
        </p:txBody>
      </p:sp>
      <p:sp>
        <p:nvSpPr>
          <p:cNvPr id="10" name="Ikona tło"/>
          <p:cNvSpPr/>
          <p:nvPr/>
        </p:nvSpPr>
        <p:spPr>
          <a:xfrm>
            <a:off x="640080" y="3383280"/>
            <a:ext cx="594360" cy="594360"/>
          </a:xfrm>
          <a:prstGeom prst="ellipse">
            <a:avLst/>
          </a:prstGeom>
          <a:solidFill>
            <a:schemeClr val="accent1"/>
          </a:solidFill>
          <a:ln/>
        </p:spPr>
      </p:sp>
      <p:pic>
        <p:nvPicPr>
          <p:cNvPr id="11" name="Ikona Blokady na poziomie wiersza" descr="preencoded.png">    </p:cNvPr>
          <p:cNvPicPr>
            <a:picLocks noChangeAspect="1"/>
          </p:cNvPicPr>
          <p:nvPr/>
        </p:nvPicPr>
        <p:blipFill>
          <a:blip r:embed="rId3"/>
          <a:stretch>
            <a:fillRect/>
          </a:stretch>
        </p:blipFill>
        <p:spPr>
          <a:xfrm>
            <a:off x="786384" y="3529584"/>
            <a:ext cx="301752" cy="301752"/>
          </a:xfrm>
          <a:prstGeom prst="rect">
            <a:avLst/>
          </a:prstGeom>
        </p:spPr>
      </p:pic>
      <p:sp>
        <p:nvSpPr>
          <p:cNvPr id="12" name="Text 6"/>
          <p:cNvSpPr txBox="1"/>
          <p:nvPr/>
        </p:nvSpPr>
        <p:spPr>
          <a:xfrm>
            <a:off x="1463040" y="3337560"/>
            <a:ext cx="5760720" cy="731520"/>
          </a:xfrm>
          <a:prstGeom prst="rect">
            <a:avLst/>
          </a:prstGeom>
          <a:noFill/>
          <a:ln/>
        </p:spPr>
        <p:txBody>
          <a:bodyPr wrap="square" lIns="0" tIns="0" rIns="0" bIns="0" rtlCol="0" anchor="ctr"/>
          <a:lstStyle/>
          <a:p>
            <a:pPr indent="0" marL="0">
              <a:buNone/>
            </a:pPr>
            <a:r>
              <a:rPr lang="en-US" sz="2000" b="1" dirty="0">
                <a:solidFill>
                  <a:schemeClr val="tx1"/>
                </a:solidFill>
              </a:rPr>
              <a:t>Blokady na poziomie wiersza</a:t>
            </a:r>
            <a:endParaRPr lang="en-US" sz="2000" dirty="0"/>
          </a:p>
          <a:p>
            <a:pPr indent="0" marL="0">
              <a:buNone/>
            </a:pPr>
            <a:r>
              <a:rPr lang="en-US" sz="1600" dirty="0">
                <a:solidFill>
                  <a:schemeClr val="tx1"/>
                </a:solidFill>
              </a:rPr>
              <a:t>Wielu użytkowników pisze równolegle</a:t>
            </a:r>
            <a:endParaRPr lang="en-US" sz="2000" dirty="0"/>
          </a:p>
        </p:txBody>
      </p:sp>
      <p:sp>
        <p:nvSpPr>
          <p:cNvPr id="13" name="Ikona tło"/>
          <p:cNvSpPr/>
          <p:nvPr/>
        </p:nvSpPr>
        <p:spPr>
          <a:xfrm>
            <a:off x="640080" y="4297680"/>
            <a:ext cx="594360" cy="594360"/>
          </a:xfrm>
          <a:prstGeom prst="ellipse">
            <a:avLst/>
          </a:prstGeom>
          <a:solidFill>
            <a:schemeClr val="accent1"/>
          </a:solidFill>
          <a:ln/>
        </p:spPr>
      </p:sp>
      <p:pic>
        <p:nvPicPr>
          <p:cNvPr id="14" name="Ikona Indeks klastrowy" descr="preencoded.png">    </p:cNvPr>
          <p:cNvPicPr>
            <a:picLocks noChangeAspect="1"/>
          </p:cNvPicPr>
          <p:nvPr/>
        </p:nvPicPr>
        <p:blipFill>
          <a:blip r:embed="rId4"/>
          <a:stretch>
            <a:fillRect/>
          </a:stretch>
        </p:blipFill>
        <p:spPr>
          <a:xfrm>
            <a:off x="786384" y="4443984"/>
            <a:ext cx="301752" cy="301752"/>
          </a:xfrm>
          <a:prstGeom prst="rect">
            <a:avLst/>
          </a:prstGeom>
        </p:spPr>
      </p:pic>
      <p:sp>
        <p:nvSpPr>
          <p:cNvPr id="15" name="Text 8"/>
          <p:cNvSpPr txBox="1"/>
          <p:nvPr/>
        </p:nvSpPr>
        <p:spPr>
          <a:xfrm>
            <a:off x="1463040" y="4251960"/>
            <a:ext cx="5760720" cy="731520"/>
          </a:xfrm>
          <a:prstGeom prst="rect">
            <a:avLst/>
          </a:prstGeom>
          <a:noFill/>
          <a:ln/>
        </p:spPr>
        <p:txBody>
          <a:bodyPr wrap="square" lIns="0" tIns="0" rIns="0" bIns="0" rtlCol="0" anchor="ctr"/>
          <a:lstStyle/>
          <a:p>
            <a:pPr indent="0" marL="0">
              <a:buNone/>
            </a:pPr>
            <a:r>
              <a:rPr lang="en-US" sz="2000" b="1" dirty="0">
                <a:solidFill>
                  <a:schemeClr val="tx1"/>
                </a:solidFill>
              </a:rPr>
              <a:t>Indeks klastrowy</a:t>
            </a:r>
            <a:endParaRPr lang="en-US" sz="2000" dirty="0"/>
          </a:p>
          <a:p>
            <a:pPr indent="0" marL="0">
              <a:buNone/>
            </a:pPr>
            <a:r>
              <a:rPr lang="en-US" sz="1600" dirty="0">
                <a:solidFill>
                  <a:schemeClr val="tx1"/>
                </a:solidFill>
              </a:rPr>
              <a:t>Wiersze ułożone wg klucza głównego</a:t>
            </a:r>
            <a:endParaRPr lang="en-US" sz="2000" dirty="0"/>
          </a:p>
        </p:txBody>
      </p:sp>
      <p:sp>
        <p:nvSpPr>
          <p:cNvPr id="16" name="Ikona tło"/>
          <p:cNvSpPr/>
          <p:nvPr/>
        </p:nvSpPr>
        <p:spPr>
          <a:xfrm>
            <a:off x="640080" y="5212080"/>
            <a:ext cx="594360" cy="594360"/>
          </a:xfrm>
          <a:prstGeom prst="ellipse">
            <a:avLst/>
          </a:prstGeom>
          <a:solidFill>
            <a:schemeClr val="accent1"/>
          </a:solidFill>
          <a:ln/>
        </p:spPr>
      </p:sp>
      <p:pic>
        <p:nvPicPr>
          <p:cNvPr id="17" name="Ikona Odzyskiwanie po awarii" descr="preencoded.png">    </p:cNvPr>
          <p:cNvPicPr>
            <a:picLocks noChangeAspect="1"/>
          </p:cNvPicPr>
          <p:nvPr/>
        </p:nvPicPr>
        <p:blipFill>
          <a:blip r:embed="rId5"/>
          <a:stretch>
            <a:fillRect/>
          </a:stretch>
        </p:blipFill>
        <p:spPr>
          <a:xfrm>
            <a:off x="786384" y="5358384"/>
            <a:ext cx="301752" cy="301752"/>
          </a:xfrm>
          <a:prstGeom prst="rect">
            <a:avLst/>
          </a:prstGeom>
        </p:spPr>
      </p:pic>
      <p:sp>
        <p:nvSpPr>
          <p:cNvPr id="18" name="Text 10"/>
          <p:cNvSpPr txBox="1"/>
          <p:nvPr/>
        </p:nvSpPr>
        <p:spPr>
          <a:xfrm>
            <a:off x="1463040" y="5166360"/>
            <a:ext cx="5760720" cy="731520"/>
          </a:xfrm>
          <a:prstGeom prst="rect">
            <a:avLst/>
          </a:prstGeom>
          <a:noFill/>
          <a:ln/>
        </p:spPr>
        <p:txBody>
          <a:bodyPr wrap="square" lIns="0" tIns="0" rIns="0" bIns="0" rtlCol="0" anchor="ctr"/>
          <a:lstStyle/>
          <a:p>
            <a:pPr indent="0" marL="0">
              <a:buNone/>
            </a:pPr>
            <a:r>
              <a:rPr lang="en-US" sz="2000" b="1" dirty="0">
                <a:solidFill>
                  <a:schemeClr val="tx1"/>
                </a:solidFill>
              </a:rPr>
              <a:t>Odzyskiwanie po awarii</a:t>
            </a:r>
            <a:endParaRPr lang="en-US" sz="2000" dirty="0"/>
          </a:p>
          <a:p>
            <a:pPr indent="0" marL="0">
              <a:buNone/>
            </a:pPr>
            <a:r>
              <a:rPr lang="en-US" sz="1600" dirty="0">
                <a:solidFill>
                  <a:schemeClr val="tx1"/>
                </a:solidFill>
              </a:rPr>
              <a:t>Dziennik transakcji (redo log)</a:t>
            </a:r>
            <a:endParaRPr lang="en-US" sz="2000" dirty="0"/>
          </a:p>
        </p:txBody>
      </p:sp>
      <p:sp>
        <p:nvSpPr>
          <p:cNvPr id="19" name="Karta domyślny"/>
          <p:cNvSpPr/>
          <p:nvPr/>
        </p:nvSpPr>
        <p:spPr>
          <a:xfrm>
            <a:off x="7772400" y="1554480"/>
            <a:ext cx="3749040" cy="4389120"/>
          </a:xfrm>
          <a:prstGeom prst="roundRect">
            <a:avLst>
              <a:gd name="adj" fmla="val 2927"/>
            </a:avLst>
          </a:prstGeom>
          <a:solidFill>
            <a:schemeClr val="tx1"/>
          </a:solidFill>
          <a:ln/>
        </p:spPr>
      </p:sp>
      <p:sp>
        <p:nvSpPr>
          <p:cNvPr id="20" name="Text 12"/>
          <p:cNvSpPr txBox="1"/>
          <p:nvPr/>
        </p:nvSpPr>
        <p:spPr>
          <a:xfrm>
            <a:off x="8046720" y="1828800"/>
            <a:ext cx="3200400" cy="457200"/>
          </a:xfrm>
          <a:prstGeom prst="rect">
            <a:avLst/>
          </a:prstGeom>
          <a:noFill/>
          <a:ln/>
        </p:spPr>
        <p:txBody>
          <a:bodyPr wrap="square" lIns="0" tIns="0" rIns="0" bIns="0" rtlCol="0" anchor="ctr"/>
          <a:lstStyle/>
          <a:p>
            <a:pPr indent="0" marL="0">
              <a:buNone/>
            </a:pPr>
            <a:r>
              <a:rPr lang="en-US" sz="1600" b="1" dirty="0">
                <a:solidFill>
                  <a:schemeClr val="accent2"/>
                </a:solidFill>
              </a:rPr>
              <a:t>DOMYŚLNY</a:t>
            </a:r>
            <a:endParaRPr lang="en-US" sz="1600" dirty="0"/>
          </a:p>
        </p:txBody>
      </p:sp>
      <p:sp>
        <p:nvSpPr>
          <p:cNvPr id="21" name="Text 13"/>
          <p:cNvSpPr txBox="1"/>
          <p:nvPr/>
        </p:nvSpPr>
        <p:spPr>
          <a:xfrm>
            <a:off x="8046720" y="2286000"/>
            <a:ext cx="3200400" cy="914400"/>
          </a:xfrm>
          <a:prstGeom prst="rect">
            <a:avLst/>
          </a:prstGeom>
          <a:noFill/>
          <a:ln/>
        </p:spPr>
        <p:txBody>
          <a:bodyPr wrap="square" lIns="0" tIns="0" rIns="0" bIns="0" rtlCol="0" anchor="ctr"/>
          <a:lstStyle/>
          <a:p>
            <a:pPr indent="0" marL="0">
              <a:buNone/>
            </a:pPr>
            <a:r>
              <a:rPr lang="en-US" sz="4600" b="1" dirty="0">
                <a:solidFill>
                  <a:schemeClr val="bg1"/>
                </a:solidFill>
                <a:latin typeface="Cambria" pitchFamily="34" charset="0"/>
                <a:ea typeface="Cambria" pitchFamily="34" charset="-122"/>
                <a:cs typeface="Cambria" pitchFamily="34" charset="-120"/>
              </a:rPr>
              <a:t>InnoDB</a:t>
            </a:r>
            <a:endParaRPr lang="en-US" sz="4600" dirty="0"/>
          </a:p>
        </p:txBody>
      </p:sp>
      <p:sp>
        <p:nvSpPr>
          <p:cNvPr id="22" name="Text 14"/>
          <p:cNvSpPr txBox="1"/>
          <p:nvPr/>
        </p:nvSpPr>
        <p:spPr>
          <a:xfrm>
            <a:off x="8046720" y="3383280"/>
            <a:ext cx="3200400" cy="2286000"/>
          </a:xfrm>
          <a:prstGeom prst="rect">
            <a:avLst/>
          </a:prstGeom>
          <a:noFill/>
          <a:ln/>
        </p:spPr>
        <p:txBody>
          <a:bodyPr wrap="square" lIns="0" tIns="0" rIns="0" bIns="0" rtlCol="0" anchor="t"/>
          <a:lstStyle/>
          <a:p>
            <a:pPr indent="0" marL="0">
              <a:buNone/>
            </a:pPr>
            <a:r>
              <a:rPr lang="en-US" sz="1800" dirty="0">
                <a:solidFill>
                  <a:schemeClr val="accent6"/>
                </a:solidFill>
              </a:rPr>
              <a:t>Sklepy internetowe, banki, księgowość, CRM i ERP — wszędzie, gdzie zamówienie bez klienta jest niedopuszczalne.</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ph idx="100" type="title" hasCustomPrompt="1"/>
          </p:nvPr>
        </p:nvSpPr>
        <p:spPr>
          <a:xfrm>
            <a:off x="640080" y="365760"/>
            <a:ext cx="10881360" cy="86868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MyISAM — szybkość kosztem transakcyjności</a:t>
            </a:r>
            <a:endParaRPr lang="en-US" sz="3400" dirty="0"/>
          </a:p>
        </p:txBody>
      </p:sp>
      <p:sp>
        <p:nvSpPr>
          <p:cNvPr id="4" name="Karta plusy"/>
          <p:cNvSpPr/>
          <p:nvPr/>
        </p:nvSpPr>
        <p:spPr>
          <a:xfrm>
            <a:off x="640080" y="1554480"/>
            <a:ext cx="5303520" cy="3566160"/>
          </a:xfrm>
          <a:prstGeom prst="roundRect">
            <a:avLst>
              <a:gd name="adj" fmla="val 3077"/>
            </a:avLst>
          </a:prstGeom>
          <a:solidFill>
            <a:schemeClr val="bg2"/>
          </a:solidFill>
          <a:ln/>
          <a:effectLst>
            <a:outerShdw sx="100000" sy="100000" kx="0" ky="0" algn="bl" rotWithShape="0" blurRad="101600" dist="25400" dir="5400000">
              <a:srgbClr val="0B2A3F">
                <a:alpha val="12000"/>
              </a:srgbClr>
            </a:outerShdw>
          </a:effectLst>
        </p:spPr>
      </p:sp>
      <p:sp>
        <p:nvSpPr>
          <p:cNvPr id="5" name="Text 2"/>
          <p:cNvSpPr txBox="1"/>
          <p:nvPr/>
        </p:nvSpPr>
        <p:spPr>
          <a:xfrm>
            <a:off x="914400" y="1737360"/>
            <a:ext cx="4754880" cy="457200"/>
          </a:xfrm>
          <a:prstGeom prst="rect">
            <a:avLst/>
          </a:prstGeom>
          <a:noFill/>
          <a:ln/>
        </p:spPr>
        <p:txBody>
          <a:bodyPr wrap="square" lIns="0" tIns="0" rIns="0" bIns="0" rtlCol="0" anchor="ctr"/>
          <a:lstStyle/>
          <a:p>
            <a:pPr indent="0" marL="0">
              <a:buNone/>
            </a:pPr>
            <a:r>
              <a:rPr lang="en-US" sz="2200" b="1" dirty="0">
                <a:solidFill>
                  <a:schemeClr val="accent3"/>
                </a:solidFill>
                <a:latin typeface="Cambria" pitchFamily="34" charset="0"/>
                <a:ea typeface="Cambria" pitchFamily="34" charset="-122"/>
                <a:cs typeface="Cambria" pitchFamily="34" charset="-120"/>
              </a:rPr>
              <a:t>Mocne strony</a:t>
            </a:r>
            <a:endParaRPr lang="en-US" sz="2200" dirty="0"/>
          </a:p>
        </p:txBody>
      </p:sp>
      <p:sp>
        <p:nvSpPr>
          <p:cNvPr id="6" name="Text 3"/>
          <p:cNvSpPr txBox="1"/>
          <p:nvPr/>
        </p:nvSpPr>
        <p:spPr>
          <a:xfrm>
            <a:off x="914400" y="2377440"/>
            <a:ext cx="4754880" cy="2560320"/>
          </a:xfrm>
          <a:prstGeom prst="rect">
            <a:avLst/>
          </a:prstGeom>
          <a:noFill/>
          <a:ln/>
        </p:spPr>
        <p:txBody>
          <a:bodyPr wrap="square" lIns="0" tIns="0" rIns="0" bIns="0" rtlCol="0" anchor="t"/>
          <a:lstStyle/>
          <a:p>
            <a:pPr marL="342900" indent="-342900">
              <a:spcAft>
                <a:spcPts val="800"/>
              </a:spcAft>
              <a:buSzPct val="100000"/>
              <a:buChar char="•"/>
            </a:pPr>
            <a:r>
              <a:rPr lang="en-US" sz="2100" dirty="0">
                <a:solidFill>
                  <a:schemeClr val="tx1"/>
                </a:solidFill>
              </a:rPr>
              <a:t>Wbudowane wyszukiwanie pełnotekstowe (FULLTEXT)</a:t>
            </a:r>
            <a:endParaRPr lang="en-US" sz="2100" dirty="0"/>
          </a:p>
          <a:p>
            <a:pPr marL="342900" indent="-342900">
              <a:spcAft>
                <a:spcPts val="800"/>
              </a:spcAft>
              <a:buSzPct val="100000"/>
              <a:buChar char="•"/>
            </a:pPr>
            <a:r>
              <a:rPr lang="en-US" sz="2100" dirty="0">
                <a:solidFill>
                  <a:schemeClr val="tx1"/>
                </a:solidFill>
              </a:rPr>
              <a:t>Spakowane indeksy — mniejsze pliki</a:t>
            </a:r>
            <a:endParaRPr lang="en-US" sz="2100" dirty="0"/>
          </a:p>
          <a:p>
            <a:pPr marL="342900" indent="-342900">
              <a:spcAft>
                <a:spcPts val="800"/>
              </a:spcAft>
              <a:buSzPct val="100000"/>
              <a:buChar char="•"/>
            </a:pPr>
            <a:r>
              <a:rPr lang="en-US" sz="2100" dirty="0">
                <a:solidFill>
                  <a:schemeClr val="tx1"/>
                </a:solidFill>
              </a:rPr>
              <a:t>Bardzo dobry przy przewadze odczytów</a:t>
            </a:r>
            <a:endParaRPr lang="en-US" sz="2100" dirty="0"/>
          </a:p>
        </p:txBody>
      </p:sp>
      <p:sp>
        <p:nvSpPr>
          <p:cNvPr id="7" name="Karta minusy"/>
          <p:cNvSpPr/>
          <p:nvPr/>
        </p:nvSpPr>
        <p:spPr>
          <a:xfrm>
            <a:off x="6217920" y="1554480"/>
            <a:ext cx="5303520" cy="3566160"/>
          </a:xfrm>
          <a:prstGeom prst="roundRect">
            <a:avLst>
              <a:gd name="adj" fmla="val 3077"/>
            </a:avLst>
          </a:prstGeom>
          <a:solidFill>
            <a:schemeClr val="bg2"/>
          </a:solidFill>
          <a:ln/>
          <a:effectLst>
            <a:outerShdw sx="100000" sy="100000" kx="0" ky="0" algn="bl" rotWithShape="0" blurRad="101600" dist="25400" dir="5400000">
              <a:srgbClr val="0B2A3F">
                <a:alpha val="12000"/>
              </a:srgbClr>
            </a:outerShdw>
          </a:effectLst>
        </p:spPr>
      </p:sp>
      <p:sp>
        <p:nvSpPr>
          <p:cNvPr id="8" name="Text 5"/>
          <p:cNvSpPr txBox="1"/>
          <p:nvPr/>
        </p:nvSpPr>
        <p:spPr>
          <a:xfrm>
            <a:off x="6492240" y="1737360"/>
            <a:ext cx="4754880" cy="457200"/>
          </a:xfrm>
          <a:prstGeom prst="rect">
            <a:avLst/>
          </a:prstGeom>
          <a:noFill/>
          <a:ln/>
        </p:spPr>
        <p:txBody>
          <a:bodyPr wrap="square" lIns="0" tIns="0" rIns="0" bIns="0" rtlCol="0" anchor="ctr"/>
          <a:lstStyle/>
          <a:p>
            <a:pPr indent="0" marL="0">
              <a:buNone/>
            </a:pPr>
            <a:r>
              <a:rPr lang="en-US" sz="2200" b="1" dirty="0">
                <a:solidFill>
                  <a:schemeClr val="accent5"/>
                </a:solidFill>
                <a:latin typeface="Cambria" pitchFamily="34" charset="0"/>
                <a:ea typeface="Cambria" pitchFamily="34" charset="-122"/>
                <a:cs typeface="Cambria" pitchFamily="34" charset="-120"/>
              </a:rPr>
              <a:t>Ograniczenia</a:t>
            </a:r>
            <a:endParaRPr lang="en-US" sz="2200" dirty="0"/>
          </a:p>
        </p:txBody>
      </p:sp>
      <p:sp>
        <p:nvSpPr>
          <p:cNvPr id="9" name="Text 6"/>
          <p:cNvSpPr txBox="1"/>
          <p:nvPr/>
        </p:nvSpPr>
        <p:spPr>
          <a:xfrm>
            <a:off x="6492240" y="2377440"/>
            <a:ext cx="4754880" cy="2560320"/>
          </a:xfrm>
          <a:prstGeom prst="rect">
            <a:avLst/>
          </a:prstGeom>
          <a:noFill/>
          <a:ln/>
        </p:spPr>
        <p:txBody>
          <a:bodyPr wrap="square" lIns="0" tIns="0" rIns="0" bIns="0" rtlCol="0" anchor="t"/>
          <a:lstStyle/>
          <a:p>
            <a:pPr marL="342900" indent="-342900">
              <a:spcAft>
                <a:spcPts val="800"/>
              </a:spcAft>
              <a:buSzPct val="100000"/>
              <a:buChar char="•"/>
            </a:pPr>
            <a:r>
              <a:rPr lang="en-US" sz="2100" dirty="0">
                <a:solidFill>
                  <a:schemeClr val="tx1"/>
                </a:solidFill>
              </a:rPr>
              <a:t>Brak transakcji — zmiany natychmiastowe i nieodwracalne</a:t>
            </a:r>
            <a:endParaRPr lang="en-US" sz="2100" dirty="0"/>
          </a:p>
          <a:p>
            <a:pPr marL="342900" indent="-342900">
              <a:spcAft>
                <a:spcPts val="800"/>
              </a:spcAft>
              <a:buSzPct val="100000"/>
              <a:buChar char="•"/>
            </a:pPr>
            <a:r>
              <a:rPr lang="en-US" sz="2100" dirty="0">
                <a:solidFill>
                  <a:schemeClr val="tx1"/>
                </a:solidFill>
              </a:rPr>
              <a:t>Brak kluczy obcych</a:t>
            </a:r>
            <a:endParaRPr lang="en-US" sz="2100" dirty="0"/>
          </a:p>
          <a:p>
            <a:pPr marL="342900" indent="-342900">
              <a:spcAft>
                <a:spcPts val="800"/>
              </a:spcAft>
              <a:buSzPct val="100000"/>
              <a:buChar char="•"/>
            </a:pPr>
            <a:r>
              <a:rPr lang="en-US" sz="2100" dirty="0">
                <a:solidFill>
                  <a:schemeClr val="tx1"/>
                </a:solidFill>
              </a:rPr>
              <a:t>Blokada całej tabeli przy zapisie</a:t>
            </a:r>
            <a:endParaRPr lang="en-US" sz="2100" dirty="0"/>
          </a:p>
        </p:txBody>
      </p:sp>
      <p:sp>
        <p:nvSpPr>
          <p:cNvPr id="10" name="Text 7"/>
          <p:cNvSpPr txBox="1"/>
          <p:nvPr/>
        </p:nvSpPr>
        <p:spPr>
          <a:xfrm>
            <a:off x="640080" y="5440680"/>
            <a:ext cx="10881360" cy="640080"/>
          </a:xfrm>
          <a:prstGeom prst="rect">
            <a:avLst/>
          </a:prstGeom>
          <a:noFill/>
          <a:ln/>
        </p:spPr>
        <p:txBody>
          <a:bodyPr wrap="square" lIns="0" tIns="0" rIns="0" bIns="0" rtlCol="0" anchor="ctr"/>
          <a:lstStyle/>
          <a:p>
            <a:pPr indent="0" marL="0">
              <a:buNone/>
            </a:pPr>
            <a:r>
              <a:rPr lang="en-US" sz="1800" i="1" dirty="0">
                <a:solidFill>
                  <a:schemeClr val="tx2"/>
                </a:solidFill>
              </a:rPr>
              <a:t>Dobry wybór: archiwalne raporty i wyszukiwarki treści tekstowych — nie dane krytyczne.</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ph idx="100" type="title" hasCustomPrompt="1"/>
          </p:nvPr>
        </p:nvSpPr>
        <p:spPr>
          <a:xfrm>
            <a:off x="640080" y="365760"/>
            <a:ext cx="10881360" cy="86868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MEMORY — tabele w pamięci RAM</a:t>
            </a:r>
            <a:endParaRPr lang="en-US" sz="3400" dirty="0"/>
          </a:p>
        </p:txBody>
      </p:sp>
      <p:sp>
        <p:nvSpPr>
          <p:cNvPr id="4" name="Statystyka RAM"/>
          <p:cNvSpPr/>
          <p:nvPr/>
        </p:nvSpPr>
        <p:spPr>
          <a:xfrm>
            <a:off x="640080" y="1554480"/>
            <a:ext cx="3474720" cy="2194560"/>
          </a:xfrm>
          <a:prstGeom prst="roundRect">
            <a:avLst>
              <a:gd name="adj" fmla="val 5000"/>
            </a:avLst>
          </a:prstGeom>
          <a:solidFill>
            <a:schemeClr val="tx1"/>
          </a:solidFill>
          <a:ln/>
        </p:spPr>
      </p:sp>
      <p:sp>
        <p:nvSpPr>
          <p:cNvPr id="5" name="Text 2"/>
          <p:cNvSpPr txBox="1"/>
          <p:nvPr/>
        </p:nvSpPr>
        <p:spPr>
          <a:xfrm>
            <a:off x="914400" y="1691640"/>
            <a:ext cx="2926080" cy="1097280"/>
          </a:xfrm>
          <a:prstGeom prst="rect">
            <a:avLst/>
          </a:prstGeom>
          <a:noFill/>
          <a:ln/>
        </p:spPr>
        <p:txBody>
          <a:bodyPr wrap="square" lIns="0" tIns="0" rIns="0" bIns="0" rtlCol="0" anchor="ctr"/>
          <a:lstStyle/>
          <a:p>
            <a:pPr indent="0" marL="0">
              <a:buNone/>
            </a:pPr>
            <a:r>
              <a:rPr lang="en-US" sz="5600" b="1" dirty="0">
                <a:solidFill>
                  <a:schemeClr val="bg1"/>
                </a:solidFill>
                <a:latin typeface="Cambria" pitchFamily="34" charset="0"/>
                <a:ea typeface="Cambria" pitchFamily="34" charset="-122"/>
                <a:cs typeface="Cambria" pitchFamily="34" charset="-120"/>
              </a:rPr>
              <a:t>RAM</a:t>
            </a:r>
            <a:endParaRPr lang="en-US" sz="5600" dirty="0"/>
          </a:p>
        </p:txBody>
      </p:sp>
      <p:sp>
        <p:nvSpPr>
          <p:cNvPr id="6" name="Text 3"/>
          <p:cNvSpPr txBox="1"/>
          <p:nvPr/>
        </p:nvSpPr>
        <p:spPr>
          <a:xfrm>
            <a:off x="914400" y="2788920"/>
            <a:ext cx="2926080" cy="822960"/>
          </a:xfrm>
          <a:prstGeom prst="rect">
            <a:avLst/>
          </a:prstGeom>
          <a:noFill/>
          <a:ln/>
        </p:spPr>
        <p:txBody>
          <a:bodyPr wrap="square" lIns="0" tIns="0" rIns="0" bIns="0" rtlCol="0" anchor="t"/>
          <a:lstStyle/>
          <a:p>
            <a:pPr indent="0" marL="0">
              <a:buNone/>
            </a:pPr>
            <a:r>
              <a:rPr lang="en-US" sz="1600" dirty="0">
                <a:solidFill>
                  <a:schemeClr val="bg2"/>
                </a:solidFill>
              </a:rPr>
              <a:t>cała tabela w pamięci serwera</a:t>
            </a:r>
            <a:endParaRPr lang="en-US" sz="1600" dirty="0"/>
          </a:p>
        </p:txBody>
      </p:sp>
      <p:sp>
        <p:nvSpPr>
          <p:cNvPr id="7" name="Statystyka 0"/>
          <p:cNvSpPr/>
          <p:nvPr/>
        </p:nvSpPr>
        <p:spPr>
          <a:xfrm>
            <a:off x="4343400" y="1554480"/>
            <a:ext cx="3474720" cy="2194560"/>
          </a:xfrm>
          <a:prstGeom prst="roundRect">
            <a:avLst>
              <a:gd name="adj" fmla="val 5000"/>
            </a:avLst>
          </a:prstGeom>
          <a:solidFill>
            <a:schemeClr val="accent5"/>
          </a:solidFill>
          <a:ln/>
        </p:spPr>
      </p:sp>
      <p:sp>
        <p:nvSpPr>
          <p:cNvPr id="8" name="Text 5"/>
          <p:cNvSpPr txBox="1"/>
          <p:nvPr/>
        </p:nvSpPr>
        <p:spPr>
          <a:xfrm>
            <a:off x="4617720" y="1691640"/>
            <a:ext cx="2926080" cy="1097280"/>
          </a:xfrm>
          <a:prstGeom prst="rect">
            <a:avLst/>
          </a:prstGeom>
          <a:noFill/>
          <a:ln/>
        </p:spPr>
        <p:txBody>
          <a:bodyPr wrap="square" lIns="0" tIns="0" rIns="0" bIns="0" rtlCol="0" anchor="ctr"/>
          <a:lstStyle/>
          <a:p>
            <a:pPr indent="0" marL="0">
              <a:buNone/>
            </a:pPr>
            <a:r>
              <a:rPr lang="en-US" sz="5600" b="1" dirty="0">
                <a:solidFill>
                  <a:schemeClr val="bg1"/>
                </a:solidFill>
                <a:latin typeface="Cambria" pitchFamily="34" charset="0"/>
                <a:ea typeface="Cambria" pitchFamily="34" charset="-122"/>
                <a:cs typeface="Cambria" pitchFamily="34" charset="-120"/>
              </a:rPr>
              <a:t>0</a:t>
            </a:r>
            <a:endParaRPr lang="en-US" sz="5600" dirty="0"/>
          </a:p>
        </p:txBody>
      </p:sp>
      <p:sp>
        <p:nvSpPr>
          <p:cNvPr id="9" name="Text 6"/>
          <p:cNvSpPr txBox="1"/>
          <p:nvPr/>
        </p:nvSpPr>
        <p:spPr>
          <a:xfrm>
            <a:off x="4617720" y="2788920"/>
            <a:ext cx="2926080" cy="822960"/>
          </a:xfrm>
          <a:prstGeom prst="rect">
            <a:avLst/>
          </a:prstGeom>
          <a:noFill/>
          <a:ln/>
        </p:spPr>
        <p:txBody>
          <a:bodyPr wrap="square" lIns="0" tIns="0" rIns="0" bIns="0" rtlCol="0" anchor="t"/>
          <a:lstStyle/>
          <a:p>
            <a:pPr indent="0" marL="0">
              <a:buNone/>
            </a:pPr>
            <a:r>
              <a:rPr lang="en-US" sz="1600" dirty="0">
                <a:solidFill>
                  <a:schemeClr val="bg2"/>
                </a:solidFill>
              </a:rPr>
              <a:t>trwałości — restart kasuje dane</a:t>
            </a:r>
            <a:endParaRPr lang="en-US" sz="1600" dirty="0"/>
          </a:p>
        </p:txBody>
      </p:sp>
      <p:sp>
        <p:nvSpPr>
          <p:cNvPr id="10" name="Statystyka HASH"/>
          <p:cNvSpPr/>
          <p:nvPr/>
        </p:nvSpPr>
        <p:spPr>
          <a:xfrm>
            <a:off x="8046720" y="1554480"/>
            <a:ext cx="3474720" cy="2194560"/>
          </a:xfrm>
          <a:prstGeom prst="roundRect">
            <a:avLst>
              <a:gd name="adj" fmla="val 5000"/>
            </a:avLst>
          </a:prstGeom>
          <a:solidFill>
            <a:schemeClr val="tx1"/>
          </a:solidFill>
          <a:ln/>
        </p:spPr>
      </p:sp>
      <p:sp>
        <p:nvSpPr>
          <p:cNvPr id="11" name="Text 8"/>
          <p:cNvSpPr txBox="1"/>
          <p:nvPr/>
        </p:nvSpPr>
        <p:spPr>
          <a:xfrm>
            <a:off x="8321040" y="1691640"/>
            <a:ext cx="2926080" cy="1097280"/>
          </a:xfrm>
          <a:prstGeom prst="rect">
            <a:avLst/>
          </a:prstGeom>
          <a:noFill/>
          <a:ln/>
        </p:spPr>
        <p:txBody>
          <a:bodyPr wrap="square" lIns="0" tIns="0" rIns="0" bIns="0" rtlCol="0" anchor="ctr"/>
          <a:lstStyle/>
          <a:p>
            <a:pPr indent="0" marL="0">
              <a:buNone/>
            </a:pPr>
            <a:r>
              <a:rPr lang="en-US" sz="5600" b="1" dirty="0">
                <a:solidFill>
                  <a:schemeClr val="bg1"/>
                </a:solidFill>
                <a:latin typeface="Cambria" pitchFamily="34" charset="0"/>
                <a:ea typeface="Cambria" pitchFamily="34" charset="-122"/>
                <a:cs typeface="Cambria" pitchFamily="34" charset="-120"/>
              </a:rPr>
              <a:t>HASH</a:t>
            </a:r>
            <a:endParaRPr lang="en-US" sz="5600" dirty="0"/>
          </a:p>
        </p:txBody>
      </p:sp>
      <p:sp>
        <p:nvSpPr>
          <p:cNvPr id="12" name="Text 9"/>
          <p:cNvSpPr txBox="1"/>
          <p:nvPr/>
        </p:nvSpPr>
        <p:spPr>
          <a:xfrm>
            <a:off x="8321040" y="2788920"/>
            <a:ext cx="2926080" cy="822960"/>
          </a:xfrm>
          <a:prstGeom prst="rect">
            <a:avLst/>
          </a:prstGeom>
          <a:noFill/>
          <a:ln/>
        </p:spPr>
        <p:txBody>
          <a:bodyPr wrap="square" lIns="0" tIns="0" rIns="0" bIns="0" rtlCol="0" anchor="t"/>
          <a:lstStyle/>
          <a:p>
            <a:pPr indent="0" marL="0">
              <a:buNone/>
            </a:pPr>
            <a:r>
              <a:rPr lang="en-US" sz="1600" dirty="0">
                <a:solidFill>
                  <a:schemeClr val="bg2"/>
                </a:solidFill>
              </a:rPr>
              <a:t>domyślny typ indeksu (opcjonalnie BTREE)</a:t>
            </a:r>
            <a:endParaRPr lang="en-US" sz="1600" dirty="0"/>
          </a:p>
        </p:txBody>
      </p:sp>
      <p:sp>
        <p:nvSpPr>
          <p:cNvPr id="13" name="Text 10"/>
          <p:cNvSpPr txBox="1"/>
          <p:nvPr/>
        </p:nvSpPr>
        <p:spPr>
          <a:xfrm>
            <a:off x="640080" y="4114800"/>
            <a:ext cx="10881360" cy="2011680"/>
          </a:xfrm>
          <a:prstGeom prst="rect">
            <a:avLst/>
          </a:prstGeom>
          <a:noFill/>
          <a:ln/>
        </p:spPr>
        <p:txBody>
          <a:bodyPr wrap="square" lIns="0" tIns="0" rIns="0" bIns="0" rtlCol="0" anchor="t"/>
          <a:lstStyle/>
          <a:p>
            <a:pPr marL="342900" indent="-342900">
              <a:spcAft>
                <a:spcPts val="800"/>
              </a:spcAft>
              <a:buSzPct val="100000"/>
              <a:buChar char="•"/>
            </a:pPr>
            <a:r>
              <a:rPr lang="en-US" sz="2100" dirty="0">
                <a:solidFill>
                  <a:schemeClr val="tx1"/>
                </a:solidFill>
              </a:rPr>
              <a:t>Brak obsługi kolumn BLOB i TEXT</a:t>
            </a:r>
            <a:endParaRPr lang="en-US" sz="2100" dirty="0"/>
          </a:p>
          <a:p>
            <a:pPr marL="342900" indent="-342900">
              <a:spcAft>
                <a:spcPts val="800"/>
              </a:spcAft>
              <a:buSzPct val="100000"/>
              <a:buChar char="•"/>
            </a:pPr>
            <a:r>
              <a:rPr lang="en-US" sz="2100" dirty="0">
                <a:solidFill>
                  <a:schemeClr val="tx1"/>
                </a:solidFill>
              </a:rPr>
              <a:t>Zastosowania: tabele tymczasowe, tablice przeglądowe, cache sesji</a:t>
            </a:r>
            <a:endParaRPr lang="en-US" sz="2100" dirty="0"/>
          </a:p>
          <a:p>
            <a:pPr marL="342900" indent="-342900">
              <a:spcAft>
                <a:spcPts val="800"/>
              </a:spcAft>
              <a:buSzPct val="100000"/>
              <a:buChar char="•"/>
            </a:pPr>
            <a:r>
              <a:rPr lang="en-US" sz="2100" dirty="0">
                <a:solidFill>
                  <a:schemeClr val="tx1"/>
                </a:solidFill>
              </a:rPr>
              <a:t>Nigdy jako magazyn danych trwałych</a:t>
            </a:r>
            <a:endParaRPr lang="en-US" sz="21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ph idx="100" type="title" hasCustomPrompt="1"/>
          </p:nvPr>
        </p:nvSpPr>
        <p:spPr>
          <a:xfrm>
            <a:off x="640080" y="365760"/>
            <a:ext cx="10881360" cy="86868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ARCHIVE — kompresja i dane tylko do dopisywania</a:t>
            </a:r>
            <a:endParaRPr lang="en-US" sz="3400" dirty="0"/>
          </a:p>
        </p:txBody>
      </p:sp>
      <p:sp>
        <p:nvSpPr>
          <p:cNvPr id="4" name="Ikona tło"/>
          <p:cNvSpPr/>
          <p:nvPr/>
        </p:nvSpPr>
        <p:spPr>
          <a:xfrm>
            <a:off x="640080" y="1645920"/>
            <a:ext cx="594360" cy="594360"/>
          </a:xfrm>
          <a:prstGeom prst="ellipse">
            <a:avLst/>
          </a:prstGeom>
          <a:solidFill>
            <a:schemeClr val="accent1"/>
          </a:solidFill>
          <a:ln/>
        </p:spPr>
      </p:sp>
      <p:pic>
        <p:nvPicPr>
          <p:cNvPr id="5" name="Ikona Tylko INSERT i SELECT" descr="preencoded.png">    </p:cNvPr>
          <p:cNvPicPr>
            <a:picLocks noChangeAspect="1"/>
          </p:cNvPicPr>
          <p:nvPr/>
        </p:nvPicPr>
        <p:blipFill>
          <a:blip r:embed="rId1"/>
          <a:stretch>
            <a:fillRect/>
          </a:stretch>
        </p:blipFill>
        <p:spPr>
          <a:xfrm>
            <a:off x="786384" y="1792224"/>
            <a:ext cx="301752" cy="301752"/>
          </a:xfrm>
          <a:prstGeom prst="rect">
            <a:avLst/>
          </a:prstGeom>
        </p:spPr>
      </p:pic>
      <p:sp>
        <p:nvSpPr>
          <p:cNvPr id="6" name="Text 2"/>
          <p:cNvSpPr txBox="1"/>
          <p:nvPr/>
        </p:nvSpPr>
        <p:spPr>
          <a:xfrm>
            <a:off x="1463040" y="1600200"/>
            <a:ext cx="5212080" cy="731520"/>
          </a:xfrm>
          <a:prstGeom prst="rect">
            <a:avLst/>
          </a:prstGeom>
          <a:noFill/>
          <a:ln/>
        </p:spPr>
        <p:txBody>
          <a:bodyPr wrap="square" lIns="0" tIns="0" rIns="0" bIns="0" rtlCol="0" anchor="ctr"/>
          <a:lstStyle/>
          <a:p>
            <a:pPr indent="0" marL="0">
              <a:buNone/>
            </a:pPr>
            <a:r>
              <a:rPr lang="en-US" sz="2000" b="1" dirty="0">
                <a:solidFill>
                  <a:schemeClr val="tx1"/>
                </a:solidFill>
              </a:rPr>
              <a:t>Tylko INSERT i SELECT</a:t>
            </a:r>
            <a:endParaRPr lang="en-US" sz="2000" dirty="0"/>
          </a:p>
          <a:p>
            <a:pPr indent="0" marL="0">
              <a:buNone/>
            </a:pPr>
            <a:r>
              <a:rPr lang="en-US" sz="1600" dirty="0">
                <a:solidFill>
                  <a:schemeClr val="tx1"/>
                </a:solidFill>
              </a:rPr>
              <a:t>Brak UPDATE i DELETE pojedynczych wierszy</a:t>
            </a:r>
            <a:endParaRPr lang="en-US" sz="2000" dirty="0"/>
          </a:p>
        </p:txBody>
      </p:sp>
      <p:sp>
        <p:nvSpPr>
          <p:cNvPr id="7" name="Ikona tło"/>
          <p:cNvSpPr/>
          <p:nvPr/>
        </p:nvSpPr>
        <p:spPr>
          <a:xfrm>
            <a:off x="640080" y="2651760"/>
            <a:ext cx="594360" cy="594360"/>
          </a:xfrm>
          <a:prstGeom prst="ellipse">
            <a:avLst/>
          </a:prstGeom>
          <a:solidFill>
            <a:schemeClr val="accent3"/>
          </a:solidFill>
          <a:ln/>
        </p:spPr>
      </p:sp>
      <p:pic>
        <p:nvPicPr>
          <p:cNvPr id="8" name="Ikona Silna kompresja zlib" descr="preencoded.png">    </p:cNvPr>
          <p:cNvPicPr>
            <a:picLocks noChangeAspect="1"/>
          </p:cNvPicPr>
          <p:nvPr/>
        </p:nvPicPr>
        <p:blipFill>
          <a:blip r:embed="rId2"/>
          <a:stretch>
            <a:fillRect/>
          </a:stretch>
        </p:blipFill>
        <p:spPr>
          <a:xfrm>
            <a:off x="786384" y="2798064"/>
            <a:ext cx="301752" cy="301752"/>
          </a:xfrm>
          <a:prstGeom prst="rect">
            <a:avLst/>
          </a:prstGeom>
        </p:spPr>
      </p:pic>
      <p:sp>
        <p:nvSpPr>
          <p:cNvPr id="9" name="Text 4"/>
          <p:cNvSpPr txBox="1"/>
          <p:nvPr/>
        </p:nvSpPr>
        <p:spPr>
          <a:xfrm>
            <a:off x="1463040" y="2606040"/>
            <a:ext cx="5212080" cy="731520"/>
          </a:xfrm>
          <a:prstGeom prst="rect">
            <a:avLst/>
          </a:prstGeom>
          <a:noFill/>
          <a:ln/>
        </p:spPr>
        <p:txBody>
          <a:bodyPr wrap="square" lIns="0" tIns="0" rIns="0" bIns="0" rtlCol="0" anchor="ctr"/>
          <a:lstStyle/>
          <a:p>
            <a:pPr indent="0" marL="0">
              <a:buNone/>
            </a:pPr>
            <a:r>
              <a:rPr lang="en-US" sz="2000" b="1" dirty="0">
                <a:solidFill>
                  <a:schemeClr val="tx1"/>
                </a:solidFill>
              </a:rPr>
              <a:t>Silna kompresja zlib</a:t>
            </a:r>
            <a:endParaRPr lang="en-US" sz="2000" dirty="0"/>
          </a:p>
          <a:p>
            <a:pPr indent="0" marL="0">
              <a:buNone/>
            </a:pPr>
            <a:r>
              <a:rPr lang="en-US" sz="1600" dirty="0">
                <a:solidFill>
                  <a:schemeClr val="tx1"/>
                </a:solidFill>
              </a:rPr>
              <a:t>Znacznie mniejsze zużycie miejsca na dysku</a:t>
            </a:r>
            <a:endParaRPr lang="en-US" sz="2000" dirty="0"/>
          </a:p>
        </p:txBody>
      </p:sp>
      <p:sp>
        <p:nvSpPr>
          <p:cNvPr id="10" name="Ikona tło"/>
          <p:cNvSpPr/>
          <p:nvPr/>
        </p:nvSpPr>
        <p:spPr>
          <a:xfrm>
            <a:off x="640080" y="3657600"/>
            <a:ext cx="594360" cy="594360"/>
          </a:xfrm>
          <a:prstGeom prst="ellipse">
            <a:avLst/>
          </a:prstGeom>
          <a:solidFill>
            <a:schemeClr val="accent5"/>
          </a:solidFill>
          <a:ln/>
        </p:spPr>
      </p:sp>
      <p:pic>
        <p:nvPicPr>
          <p:cNvPr id="11" name="Ikona Wolniejszy odczyt losowy" descr="preencoded.png">    </p:cNvPr>
          <p:cNvPicPr>
            <a:picLocks noChangeAspect="1"/>
          </p:cNvPicPr>
          <p:nvPr/>
        </p:nvPicPr>
        <p:blipFill>
          <a:blip r:embed="rId3"/>
          <a:stretch>
            <a:fillRect/>
          </a:stretch>
        </p:blipFill>
        <p:spPr>
          <a:xfrm>
            <a:off x="786384" y="3803904"/>
            <a:ext cx="301752" cy="301752"/>
          </a:xfrm>
          <a:prstGeom prst="rect">
            <a:avLst/>
          </a:prstGeom>
        </p:spPr>
      </p:pic>
      <p:sp>
        <p:nvSpPr>
          <p:cNvPr id="12" name="Text 6"/>
          <p:cNvSpPr txBox="1"/>
          <p:nvPr/>
        </p:nvSpPr>
        <p:spPr>
          <a:xfrm>
            <a:off x="1463040" y="3611880"/>
            <a:ext cx="5212080" cy="731520"/>
          </a:xfrm>
          <a:prstGeom prst="rect">
            <a:avLst/>
          </a:prstGeom>
          <a:noFill/>
          <a:ln/>
        </p:spPr>
        <p:txBody>
          <a:bodyPr wrap="square" lIns="0" tIns="0" rIns="0" bIns="0" rtlCol="0" anchor="ctr"/>
          <a:lstStyle/>
          <a:p>
            <a:pPr indent="0" marL="0">
              <a:buNone/>
            </a:pPr>
            <a:r>
              <a:rPr lang="en-US" sz="2000" b="1" dirty="0">
                <a:solidFill>
                  <a:schemeClr val="tx1"/>
                </a:solidFill>
              </a:rPr>
              <a:t>Wolniejszy odczyt losowy</a:t>
            </a:r>
            <a:endParaRPr lang="en-US" sz="2000" dirty="0"/>
          </a:p>
          <a:p>
            <a:pPr indent="0" marL="0">
              <a:buNone/>
            </a:pPr>
            <a:r>
              <a:rPr lang="en-US" sz="1600" dirty="0">
                <a:solidFill>
                  <a:schemeClr val="tx1"/>
                </a:solidFill>
              </a:rPr>
              <a:t>Praktycznie brak indeksów poza kluczem głównym</a:t>
            </a:r>
            <a:endParaRPr lang="en-US" sz="2000" dirty="0"/>
          </a:p>
        </p:txBody>
      </p:sp>
      <p:sp>
        <p:nvSpPr>
          <p:cNvPr id="13" name="Karta zastosowania"/>
          <p:cNvSpPr/>
          <p:nvPr/>
        </p:nvSpPr>
        <p:spPr>
          <a:xfrm>
            <a:off x="7132320" y="1554480"/>
            <a:ext cx="4389120" cy="3931920"/>
          </a:xfrm>
          <a:prstGeom prst="roundRect">
            <a:avLst>
              <a:gd name="adj" fmla="val 2791"/>
            </a:avLst>
          </a:prstGeom>
          <a:solidFill>
            <a:schemeClr val="bg2"/>
          </a:solidFill>
          <a:ln/>
          <a:effectLst>
            <a:outerShdw sx="100000" sy="100000" kx="0" ky="0" algn="bl" rotWithShape="0" blurRad="101600" dist="25400" dir="5400000">
              <a:srgbClr val="0B2A3F">
                <a:alpha val="12000"/>
              </a:srgbClr>
            </a:outerShdw>
          </a:effectLst>
        </p:spPr>
      </p:sp>
      <p:sp>
        <p:nvSpPr>
          <p:cNvPr id="14" name="Text 8"/>
          <p:cNvSpPr txBox="1"/>
          <p:nvPr/>
        </p:nvSpPr>
        <p:spPr>
          <a:xfrm>
            <a:off x="7406640" y="1783080"/>
            <a:ext cx="3840480" cy="4572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Naturalne zastosowania</a:t>
            </a:r>
            <a:endParaRPr lang="en-US" sz="2000" dirty="0"/>
          </a:p>
        </p:txBody>
      </p:sp>
      <p:sp>
        <p:nvSpPr>
          <p:cNvPr id="15" name="Text 9"/>
          <p:cNvSpPr txBox="1"/>
          <p:nvPr/>
        </p:nvSpPr>
        <p:spPr>
          <a:xfrm>
            <a:off x="7406640" y="2468880"/>
            <a:ext cx="3840480" cy="1828800"/>
          </a:xfrm>
          <a:prstGeom prst="rect">
            <a:avLst/>
          </a:prstGeom>
          <a:noFill/>
          <a:ln/>
        </p:spPr>
        <p:txBody>
          <a:bodyPr wrap="square" lIns="0" tIns="0" rIns="0" bIns="0" rtlCol="0" anchor="t"/>
          <a:lstStyle/>
          <a:p>
            <a:pPr marL="342900" indent="-342900">
              <a:spcAft>
                <a:spcPts val="800"/>
              </a:spcAft>
              <a:buSzPct val="100000"/>
              <a:buChar char="•"/>
            </a:pPr>
            <a:r>
              <a:rPr lang="en-US" sz="2100" dirty="0">
                <a:solidFill>
                  <a:schemeClr val="tx1"/>
                </a:solidFill>
              </a:rPr>
              <a:t>logi zdarzeń</a:t>
            </a:r>
            <a:endParaRPr lang="en-US" sz="2100" dirty="0"/>
          </a:p>
          <a:p>
            <a:pPr marL="342900" indent="-342900">
              <a:spcAft>
                <a:spcPts val="800"/>
              </a:spcAft>
              <a:buSzPct val="100000"/>
              <a:buChar char="•"/>
            </a:pPr>
            <a:r>
              <a:rPr lang="en-US" sz="2100" dirty="0">
                <a:solidFill>
                  <a:schemeClr val="tx1"/>
                </a:solidFill>
              </a:rPr>
              <a:t>dane audytowe</a:t>
            </a:r>
            <a:endParaRPr lang="en-US" sz="2100" dirty="0"/>
          </a:p>
          <a:p>
            <a:pPr marL="342900" indent="-342900">
              <a:spcAft>
                <a:spcPts val="800"/>
              </a:spcAft>
              <a:buSzPct val="100000"/>
              <a:buChar char="•"/>
            </a:pPr>
            <a:r>
              <a:rPr lang="en-US" sz="2100" dirty="0">
                <a:solidFill>
                  <a:schemeClr val="tx1"/>
                </a:solidFill>
              </a:rPr>
              <a:t>historia transakcji</a:t>
            </a:r>
            <a:endParaRPr lang="en-US" sz="2100" dirty="0"/>
          </a:p>
        </p:txBody>
      </p:sp>
      <p:sp>
        <p:nvSpPr>
          <p:cNvPr id="16" name="Text 10"/>
          <p:cNvSpPr txBox="1"/>
          <p:nvPr/>
        </p:nvSpPr>
        <p:spPr>
          <a:xfrm>
            <a:off x="7406640" y="4206240"/>
            <a:ext cx="3840480" cy="1005840"/>
          </a:xfrm>
          <a:prstGeom prst="rect">
            <a:avLst/>
          </a:prstGeom>
          <a:noFill/>
          <a:ln/>
        </p:spPr>
        <p:txBody>
          <a:bodyPr wrap="square" lIns="0" tIns="0" rIns="0" bIns="0" rtlCol="0" anchor="t"/>
          <a:lstStyle/>
          <a:p>
            <a:pPr indent="0" marL="0">
              <a:buNone/>
            </a:pPr>
            <a:r>
              <a:rPr lang="en-US" sz="1500" i="1" dirty="0">
                <a:solidFill>
                  <a:schemeClr val="tx2"/>
                </a:solidFill>
              </a:rPr>
              <a:t>Dane, których nikt nie modyfikuje — i które rzadko się czyta.</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ph idx="100" type="title" hasCustomPrompt="1"/>
          </p:nvPr>
        </p:nvSpPr>
        <p:spPr>
          <a:xfrm>
            <a:off x="640080" y="365760"/>
            <a:ext cx="10881360" cy="86868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Silniki w pigułce</a:t>
            </a:r>
            <a:endParaRPr lang="en-US" sz="3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554480"/>
          <a:ext cx="10881360" cy="914400"/>
        </p:xfrm>
        <a:graphic>
          <a:graphicData uri="http://schemas.openxmlformats.org/drawingml/2006/table">
            <a:tbl>
              <a:tblPr/>
              <a:tblGrid>
                <a:gridCol w="1737360"/>
                <a:gridCol w="1554480"/>
                <a:gridCol w="1645920"/>
                <a:gridCol w="1920240"/>
                <a:gridCol w="4023360"/>
              </a:tblGrid>
              <a:tr h="731520">
                <a:tc>
                  <a:txBody>
                    <a:bodyPr/>
                    <a:lstStyle/>
                    <a:p>
                      <a:pPr indent="0" marL="0">
                        <a:buNone/>
                      </a:pPr>
                      <a:r>
                        <a:rPr lang="en-US" sz="1900" b="1" dirty="0">
                          <a:solidFill>
                            <a:schemeClr val="bg1"/>
                          </a:solidFill>
                        </a:rPr>
                        <a:t>Silnik</a:t>
                      </a:r>
                      <a:endParaRPr lang="en-US" sz="19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tx2"/>
                    </a:solidFill>
                  </a:tcPr>
                </a:tc>
                <a:tc>
                  <a:txBody>
                    <a:bodyPr/>
                    <a:lstStyle/>
                    <a:p>
                      <a:pPr indent="0" marL="0">
                        <a:buNone/>
                      </a:pPr>
                      <a:r>
                        <a:rPr lang="en-US" sz="1900" b="1" dirty="0">
                          <a:solidFill>
                            <a:schemeClr val="bg1"/>
                          </a:solidFill>
                        </a:rPr>
                        <a:t>Transakcje</a:t>
                      </a:r>
                      <a:endParaRPr lang="en-US" sz="19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tx2"/>
                    </a:solidFill>
                  </a:tcPr>
                </a:tc>
                <a:tc>
                  <a:txBody>
                    <a:bodyPr/>
                    <a:lstStyle/>
                    <a:p>
                      <a:pPr indent="0" marL="0">
                        <a:buNone/>
                      </a:pPr>
                      <a:r>
                        <a:rPr lang="en-US" sz="1900" b="1" dirty="0">
                          <a:solidFill>
                            <a:schemeClr val="bg1"/>
                          </a:solidFill>
                        </a:rPr>
                        <a:t>Klucze obce</a:t>
                      </a:r>
                      <a:endParaRPr lang="en-US" sz="19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tx2"/>
                    </a:solidFill>
                  </a:tcPr>
                </a:tc>
                <a:tc>
                  <a:txBody>
                    <a:bodyPr/>
                    <a:lstStyle/>
                    <a:p>
                      <a:pPr indent="0" marL="0">
                        <a:buNone/>
                      </a:pPr>
                      <a:r>
                        <a:rPr lang="en-US" sz="1900" b="1" dirty="0">
                          <a:solidFill>
                            <a:schemeClr val="bg1"/>
                          </a:solidFill>
                        </a:rPr>
                        <a:t>Blokada</a:t>
                      </a:r>
                      <a:endParaRPr lang="en-US" sz="19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tx2"/>
                    </a:solidFill>
                  </a:tcPr>
                </a:tc>
                <a:tc>
                  <a:txBody>
                    <a:bodyPr/>
                    <a:lstStyle/>
                    <a:p>
                      <a:pPr indent="0" marL="0">
                        <a:buNone/>
                      </a:pPr>
                      <a:r>
                        <a:rPr lang="en-US" sz="1900" b="1" dirty="0">
                          <a:solidFill>
                            <a:schemeClr val="bg1"/>
                          </a:solidFill>
                        </a:rPr>
                        <a:t>Typowe zastosowanie</a:t>
                      </a:r>
                      <a:endParaRPr lang="en-US" sz="19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tx2"/>
                    </a:solidFill>
                  </a:tcPr>
                </a:tc>
              </a:tr>
              <a:tr h="731520">
                <a:tc>
                  <a:txBody>
                    <a:bodyPr/>
                    <a:lstStyle/>
                    <a:p>
                      <a:pPr indent="0" marL="0">
                        <a:buNone/>
                      </a:pPr>
                      <a:r>
                        <a:rPr lang="en-US" sz="1900" b="1" dirty="0">
                          <a:solidFill>
                            <a:schemeClr val="tx1"/>
                          </a:solidFill>
                        </a:rPr>
                        <a:t>InnoDB</a:t>
                      </a:r>
                      <a:endParaRPr lang="en-US" sz="19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1"/>
                    </a:solidFill>
                  </a:tcPr>
                </a:tc>
                <a:tc>
                  <a:txBody>
                    <a:bodyPr/>
                    <a:lstStyle/>
                    <a:p>
                      <a:pPr indent="0" marL="0">
                        <a:buNone/>
                      </a:pPr>
                      <a:r>
                        <a:rPr lang="en-US" sz="1900" dirty="0">
                          <a:solidFill>
                            <a:schemeClr val="tx1"/>
                          </a:solidFill>
                        </a:rPr>
                        <a:t>Tak</a:t>
                      </a:r>
                      <a:endParaRPr lang="en-US" sz="19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1"/>
                    </a:solidFill>
                  </a:tcPr>
                </a:tc>
                <a:tc>
                  <a:txBody>
                    <a:bodyPr/>
                    <a:lstStyle/>
                    <a:p>
                      <a:pPr indent="0" marL="0">
                        <a:buNone/>
                      </a:pPr>
                      <a:r>
                        <a:rPr lang="en-US" sz="1900" dirty="0">
                          <a:solidFill>
                            <a:schemeClr val="tx1"/>
                          </a:solidFill>
                        </a:rPr>
                        <a:t>Tak</a:t>
                      </a:r>
                      <a:endParaRPr lang="en-US" sz="19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1"/>
                    </a:solidFill>
                  </a:tcPr>
                </a:tc>
                <a:tc>
                  <a:txBody>
                    <a:bodyPr/>
                    <a:lstStyle/>
                    <a:p>
                      <a:pPr indent="0" marL="0">
                        <a:buNone/>
                      </a:pPr>
                      <a:r>
                        <a:rPr lang="en-US" sz="1900" dirty="0">
                          <a:solidFill>
                            <a:schemeClr val="tx1"/>
                          </a:solidFill>
                        </a:rPr>
                        <a:t>wiersz</a:t>
                      </a:r>
                      <a:endParaRPr lang="en-US" sz="19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1"/>
                    </a:solidFill>
                  </a:tcPr>
                </a:tc>
                <a:tc>
                  <a:txBody>
                    <a:bodyPr/>
                    <a:lstStyle/>
                    <a:p>
                      <a:pPr indent="0" marL="0">
                        <a:buNone/>
                      </a:pPr>
                      <a:r>
                        <a:rPr lang="en-US" sz="1900" dirty="0">
                          <a:solidFill>
                            <a:schemeClr val="tx1"/>
                          </a:solidFill>
                        </a:rPr>
                        <a:t>systemy transakcyjne, e-commerce</a:t>
                      </a:r>
                      <a:endParaRPr lang="en-US" sz="19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1"/>
                    </a:solidFill>
                  </a:tcPr>
                </a:tc>
              </a:tr>
              <a:tr h="731520">
                <a:tc>
                  <a:txBody>
                    <a:bodyPr/>
                    <a:lstStyle/>
                    <a:p>
                      <a:pPr indent="0" marL="0">
                        <a:buNone/>
                      </a:pPr>
                      <a:r>
                        <a:rPr lang="en-US" sz="1900" b="1" dirty="0">
                          <a:solidFill>
                            <a:schemeClr val="tx1"/>
                          </a:solidFill>
                        </a:rPr>
                        <a:t>MyISAM</a:t>
                      </a:r>
                      <a:endParaRPr lang="en-US" sz="19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2"/>
                    </a:solidFill>
                  </a:tcPr>
                </a:tc>
                <a:tc>
                  <a:txBody>
                    <a:bodyPr/>
                    <a:lstStyle/>
                    <a:p>
                      <a:pPr indent="0" marL="0">
                        <a:buNone/>
                      </a:pPr>
                      <a:r>
                        <a:rPr lang="en-US" sz="1900" dirty="0">
                          <a:solidFill>
                            <a:schemeClr val="tx1"/>
                          </a:solidFill>
                        </a:rPr>
                        <a:t>Nie</a:t>
                      </a:r>
                      <a:endParaRPr lang="en-US" sz="19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2"/>
                    </a:solidFill>
                  </a:tcPr>
                </a:tc>
                <a:tc>
                  <a:txBody>
                    <a:bodyPr/>
                    <a:lstStyle/>
                    <a:p>
                      <a:pPr indent="0" marL="0">
                        <a:buNone/>
                      </a:pPr>
                      <a:r>
                        <a:rPr lang="en-US" sz="1900" dirty="0">
                          <a:solidFill>
                            <a:schemeClr val="tx1"/>
                          </a:solidFill>
                        </a:rPr>
                        <a:t>Nie</a:t>
                      </a:r>
                      <a:endParaRPr lang="en-US" sz="19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2"/>
                    </a:solidFill>
                  </a:tcPr>
                </a:tc>
                <a:tc>
                  <a:txBody>
                    <a:bodyPr/>
                    <a:lstStyle/>
                    <a:p>
                      <a:pPr indent="0" marL="0">
                        <a:buNone/>
                      </a:pPr>
                      <a:r>
                        <a:rPr lang="en-US" sz="1900" dirty="0">
                          <a:solidFill>
                            <a:schemeClr val="tx1"/>
                          </a:solidFill>
                        </a:rPr>
                        <a:t>tabela</a:t>
                      </a:r>
                      <a:endParaRPr lang="en-US" sz="19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2"/>
                    </a:solidFill>
                  </a:tcPr>
                </a:tc>
                <a:tc>
                  <a:txBody>
                    <a:bodyPr/>
                    <a:lstStyle/>
                    <a:p>
                      <a:pPr indent="0" marL="0">
                        <a:buNone/>
                      </a:pPr>
                      <a:r>
                        <a:rPr lang="en-US" sz="1900" dirty="0">
                          <a:solidFill>
                            <a:schemeClr val="tx1"/>
                          </a:solidFill>
                        </a:rPr>
                        <a:t>raporty, wyszukiwanie pełnotekstowe</a:t>
                      </a:r>
                      <a:endParaRPr lang="en-US" sz="19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2"/>
                    </a:solidFill>
                  </a:tcPr>
                </a:tc>
              </a:tr>
              <a:tr h="731520">
                <a:tc>
                  <a:txBody>
                    <a:bodyPr/>
                    <a:lstStyle/>
                    <a:p>
                      <a:pPr indent="0" marL="0">
                        <a:buNone/>
                      </a:pPr>
                      <a:r>
                        <a:rPr lang="en-US" sz="1900" b="1" dirty="0">
                          <a:solidFill>
                            <a:schemeClr val="tx1"/>
                          </a:solidFill>
                        </a:rPr>
                        <a:t>MEMORY</a:t>
                      </a:r>
                      <a:endParaRPr lang="en-US" sz="19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1"/>
                    </a:solidFill>
                  </a:tcPr>
                </a:tc>
                <a:tc>
                  <a:txBody>
                    <a:bodyPr/>
                    <a:lstStyle/>
                    <a:p>
                      <a:pPr indent="0" marL="0">
                        <a:buNone/>
                      </a:pPr>
                      <a:r>
                        <a:rPr lang="en-US" sz="1900" dirty="0">
                          <a:solidFill>
                            <a:schemeClr val="tx1"/>
                          </a:solidFill>
                        </a:rPr>
                        <a:t>Nie</a:t>
                      </a:r>
                      <a:endParaRPr lang="en-US" sz="19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1"/>
                    </a:solidFill>
                  </a:tcPr>
                </a:tc>
                <a:tc>
                  <a:txBody>
                    <a:bodyPr/>
                    <a:lstStyle/>
                    <a:p>
                      <a:pPr indent="0" marL="0">
                        <a:buNone/>
                      </a:pPr>
                      <a:r>
                        <a:rPr lang="en-US" sz="1900" dirty="0">
                          <a:solidFill>
                            <a:schemeClr val="tx1"/>
                          </a:solidFill>
                        </a:rPr>
                        <a:t>Nie</a:t>
                      </a:r>
                      <a:endParaRPr lang="en-US" sz="19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1"/>
                    </a:solidFill>
                  </a:tcPr>
                </a:tc>
                <a:tc>
                  <a:txBody>
                    <a:bodyPr/>
                    <a:lstStyle/>
                    <a:p>
                      <a:pPr indent="0" marL="0">
                        <a:buNone/>
                      </a:pPr>
                      <a:r>
                        <a:rPr lang="en-US" sz="1900" dirty="0">
                          <a:solidFill>
                            <a:schemeClr val="tx1"/>
                          </a:solidFill>
                        </a:rPr>
                        <a:t>tabela</a:t>
                      </a:r>
                      <a:endParaRPr lang="en-US" sz="19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1"/>
                    </a:solidFill>
                  </a:tcPr>
                </a:tc>
                <a:tc>
                  <a:txBody>
                    <a:bodyPr/>
                    <a:lstStyle/>
                    <a:p>
                      <a:pPr indent="0" marL="0">
                        <a:buNone/>
                      </a:pPr>
                      <a:r>
                        <a:rPr lang="en-US" sz="1900" dirty="0">
                          <a:solidFill>
                            <a:schemeClr val="tx1"/>
                          </a:solidFill>
                        </a:rPr>
                        <a:t>dane tymczasowe, cache</a:t>
                      </a:r>
                      <a:endParaRPr lang="en-US" sz="19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1"/>
                    </a:solidFill>
                  </a:tcPr>
                </a:tc>
              </a:tr>
              <a:tr h="731520">
                <a:tc>
                  <a:txBody>
                    <a:bodyPr/>
                    <a:lstStyle/>
                    <a:p>
                      <a:pPr indent="0" marL="0">
                        <a:buNone/>
                      </a:pPr>
                      <a:r>
                        <a:rPr lang="en-US" sz="1900" b="1" dirty="0">
                          <a:solidFill>
                            <a:schemeClr val="tx1"/>
                          </a:solidFill>
                        </a:rPr>
                        <a:t>ARCHIVE</a:t>
                      </a:r>
                      <a:endParaRPr lang="en-US" sz="19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2"/>
                    </a:solidFill>
                  </a:tcPr>
                </a:tc>
                <a:tc>
                  <a:txBody>
                    <a:bodyPr/>
                    <a:lstStyle/>
                    <a:p>
                      <a:pPr indent="0" marL="0">
                        <a:buNone/>
                      </a:pPr>
                      <a:r>
                        <a:rPr lang="en-US" sz="1900" dirty="0">
                          <a:solidFill>
                            <a:schemeClr val="tx1"/>
                          </a:solidFill>
                        </a:rPr>
                        <a:t>Nie</a:t>
                      </a:r>
                      <a:endParaRPr lang="en-US" sz="19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2"/>
                    </a:solidFill>
                  </a:tcPr>
                </a:tc>
                <a:tc>
                  <a:txBody>
                    <a:bodyPr/>
                    <a:lstStyle/>
                    <a:p>
                      <a:pPr indent="0" marL="0">
                        <a:buNone/>
                      </a:pPr>
                      <a:r>
                        <a:rPr lang="en-US" sz="1900" dirty="0">
                          <a:solidFill>
                            <a:schemeClr val="tx1"/>
                          </a:solidFill>
                        </a:rPr>
                        <a:t>Nie</a:t>
                      </a:r>
                      <a:endParaRPr lang="en-US" sz="19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2"/>
                    </a:solidFill>
                  </a:tcPr>
                </a:tc>
                <a:tc>
                  <a:txBody>
                    <a:bodyPr/>
                    <a:lstStyle/>
                    <a:p>
                      <a:pPr indent="0" marL="0">
                        <a:buNone/>
                      </a:pPr>
                      <a:r>
                        <a:rPr lang="en-US" sz="1900" dirty="0">
                          <a:solidFill>
                            <a:schemeClr val="tx1"/>
                          </a:solidFill>
                        </a:rPr>
                        <a:t>— (tylko insert)</a:t>
                      </a:r>
                      <a:endParaRPr lang="en-US" sz="19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2"/>
                    </a:solidFill>
                  </a:tcPr>
                </a:tc>
                <a:tc>
                  <a:txBody>
                    <a:bodyPr/>
                    <a:lstStyle/>
                    <a:p>
                      <a:pPr indent="0" marL="0">
                        <a:buNone/>
                      </a:pPr>
                      <a:r>
                        <a:rPr lang="en-US" sz="1900" dirty="0">
                          <a:solidFill>
                            <a:schemeClr val="tx1"/>
                          </a:solidFill>
                        </a:rPr>
                        <a:t>logi, archiwa, dane audytowe</a:t>
                      </a:r>
                      <a:endParaRPr lang="en-US" sz="19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2"/>
                    </a:solidFill>
                  </a:tcPr>
                </a:tc>
              </a:tr>
            </a:tbl>
          </a:graphicData>
        </a:graphic>
      </p:graphicFrame>
      <p:sp>
        <p:nvSpPr>
          <p:cNvPr id="5" name="Text 1"/>
          <p:cNvSpPr txBox="1"/>
          <p:nvPr/>
        </p:nvSpPr>
        <p:spPr>
          <a:xfrm>
            <a:off x="640080" y="5486400"/>
            <a:ext cx="10881360" cy="548640"/>
          </a:xfrm>
          <a:prstGeom prst="rect">
            <a:avLst/>
          </a:prstGeom>
          <a:noFill/>
          <a:ln/>
        </p:spPr>
        <p:txBody>
          <a:bodyPr wrap="square" lIns="0" tIns="0" rIns="0" bIns="0" rtlCol="0" anchor="ctr"/>
          <a:lstStyle/>
          <a:p>
            <a:pPr indent="0" marL="0">
              <a:buNone/>
            </a:pPr>
            <a:r>
              <a:rPr lang="en-US" sz="1800" b="1" dirty="0">
                <a:solidFill>
                  <a:schemeClr val="accent1"/>
                </a:solidFill>
              </a:rPr>
              <a:t>Tylko InnoDB łączy transakcje, klucze obce i blokady wierszowe.</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ph idx="100" type="title" hasCustomPrompt="1"/>
          </p:nvPr>
        </p:nvSpPr>
        <p:spPr>
          <a:xfrm>
            <a:off x="640080" y="365760"/>
            <a:ext cx="10881360" cy="86868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Silnik dobieramy do charakteru danych</a:t>
            </a:r>
            <a:endParaRPr lang="en-US" sz="3400" dirty="0"/>
          </a:p>
        </p:txBody>
      </p:sp>
      <p:sp>
        <p:nvSpPr>
          <p:cNvPr id="4" name="Wiersz InnoDB"/>
          <p:cNvSpPr/>
          <p:nvPr/>
        </p:nvSpPr>
        <p:spPr>
          <a:xfrm>
            <a:off x="640080" y="1554480"/>
            <a:ext cx="6949440" cy="731520"/>
          </a:xfrm>
          <a:prstGeom prst="roundRect">
            <a:avLst>
              <a:gd name="adj" fmla="val 12500"/>
            </a:avLst>
          </a:prstGeom>
          <a:solidFill>
            <a:schemeClr val="bg2"/>
          </a:solidFill>
          <a:ln/>
        </p:spPr>
      </p:sp>
      <p:sp>
        <p:nvSpPr>
          <p:cNvPr id="5" name="Text 2"/>
          <p:cNvSpPr txBox="1"/>
          <p:nvPr/>
        </p:nvSpPr>
        <p:spPr>
          <a:xfrm>
            <a:off x="914400" y="1554480"/>
            <a:ext cx="4023360" cy="731520"/>
          </a:xfrm>
          <a:prstGeom prst="rect">
            <a:avLst/>
          </a:prstGeom>
          <a:noFill/>
          <a:ln/>
        </p:spPr>
        <p:txBody>
          <a:bodyPr wrap="square" lIns="0" tIns="0" rIns="0" bIns="0" rtlCol="0" anchor="ctr"/>
          <a:lstStyle/>
          <a:p>
            <a:pPr indent="0" marL="0">
              <a:buNone/>
            </a:pPr>
            <a:r>
              <a:rPr lang="en-US" sz="1700" dirty="0">
                <a:solidFill>
                  <a:schemeClr val="tx1"/>
                </a:solidFill>
              </a:rPr>
              <a:t>Zamówienia, płatności, klienci</a:t>
            </a:r>
            <a:endParaRPr lang="en-US" sz="1700" dirty="0"/>
          </a:p>
        </p:txBody>
      </p:sp>
      <p:sp>
        <p:nvSpPr>
          <p:cNvPr id="6" name="Pigułka InnoDB"/>
          <p:cNvSpPr/>
          <p:nvPr/>
        </p:nvSpPr>
        <p:spPr>
          <a:xfrm>
            <a:off x="5394960" y="1664208"/>
            <a:ext cx="2011680" cy="512064"/>
          </a:xfrm>
          <a:prstGeom prst="roundRect">
            <a:avLst>
              <a:gd name="adj" fmla="val 50000"/>
            </a:avLst>
          </a:prstGeom>
          <a:solidFill>
            <a:schemeClr val="accent1"/>
          </a:solidFill>
          <a:ln/>
        </p:spPr>
      </p:sp>
      <p:sp>
        <p:nvSpPr>
          <p:cNvPr id="7" name="Text 4"/>
          <p:cNvSpPr txBox="1"/>
          <p:nvPr/>
        </p:nvSpPr>
        <p:spPr>
          <a:xfrm>
            <a:off x="5394960" y="1664208"/>
            <a:ext cx="2011680" cy="512064"/>
          </a:xfrm>
          <a:prstGeom prst="rect">
            <a:avLst/>
          </a:prstGeom>
          <a:noFill/>
          <a:ln/>
        </p:spPr>
        <p:txBody>
          <a:bodyPr wrap="square" lIns="0" tIns="0" rIns="0" bIns="0" rtlCol="0" anchor="ctr"/>
          <a:lstStyle/>
          <a:p>
            <a:pPr algn="ctr" indent="0" marL="0">
              <a:buNone/>
            </a:pPr>
            <a:r>
              <a:rPr lang="en-US" sz="1600" b="1" dirty="0">
                <a:solidFill>
                  <a:schemeClr val="bg1"/>
                </a:solidFill>
              </a:rPr>
              <a:t>InnoDB</a:t>
            </a:r>
            <a:endParaRPr lang="en-US" sz="1600" dirty="0"/>
          </a:p>
        </p:txBody>
      </p:sp>
      <p:sp>
        <p:nvSpPr>
          <p:cNvPr id="8" name="Wiersz MEMORY"/>
          <p:cNvSpPr/>
          <p:nvPr/>
        </p:nvSpPr>
        <p:spPr>
          <a:xfrm>
            <a:off x="640080" y="2423160"/>
            <a:ext cx="6949440" cy="731520"/>
          </a:xfrm>
          <a:prstGeom prst="roundRect">
            <a:avLst>
              <a:gd name="adj" fmla="val 12500"/>
            </a:avLst>
          </a:prstGeom>
          <a:solidFill>
            <a:schemeClr val="bg2"/>
          </a:solidFill>
          <a:ln/>
        </p:spPr>
      </p:sp>
      <p:sp>
        <p:nvSpPr>
          <p:cNvPr id="9" name="Text 6"/>
          <p:cNvSpPr txBox="1"/>
          <p:nvPr/>
        </p:nvSpPr>
        <p:spPr>
          <a:xfrm>
            <a:off x="914400" y="2423160"/>
            <a:ext cx="4023360" cy="731520"/>
          </a:xfrm>
          <a:prstGeom prst="rect">
            <a:avLst/>
          </a:prstGeom>
          <a:noFill/>
          <a:ln/>
        </p:spPr>
        <p:txBody>
          <a:bodyPr wrap="square" lIns="0" tIns="0" rIns="0" bIns="0" rtlCol="0" anchor="ctr"/>
          <a:lstStyle/>
          <a:p>
            <a:pPr indent="0" marL="0">
              <a:buNone/>
            </a:pPr>
            <a:r>
              <a:rPr lang="en-US" sz="1700" dirty="0">
                <a:solidFill>
                  <a:schemeClr val="tx1"/>
                </a:solidFill>
              </a:rPr>
              <a:t>Tabele tymczasowe, cache sesji</a:t>
            </a:r>
            <a:endParaRPr lang="en-US" sz="1700" dirty="0"/>
          </a:p>
        </p:txBody>
      </p:sp>
      <p:sp>
        <p:nvSpPr>
          <p:cNvPr id="10" name="Pigułka MEMORY"/>
          <p:cNvSpPr/>
          <p:nvPr/>
        </p:nvSpPr>
        <p:spPr>
          <a:xfrm>
            <a:off x="5394960" y="2532888"/>
            <a:ext cx="2011680" cy="512064"/>
          </a:xfrm>
          <a:prstGeom prst="roundRect">
            <a:avLst>
              <a:gd name="adj" fmla="val 50000"/>
            </a:avLst>
          </a:prstGeom>
          <a:solidFill>
            <a:schemeClr val="accent2"/>
          </a:solidFill>
          <a:ln/>
        </p:spPr>
      </p:sp>
      <p:sp>
        <p:nvSpPr>
          <p:cNvPr id="11" name="Text 8"/>
          <p:cNvSpPr txBox="1"/>
          <p:nvPr/>
        </p:nvSpPr>
        <p:spPr>
          <a:xfrm>
            <a:off x="5394960" y="2532888"/>
            <a:ext cx="2011680" cy="512064"/>
          </a:xfrm>
          <a:prstGeom prst="rect">
            <a:avLst/>
          </a:prstGeom>
          <a:noFill/>
          <a:ln/>
        </p:spPr>
        <p:txBody>
          <a:bodyPr wrap="square" lIns="0" tIns="0" rIns="0" bIns="0" rtlCol="0" anchor="ctr"/>
          <a:lstStyle/>
          <a:p>
            <a:pPr algn="ctr" indent="0" marL="0">
              <a:buNone/>
            </a:pPr>
            <a:r>
              <a:rPr lang="en-US" sz="1600" b="1" dirty="0">
                <a:solidFill>
                  <a:schemeClr val="bg1"/>
                </a:solidFill>
              </a:rPr>
              <a:t>MEMORY</a:t>
            </a:r>
            <a:endParaRPr lang="en-US" sz="1600" dirty="0"/>
          </a:p>
        </p:txBody>
      </p:sp>
      <p:sp>
        <p:nvSpPr>
          <p:cNvPr id="12" name="Wiersz ARCHIVE"/>
          <p:cNvSpPr/>
          <p:nvPr/>
        </p:nvSpPr>
        <p:spPr>
          <a:xfrm>
            <a:off x="640080" y="3291840"/>
            <a:ext cx="6949440" cy="731520"/>
          </a:xfrm>
          <a:prstGeom prst="roundRect">
            <a:avLst>
              <a:gd name="adj" fmla="val 12500"/>
            </a:avLst>
          </a:prstGeom>
          <a:solidFill>
            <a:schemeClr val="bg2"/>
          </a:solidFill>
          <a:ln/>
        </p:spPr>
      </p:sp>
      <p:sp>
        <p:nvSpPr>
          <p:cNvPr id="13" name="Text 10"/>
          <p:cNvSpPr txBox="1"/>
          <p:nvPr/>
        </p:nvSpPr>
        <p:spPr>
          <a:xfrm>
            <a:off x="914400" y="3291840"/>
            <a:ext cx="4023360" cy="731520"/>
          </a:xfrm>
          <a:prstGeom prst="rect">
            <a:avLst/>
          </a:prstGeom>
          <a:noFill/>
          <a:ln/>
        </p:spPr>
        <p:txBody>
          <a:bodyPr wrap="square" lIns="0" tIns="0" rIns="0" bIns="0" rtlCol="0" anchor="ctr"/>
          <a:lstStyle/>
          <a:p>
            <a:pPr indent="0" marL="0">
              <a:buNone/>
            </a:pPr>
            <a:r>
              <a:rPr lang="en-US" sz="1700" dirty="0">
                <a:solidFill>
                  <a:schemeClr val="tx1"/>
                </a:solidFill>
              </a:rPr>
              <a:t>Logi zdarzeń, dane audytowe</a:t>
            </a:r>
            <a:endParaRPr lang="en-US" sz="1700" dirty="0"/>
          </a:p>
        </p:txBody>
      </p:sp>
      <p:sp>
        <p:nvSpPr>
          <p:cNvPr id="14" name="Pigułka ARCHIVE"/>
          <p:cNvSpPr/>
          <p:nvPr/>
        </p:nvSpPr>
        <p:spPr>
          <a:xfrm>
            <a:off x="5394960" y="3401568"/>
            <a:ext cx="2011680" cy="512064"/>
          </a:xfrm>
          <a:prstGeom prst="roundRect">
            <a:avLst>
              <a:gd name="adj" fmla="val 50000"/>
            </a:avLst>
          </a:prstGeom>
          <a:solidFill>
            <a:schemeClr val="accent3"/>
          </a:solidFill>
          <a:ln/>
        </p:spPr>
      </p:sp>
      <p:sp>
        <p:nvSpPr>
          <p:cNvPr id="15" name="Text 12"/>
          <p:cNvSpPr txBox="1"/>
          <p:nvPr/>
        </p:nvSpPr>
        <p:spPr>
          <a:xfrm>
            <a:off x="5394960" y="3401568"/>
            <a:ext cx="2011680" cy="512064"/>
          </a:xfrm>
          <a:prstGeom prst="rect">
            <a:avLst/>
          </a:prstGeom>
          <a:noFill/>
          <a:ln/>
        </p:spPr>
        <p:txBody>
          <a:bodyPr wrap="square" lIns="0" tIns="0" rIns="0" bIns="0" rtlCol="0" anchor="ctr"/>
          <a:lstStyle/>
          <a:p>
            <a:pPr algn="ctr" indent="0" marL="0">
              <a:buNone/>
            </a:pPr>
            <a:r>
              <a:rPr lang="en-US" sz="1600" b="1" dirty="0">
                <a:solidFill>
                  <a:schemeClr val="bg1"/>
                </a:solidFill>
              </a:rPr>
              <a:t>ARCHIVE</a:t>
            </a:r>
            <a:endParaRPr lang="en-US" sz="1600" dirty="0"/>
          </a:p>
        </p:txBody>
      </p:sp>
      <p:sp>
        <p:nvSpPr>
          <p:cNvPr id="16" name="Wiersz MyISAM"/>
          <p:cNvSpPr/>
          <p:nvPr/>
        </p:nvSpPr>
        <p:spPr>
          <a:xfrm>
            <a:off x="640080" y="4160520"/>
            <a:ext cx="6949440" cy="731520"/>
          </a:xfrm>
          <a:prstGeom prst="roundRect">
            <a:avLst>
              <a:gd name="adj" fmla="val 12500"/>
            </a:avLst>
          </a:prstGeom>
          <a:solidFill>
            <a:schemeClr val="bg2"/>
          </a:solidFill>
          <a:ln/>
        </p:spPr>
      </p:sp>
      <p:sp>
        <p:nvSpPr>
          <p:cNvPr id="17" name="Text 14"/>
          <p:cNvSpPr txBox="1"/>
          <p:nvPr/>
        </p:nvSpPr>
        <p:spPr>
          <a:xfrm>
            <a:off x="914400" y="4160520"/>
            <a:ext cx="4023360" cy="731520"/>
          </a:xfrm>
          <a:prstGeom prst="rect">
            <a:avLst/>
          </a:prstGeom>
          <a:noFill/>
          <a:ln/>
        </p:spPr>
        <p:txBody>
          <a:bodyPr wrap="square" lIns="0" tIns="0" rIns="0" bIns="0" rtlCol="0" anchor="ctr"/>
          <a:lstStyle/>
          <a:p>
            <a:pPr indent="0" marL="0">
              <a:buNone/>
            </a:pPr>
            <a:r>
              <a:rPr lang="en-US" sz="1700" dirty="0">
                <a:solidFill>
                  <a:schemeClr val="tx1"/>
                </a:solidFill>
              </a:rPr>
              <a:t>Archiwalne raporty, pełnotekst</a:t>
            </a:r>
            <a:endParaRPr lang="en-US" sz="1700" dirty="0"/>
          </a:p>
        </p:txBody>
      </p:sp>
      <p:sp>
        <p:nvSpPr>
          <p:cNvPr id="18" name="Pigułka MyISAM"/>
          <p:cNvSpPr/>
          <p:nvPr/>
        </p:nvSpPr>
        <p:spPr>
          <a:xfrm>
            <a:off x="5394960" y="4270248"/>
            <a:ext cx="2011680" cy="512064"/>
          </a:xfrm>
          <a:prstGeom prst="roundRect">
            <a:avLst>
              <a:gd name="adj" fmla="val 50000"/>
            </a:avLst>
          </a:prstGeom>
          <a:solidFill>
            <a:schemeClr val="accent4"/>
          </a:solidFill>
          <a:ln/>
        </p:spPr>
      </p:sp>
      <p:sp>
        <p:nvSpPr>
          <p:cNvPr id="19" name="Text 16"/>
          <p:cNvSpPr txBox="1"/>
          <p:nvPr/>
        </p:nvSpPr>
        <p:spPr>
          <a:xfrm>
            <a:off x="5394960" y="4270248"/>
            <a:ext cx="2011680" cy="512064"/>
          </a:xfrm>
          <a:prstGeom prst="rect">
            <a:avLst/>
          </a:prstGeom>
          <a:noFill/>
          <a:ln/>
        </p:spPr>
        <p:txBody>
          <a:bodyPr wrap="square" lIns="0" tIns="0" rIns="0" bIns="0" rtlCol="0" anchor="ctr"/>
          <a:lstStyle/>
          <a:p>
            <a:pPr algn="ctr" indent="0" marL="0">
              <a:buNone/>
            </a:pPr>
            <a:r>
              <a:rPr lang="en-US" sz="1600" b="1" dirty="0">
                <a:solidFill>
                  <a:schemeClr val="bg1"/>
                </a:solidFill>
              </a:rPr>
              <a:t>MyISAM</a:t>
            </a:r>
            <a:endParaRPr lang="en-US" sz="1600" dirty="0"/>
          </a:p>
        </p:txBody>
      </p:sp>
      <p:sp>
        <p:nvSpPr>
          <p:cNvPr id="20" name="Karta mieszanie"/>
          <p:cNvSpPr/>
          <p:nvPr/>
        </p:nvSpPr>
        <p:spPr>
          <a:xfrm>
            <a:off x="8046720" y="1554480"/>
            <a:ext cx="3474720" cy="3337560"/>
          </a:xfrm>
          <a:prstGeom prst="roundRect">
            <a:avLst>
              <a:gd name="adj" fmla="val 3288"/>
            </a:avLst>
          </a:prstGeom>
          <a:solidFill>
            <a:schemeClr val="tx1"/>
          </a:solidFill>
          <a:ln/>
        </p:spPr>
      </p:sp>
      <p:pic>
        <p:nvPicPr>
          <p:cNvPr id="21" name="Ikona warstw" descr="preencoded.png">    </p:cNvPr>
          <p:cNvPicPr>
            <a:picLocks noChangeAspect="1"/>
          </p:cNvPicPr>
          <p:nvPr/>
        </p:nvPicPr>
        <p:blipFill>
          <a:blip r:embed="rId1"/>
          <a:stretch>
            <a:fillRect/>
          </a:stretch>
        </p:blipFill>
        <p:spPr>
          <a:xfrm>
            <a:off x="8321040" y="1828800"/>
            <a:ext cx="548640" cy="548640"/>
          </a:xfrm>
          <a:prstGeom prst="rect">
            <a:avLst/>
          </a:prstGeom>
        </p:spPr>
      </p:pic>
      <p:sp>
        <p:nvSpPr>
          <p:cNvPr id="22" name="Text 18"/>
          <p:cNvSpPr txBox="1"/>
          <p:nvPr/>
        </p:nvSpPr>
        <p:spPr>
          <a:xfrm>
            <a:off x="8321040" y="2560320"/>
            <a:ext cx="2926080" cy="2103120"/>
          </a:xfrm>
          <a:prstGeom prst="rect">
            <a:avLst/>
          </a:prstGeom>
          <a:noFill/>
          <a:ln/>
        </p:spPr>
        <p:txBody>
          <a:bodyPr wrap="square" lIns="0" tIns="0" rIns="0" bIns="0" rtlCol="0" anchor="t"/>
          <a:lstStyle/>
          <a:p>
            <a:pPr indent="0" marL="0">
              <a:buNone/>
            </a:pPr>
            <a:r>
              <a:rPr lang="en-US" sz="1700" dirty="0">
                <a:solidFill>
                  <a:schemeClr val="bg1"/>
                </a:solidFill>
              </a:rPr>
              <a:t>Można mieszać silniki w jednej bazie — tabela transakcyjna w InnoDB, jej logi w ARCHIVE.</a:t>
            </a:r>
            <a:endParaRPr lang="en-US" sz="1700" dirty="0"/>
          </a:p>
        </p:txBody>
      </p:sp>
      <p:sp>
        <p:nvSpPr>
          <p:cNvPr id="23" name="Text 19"/>
          <p:cNvSpPr txBox="1"/>
          <p:nvPr/>
        </p:nvSpPr>
        <p:spPr>
          <a:xfrm>
            <a:off x="640080" y="5257800"/>
            <a:ext cx="10881360" cy="822960"/>
          </a:xfrm>
          <a:prstGeom prst="rect">
            <a:avLst/>
          </a:prstGeom>
          <a:noFill/>
          <a:ln/>
        </p:spPr>
        <p:txBody>
          <a:bodyPr wrap="square" lIns="0" tIns="0" rIns="0" bIns="0" rtlCol="0" anchor="ctr"/>
          <a:lstStyle/>
          <a:p>
            <a:pPr indent="0" marL="0">
              <a:buNone/>
            </a:pPr>
            <a:r>
              <a:rPr lang="en-US" sz="1700" i="1" dirty="0">
                <a:solidFill>
                  <a:schemeClr val="tx2"/>
                </a:solidFill>
              </a:rPr>
              <a:t>Dziś InnoDB jest bezpiecznym punktem wyjścia; inne silniki wybieramy świadomie, z konkretnego powodu.</a:t>
            </a:r>
            <a:endParaRPr lang="en-US" sz="17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ph idx="100" type="title" hasCustomPrompt="1"/>
          </p:nvPr>
        </p:nvSpPr>
        <p:spPr>
          <a:xfrm>
            <a:off x="640080" y="365760"/>
            <a:ext cx="10881360" cy="86868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Character set a collation — dwa różne pojęcia</a:t>
            </a:r>
            <a:endParaRPr lang="en-US" sz="3400" dirty="0"/>
          </a:p>
        </p:txBody>
      </p:sp>
      <p:sp>
        <p:nvSpPr>
          <p:cNvPr id="4" name="Karta Zestaw znaków"/>
          <p:cNvSpPr/>
          <p:nvPr/>
        </p:nvSpPr>
        <p:spPr>
          <a:xfrm>
            <a:off x="640080" y="1554480"/>
            <a:ext cx="5394960" cy="3108960"/>
          </a:xfrm>
          <a:prstGeom prst="roundRect">
            <a:avLst>
              <a:gd name="adj" fmla="val 3529"/>
            </a:avLst>
          </a:prstGeom>
          <a:solidFill>
            <a:schemeClr val="bg2"/>
          </a:solidFill>
          <a:ln/>
          <a:effectLst>
            <a:outerShdw sx="100000" sy="100000" kx="0" ky="0" algn="bl" rotWithShape="0" blurRad="101600" dist="25400" dir="5400000">
              <a:srgbClr val="0B2A3F">
                <a:alpha val="12000"/>
              </a:srgbClr>
            </a:outerShdw>
          </a:effectLst>
        </p:spPr>
      </p:sp>
      <p:sp>
        <p:nvSpPr>
          <p:cNvPr id="5" name="Ikona tło"/>
          <p:cNvSpPr/>
          <p:nvPr/>
        </p:nvSpPr>
        <p:spPr>
          <a:xfrm>
            <a:off x="914400" y="1828800"/>
            <a:ext cx="640080" cy="640080"/>
          </a:xfrm>
          <a:prstGeom prst="ellipse">
            <a:avLst/>
          </a:prstGeom>
          <a:solidFill>
            <a:schemeClr val="accent1"/>
          </a:solidFill>
          <a:ln/>
        </p:spPr>
      </p:sp>
      <p:pic>
        <p:nvPicPr>
          <p:cNvPr id="6" name="Ikona Zestaw znaków" descr="preencoded.png">    </p:cNvPr>
          <p:cNvPicPr>
            <a:picLocks noChangeAspect="1"/>
          </p:cNvPicPr>
          <p:nvPr/>
        </p:nvPicPr>
        <p:blipFill>
          <a:blip r:embed="rId1"/>
          <a:stretch>
            <a:fillRect/>
          </a:stretch>
        </p:blipFill>
        <p:spPr>
          <a:xfrm>
            <a:off x="1051560" y="1965960"/>
            <a:ext cx="365760" cy="365760"/>
          </a:xfrm>
          <a:prstGeom prst="rect">
            <a:avLst/>
          </a:prstGeom>
        </p:spPr>
      </p:pic>
      <p:sp>
        <p:nvSpPr>
          <p:cNvPr id="7" name="Text 3"/>
          <p:cNvSpPr txBox="1"/>
          <p:nvPr/>
        </p:nvSpPr>
        <p:spPr>
          <a:xfrm>
            <a:off x="1691640" y="1783080"/>
            <a:ext cx="4114800" cy="73152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Zestaw znaków</a:t>
            </a:r>
            <a:endParaRPr lang="en-US" sz="2200" dirty="0"/>
          </a:p>
        </p:txBody>
      </p:sp>
      <p:sp>
        <p:nvSpPr>
          <p:cNvPr id="8" name="Text 4"/>
          <p:cNvSpPr txBox="1"/>
          <p:nvPr/>
        </p:nvSpPr>
        <p:spPr>
          <a:xfrm>
            <a:off x="914400" y="2606040"/>
            <a:ext cx="4846320" cy="1920240"/>
          </a:xfrm>
          <a:prstGeom prst="rect">
            <a:avLst/>
          </a:prstGeom>
          <a:noFill/>
          <a:ln/>
        </p:spPr>
        <p:txBody>
          <a:bodyPr wrap="square" lIns="0" tIns="0" rIns="0" bIns="0" rtlCol="0" anchor="t"/>
          <a:lstStyle/>
          <a:p>
            <a:pPr indent="0" marL="0">
              <a:spcAft>
                <a:spcPts val="400"/>
              </a:spcAft>
              <a:buNone/>
            </a:pPr>
            <a:r>
              <a:rPr lang="en-US" sz="2200" dirty="0">
                <a:solidFill>
                  <a:schemeClr val="tx1"/>
                </a:solidFill>
              </a:rPr>
              <a:t>Definiuje, jakie znaki istnieją i jak są kodowane bajtowo — np. ile bajtów zajmuje jeden znak.</a:t>
            </a:r>
            <a:endParaRPr lang="en-US" sz="2200" dirty="0"/>
          </a:p>
        </p:txBody>
      </p:sp>
      <p:sp>
        <p:nvSpPr>
          <p:cNvPr id="9" name="Karta Reguły porównywania"/>
          <p:cNvSpPr/>
          <p:nvPr/>
        </p:nvSpPr>
        <p:spPr>
          <a:xfrm>
            <a:off x="6309360" y="1554480"/>
            <a:ext cx="5212080" cy="3108960"/>
          </a:xfrm>
          <a:prstGeom prst="roundRect">
            <a:avLst>
              <a:gd name="adj" fmla="val 3529"/>
            </a:avLst>
          </a:prstGeom>
          <a:solidFill>
            <a:schemeClr val="bg2"/>
          </a:solidFill>
          <a:ln/>
          <a:effectLst>
            <a:outerShdw sx="100000" sy="100000" kx="0" ky="0" algn="bl" rotWithShape="0" blurRad="101600" dist="25400" dir="5400000">
              <a:srgbClr val="0B2A3F">
                <a:alpha val="12000"/>
              </a:srgbClr>
            </a:outerShdw>
          </a:effectLst>
        </p:spPr>
      </p:sp>
      <p:sp>
        <p:nvSpPr>
          <p:cNvPr id="10" name="Ikona tło"/>
          <p:cNvSpPr/>
          <p:nvPr/>
        </p:nvSpPr>
        <p:spPr>
          <a:xfrm>
            <a:off x="6583680" y="1828800"/>
            <a:ext cx="640080" cy="640080"/>
          </a:xfrm>
          <a:prstGeom prst="ellipse">
            <a:avLst/>
          </a:prstGeom>
          <a:solidFill>
            <a:schemeClr val="accent2"/>
          </a:solidFill>
          <a:ln/>
        </p:spPr>
      </p:sp>
      <p:pic>
        <p:nvPicPr>
          <p:cNvPr id="11" name="Ikona Reguły porównywania" descr="preencoded.png">    </p:cNvPr>
          <p:cNvPicPr>
            <a:picLocks noChangeAspect="1"/>
          </p:cNvPicPr>
          <p:nvPr/>
        </p:nvPicPr>
        <p:blipFill>
          <a:blip r:embed="rId2"/>
          <a:stretch>
            <a:fillRect/>
          </a:stretch>
        </p:blipFill>
        <p:spPr>
          <a:xfrm>
            <a:off x="6720840" y="1965960"/>
            <a:ext cx="365760" cy="365760"/>
          </a:xfrm>
          <a:prstGeom prst="rect">
            <a:avLst/>
          </a:prstGeom>
        </p:spPr>
      </p:pic>
      <p:sp>
        <p:nvSpPr>
          <p:cNvPr id="12" name="Text 7"/>
          <p:cNvSpPr txBox="1"/>
          <p:nvPr/>
        </p:nvSpPr>
        <p:spPr>
          <a:xfrm>
            <a:off x="7360920" y="1783080"/>
            <a:ext cx="3931920" cy="73152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Reguły porównywania</a:t>
            </a:r>
            <a:endParaRPr lang="en-US" sz="2200" dirty="0"/>
          </a:p>
        </p:txBody>
      </p:sp>
      <p:sp>
        <p:nvSpPr>
          <p:cNvPr id="13" name="Text 8"/>
          <p:cNvSpPr txBox="1"/>
          <p:nvPr/>
        </p:nvSpPr>
        <p:spPr>
          <a:xfrm>
            <a:off x="6583680" y="2606040"/>
            <a:ext cx="4663440" cy="1920240"/>
          </a:xfrm>
          <a:prstGeom prst="rect">
            <a:avLst/>
          </a:prstGeom>
          <a:noFill/>
          <a:ln/>
        </p:spPr>
        <p:txBody>
          <a:bodyPr wrap="square" lIns="0" tIns="0" rIns="0" bIns="0" rtlCol="0" anchor="t"/>
          <a:lstStyle/>
          <a:p>
            <a:pPr indent="0" marL="0">
              <a:spcAft>
                <a:spcPts val="400"/>
              </a:spcAft>
              <a:buNone/>
            </a:pPr>
            <a:r>
              <a:rPr lang="en-US" sz="2200" dirty="0">
                <a:solidFill>
                  <a:schemeClr val="tx1"/>
                </a:solidFill>
              </a:rPr>
              <a:t>Definiują, jak teksty są porównywane i sortowane — czy wielkość liter ma znaczenie, gdzie sortuje się „ą”.</a:t>
            </a:r>
            <a:endParaRPr lang="en-US" sz="2200" dirty="0"/>
          </a:p>
        </p:txBody>
      </p:sp>
      <p:sp>
        <p:nvSpPr>
          <p:cNvPr id="14" name="Text 9"/>
          <p:cNvSpPr txBox="1"/>
          <p:nvPr/>
        </p:nvSpPr>
        <p:spPr>
          <a:xfrm>
            <a:off x="640080" y="5029200"/>
            <a:ext cx="10881360" cy="914400"/>
          </a:xfrm>
          <a:prstGeom prst="rect">
            <a:avLst/>
          </a:prstGeom>
          <a:noFill/>
          <a:ln/>
        </p:spPr>
        <p:txBody>
          <a:bodyPr wrap="square" lIns="0" tIns="0" rIns="0" bIns="0" rtlCol="0" anchor="ctr"/>
          <a:lstStyle/>
          <a:p>
            <a:pPr indent="0" marL="0">
              <a:buNone/>
            </a:pPr>
            <a:r>
              <a:rPr lang="en-US" sz="1800" i="1" dirty="0">
                <a:solidFill>
                  <a:schemeClr val="tx2"/>
                </a:solidFill>
              </a:rPr>
              <a:t>Każdy zestaw znaków ma domyślną collation — zwykle wystarczy wskazać sam zestaw.</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ph idx="100" type="title" hasCustomPrompt="1"/>
          </p:nvPr>
        </p:nvSpPr>
        <p:spPr>
          <a:xfrm>
            <a:off x="640080" y="365760"/>
            <a:ext cx="10881360" cy="86868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Najważniejsze zestawy znaków</a:t>
            </a:r>
            <a:endParaRPr lang="en-US" sz="3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1554480"/>
          <a:ext cx="6949440" cy="914400"/>
        </p:xfrm>
        <a:graphic>
          <a:graphicData uri="http://schemas.openxmlformats.org/drawingml/2006/table">
            <a:tbl>
              <a:tblPr/>
              <a:tblGrid>
                <a:gridCol w="1554480"/>
                <a:gridCol w="4023360"/>
                <a:gridCol w="1371600"/>
              </a:tblGrid>
              <a:tr h="640080">
                <a:tc>
                  <a:txBody>
                    <a:bodyPr/>
                    <a:lstStyle/>
                    <a:p>
                      <a:pPr indent="0" marL="0">
                        <a:buNone/>
                      </a:pPr>
                      <a:r>
                        <a:rPr lang="en-US" sz="1700" b="1" dirty="0">
                          <a:solidFill>
                            <a:schemeClr val="bg1"/>
                          </a:solidFill>
                        </a:rPr>
                        <a:t>Zestaw</a:t>
                      </a:r>
                      <a:endParaRPr lang="en-US" sz="17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Opis</a:t>
                      </a:r>
                      <a:endParaRPr lang="en-US" sz="17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Bajty na znak</a:t>
                      </a:r>
                      <a:endParaRPr lang="en-US" sz="17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tx2"/>
                    </a:solidFill>
                  </a:tcPr>
                </a:tc>
              </a:tr>
              <a:tr h="640080">
                <a:tc>
                  <a:txBody>
                    <a:bodyPr/>
                    <a:lstStyle/>
                    <a:p>
                      <a:pPr indent="0" marL="0">
                        <a:buNone/>
                      </a:pPr>
                      <a:r>
                        <a:rPr lang="en-US" sz="1700" b="1" dirty="0">
                          <a:solidFill>
                            <a:schemeClr val="tx1"/>
                          </a:solidFill>
                        </a:rPr>
                        <a:t>utf8mb4</a:t>
                      </a:r>
                      <a:endParaRPr lang="en-US" sz="17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Pełny Unicode — nowoczesny standard</a:t>
                      </a:r>
                      <a:endParaRPr lang="en-US" sz="17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1–4</a:t>
                      </a:r>
                      <a:endParaRPr lang="en-US" sz="17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1"/>
                    </a:solidFill>
                  </a:tcPr>
                </a:tc>
              </a:tr>
              <a:tr h="640080">
                <a:tc>
                  <a:txBody>
                    <a:bodyPr/>
                    <a:lstStyle/>
                    <a:p>
                      <a:pPr indent="0" marL="0">
                        <a:buNone/>
                      </a:pPr>
                      <a:r>
                        <a:rPr lang="en-US" sz="1700" b="1" dirty="0">
                          <a:solidFill>
                            <a:schemeClr val="tx1"/>
                          </a:solidFill>
                        </a:rPr>
                        <a:t>utf8</a:t>
                      </a:r>
                      <a:endParaRPr lang="en-US" sz="17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Unicode w wersji historycznej (utf8mb3)</a:t>
                      </a:r>
                      <a:endParaRPr lang="en-US" sz="17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1–3</a:t>
                      </a:r>
                      <a:endParaRPr lang="en-US" sz="17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2"/>
                    </a:solidFill>
                  </a:tcPr>
                </a:tc>
              </a:tr>
              <a:tr h="640080">
                <a:tc>
                  <a:txBody>
                    <a:bodyPr/>
                    <a:lstStyle/>
                    <a:p>
                      <a:pPr indent="0" marL="0">
                        <a:buNone/>
                      </a:pPr>
                      <a:r>
                        <a:rPr lang="en-US" sz="1700" b="1" dirty="0">
                          <a:solidFill>
                            <a:schemeClr val="tx1"/>
                          </a:solidFill>
                        </a:rPr>
                        <a:t>latin2</a:t>
                      </a:r>
                      <a:endParaRPr lang="en-US" sz="17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ISO-8859-2, standard środkowoeuropejski</a:t>
                      </a:r>
                      <a:endParaRPr lang="en-US" sz="17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1</a:t>
                      </a:r>
                      <a:endParaRPr lang="en-US" sz="17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1"/>
                    </a:solidFill>
                  </a:tcPr>
                </a:tc>
              </a:tr>
              <a:tr h="640080">
                <a:tc>
                  <a:txBody>
                    <a:bodyPr/>
                    <a:lstStyle/>
                    <a:p>
                      <a:pPr indent="0" marL="0">
                        <a:buNone/>
                      </a:pPr>
                      <a:r>
                        <a:rPr lang="en-US" sz="1700" b="1" dirty="0">
                          <a:solidFill>
                            <a:schemeClr val="tx1"/>
                          </a:solidFill>
                        </a:rPr>
                        <a:t>cp1250</a:t>
                      </a:r>
                      <a:endParaRPr lang="en-US" sz="17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Windows-1250, języki środkowoeuropejskie</a:t>
                      </a:r>
                      <a:endParaRPr lang="en-US" sz="17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1</a:t>
                      </a:r>
                      <a:endParaRPr lang="en-US" sz="17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2"/>
                    </a:solidFill>
                  </a:tcPr>
                </a:tc>
              </a:tr>
              <a:tr h="640080">
                <a:tc>
                  <a:txBody>
                    <a:bodyPr/>
                    <a:lstStyle/>
                    <a:p>
                      <a:pPr indent="0" marL="0">
                        <a:buNone/>
                      </a:pPr>
                      <a:r>
                        <a:rPr lang="en-US" sz="1700" b="1" dirty="0">
                          <a:solidFill>
                            <a:schemeClr val="tx1"/>
                          </a:solidFill>
                        </a:rPr>
                        <a:t>cp852</a:t>
                      </a:r>
                      <a:endParaRPr lang="en-US" sz="17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Strona kodowa DOS</a:t>
                      </a:r>
                      <a:endParaRPr lang="en-US" sz="17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1</a:t>
                      </a:r>
                      <a:endParaRPr lang="en-US" sz="17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1"/>
                    </a:solidFill>
                  </a:tcPr>
                </a:tc>
              </a:tr>
            </a:tbl>
          </a:graphicData>
        </a:graphic>
      </p:graphicFrame>
      <p:sp>
        <p:nvSpPr>
          <p:cNvPr id="5" name="Blok kodu"/>
          <p:cNvSpPr/>
          <p:nvPr/>
        </p:nvSpPr>
        <p:spPr>
          <a:xfrm>
            <a:off x="7955280" y="1554480"/>
            <a:ext cx="3566160" cy="2011680"/>
          </a:xfrm>
          <a:prstGeom prst="roundRect">
            <a:avLst>
              <a:gd name="adj" fmla="val 4545"/>
            </a:avLst>
          </a:prstGeom>
          <a:solidFill>
            <a:srgbClr val="0B2A3F"/>
          </a:solidFill>
          <a:ln/>
        </p:spPr>
      </p:sp>
      <p:sp>
        <p:nvSpPr>
          <p:cNvPr id="6" name="Text 2"/>
          <p:cNvSpPr txBox="1"/>
          <p:nvPr/>
        </p:nvSpPr>
        <p:spPr>
          <a:xfrm>
            <a:off x="8183880" y="1691640"/>
            <a:ext cx="3108960" cy="1737360"/>
          </a:xfrm>
          <a:prstGeom prst="rect">
            <a:avLst/>
          </a:prstGeom>
          <a:noFill/>
          <a:ln/>
        </p:spPr>
        <p:txBody>
          <a:bodyPr wrap="square" lIns="0" tIns="0" rIns="0" bIns="0" rtlCol="0" anchor="t"/>
          <a:lstStyle/>
          <a:p>
            <a:pPr indent="0" marL="0">
              <a:buNone/>
            </a:pPr>
            <a:r>
              <a:rPr lang="en-US" sz="1500" dirty="0">
                <a:solidFill>
                  <a:srgbClr val="EAF3F6"/>
                </a:solidFill>
                <a:latin typeface="Courier New" pitchFamily="34" charset="0"/>
                <a:ea typeface="Courier New" pitchFamily="34" charset="-122"/>
                <a:cs typeface="Courier New" pitchFamily="34" charset="-120"/>
              </a:rPr>
              <a:t>SHOW CHARACTER SET;</a:t>
            </a:r>
            <a:endParaRPr lang="en-US" sz="1500" dirty="0"/>
          </a:p>
          <a:p>
            <a:pPr indent="0" marL="0">
              <a:buNone/>
            </a:pPr>
            <a:endParaRPr lang="en-US" sz="1500" dirty="0"/>
          </a:p>
          <a:p>
            <a:pPr indent="0" marL="0">
              <a:buNone/>
            </a:pPr>
            <a:r>
              <a:rPr lang="en-US" sz="1500" dirty="0">
                <a:solidFill>
                  <a:srgbClr val="EAF3F6"/>
                </a:solidFill>
                <a:latin typeface="Courier New" pitchFamily="34" charset="0"/>
                <a:ea typeface="Courier New" pitchFamily="34" charset="-122"/>
                <a:cs typeface="Courier New" pitchFamily="34" charset="-120"/>
              </a:rPr>
              <a:t>SHOW COLLATION;</a:t>
            </a:r>
            <a:endParaRPr lang="en-US" sz="1500" dirty="0"/>
          </a:p>
          <a:p>
            <a:pPr indent="0" marL="0">
              <a:buNone/>
            </a:pPr>
            <a:endParaRPr lang="en-US" sz="1500" dirty="0"/>
          </a:p>
          <a:p>
            <a:pPr indent="0" marL="0">
              <a:buNone/>
            </a:pPr>
            <a:r>
              <a:rPr lang="en-US" sz="1500" dirty="0">
                <a:solidFill>
                  <a:srgbClr val="EAF3F6"/>
                </a:solidFill>
                <a:latin typeface="Courier New" pitchFamily="34" charset="0"/>
                <a:ea typeface="Courier New" pitchFamily="34" charset="-122"/>
                <a:cs typeface="Courier New" pitchFamily="34" charset="-120"/>
              </a:rPr>
              <a:t>SHOW COLLATION</a:t>
            </a:r>
            <a:endParaRPr lang="en-US" sz="1500" dirty="0"/>
          </a:p>
          <a:p>
            <a:pPr indent="0" marL="0">
              <a:buNone/>
            </a:pPr>
            <a:r>
              <a:rPr lang="en-US" sz="1500" dirty="0">
                <a:solidFill>
                  <a:srgbClr val="EAF3F6"/>
                </a:solidFill>
                <a:latin typeface="Courier New" pitchFamily="34" charset="0"/>
                <a:ea typeface="Courier New" pitchFamily="34" charset="-122"/>
                <a:cs typeface="Courier New" pitchFamily="34" charset="-120"/>
              </a:rPr>
              <a:t>  LIKE 'latin2%';</a:t>
            </a:r>
            <a:endParaRPr lang="en-US" sz="1500" dirty="0"/>
          </a:p>
        </p:txBody>
      </p:sp>
      <p:sp>
        <p:nvSpPr>
          <p:cNvPr id="7" name="Text 3"/>
          <p:cNvSpPr txBox="1"/>
          <p:nvPr/>
        </p:nvSpPr>
        <p:spPr>
          <a:xfrm>
            <a:off x="7955280" y="3840480"/>
            <a:ext cx="3566160" cy="1645920"/>
          </a:xfrm>
          <a:prstGeom prst="rect">
            <a:avLst/>
          </a:prstGeom>
          <a:noFill/>
          <a:ln/>
        </p:spPr>
        <p:txBody>
          <a:bodyPr wrap="square" lIns="0" tIns="0" rIns="0" bIns="0" rtlCol="0" anchor="t"/>
          <a:lstStyle/>
          <a:p>
            <a:pPr indent="0" marL="0">
              <a:buNone/>
            </a:pPr>
            <a:r>
              <a:rPr lang="en-US" sz="1600" i="1" dirty="0">
                <a:solidFill>
                  <a:schemeClr val="tx2"/>
                </a:solidFill>
              </a:rPr>
              <a:t>W nowych projektach wybieramy utf8mb4 — utf8 w MySQL to tylko 3 bajty na znak.</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p:nvPr>
            <p:ph idx="100" type="title" hasCustomPrompt="1"/>
          </p:nvPr>
        </p:nvSpPr>
        <p:spPr>
          <a:xfrm>
            <a:off x="640080" y="365760"/>
            <a:ext cx="10881360" cy="86868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Jak czytać nazwy reguł porównywania</a:t>
            </a:r>
            <a:endParaRPr lang="en-US" sz="3400" dirty="0"/>
          </a:p>
        </p:txBody>
      </p:sp>
      <p:sp>
        <p:nvSpPr>
          <p:cNvPr id="4" name="Karta _general_ci"/>
          <p:cNvSpPr/>
          <p:nvPr/>
        </p:nvSpPr>
        <p:spPr>
          <a:xfrm>
            <a:off x="640080" y="1554480"/>
            <a:ext cx="3474720" cy="3383280"/>
          </a:xfrm>
          <a:prstGeom prst="roundRect">
            <a:avLst>
              <a:gd name="adj" fmla="val 3243"/>
            </a:avLst>
          </a:prstGeom>
          <a:solidFill>
            <a:schemeClr val="bg2"/>
          </a:solidFill>
          <a:ln/>
          <a:effectLst>
            <a:outerShdw sx="100000" sy="100000" kx="0" ky="0" algn="bl" rotWithShape="0" blurRad="101600" dist="25400" dir="5400000">
              <a:srgbClr val="0B2A3F">
                <a:alpha val="12000"/>
              </a:srgbClr>
            </a:outerShdw>
          </a:effectLst>
        </p:spPr>
      </p:sp>
      <p:sp>
        <p:nvSpPr>
          <p:cNvPr id="5" name="Sufiks _general_ci"/>
          <p:cNvSpPr/>
          <p:nvPr/>
        </p:nvSpPr>
        <p:spPr>
          <a:xfrm>
            <a:off x="914400" y="1828800"/>
            <a:ext cx="2926080" cy="685800"/>
          </a:xfrm>
          <a:prstGeom prst="roundRect">
            <a:avLst>
              <a:gd name="adj" fmla="val 16000"/>
            </a:avLst>
          </a:prstGeom>
          <a:solidFill>
            <a:schemeClr val="accent1"/>
          </a:solidFill>
          <a:ln/>
        </p:spPr>
      </p:sp>
      <p:sp>
        <p:nvSpPr>
          <p:cNvPr id="6" name="Text 3"/>
          <p:cNvSpPr txBox="1"/>
          <p:nvPr/>
        </p:nvSpPr>
        <p:spPr>
          <a:xfrm>
            <a:off x="914400" y="1828800"/>
            <a:ext cx="2926080" cy="685800"/>
          </a:xfrm>
          <a:prstGeom prst="rect">
            <a:avLst/>
          </a:prstGeom>
          <a:noFill/>
          <a:ln/>
        </p:spPr>
        <p:txBody>
          <a:bodyPr wrap="square" lIns="0" tIns="0" rIns="0" bIns="0" rtlCol="0" anchor="ctr"/>
          <a:lstStyle/>
          <a:p>
            <a:pPr algn="ctr" indent="0" marL="0">
              <a:buNone/>
            </a:pPr>
            <a:r>
              <a:rPr lang="en-US" sz="2000" b="1" dirty="0">
                <a:solidFill>
                  <a:schemeClr val="bg1"/>
                </a:solidFill>
                <a:latin typeface="Courier New" pitchFamily="34" charset="0"/>
                <a:ea typeface="Courier New" pitchFamily="34" charset="-122"/>
                <a:cs typeface="Courier New" pitchFamily="34" charset="-120"/>
              </a:rPr>
              <a:t>_general_ci</a:t>
            </a:r>
            <a:endParaRPr lang="en-US" sz="2000" dirty="0"/>
          </a:p>
        </p:txBody>
      </p:sp>
      <p:sp>
        <p:nvSpPr>
          <p:cNvPr id="7" name="Text 4"/>
          <p:cNvSpPr txBox="1"/>
          <p:nvPr/>
        </p:nvSpPr>
        <p:spPr>
          <a:xfrm>
            <a:off x="914400" y="2788920"/>
            <a:ext cx="2926080" cy="822960"/>
          </a:xfrm>
          <a:prstGeom prst="rect">
            <a:avLst/>
          </a:prstGeom>
          <a:noFill/>
          <a:ln/>
        </p:spPr>
        <p:txBody>
          <a:bodyPr wrap="square" lIns="0" tIns="0" rIns="0" bIns="0" rtlCol="0" anchor="t"/>
          <a:lstStyle/>
          <a:p>
            <a:pPr indent="0" marL="0">
              <a:buNone/>
            </a:pPr>
            <a:r>
              <a:rPr lang="en-US" sz="2000" b="1" dirty="0">
                <a:solidFill>
                  <a:schemeClr val="tx1"/>
                </a:solidFill>
              </a:rPr>
              <a:t>Bez rozróżniania wielkości liter</a:t>
            </a:r>
            <a:endParaRPr lang="en-US" sz="2000" dirty="0"/>
          </a:p>
        </p:txBody>
      </p:sp>
      <p:sp>
        <p:nvSpPr>
          <p:cNvPr id="8" name="Text 5"/>
          <p:cNvSpPr txBox="1"/>
          <p:nvPr/>
        </p:nvSpPr>
        <p:spPr>
          <a:xfrm>
            <a:off x="914400" y="3657600"/>
            <a:ext cx="2926080" cy="1097280"/>
          </a:xfrm>
          <a:prstGeom prst="rect">
            <a:avLst/>
          </a:prstGeom>
          <a:noFill/>
          <a:ln/>
        </p:spPr>
        <p:txBody>
          <a:bodyPr wrap="square" lIns="0" tIns="0" rIns="0" bIns="0" rtlCol="0" anchor="t"/>
          <a:lstStyle/>
          <a:p>
            <a:pPr indent="0" marL="0">
              <a:buNone/>
            </a:pPr>
            <a:r>
              <a:rPr lang="en-US" sz="1800" dirty="0">
                <a:solidFill>
                  <a:schemeClr val="tx1"/>
                </a:solidFill>
              </a:rPr>
              <a:t>Uproszczone sortowanie znaków narodowych</a:t>
            </a:r>
            <a:endParaRPr lang="en-US" sz="1800" dirty="0"/>
          </a:p>
        </p:txBody>
      </p:sp>
      <p:sp>
        <p:nvSpPr>
          <p:cNvPr id="9" name="Karta _bin"/>
          <p:cNvSpPr/>
          <p:nvPr/>
        </p:nvSpPr>
        <p:spPr>
          <a:xfrm>
            <a:off x="4343400" y="1554480"/>
            <a:ext cx="3474720" cy="3383280"/>
          </a:xfrm>
          <a:prstGeom prst="roundRect">
            <a:avLst>
              <a:gd name="adj" fmla="val 3243"/>
            </a:avLst>
          </a:prstGeom>
          <a:solidFill>
            <a:schemeClr val="bg2"/>
          </a:solidFill>
          <a:ln/>
          <a:effectLst>
            <a:outerShdw sx="100000" sy="100000" kx="0" ky="0" algn="bl" rotWithShape="0" blurRad="101600" dist="25400" dir="5400000">
              <a:srgbClr val="0B2A3F">
                <a:alpha val="12000"/>
              </a:srgbClr>
            </a:outerShdw>
          </a:effectLst>
        </p:spPr>
      </p:sp>
      <p:sp>
        <p:nvSpPr>
          <p:cNvPr id="10" name="Sufiks _bin"/>
          <p:cNvSpPr/>
          <p:nvPr/>
        </p:nvSpPr>
        <p:spPr>
          <a:xfrm>
            <a:off x="4617720" y="1828800"/>
            <a:ext cx="2926080" cy="685800"/>
          </a:xfrm>
          <a:prstGeom prst="roundRect">
            <a:avLst>
              <a:gd name="adj" fmla="val 16000"/>
            </a:avLst>
          </a:prstGeom>
          <a:solidFill>
            <a:schemeClr val="accent4"/>
          </a:solidFill>
          <a:ln/>
        </p:spPr>
      </p:sp>
      <p:sp>
        <p:nvSpPr>
          <p:cNvPr id="11" name="Text 8"/>
          <p:cNvSpPr txBox="1"/>
          <p:nvPr/>
        </p:nvSpPr>
        <p:spPr>
          <a:xfrm>
            <a:off x="4617720" y="1828800"/>
            <a:ext cx="2926080" cy="685800"/>
          </a:xfrm>
          <a:prstGeom prst="rect">
            <a:avLst/>
          </a:prstGeom>
          <a:noFill/>
          <a:ln/>
        </p:spPr>
        <p:txBody>
          <a:bodyPr wrap="square" lIns="0" tIns="0" rIns="0" bIns="0" rtlCol="0" anchor="ctr"/>
          <a:lstStyle/>
          <a:p>
            <a:pPr algn="ctr" indent="0" marL="0">
              <a:buNone/>
            </a:pPr>
            <a:r>
              <a:rPr lang="en-US" sz="2000" b="1" dirty="0">
                <a:solidFill>
                  <a:schemeClr val="bg1"/>
                </a:solidFill>
                <a:latin typeface="Courier New" pitchFamily="34" charset="0"/>
                <a:ea typeface="Courier New" pitchFamily="34" charset="-122"/>
                <a:cs typeface="Courier New" pitchFamily="34" charset="-120"/>
              </a:rPr>
              <a:t>_bin</a:t>
            </a:r>
            <a:endParaRPr lang="en-US" sz="2000" dirty="0"/>
          </a:p>
        </p:txBody>
      </p:sp>
      <p:sp>
        <p:nvSpPr>
          <p:cNvPr id="12" name="Text 9"/>
          <p:cNvSpPr txBox="1"/>
          <p:nvPr/>
        </p:nvSpPr>
        <p:spPr>
          <a:xfrm>
            <a:off x="4617720" y="2788920"/>
            <a:ext cx="2926080" cy="822960"/>
          </a:xfrm>
          <a:prstGeom prst="rect">
            <a:avLst/>
          </a:prstGeom>
          <a:noFill/>
          <a:ln/>
        </p:spPr>
        <p:txBody>
          <a:bodyPr wrap="square" lIns="0" tIns="0" rIns="0" bIns="0" rtlCol="0" anchor="t"/>
          <a:lstStyle/>
          <a:p>
            <a:pPr indent="0" marL="0">
              <a:buNone/>
            </a:pPr>
            <a:r>
              <a:rPr lang="en-US" sz="2000" b="1" dirty="0">
                <a:solidFill>
                  <a:schemeClr val="tx1"/>
                </a:solidFill>
              </a:rPr>
              <a:t>Porównanie binarne, bajt po bajcie</a:t>
            </a:r>
            <a:endParaRPr lang="en-US" sz="2000" dirty="0"/>
          </a:p>
        </p:txBody>
      </p:sp>
      <p:sp>
        <p:nvSpPr>
          <p:cNvPr id="13" name="Text 10"/>
          <p:cNvSpPr txBox="1"/>
          <p:nvPr/>
        </p:nvSpPr>
        <p:spPr>
          <a:xfrm>
            <a:off x="4617720" y="3657600"/>
            <a:ext cx="2926080" cy="1097280"/>
          </a:xfrm>
          <a:prstGeom prst="rect">
            <a:avLst/>
          </a:prstGeom>
          <a:noFill/>
          <a:ln/>
        </p:spPr>
        <p:txBody>
          <a:bodyPr wrap="square" lIns="0" tIns="0" rIns="0" bIns="0" rtlCol="0" anchor="t"/>
          <a:lstStyle/>
          <a:p>
            <a:pPr indent="0" marL="0">
              <a:buNone/>
            </a:pPr>
            <a:r>
              <a:rPr lang="en-US" sz="1800" dirty="0">
                <a:solidFill>
                  <a:schemeClr val="tx1"/>
                </a:solidFill>
              </a:rPr>
              <a:t>Najściślejsze, ale najmniej językowe</a:t>
            </a:r>
            <a:endParaRPr lang="en-US" sz="1800" dirty="0"/>
          </a:p>
        </p:txBody>
      </p:sp>
      <p:sp>
        <p:nvSpPr>
          <p:cNvPr id="14" name="Karta _polish_ci"/>
          <p:cNvSpPr/>
          <p:nvPr/>
        </p:nvSpPr>
        <p:spPr>
          <a:xfrm>
            <a:off x="8046720" y="1554480"/>
            <a:ext cx="3474720" cy="3383280"/>
          </a:xfrm>
          <a:prstGeom prst="roundRect">
            <a:avLst>
              <a:gd name="adj" fmla="val 3243"/>
            </a:avLst>
          </a:prstGeom>
          <a:solidFill>
            <a:schemeClr val="bg2"/>
          </a:solidFill>
          <a:ln/>
          <a:effectLst>
            <a:outerShdw sx="100000" sy="100000" kx="0" ky="0" algn="bl" rotWithShape="0" blurRad="101600" dist="25400" dir="5400000">
              <a:srgbClr val="0B2A3F">
                <a:alpha val="12000"/>
              </a:srgbClr>
            </a:outerShdw>
          </a:effectLst>
        </p:spPr>
      </p:sp>
      <p:sp>
        <p:nvSpPr>
          <p:cNvPr id="15" name="Sufiks _polish_ci"/>
          <p:cNvSpPr/>
          <p:nvPr/>
        </p:nvSpPr>
        <p:spPr>
          <a:xfrm>
            <a:off x="8321040" y="1828800"/>
            <a:ext cx="2926080" cy="685800"/>
          </a:xfrm>
          <a:prstGeom prst="roundRect">
            <a:avLst>
              <a:gd name="adj" fmla="val 16000"/>
            </a:avLst>
          </a:prstGeom>
          <a:solidFill>
            <a:schemeClr val="accent2"/>
          </a:solidFill>
          <a:ln/>
        </p:spPr>
      </p:sp>
      <p:sp>
        <p:nvSpPr>
          <p:cNvPr id="16" name="Text 13"/>
          <p:cNvSpPr txBox="1"/>
          <p:nvPr/>
        </p:nvSpPr>
        <p:spPr>
          <a:xfrm>
            <a:off x="8321040" y="1828800"/>
            <a:ext cx="2926080" cy="685800"/>
          </a:xfrm>
          <a:prstGeom prst="rect">
            <a:avLst/>
          </a:prstGeom>
          <a:noFill/>
          <a:ln/>
        </p:spPr>
        <p:txBody>
          <a:bodyPr wrap="square" lIns="0" tIns="0" rIns="0" bIns="0" rtlCol="0" anchor="ctr"/>
          <a:lstStyle/>
          <a:p>
            <a:pPr algn="ctr" indent="0" marL="0">
              <a:buNone/>
            </a:pPr>
            <a:r>
              <a:rPr lang="en-US" sz="2000" b="1" dirty="0">
                <a:solidFill>
                  <a:schemeClr val="tx1"/>
                </a:solidFill>
                <a:latin typeface="Courier New" pitchFamily="34" charset="0"/>
                <a:ea typeface="Courier New" pitchFamily="34" charset="-122"/>
                <a:cs typeface="Courier New" pitchFamily="34" charset="-120"/>
              </a:rPr>
              <a:t>_polish_ci</a:t>
            </a:r>
            <a:endParaRPr lang="en-US" sz="2000" dirty="0"/>
          </a:p>
        </p:txBody>
      </p:sp>
      <p:sp>
        <p:nvSpPr>
          <p:cNvPr id="17" name="Text 14"/>
          <p:cNvSpPr txBox="1"/>
          <p:nvPr/>
        </p:nvSpPr>
        <p:spPr>
          <a:xfrm>
            <a:off x="8321040" y="2788920"/>
            <a:ext cx="2926080" cy="822960"/>
          </a:xfrm>
          <a:prstGeom prst="rect">
            <a:avLst/>
          </a:prstGeom>
          <a:noFill/>
          <a:ln/>
        </p:spPr>
        <p:txBody>
          <a:bodyPr wrap="square" lIns="0" tIns="0" rIns="0" bIns="0" rtlCol="0" anchor="t"/>
          <a:lstStyle/>
          <a:p>
            <a:pPr indent="0" marL="0">
              <a:buNone/>
            </a:pPr>
            <a:r>
              <a:rPr lang="en-US" sz="2000" b="1" dirty="0">
                <a:solidFill>
                  <a:schemeClr val="tx1"/>
                </a:solidFill>
              </a:rPr>
              <a:t>Polska kolejność alfabetyczna</a:t>
            </a:r>
            <a:endParaRPr lang="en-US" sz="2000" dirty="0"/>
          </a:p>
        </p:txBody>
      </p:sp>
      <p:sp>
        <p:nvSpPr>
          <p:cNvPr id="18" name="Text 15"/>
          <p:cNvSpPr txBox="1"/>
          <p:nvPr/>
        </p:nvSpPr>
        <p:spPr>
          <a:xfrm>
            <a:off x="8321040" y="3657600"/>
            <a:ext cx="2926080" cy="1097280"/>
          </a:xfrm>
          <a:prstGeom prst="rect">
            <a:avLst/>
          </a:prstGeom>
          <a:noFill/>
          <a:ln/>
        </p:spPr>
        <p:txBody>
          <a:bodyPr wrap="square" lIns="0" tIns="0" rIns="0" bIns="0" rtlCol="0" anchor="t"/>
          <a:lstStyle/>
          <a:p>
            <a:pPr indent="0" marL="0">
              <a:buNone/>
            </a:pPr>
            <a:r>
              <a:rPr lang="en-US" sz="1800" dirty="0">
                <a:solidFill>
                  <a:schemeClr val="tx1"/>
                </a:solidFill>
              </a:rPr>
              <a:t>Poprawne ą, ć, ł, ń, ó, ś, ź, ż</a:t>
            </a:r>
            <a:endParaRPr lang="en-US" sz="1800" dirty="0"/>
          </a:p>
        </p:txBody>
      </p:sp>
      <p:sp>
        <p:nvSpPr>
          <p:cNvPr id="19" name="Text 16"/>
          <p:cNvSpPr txBox="1"/>
          <p:nvPr/>
        </p:nvSpPr>
        <p:spPr>
          <a:xfrm>
            <a:off x="640080" y="5303520"/>
            <a:ext cx="10881360" cy="640080"/>
          </a:xfrm>
          <a:prstGeom prst="rect">
            <a:avLst/>
          </a:prstGeom>
          <a:noFill/>
          <a:ln/>
        </p:spPr>
        <p:txBody>
          <a:bodyPr wrap="square" lIns="0" tIns="0" rIns="0" bIns="0" rtlCol="0" anchor="ctr"/>
          <a:lstStyle/>
          <a:p>
            <a:pPr indent="0" marL="0">
              <a:buNone/>
            </a:pPr>
            <a:r>
              <a:rPr lang="en-US" sz="1700" i="1" dirty="0">
                <a:solidFill>
                  <a:schemeClr val="tx2"/>
                </a:solidFill>
              </a:rPr>
              <a:t>Przykłady: utf8_polish_ci, cp1250_general_ci, latin2_bin.</a:t>
            </a:r>
            <a:endParaRPr lang="en-US" sz="17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p:nvPr>
            <p:ph idx="100" type="title" hasCustomPrompt="1"/>
          </p:nvPr>
        </p:nvSpPr>
        <p:spPr>
          <a:xfrm>
            <a:off x="640080" y="365760"/>
            <a:ext cx="10881360" cy="86868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Cztery poziomy — i dziedziczenie</a:t>
            </a:r>
            <a:endParaRPr lang="en-US" sz="3400" dirty="0"/>
          </a:p>
        </p:txBody>
      </p:sp>
      <p:sp>
        <p:nvSpPr>
          <p:cNvPr id="4" name="Poziom Serwer"/>
          <p:cNvSpPr/>
          <p:nvPr/>
        </p:nvSpPr>
        <p:spPr>
          <a:xfrm>
            <a:off x="640080" y="1828800"/>
            <a:ext cx="2331720" cy="1828800"/>
          </a:xfrm>
          <a:prstGeom prst="roundRect">
            <a:avLst>
              <a:gd name="adj" fmla="val 6000"/>
            </a:avLst>
          </a:prstGeom>
          <a:solidFill>
            <a:schemeClr val="tx1"/>
          </a:solidFill>
          <a:ln/>
          <a:effectLst>
            <a:outerShdw sx="100000" sy="100000" kx="0" ky="0" algn="bl" rotWithShape="0" blurRad="101600" dist="25400" dir="5400000">
              <a:srgbClr val="0B2A3F">
                <a:alpha val="12000"/>
              </a:srgbClr>
            </a:outerShdw>
          </a:effectLst>
        </p:spPr>
      </p:sp>
      <p:sp>
        <p:nvSpPr>
          <p:cNvPr id="5" name="Text 2"/>
          <p:cNvSpPr txBox="1"/>
          <p:nvPr/>
        </p:nvSpPr>
        <p:spPr>
          <a:xfrm>
            <a:off x="822960" y="1965960"/>
            <a:ext cx="1965960" cy="731520"/>
          </a:xfrm>
          <a:prstGeom prst="rect">
            <a:avLst/>
          </a:prstGeom>
          <a:noFill/>
          <a:ln/>
        </p:spPr>
        <p:txBody>
          <a:bodyPr wrap="square" lIns="0" tIns="0" rIns="0" bIns="0" rtlCol="0" anchor="ctr"/>
          <a:lstStyle/>
          <a:p>
            <a:pPr indent="0" marL="0">
              <a:buNone/>
            </a:pPr>
            <a:r>
              <a:rPr lang="en-US" sz="2600" b="1" dirty="0">
                <a:solidFill>
                  <a:schemeClr val="bg1"/>
                </a:solidFill>
                <a:latin typeface="Cambria" pitchFamily="34" charset="0"/>
                <a:ea typeface="Cambria" pitchFamily="34" charset="-122"/>
                <a:cs typeface="Cambria" pitchFamily="34" charset="-120"/>
              </a:rPr>
              <a:t>Serwer</a:t>
            </a:r>
            <a:endParaRPr lang="en-US" sz="2600" dirty="0"/>
          </a:p>
        </p:txBody>
      </p:sp>
      <p:sp>
        <p:nvSpPr>
          <p:cNvPr id="6" name="Text 3"/>
          <p:cNvSpPr txBox="1"/>
          <p:nvPr/>
        </p:nvSpPr>
        <p:spPr>
          <a:xfrm>
            <a:off x="822960" y="2743200"/>
            <a:ext cx="1965960" cy="731520"/>
          </a:xfrm>
          <a:prstGeom prst="rect">
            <a:avLst/>
          </a:prstGeom>
          <a:noFill/>
          <a:ln/>
        </p:spPr>
        <p:txBody>
          <a:bodyPr wrap="square" lIns="0" tIns="0" rIns="0" bIns="0" rtlCol="0" anchor="t"/>
          <a:lstStyle/>
          <a:p>
            <a:pPr indent="0" marL="0">
              <a:buNone/>
            </a:pPr>
            <a:r>
              <a:rPr lang="en-US" sz="1600" dirty="0">
                <a:solidFill>
                  <a:schemeClr val="bg2"/>
                </a:solidFill>
              </a:rPr>
              <a:t>character-set-server</a:t>
            </a:r>
            <a:endParaRPr lang="en-US" sz="1600" dirty="0"/>
          </a:p>
        </p:txBody>
      </p:sp>
      <p:sp>
        <p:nvSpPr>
          <p:cNvPr id="7" name="Strzałka"/>
          <p:cNvSpPr/>
          <p:nvPr/>
        </p:nvSpPr>
        <p:spPr>
          <a:xfrm>
            <a:off x="3035808" y="2560320"/>
            <a:ext cx="347472" cy="365760"/>
          </a:xfrm>
          <a:prstGeom prst="rightArrow">
            <a:avLst/>
          </a:prstGeom>
          <a:solidFill>
            <a:schemeClr val="accent4"/>
          </a:solidFill>
          <a:ln/>
        </p:spPr>
      </p:sp>
      <p:sp>
        <p:nvSpPr>
          <p:cNvPr id="8" name="Poziom Baza"/>
          <p:cNvSpPr/>
          <p:nvPr/>
        </p:nvSpPr>
        <p:spPr>
          <a:xfrm>
            <a:off x="3429000" y="1828800"/>
            <a:ext cx="2331720" cy="1828800"/>
          </a:xfrm>
          <a:prstGeom prst="roundRect">
            <a:avLst>
              <a:gd name="adj" fmla="val 6000"/>
            </a:avLst>
          </a:prstGeom>
          <a:solidFill>
            <a:schemeClr val="tx2"/>
          </a:solidFill>
          <a:ln/>
          <a:effectLst>
            <a:outerShdw sx="100000" sy="100000" kx="0" ky="0" algn="bl" rotWithShape="0" blurRad="101600" dist="25400" dir="5400000">
              <a:srgbClr val="0B2A3F">
                <a:alpha val="12000"/>
              </a:srgbClr>
            </a:outerShdw>
          </a:effectLst>
        </p:spPr>
      </p:sp>
      <p:sp>
        <p:nvSpPr>
          <p:cNvPr id="9" name="Text 6"/>
          <p:cNvSpPr txBox="1"/>
          <p:nvPr/>
        </p:nvSpPr>
        <p:spPr>
          <a:xfrm>
            <a:off x="3611880" y="1965960"/>
            <a:ext cx="1965960" cy="731520"/>
          </a:xfrm>
          <a:prstGeom prst="rect">
            <a:avLst/>
          </a:prstGeom>
          <a:noFill/>
          <a:ln/>
        </p:spPr>
        <p:txBody>
          <a:bodyPr wrap="square" lIns="0" tIns="0" rIns="0" bIns="0" rtlCol="0" anchor="ctr"/>
          <a:lstStyle/>
          <a:p>
            <a:pPr indent="0" marL="0">
              <a:buNone/>
            </a:pPr>
            <a:r>
              <a:rPr lang="en-US" sz="2600" b="1" dirty="0">
                <a:solidFill>
                  <a:schemeClr val="bg1"/>
                </a:solidFill>
                <a:latin typeface="Cambria" pitchFamily="34" charset="0"/>
                <a:ea typeface="Cambria" pitchFamily="34" charset="-122"/>
                <a:cs typeface="Cambria" pitchFamily="34" charset="-120"/>
              </a:rPr>
              <a:t>Baza</a:t>
            </a:r>
            <a:endParaRPr lang="en-US" sz="2600" dirty="0"/>
          </a:p>
        </p:txBody>
      </p:sp>
      <p:sp>
        <p:nvSpPr>
          <p:cNvPr id="10" name="Text 7"/>
          <p:cNvSpPr txBox="1"/>
          <p:nvPr/>
        </p:nvSpPr>
        <p:spPr>
          <a:xfrm>
            <a:off x="3611880" y="2743200"/>
            <a:ext cx="1965960" cy="731520"/>
          </a:xfrm>
          <a:prstGeom prst="rect">
            <a:avLst/>
          </a:prstGeom>
          <a:noFill/>
          <a:ln/>
        </p:spPr>
        <p:txBody>
          <a:bodyPr wrap="square" lIns="0" tIns="0" rIns="0" bIns="0" rtlCol="0" anchor="t"/>
          <a:lstStyle/>
          <a:p>
            <a:pPr indent="0" marL="0">
              <a:buNone/>
            </a:pPr>
            <a:r>
              <a:rPr lang="en-US" sz="1600" dirty="0">
                <a:solidFill>
                  <a:schemeClr val="bg2"/>
                </a:solidFill>
              </a:rPr>
              <a:t>CREATE DATABASE</a:t>
            </a:r>
            <a:endParaRPr lang="en-US" sz="1600" dirty="0"/>
          </a:p>
        </p:txBody>
      </p:sp>
      <p:sp>
        <p:nvSpPr>
          <p:cNvPr id="11" name="Strzałka"/>
          <p:cNvSpPr/>
          <p:nvPr/>
        </p:nvSpPr>
        <p:spPr>
          <a:xfrm>
            <a:off x="5824728" y="2560320"/>
            <a:ext cx="347472" cy="365760"/>
          </a:xfrm>
          <a:prstGeom prst="rightArrow">
            <a:avLst/>
          </a:prstGeom>
          <a:solidFill>
            <a:schemeClr val="accent4"/>
          </a:solidFill>
          <a:ln/>
        </p:spPr>
      </p:sp>
      <p:sp>
        <p:nvSpPr>
          <p:cNvPr id="12" name="Poziom Tabela"/>
          <p:cNvSpPr/>
          <p:nvPr/>
        </p:nvSpPr>
        <p:spPr>
          <a:xfrm>
            <a:off x="6217920" y="1828800"/>
            <a:ext cx="2331720" cy="1828800"/>
          </a:xfrm>
          <a:prstGeom prst="roundRect">
            <a:avLst>
              <a:gd name="adj" fmla="val 6000"/>
            </a:avLst>
          </a:prstGeom>
          <a:solidFill>
            <a:schemeClr val="accent1"/>
          </a:solidFill>
          <a:ln/>
          <a:effectLst>
            <a:outerShdw sx="100000" sy="100000" kx="0" ky="0" algn="bl" rotWithShape="0" blurRad="101600" dist="25400" dir="5400000">
              <a:srgbClr val="0B2A3F">
                <a:alpha val="12000"/>
              </a:srgbClr>
            </a:outerShdw>
          </a:effectLst>
        </p:spPr>
      </p:sp>
      <p:sp>
        <p:nvSpPr>
          <p:cNvPr id="13" name="Text 10"/>
          <p:cNvSpPr txBox="1"/>
          <p:nvPr/>
        </p:nvSpPr>
        <p:spPr>
          <a:xfrm>
            <a:off x="6400800" y="1965960"/>
            <a:ext cx="1965960" cy="731520"/>
          </a:xfrm>
          <a:prstGeom prst="rect">
            <a:avLst/>
          </a:prstGeom>
          <a:noFill/>
          <a:ln/>
        </p:spPr>
        <p:txBody>
          <a:bodyPr wrap="square" lIns="0" tIns="0" rIns="0" bIns="0" rtlCol="0" anchor="ctr"/>
          <a:lstStyle/>
          <a:p>
            <a:pPr indent="0" marL="0">
              <a:buNone/>
            </a:pPr>
            <a:r>
              <a:rPr lang="en-US" sz="2600" b="1" dirty="0">
                <a:solidFill>
                  <a:schemeClr val="bg1"/>
                </a:solidFill>
                <a:latin typeface="Cambria" pitchFamily="34" charset="0"/>
                <a:ea typeface="Cambria" pitchFamily="34" charset="-122"/>
                <a:cs typeface="Cambria" pitchFamily="34" charset="-120"/>
              </a:rPr>
              <a:t>Tabela</a:t>
            </a:r>
            <a:endParaRPr lang="en-US" sz="2600" dirty="0"/>
          </a:p>
        </p:txBody>
      </p:sp>
      <p:sp>
        <p:nvSpPr>
          <p:cNvPr id="14" name="Text 11"/>
          <p:cNvSpPr txBox="1"/>
          <p:nvPr/>
        </p:nvSpPr>
        <p:spPr>
          <a:xfrm>
            <a:off x="6400800" y="2743200"/>
            <a:ext cx="1965960" cy="731520"/>
          </a:xfrm>
          <a:prstGeom prst="rect">
            <a:avLst/>
          </a:prstGeom>
          <a:noFill/>
          <a:ln/>
        </p:spPr>
        <p:txBody>
          <a:bodyPr wrap="square" lIns="0" tIns="0" rIns="0" bIns="0" rtlCol="0" anchor="t"/>
          <a:lstStyle/>
          <a:p>
            <a:pPr indent="0" marL="0">
              <a:buNone/>
            </a:pPr>
            <a:r>
              <a:rPr lang="en-US" sz="1600" dirty="0">
                <a:solidFill>
                  <a:schemeClr val="bg2"/>
                </a:solidFill>
              </a:rPr>
              <a:t>CREATE TABLE</a:t>
            </a:r>
            <a:endParaRPr lang="en-US" sz="1600" dirty="0"/>
          </a:p>
        </p:txBody>
      </p:sp>
      <p:sp>
        <p:nvSpPr>
          <p:cNvPr id="15" name="Strzałka"/>
          <p:cNvSpPr/>
          <p:nvPr/>
        </p:nvSpPr>
        <p:spPr>
          <a:xfrm>
            <a:off x="8613648" y="2560320"/>
            <a:ext cx="347472" cy="365760"/>
          </a:xfrm>
          <a:prstGeom prst="rightArrow">
            <a:avLst/>
          </a:prstGeom>
          <a:solidFill>
            <a:schemeClr val="accent4"/>
          </a:solidFill>
          <a:ln/>
        </p:spPr>
      </p:sp>
      <p:sp>
        <p:nvSpPr>
          <p:cNvPr id="16" name="Poziom Kolumna"/>
          <p:cNvSpPr/>
          <p:nvPr/>
        </p:nvSpPr>
        <p:spPr>
          <a:xfrm>
            <a:off x="9006840" y="1828800"/>
            <a:ext cx="2331720" cy="1828800"/>
          </a:xfrm>
          <a:prstGeom prst="roundRect">
            <a:avLst>
              <a:gd name="adj" fmla="val 6000"/>
            </a:avLst>
          </a:prstGeom>
          <a:solidFill>
            <a:schemeClr val="accent2"/>
          </a:solidFill>
          <a:ln/>
          <a:effectLst>
            <a:outerShdw sx="100000" sy="100000" kx="0" ky="0" algn="bl" rotWithShape="0" blurRad="101600" dist="25400" dir="5400000">
              <a:srgbClr val="0B2A3F">
                <a:alpha val="12000"/>
              </a:srgbClr>
            </a:outerShdw>
          </a:effectLst>
        </p:spPr>
      </p:sp>
      <p:sp>
        <p:nvSpPr>
          <p:cNvPr id="17" name="Text 14"/>
          <p:cNvSpPr txBox="1"/>
          <p:nvPr/>
        </p:nvSpPr>
        <p:spPr>
          <a:xfrm>
            <a:off x="9189720" y="1965960"/>
            <a:ext cx="1965960" cy="73152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Kolumna</a:t>
            </a:r>
            <a:endParaRPr lang="en-US" sz="2600" dirty="0"/>
          </a:p>
        </p:txBody>
      </p:sp>
      <p:sp>
        <p:nvSpPr>
          <p:cNvPr id="18" name="Text 15"/>
          <p:cNvSpPr txBox="1"/>
          <p:nvPr/>
        </p:nvSpPr>
        <p:spPr>
          <a:xfrm>
            <a:off x="9189720" y="2743200"/>
            <a:ext cx="1965960" cy="731520"/>
          </a:xfrm>
          <a:prstGeom prst="rect">
            <a:avLst/>
          </a:prstGeom>
          <a:noFill/>
          <a:ln/>
        </p:spPr>
        <p:txBody>
          <a:bodyPr wrap="square" lIns="0" tIns="0" rIns="0" bIns="0" rtlCol="0" anchor="t"/>
          <a:lstStyle/>
          <a:p>
            <a:pPr indent="0" marL="0">
              <a:buNone/>
            </a:pPr>
            <a:r>
              <a:rPr lang="en-US" sz="1600" dirty="0">
                <a:solidFill>
                  <a:schemeClr val="tx1"/>
                </a:solidFill>
              </a:rPr>
              <a:t>CHAR, VARCHAR, TEXT</a:t>
            </a:r>
            <a:endParaRPr lang="en-US" sz="1600" dirty="0"/>
          </a:p>
        </p:txBody>
      </p:sp>
      <p:sp>
        <p:nvSpPr>
          <p:cNvPr id="19" name="Text 16"/>
          <p:cNvSpPr txBox="1"/>
          <p:nvPr/>
        </p:nvSpPr>
        <p:spPr>
          <a:xfrm>
            <a:off x="640080" y="4114800"/>
            <a:ext cx="10881360" cy="731520"/>
          </a:xfrm>
          <a:prstGeom prst="rect">
            <a:avLst/>
          </a:prstGeom>
          <a:noFill/>
          <a:ln/>
        </p:spPr>
        <p:txBody>
          <a:bodyPr wrap="square" lIns="0" tIns="0" rIns="0" bIns="0" rtlCol="0" anchor="ctr"/>
          <a:lstStyle/>
          <a:p>
            <a:pPr indent="0" marL="0">
              <a:buNone/>
            </a:pPr>
            <a:r>
              <a:rPr lang="en-US" sz="2000" b="1" dirty="0">
                <a:solidFill>
                  <a:schemeClr val="tx1"/>
                </a:solidFill>
              </a:rPr>
              <a:t>Niższy poziom dziedziczy ustawienie z wyższego — dopóki go jawnie nie nadpiszemy.</a:t>
            </a:r>
            <a:endParaRPr lang="en-US" sz="2000" dirty="0"/>
          </a:p>
        </p:txBody>
      </p:sp>
      <p:sp>
        <p:nvSpPr>
          <p:cNvPr id="20" name="Text 17"/>
          <p:cNvSpPr txBox="1"/>
          <p:nvPr/>
        </p:nvSpPr>
        <p:spPr>
          <a:xfrm>
            <a:off x="640080" y="4937760"/>
            <a:ext cx="10881360" cy="822960"/>
          </a:xfrm>
          <a:prstGeom prst="rect">
            <a:avLst/>
          </a:prstGeom>
          <a:noFill/>
          <a:ln/>
        </p:spPr>
        <p:txBody>
          <a:bodyPr wrap="square" lIns="0" tIns="0" rIns="0" bIns="0" rtlCol="0" anchor="t"/>
          <a:lstStyle/>
          <a:p>
            <a:pPr indent="0" marL="0">
              <a:buNone/>
            </a:pPr>
            <a:r>
              <a:rPr lang="en-US" sz="1600" dirty="0">
                <a:solidFill>
                  <a:schemeClr val="tx2"/>
                </a:solidFill>
              </a:rPr>
              <a:t>Ustawienie serwera jest domyślne dla nowych baz, ustawienie bazy dla nowych tabel, a tabeli dla jej kolumn.</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p:nvPr>
            <p:ph idx="100" type="title" hasCustomPrompt="1"/>
          </p:nvPr>
        </p:nvSpPr>
        <p:spPr>
          <a:xfrm>
            <a:off x="640080" y="365760"/>
            <a:ext cx="10881360" cy="86868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Poziom serwera i bazy danych</a:t>
            </a:r>
            <a:endParaRPr lang="en-US" sz="3400" dirty="0"/>
          </a:p>
        </p:txBody>
      </p:sp>
      <p:sp>
        <p:nvSpPr>
          <p:cNvPr id="4" name="Text 1"/>
          <p:cNvSpPr txBox="1"/>
          <p:nvPr/>
        </p:nvSpPr>
        <p:spPr>
          <a:xfrm>
            <a:off x="640080" y="1463040"/>
            <a:ext cx="5303520" cy="41148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Serwer (my.ini / my.cnf)</a:t>
            </a:r>
            <a:endParaRPr lang="en-US" sz="2000" dirty="0"/>
          </a:p>
        </p:txBody>
      </p:sp>
      <p:sp>
        <p:nvSpPr>
          <p:cNvPr id="5" name="Blok kodu"/>
          <p:cNvSpPr/>
          <p:nvPr/>
        </p:nvSpPr>
        <p:spPr>
          <a:xfrm>
            <a:off x="640080" y="1965960"/>
            <a:ext cx="5303520" cy="1828800"/>
          </a:xfrm>
          <a:prstGeom prst="roundRect">
            <a:avLst>
              <a:gd name="adj" fmla="val 5000"/>
            </a:avLst>
          </a:prstGeom>
          <a:solidFill>
            <a:srgbClr val="0B2A3F"/>
          </a:solidFill>
          <a:ln/>
        </p:spPr>
      </p:sp>
      <p:sp>
        <p:nvSpPr>
          <p:cNvPr id="6" name="Text 3"/>
          <p:cNvSpPr txBox="1"/>
          <p:nvPr/>
        </p:nvSpPr>
        <p:spPr>
          <a:xfrm>
            <a:off x="868680" y="2103120"/>
            <a:ext cx="4846320" cy="1554480"/>
          </a:xfrm>
          <a:prstGeom prst="rect">
            <a:avLst/>
          </a:prstGeom>
          <a:noFill/>
          <a:ln/>
        </p:spPr>
        <p:txBody>
          <a:bodyPr wrap="square" lIns="0" tIns="0" rIns="0" bIns="0" rtlCol="0" anchor="t"/>
          <a:lstStyle/>
          <a:p>
            <a:pPr indent="0" marL="0">
              <a:buNone/>
            </a:pPr>
            <a:r>
              <a:rPr lang="en-US" sz="1500" dirty="0">
                <a:solidFill>
                  <a:srgbClr val="EAF3F6"/>
                </a:solidFill>
                <a:latin typeface="Courier New" pitchFamily="34" charset="0"/>
                <a:ea typeface="Courier New" pitchFamily="34" charset="-122"/>
                <a:cs typeface="Courier New" pitchFamily="34" charset="-120"/>
              </a:rPr>
              <a:t>character-set-server = utf8</a:t>
            </a:r>
            <a:endParaRPr lang="en-US" sz="1500" dirty="0"/>
          </a:p>
          <a:p>
            <a:pPr indent="0" marL="0">
              <a:buNone/>
            </a:pPr>
            <a:r>
              <a:rPr lang="en-US" sz="1500" dirty="0">
                <a:solidFill>
                  <a:srgbClr val="EAF3F6"/>
                </a:solidFill>
                <a:latin typeface="Courier New" pitchFamily="34" charset="0"/>
                <a:ea typeface="Courier New" pitchFamily="34" charset="-122"/>
                <a:cs typeface="Courier New" pitchFamily="34" charset="-120"/>
              </a:rPr>
              <a:t>collation-server = utf8_general_ci</a:t>
            </a:r>
            <a:endParaRPr lang="en-US" sz="1500" dirty="0"/>
          </a:p>
          <a:p>
            <a:pPr indent="0" marL="0">
              <a:buNone/>
            </a:pPr>
            <a:endParaRPr lang="en-US" sz="1500" dirty="0"/>
          </a:p>
          <a:p>
            <a:pPr indent="0" marL="0">
              <a:buNone/>
            </a:pPr>
            <a:r>
              <a:rPr lang="en-US" sz="1500" dirty="0">
                <a:solidFill>
                  <a:srgbClr val="EAF3F6"/>
                </a:solidFill>
                <a:latin typeface="Courier New" pitchFamily="34" charset="0"/>
                <a:ea typeface="Courier New" pitchFamily="34" charset="-122"/>
                <a:cs typeface="Courier New" pitchFamily="34" charset="-120"/>
              </a:rPr>
              <a:t># lub przy starcie:</a:t>
            </a:r>
            <a:endParaRPr lang="en-US" sz="1500" dirty="0"/>
          </a:p>
          <a:p>
            <a:pPr indent="0" marL="0">
              <a:buNone/>
            </a:pPr>
            <a:r>
              <a:rPr lang="en-US" sz="1500" dirty="0">
                <a:solidFill>
                  <a:srgbClr val="EAF3F6"/>
                </a:solidFill>
                <a:latin typeface="Courier New" pitchFamily="34" charset="0"/>
                <a:ea typeface="Courier New" pitchFamily="34" charset="-122"/>
                <a:cs typeface="Courier New" pitchFamily="34" charset="-120"/>
              </a:rPr>
              <a:t>mysqld --character-set-server=utf8</a:t>
            </a:r>
            <a:endParaRPr lang="en-US" sz="1500" dirty="0"/>
          </a:p>
        </p:txBody>
      </p:sp>
      <p:sp>
        <p:nvSpPr>
          <p:cNvPr id="7" name="Text 4"/>
          <p:cNvSpPr txBox="1"/>
          <p:nvPr/>
        </p:nvSpPr>
        <p:spPr>
          <a:xfrm>
            <a:off x="6217920" y="1463040"/>
            <a:ext cx="5303520" cy="41148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Baza danych</a:t>
            </a:r>
            <a:endParaRPr lang="en-US" sz="2000" dirty="0"/>
          </a:p>
        </p:txBody>
      </p:sp>
      <p:sp>
        <p:nvSpPr>
          <p:cNvPr id="8" name="Blok kodu"/>
          <p:cNvSpPr/>
          <p:nvPr/>
        </p:nvSpPr>
        <p:spPr>
          <a:xfrm>
            <a:off x="6217920" y="1965960"/>
            <a:ext cx="5303520" cy="2834640"/>
          </a:xfrm>
          <a:prstGeom prst="roundRect">
            <a:avLst>
              <a:gd name="adj" fmla="val 3226"/>
            </a:avLst>
          </a:prstGeom>
          <a:solidFill>
            <a:srgbClr val="0B2A3F"/>
          </a:solidFill>
          <a:ln/>
        </p:spPr>
      </p:sp>
      <p:sp>
        <p:nvSpPr>
          <p:cNvPr id="9" name="Text 6"/>
          <p:cNvSpPr txBox="1"/>
          <p:nvPr/>
        </p:nvSpPr>
        <p:spPr>
          <a:xfrm>
            <a:off x="6446520" y="2103120"/>
            <a:ext cx="4846320" cy="2560320"/>
          </a:xfrm>
          <a:prstGeom prst="rect">
            <a:avLst/>
          </a:prstGeom>
          <a:noFill/>
          <a:ln/>
        </p:spPr>
        <p:txBody>
          <a:bodyPr wrap="square" lIns="0" tIns="0" rIns="0" bIns="0" rtlCol="0" anchor="t"/>
          <a:lstStyle/>
          <a:p>
            <a:pPr indent="0" marL="0">
              <a:buNone/>
            </a:pPr>
            <a:r>
              <a:rPr lang="en-US" sz="1500" dirty="0">
                <a:solidFill>
                  <a:srgbClr val="EAF3F6"/>
                </a:solidFill>
                <a:latin typeface="Courier New" pitchFamily="34" charset="0"/>
                <a:ea typeface="Courier New" pitchFamily="34" charset="-122"/>
                <a:cs typeface="Courier New" pitchFamily="34" charset="-120"/>
              </a:rPr>
              <a:t>CREATE DATABASE sklep</a:t>
            </a:r>
            <a:endParaRPr lang="en-US" sz="1500" dirty="0"/>
          </a:p>
          <a:p>
            <a:pPr indent="0" marL="0">
              <a:buNone/>
            </a:pPr>
            <a:r>
              <a:rPr lang="en-US" sz="1500" dirty="0">
                <a:solidFill>
                  <a:srgbClr val="EAF3F6"/>
                </a:solidFill>
                <a:latin typeface="Courier New" pitchFamily="34" charset="0"/>
                <a:ea typeface="Courier New" pitchFamily="34" charset="-122"/>
                <a:cs typeface="Courier New" pitchFamily="34" charset="-120"/>
              </a:rPr>
              <a:t>  CHARACTER SET latin2</a:t>
            </a:r>
            <a:endParaRPr lang="en-US" sz="1500" dirty="0"/>
          </a:p>
          <a:p>
            <a:pPr indent="0" marL="0">
              <a:buNone/>
            </a:pPr>
            <a:r>
              <a:rPr lang="en-US" sz="1500" dirty="0">
                <a:solidFill>
                  <a:srgbClr val="EAF3F6"/>
                </a:solidFill>
                <a:latin typeface="Courier New" pitchFamily="34" charset="0"/>
                <a:ea typeface="Courier New" pitchFamily="34" charset="-122"/>
                <a:cs typeface="Courier New" pitchFamily="34" charset="-120"/>
              </a:rPr>
              <a:t>  COLLATE latin2_bin;</a:t>
            </a:r>
            <a:endParaRPr lang="en-US" sz="1500" dirty="0"/>
          </a:p>
          <a:p>
            <a:pPr indent="0" marL="0">
              <a:buNone/>
            </a:pPr>
            <a:endParaRPr lang="en-US" sz="1500" dirty="0"/>
          </a:p>
          <a:p>
            <a:pPr indent="0" marL="0">
              <a:buNone/>
            </a:pPr>
            <a:r>
              <a:rPr lang="en-US" sz="1500" dirty="0">
                <a:solidFill>
                  <a:srgbClr val="EAF3F6"/>
                </a:solidFill>
                <a:latin typeface="Courier New" pitchFamily="34" charset="0"/>
                <a:ea typeface="Courier New" pitchFamily="34" charset="-122"/>
                <a:cs typeface="Courier New" pitchFamily="34" charset="-120"/>
              </a:rPr>
              <a:t>ALTER DATABASE sklep</a:t>
            </a:r>
            <a:endParaRPr lang="en-US" sz="1500" dirty="0"/>
          </a:p>
          <a:p>
            <a:pPr indent="0" marL="0">
              <a:buNone/>
            </a:pPr>
            <a:r>
              <a:rPr lang="en-US" sz="1500" dirty="0">
                <a:solidFill>
                  <a:srgbClr val="EAF3F6"/>
                </a:solidFill>
                <a:latin typeface="Courier New" pitchFamily="34" charset="0"/>
                <a:ea typeface="Courier New" pitchFamily="34" charset="-122"/>
                <a:cs typeface="Courier New" pitchFamily="34" charset="-120"/>
              </a:rPr>
              <a:t>  CHARACTER SET utf8</a:t>
            </a:r>
            <a:endParaRPr lang="en-US" sz="1500" dirty="0"/>
          </a:p>
          <a:p>
            <a:pPr indent="0" marL="0">
              <a:buNone/>
            </a:pPr>
            <a:r>
              <a:rPr lang="en-US" sz="1500" dirty="0">
                <a:solidFill>
                  <a:srgbClr val="EAF3F6"/>
                </a:solidFill>
                <a:latin typeface="Courier New" pitchFamily="34" charset="0"/>
                <a:ea typeface="Courier New" pitchFamily="34" charset="-122"/>
                <a:cs typeface="Courier New" pitchFamily="34" charset="-120"/>
              </a:rPr>
              <a:t>  COLLATE utf8_polish_ci;</a:t>
            </a:r>
            <a:endParaRPr lang="en-US" sz="1500" dirty="0"/>
          </a:p>
        </p:txBody>
      </p:sp>
      <p:sp>
        <p:nvSpPr>
          <p:cNvPr id="10" name="Text 7"/>
          <p:cNvSpPr txBox="1"/>
          <p:nvPr/>
        </p:nvSpPr>
        <p:spPr>
          <a:xfrm>
            <a:off x="640080" y="5120640"/>
            <a:ext cx="10881360" cy="822960"/>
          </a:xfrm>
          <a:prstGeom prst="rect">
            <a:avLst/>
          </a:prstGeom>
          <a:noFill/>
          <a:ln/>
        </p:spPr>
        <p:txBody>
          <a:bodyPr wrap="square" lIns="0" tIns="0" rIns="0" bIns="0" rtlCol="0" anchor="ctr"/>
          <a:lstStyle/>
          <a:p>
            <a:pPr indent="0" marL="0">
              <a:buNone/>
            </a:pPr>
            <a:r>
              <a:rPr lang="en-US" sz="1600" i="1" dirty="0">
                <a:solidFill>
                  <a:schemeClr val="tx2"/>
                </a:solidFill>
              </a:rPr>
              <a:t>Zmiana na poziomie bazy dotyczy tabel tworzonych później — istniejące zachowują swoje ustawienia.</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p:nvPr>
            <p:ph idx="100" type="title" hasCustomPrompt="1"/>
          </p:nvPr>
        </p:nvSpPr>
        <p:spPr>
          <a:xfrm>
            <a:off x="640080" y="365760"/>
            <a:ext cx="10881360" cy="86868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Poziom tabeli i kolumny</a:t>
            </a:r>
            <a:endParaRPr lang="en-US" sz="3400" dirty="0"/>
          </a:p>
        </p:txBody>
      </p:sp>
      <p:sp>
        <p:nvSpPr>
          <p:cNvPr id="4" name="Blok kodu"/>
          <p:cNvSpPr/>
          <p:nvPr/>
        </p:nvSpPr>
        <p:spPr>
          <a:xfrm>
            <a:off x="640080" y="1554480"/>
            <a:ext cx="6766560" cy="3566160"/>
          </a:xfrm>
          <a:prstGeom prst="roundRect">
            <a:avLst>
              <a:gd name="adj" fmla="val 2564"/>
            </a:avLst>
          </a:prstGeom>
          <a:solidFill>
            <a:srgbClr val="0B2A3F"/>
          </a:solidFill>
          <a:ln/>
        </p:spPr>
      </p:sp>
      <p:sp>
        <p:nvSpPr>
          <p:cNvPr id="5" name="Text 2"/>
          <p:cNvSpPr txBox="1"/>
          <p:nvPr/>
        </p:nvSpPr>
        <p:spPr>
          <a:xfrm>
            <a:off x="868680" y="1691640"/>
            <a:ext cx="6309360" cy="3291840"/>
          </a:xfrm>
          <a:prstGeom prst="rect">
            <a:avLst/>
          </a:prstGeom>
          <a:noFill/>
          <a:ln/>
        </p:spPr>
        <p:txBody>
          <a:bodyPr wrap="square" lIns="0" tIns="0" rIns="0" bIns="0" rtlCol="0" anchor="t"/>
          <a:lstStyle/>
          <a:p>
            <a:pPr indent="0" marL="0">
              <a:buNone/>
            </a:pPr>
            <a:r>
              <a:rPr lang="en-US" sz="1700" dirty="0">
                <a:solidFill>
                  <a:srgbClr val="EAF3F6"/>
                </a:solidFill>
                <a:latin typeface="Courier New" pitchFamily="34" charset="0"/>
                <a:ea typeface="Courier New" pitchFamily="34" charset="-122"/>
                <a:cs typeface="Courier New" pitchFamily="34" charset="-120"/>
              </a:rPr>
              <a:t>CREATE TABLE klienci (</a:t>
            </a:r>
            <a:endParaRPr lang="en-US" sz="1700" dirty="0"/>
          </a:p>
          <a:p>
            <a:pPr indent="0" marL="0">
              <a:buNone/>
            </a:pPr>
            <a:r>
              <a:rPr lang="en-US" sz="1700" dirty="0">
                <a:solidFill>
                  <a:srgbClr val="EAF3F6"/>
                </a:solidFill>
                <a:latin typeface="Courier New" pitchFamily="34" charset="0"/>
                <a:ea typeface="Courier New" pitchFamily="34" charset="-122"/>
                <a:cs typeface="Courier New" pitchFamily="34" charset="-120"/>
              </a:rPr>
              <a:t>  id INT PRIMARY KEY,</a:t>
            </a:r>
            <a:endParaRPr lang="en-US" sz="1700" dirty="0"/>
          </a:p>
          <a:p>
            <a:pPr indent="0" marL="0">
              <a:buNone/>
            </a:pPr>
            <a:r>
              <a:rPr lang="en-US" sz="1700" dirty="0">
                <a:solidFill>
                  <a:srgbClr val="EAF3F6"/>
                </a:solidFill>
                <a:latin typeface="Courier New" pitchFamily="34" charset="0"/>
                <a:ea typeface="Courier New" pitchFamily="34" charset="-122"/>
                <a:cs typeface="Courier New" pitchFamily="34" charset="-120"/>
              </a:rPr>
              <a:t>  nazwa VARCHAR(50)</a:t>
            </a:r>
            <a:endParaRPr lang="en-US" sz="1700" dirty="0"/>
          </a:p>
          <a:p>
            <a:pPr indent="0" marL="0">
              <a:buNone/>
            </a:pPr>
            <a:r>
              <a:rPr lang="en-US" sz="1700" dirty="0">
                <a:solidFill>
                  <a:srgbClr val="EAF3F6"/>
                </a:solidFill>
                <a:latin typeface="Courier New" pitchFamily="34" charset="0"/>
                <a:ea typeface="Courier New" pitchFamily="34" charset="-122"/>
                <a:cs typeface="Courier New" pitchFamily="34" charset="-120"/>
              </a:rPr>
              <a:t>    CHARACTER SET utf8</a:t>
            </a:r>
            <a:endParaRPr lang="en-US" sz="1700" dirty="0"/>
          </a:p>
          <a:p>
            <a:pPr indent="0" marL="0">
              <a:buNone/>
            </a:pPr>
            <a:r>
              <a:rPr lang="en-US" sz="1700" dirty="0">
                <a:solidFill>
                  <a:srgbClr val="EAF3F6"/>
                </a:solidFill>
                <a:latin typeface="Courier New" pitchFamily="34" charset="0"/>
                <a:ea typeface="Courier New" pitchFamily="34" charset="-122"/>
                <a:cs typeface="Courier New" pitchFamily="34" charset="-120"/>
              </a:rPr>
              <a:t>    COLLATE utf8_polish_ci,</a:t>
            </a:r>
            <a:endParaRPr lang="en-US" sz="1700" dirty="0"/>
          </a:p>
          <a:p>
            <a:pPr indent="0" marL="0">
              <a:buNone/>
            </a:pPr>
            <a:r>
              <a:rPr lang="en-US" sz="1700" dirty="0">
                <a:solidFill>
                  <a:srgbClr val="EAF3F6"/>
                </a:solidFill>
                <a:latin typeface="Courier New" pitchFamily="34" charset="0"/>
                <a:ea typeface="Courier New" pitchFamily="34" charset="-122"/>
                <a:cs typeface="Courier New" pitchFamily="34" charset="-120"/>
              </a:rPr>
              <a:t>  kod_pocztowy VARCHAR(10)</a:t>
            </a:r>
            <a:endParaRPr lang="en-US" sz="1700" dirty="0"/>
          </a:p>
          <a:p>
            <a:pPr indent="0" marL="0">
              <a:buNone/>
            </a:pPr>
            <a:r>
              <a:rPr lang="en-US" sz="1700" dirty="0">
                <a:solidFill>
                  <a:srgbClr val="EAF3F6"/>
                </a:solidFill>
                <a:latin typeface="Courier New" pitchFamily="34" charset="0"/>
                <a:ea typeface="Courier New" pitchFamily="34" charset="-122"/>
                <a:cs typeface="Courier New" pitchFamily="34" charset="-120"/>
              </a:rPr>
              <a:t>    CHARACTER SET cp1250</a:t>
            </a:r>
            <a:endParaRPr lang="en-US" sz="1700" dirty="0"/>
          </a:p>
          <a:p>
            <a:pPr indent="0" marL="0">
              <a:buNone/>
            </a:pPr>
            <a:r>
              <a:rPr lang="en-US" sz="1700" dirty="0">
                <a:solidFill>
                  <a:srgbClr val="EAF3F6"/>
                </a:solidFill>
                <a:latin typeface="Courier New" pitchFamily="34" charset="0"/>
                <a:ea typeface="Courier New" pitchFamily="34" charset="-122"/>
                <a:cs typeface="Courier New" pitchFamily="34" charset="-120"/>
              </a:rPr>
              <a:t>) CHARACTER SET utf8;</a:t>
            </a:r>
            <a:endParaRPr lang="en-US" sz="1700" dirty="0"/>
          </a:p>
        </p:txBody>
      </p:sp>
      <p:sp>
        <p:nvSpPr>
          <p:cNvPr id="6" name="Karta objaśnienie"/>
          <p:cNvSpPr/>
          <p:nvPr/>
        </p:nvSpPr>
        <p:spPr>
          <a:xfrm>
            <a:off x="7772400" y="1554480"/>
            <a:ext cx="3749040" cy="3566160"/>
          </a:xfrm>
          <a:prstGeom prst="roundRect">
            <a:avLst>
              <a:gd name="adj" fmla="val 3077"/>
            </a:avLst>
          </a:prstGeom>
          <a:solidFill>
            <a:schemeClr val="bg2"/>
          </a:solidFill>
          <a:ln/>
          <a:effectLst>
            <a:outerShdw sx="100000" sy="100000" kx="0" ky="0" algn="bl" rotWithShape="0" blurRad="101600" dist="25400" dir="5400000">
              <a:srgbClr val="0B2A3F">
                <a:alpha val="12000"/>
              </a:srgbClr>
            </a:outerShdw>
          </a:effectLst>
        </p:spPr>
      </p:sp>
      <p:sp>
        <p:nvSpPr>
          <p:cNvPr id="7" name="Text 4"/>
          <p:cNvSpPr txBox="1"/>
          <p:nvPr/>
        </p:nvSpPr>
        <p:spPr>
          <a:xfrm>
            <a:off x="8046720" y="1783080"/>
            <a:ext cx="3200400" cy="4572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Co tu się dzieje?</a:t>
            </a:r>
            <a:endParaRPr lang="en-US" sz="2000" dirty="0"/>
          </a:p>
        </p:txBody>
      </p:sp>
      <p:sp>
        <p:nvSpPr>
          <p:cNvPr id="8" name="Text 5"/>
          <p:cNvSpPr txBox="1"/>
          <p:nvPr/>
        </p:nvSpPr>
        <p:spPr>
          <a:xfrm>
            <a:off x="8046720" y="2377440"/>
            <a:ext cx="3200400" cy="26517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Tabela domyślnie używa utf8</a:t>
            </a:r>
            <a:endParaRPr lang="en-US" sz="1700" dirty="0"/>
          </a:p>
          <a:p>
            <a:pPr marL="342900" indent="-342900">
              <a:spcAft>
                <a:spcPts val="800"/>
              </a:spcAft>
              <a:buSzPct val="100000"/>
              <a:buChar char="•"/>
            </a:pPr>
            <a:r>
              <a:rPr lang="en-US" sz="1700" dirty="0">
                <a:solidFill>
                  <a:schemeClr val="tx1"/>
                </a:solidFill>
              </a:rPr>
              <a:t>Kolumna kod_pocztowy nadpisuje to na cp1250</a:t>
            </a:r>
            <a:endParaRPr lang="en-US" sz="1700" dirty="0"/>
          </a:p>
          <a:p>
            <a:pPr marL="342900" indent="-342900">
              <a:spcAft>
                <a:spcPts val="800"/>
              </a:spcAft>
              <a:buSzPct val="100000"/>
              <a:buChar char="•"/>
            </a:pPr>
            <a:r>
              <a:rPr lang="en-US" sz="1700" dirty="0">
                <a:solidFill>
                  <a:schemeClr val="tx1"/>
                </a:solidFill>
              </a:rPr>
              <a:t>Przydatne przy migracji ze starszych systemów</a:t>
            </a:r>
            <a:endParaRPr lang="en-US" sz="1700" dirty="0"/>
          </a:p>
        </p:txBody>
      </p:sp>
      <p:sp>
        <p:nvSpPr>
          <p:cNvPr id="9" name="Text 6"/>
          <p:cNvSpPr txBox="1"/>
          <p:nvPr/>
        </p:nvSpPr>
        <p:spPr>
          <a:xfrm>
            <a:off x="640080" y="5440680"/>
            <a:ext cx="10881360" cy="548640"/>
          </a:xfrm>
          <a:prstGeom prst="rect">
            <a:avLst/>
          </a:prstGeom>
          <a:noFill/>
          <a:ln/>
        </p:spPr>
        <p:txBody>
          <a:bodyPr wrap="square" lIns="0" tIns="0" rIns="0" bIns="0" rtlCol="0" anchor="ctr"/>
          <a:lstStyle/>
          <a:p>
            <a:pPr indent="0" marL="0">
              <a:buNone/>
            </a:pPr>
            <a:r>
              <a:rPr lang="en-US" sz="1700" i="1" dirty="0">
                <a:solidFill>
                  <a:schemeClr val="tx2"/>
                </a:solidFill>
              </a:rPr>
              <a:t>Dotyczy kolumn CHAR, VARCHAR, TEXT oraz ENUM i SET.</a:t>
            </a:r>
            <a:endParaRPr lang="en-US" sz="17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0"/>
          <p:cNvSpPr/>
          <p:nvPr>
            <p:ph idx="100" type="title" hasCustomPrompt="1"/>
          </p:nvPr>
        </p:nvSpPr>
        <p:spPr>
          <a:xfrm>
            <a:off x="640080" y="365760"/>
            <a:ext cx="10881360" cy="86868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Kodowanie połączenia: SET NAMES</a:t>
            </a:r>
            <a:endParaRPr lang="en-US" sz="3400" dirty="0"/>
          </a:p>
        </p:txBody>
      </p:sp>
      <p:sp>
        <p:nvSpPr>
          <p:cNvPr id="4" name="Klient"/>
          <p:cNvSpPr/>
          <p:nvPr/>
        </p:nvSpPr>
        <p:spPr>
          <a:xfrm>
            <a:off x="640080" y="1645920"/>
            <a:ext cx="2103120" cy="1188720"/>
          </a:xfrm>
          <a:prstGeom prst="roundRect">
            <a:avLst>
              <a:gd name="adj" fmla="val 9231"/>
            </a:avLst>
          </a:prstGeom>
          <a:solidFill>
            <a:schemeClr val="accent1"/>
          </a:solidFill>
          <a:ln/>
        </p:spPr>
      </p:sp>
      <p:sp>
        <p:nvSpPr>
          <p:cNvPr id="5" name="Text 2"/>
          <p:cNvSpPr txBox="1"/>
          <p:nvPr/>
        </p:nvSpPr>
        <p:spPr>
          <a:xfrm>
            <a:off x="640080" y="1645920"/>
            <a:ext cx="2103120" cy="1188720"/>
          </a:xfrm>
          <a:prstGeom prst="rect">
            <a:avLst/>
          </a:prstGeom>
          <a:noFill/>
          <a:ln/>
        </p:spPr>
        <p:txBody>
          <a:bodyPr wrap="square" lIns="0" tIns="0" rIns="0" bIns="0" rtlCol="0" anchor="ctr"/>
          <a:lstStyle/>
          <a:p>
            <a:pPr algn="ctr" indent="0" marL="0">
              <a:buNone/>
            </a:pPr>
            <a:r>
              <a:rPr lang="en-US" sz="2200" b="1" dirty="0">
                <a:solidFill>
                  <a:schemeClr val="bg1"/>
                </a:solidFill>
              </a:rPr>
              <a:t>Klient</a:t>
            </a:r>
            <a:endParaRPr lang="en-US" sz="2200" dirty="0"/>
          </a:p>
        </p:txBody>
      </p:sp>
      <p:sp>
        <p:nvSpPr>
          <p:cNvPr id="6" name="Serwer"/>
          <p:cNvSpPr/>
          <p:nvPr/>
        </p:nvSpPr>
        <p:spPr>
          <a:xfrm>
            <a:off x="4754880" y="1645920"/>
            <a:ext cx="2103120" cy="1188720"/>
          </a:xfrm>
          <a:prstGeom prst="roundRect">
            <a:avLst>
              <a:gd name="adj" fmla="val 9231"/>
            </a:avLst>
          </a:prstGeom>
          <a:solidFill>
            <a:schemeClr val="tx1"/>
          </a:solidFill>
          <a:ln/>
        </p:spPr>
      </p:sp>
      <p:sp>
        <p:nvSpPr>
          <p:cNvPr id="7" name="Text 4"/>
          <p:cNvSpPr txBox="1"/>
          <p:nvPr/>
        </p:nvSpPr>
        <p:spPr>
          <a:xfrm>
            <a:off x="4754880" y="1645920"/>
            <a:ext cx="2103120" cy="1188720"/>
          </a:xfrm>
          <a:prstGeom prst="rect">
            <a:avLst/>
          </a:prstGeom>
          <a:noFill/>
          <a:ln/>
        </p:spPr>
        <p:txBody>
          <a:bodyPr wrap="square" lIns="0" tIns="0" rIns="0" bIns="0" rtlCol="0" anchor="ctr"/>
          <a:lstStyle/>
          <a:p>
            <a:pPr algn="ctr" indent="0" marL="0">
              <a:buNone/>
            </a:pPr>
            <a:r>
              <a:rPr lang="en-US" sz="2200" b="1" dirty="0">
                <a:solidFill>
                  <a:schemeClr val="bg1"/>
                </a:solidFill>
              </a:rPr>
              <a:t>Serwer</a:t>
            </a:r>
            <a:endParaRPr lang="en-US" sz="2200" dirty="0"/>
          </a:p>
        </p:txBody>
      </p:sp>
      <p:sp>
        <p:nvSpPr>
          <p:cNvPr id="8" name="Strzałka połączenia"/>
          <p:cNvSpPr/>
          <p:nvPr/>
        </p:nvSpPr>
        <p:spPr>
          <a:xfrm>
            <a:off x="2926080" y="2057400"/>
            <a:ext cx="1645920" cy="365760"/>
          </a:xfrm>
          <a:prstGeom prst="leftRightArrow">
            <a:avLst/>
          </a:prstGeom>
          <a:solidFill>
            <a:schemeClr val="accent2"/>
          </a:solidFill>
          <a:ln/>
        </p:spPr>
      </p:sp>
      <p:sp>
        <p:nvSpPr>
          <p:cNvPr id="9" name="Text 6"/>
          <p:cNvSpPr txBox="1"/>
          <p:nvPr/>
        </p:nvSpPr>
        <p:spPr>
          <a:xfrm>
            <a:off x="640080" y="3017520"/>
            <a:ext cx="6217920" cy="457200"/>
          </a:xfrm>
          <a:prstGeom prst="rect">
            <a:avLst/>
          </a:prstGeom>
          <a:noFill/>
          <a:ln/>
        </p:spPr>
        <p:txBody>
          <a:bodyPr wrap="square" lIns="0" tIns="0" rIns="0" bIns="0" rtlCol="0" anchor="ctr"/>
          <a:lstStyle/>
          <a:p>
            <a:pPr algn="ctr" indent="0" marL="0">
              <a:buNone/>
            </a:pPr>
            <a:r>
              <a:rPr lang="en-US" sz="1500" i="1" dirty="0">
                <a:solidFill>
                  <a:schemeClr val="tx2"/>
                </a:solidFill>
              </a:rPr>
              <a:t>zapytania i odpowiedzi — w jakim kodowaniu?</a:t>
            </a:r>
            <a:endParaRPr lang="en-US" sz="1500" dirty="0"/>
          </a:p>
        </p:txBody>
      </p:sp>
      <p:sp>
        <p:nvSpPr>
          <p:cNvPr id="10" name="Blok kodu"/>
          <p:cNvSpPr/>
          <p:nvPr/>
        </p:nvSpPr>
        <p:spPr>
          <a:xfrm>
            <a:off x="640080" y="3657600"/>
            <a:ext cx="6217920" cy="1463040"/>
          </a:xfrm>
          <a:prstGeom prst="roundRect">
            <a:avLst>
              <a:gd name="adj" fmla="val 6250"/>
            </a:avLst>
          </a:prstGeom>
          <a:solidFill>
            <a:srgbClr val="0B2A3F"/>
          </a:solidFill>
          <a:ln/>
        </p:spPr>
      </p:sp>
      <p:sp>
        <p:nvSpPr>
          <p:cNvPr id="11" name="Text 8"/>
          <p:cNvSpPr txBox="1"/>
          <p:nvPr/>
        </p:nvSpPr>
        <p:spPr>
          <a:xfrm>
            <a:off x="868680" y="3794760"/>
            <a:ext cx="5760720" cy="1188720"/>
          </a:xfrm>
          <a:prstGeom prst="rect">
            <a:avLst/>
          </a:prstGeom>
          <a:noFill/>
          <a:ln/>
        </p:spPr>
        <p:txBody>
          <a:bodyPr wrap="square" lIns="0" tIns="0" rIns="0" bIns="0" rtlCol="0" anchor="t"/>
          <a:lstStyle/>
          <a:p>
            <a:pPr indent="0" marL="0">
              <a:buNone/>
            </a:pPr>
            <a:r>
              <a:rPr lang="en-US" sz="1700" dirty="0">
                <a:solidFill>
                  <a:srgbClr val="EAF3F6"/>
                </a:solidFill>
                <a:latin typeface="Courier New" pitchFamily="34" charset="0"/>
                <a:ea typeface="Courier New" pitchFamily="34" charset="-122"/>
                <a:cs typeface="Courier New" pitchFamily="34" charset="-120"/>
              </a:rPr>
              <a:t>SET NAMES 'cp1250';</a:t>
            </a:r>
            <a:endParaRPr lang="en-US" sz="1700" dirty="0"/>
          </a:p>
          <a:p>
            <a:pPr indent="0" marL="0">
              <a:buNone/>
            </a:pPr>
            <a:endParaRPr lang="en-US" sz="1700" dirty="0"/>
          </a:p>
          <a:p>
            <a:pPr indent="0" marL="0">
              <a:buNone/>
            </a:pPr>
            <a:r>
              <a:rPr lang="en-US" sz="1700" dirty="0">
                <a:solidFill>
                  <a:srgbClr val="EAF3F6"/>
                </a:solidFill>
                <a:latin typeface="Courier New" pitchFamily="34" charset="0"/>
                <a:ea typeface="Courier New" pitchFamily="34" charset="-122"/>
                <a:cs typeface="Courier New" pitchFamily="34" charset="-120"/>
              </a:rPr>
              <a:t>SET NAMES 'utf8'</a:t>
            </a:r>
            <a:endParaRPr lang="en-US" sz="1700" dirty="0"/>
          </a:p>
          <a:p>
            <a:pPr indent="0" marL="0">
              <a:buNone/>
            </a:pPr>
            <a:r>
              <a:rPr lang="en-US" sz="1700" dirty="0">
                <a:solidFill>
                  <a:srgbClr val="EAF3F6"/>
                </a:solidFill>
                <a:latin typeface="Courier New" pitchFamily="34" charset="0"/>
                <a:ea typeface="Courier New" pitchFamily="34" charset="-122"/>
                <a:cs typeface="Courier New" pitchFamily="34" charset="-120"/>
              </a:rPr>
              <a:t>  COLLATE 'utf8_polish_ci';</a:t>
            </a:r>
            <a:endParaRPr lang="en-US" sz="1700" dirty="0"/>
          </a:p>
        </p:txBody>
      </p:sp>
      <p:sp>
        <p:nvSpPr>
          <p:cNvPr id="12" name="Karta uwaga"/>
          <p:cNvSpPr/>
          <p:nvPr/>
        </p:nvSpPr>
        <p:spPr>
          <a:xfrm>
            <a:off x="7315200" y="1645920"/>
            <a:ext cx="4206240" cy="3474720"/>
          </a:xfrm>
          <a:prstGeom prst="roundRect">
            <a:avLst>
              <a:gd name="adj" fmla="val 3158"/>
            </a:avLst>
          </a:prstGeom>
          <a:solidFill>
            <a:schemeClr val="bg2"/>
          </a:solidFill>
          <a:ln/>
          <a:effectLst>
            <a:outerShdw sx="100000" sy="100000" kx="0" ky="0" algn="bl" rotWithShape="0" blurRad="101600" dist="25400" dir="5400000">
              <a:srgbClr val="0B2A3F">
                <a:alpha val="12000"/>
              </a:srgbClr>
            </a:outerShdw>
          </a:effectLst>
        </p:spPr>
      </p:sp>
      <p:pic>
        <p:nvPicPr>
          <p:cNvPr id="13" name="Ikona uwagi" descr="preencoded.png">    </p:cNvPr>
          <p:cNvPicPr>
            <a:picLocks noChangeAspect="1"/>
          </p:cNvPicPr>
          <p:nvPr/>
        </p:nvPicPr>
        <p:blipFill>
          <a:blip r:embed="rId1"/>
          <a:stretch>
            <a:fillRect/>
          </a:stretch>
        </p:blipFill>
        <p:spPr>
          <a:xfrm>
            <a:off x="7589520" y="1874520"/>
            <a:ext cx="502920" cy="502920"/>
          </a:xfrm>
          <a:prstGeom prst="rect">
            <a:avLst/>
          </a:prstGeom>
        </p:spPr>
      </p:pic>
      <p:sp>
        <p:nvSpPr>
          <p:cNvPr id="14" name="Text 10"/>
          <p:cNvSpPr txBox="1"/>
          <p:nvPr/>
        </p:nvSpPr>
        <p:spPr>
          <a:xfrm>
            <a:off x="8275320" y="1874520"/>
            <a:ext cx="3108960" cy="50292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Uwaga praktyczna</a:t>
            </a:r>
            <a:endParaRPr lang="en-US" sz="2000" dirty="0"/>
          </a:p>
        </p:txBody>
      </p:sp>
      <p:sp>
        <p:nvSpPr>
          <p:cNvPr id="15" name="Text 11"/>
          <p:cNvSpPr txBox="1"/>
          <p:nvPr/>
        </p:nvSpPr>
        <p:spPr>
          <a:xfrm>
            <a:off x="7589520" y="2606040"/>
            <a:ext cx="3657600" cy="2377440"/>
          </a:xfrm>
          <a:prstGeom prst="rect">
            <a:avLst/>
          </a:prstGeom>
          <a:noFill/>
          <a:ln/>
        </p:spPr>
        <p:txBody>
          <a:bodyPr wrap="square" lIns="0" tIns="0" rIns="0" bIns="0" rtlCol="0" anchor="t"/>
          <a:lstStyle/>
          <a:p>
            <a:pPr indent="0" marL="0">
              <a:buNone/>
            </a:pPr>
            <a:r>
              <a:rPr lang="en-US" sz="1800" dirty="0">
                <a:solidFill>
                  <a:schemeClr val="tx1"/>
                </a:solidFill>
              </a:rPr>
              <a:t>Kodowanie konsoli klienta musi zgadzać się z SET NAMES. Niezgodność daje „krzaczki” zamiast polskich znaków, a skrajnie — nagłe zakończenie pracy klienta.</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0"/>
          <p:cNvSpPr/>
          <p:nvPr>
            <p:ph idx="100" type="title" hasCustomPrompt="1"/>
          </p:nvPr>
        </p:nvSpPr>
        <p:spPr>
          <a:xfrm>
            <a:off x="640080" y="365760"/>
            <a:ext cx="10881360" cy="86868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Pięć praktycznych zasad</a:t>
            </a:r>
            <a:endParaRPr lang="en-US" sz="3400" dirty="0"/>
          </a:p>
        </p:txBody>
      </p:sp>
      <p:sp>
        <p:nvSpPr>
          <p:cNvPr id="4" name="Ikona tło"/>
          <p:cNvSpPr/>
          <p:nvPr/>
        </p:nvSpPr>
        <p:spPr>
          <a:xfrm>
            <a:off x="640080" y="1463040"/>
            <a:ext cx="594360" cy="594360"/>
          </a:xfrm>
          <a:prstGeom prst="ellipse">
            <a:avLst/>
          </a:prstGeom>
          <a:solidFill>
            <a:schemeClr val="accent1"/>
          </a:solidFill>
          <a:ln/>
        </p:spPr>
      </p:sp>
      <p:pic>
        <p:nvPicPr>
          <p:cNvPr id="5" name="Ikona Ustalaj kodowanie świadomie" descr="preencoded.png">    </p:cNvPr>
          <p:cNvPicPr>
            <a:picLocks noChangeAspect="1"/>
          </p:cNvPicPr>
          <p:nvPr/>
        </p:nvPicPr>
        <p:blipFill>
          <a:blip r:embed="rId1"/>
          <a:stretch>
            <a:fillRect/>
          </a:stretch>
        </p:blipFill>
        <p:spPr>
          <a:xfrm>
            <a:off x="786384" y="1609344"/>
            <a:ext cx="301752" cy="301752"/>
          </a:xfrm>
          <a:prstGeom prst="rect">
            <a:avLst/>
          </a:prstGeom>
        </p:spPr>
      </p:pic>
      <p:sp>
        <p:nvSpPr>
          <p:cNvPr id="6" name="Text 2"/>
          <p:cNvSpPr txBox="1"/>
          <p:nvPr/>
        </p:nvSpPr>
        <p:spPr>
          <a:xfrm>
            <a:off x="1463040" y="1417320"/>
            <a:ext cx="10058400" cy="731520"/>
          </a:xfrm>
          <a:prstGeom prst="rect">
            <a:avLst/>
          </a:prstGeom>
          <a:noFill/>
          <a:ln/>
        </p:spPr>
        <p:txBody>
          <a:bodyPr wrap="square" lIns="0" tIns="0" rIns="0" bIns="0" rtlCol="0" anchor="ctr"/>
          <a:lstStyle/>
          <a:p>
            <a:pPr indent="0" marL="0">
              <a:buNone/>
            </a:pPr>
            <a:r>
              <a:rPr lang="en-US" sz="2000" b="1" dirty="0">
                <a:solidFill>
                  <a:schemeClr val="tx1"/>
                </a:solidFill>
              </a:rPr>
              <a:t>Ustalaj kodowanie świadomie</a:t>
            </a:r>
            <a:endParaRPr lang="en-US" sz="2000" dirty="0"/>
          </a:p>
          <a:p>
            <a:pPr indent="0" marL="0">
              <a:buNone/>
            </a:pPr>
            <a:r>
              <a:rPr lang="en-US" sz="1600" dirty="0">
                <a:solidFill>
                  <a:schemeClr val="tx1"/>
                </a:solidFill>
              </a:rPr>
              <a:t>Nie polegaj na domyślnych ustawieniach serwera.</a:t>
            </a:r>
            <a:endParaRPr lang="en-US" sz="2000" dirty="0"/>
          </a:p>
        </p:txBody>
      </p:sp>
      <p:sp>
        <p:nvSpPr>
          <p:cNvPr id="7" name="Ikona tło"/>
          <p:cNvSpPr/>
          <p:nvPr/>
        </p:nvSpPr>
        <p:spPr>
          <a:xfrm>
            <a:off x="640080" y="2395728"/>
            <a:ext cx="594360" cy="594360"/>
          </a:xfrm>
          <a:prstGeom prst="ellipse">
            <a:avLst/>
          </a:prstGeom>
          <a:solidFill>
            <a:schemeClr val="accent4"/>
          </a:solidFill>
          <a:ln/>
        </p:spPr>
      </p:sp>
      <p:pic>
        <p:nvPicPr>
          <p:cNvPr id="8" name="Ikona Zachowuj spójność w bazie" descr="preencoded.png">    </p:cNvPr>
          <p:cNvPicPr>
            <a:picLocks noChangeAspect="1"/>
          </p:cNvPicPr>
          <p:nvPr/>
        </p:nvPicPr>
        <p:blipFill>
          <a:blip r:embed="rId2"/>
          <a:stretch>
            <a:fillRect/>
          </a:stretch>
        </p:blipFill>
        <p:spPr>
          <a:xfrm>
            <a:off x="786384" y="2542032"/>
            <a:ext cx="301752" cy="301752"/>
          </a:xfrm>
          <a:prstGeom prst="rect">
            <a:avLst/>
          </a:prstGeom>
        </p:spPr>
      </p:pic>
      <p:sp>
        <p:nvSpPr>
          <p:cNvPr id="9" name="Text 4"/>
          <p:cNvSpPr txBox="1"/>
          <p:nvPr/>
        </p:nvSpPr>
        <p:spPr>
          <a:xfrm>
            <a:off x="1463040" y="2350008"/>
            <a:ext cx="10058400" cy="731520"/>
          </a:xfrm>
          <a:prstGeom prst="rect">
            <a:avLst/>
          </a:prstGeom>
          <a:noFill/>
          <a:ln/>
        </p:spPr>
        <p:txBody>
          <a:bodyPr wrap="square" lIns="0" tIns="0" rIns="0" bIns="0" rtlCol="0" anchor="ctr"/>
          <a:lstStyle/>
          <a:p>
            <a:pPr indent="0" marL="0">
              <a:buNone/>
            </a:pPr>
            <a:r>
              <a:rPr lang="en-US" sz="2000" b="1" dirty="0">
                <a:solidFill>
                  <a:schemeClr val="tx1"/>
                </a:solidFill>
              </a:rPr>
              <a:t>Zachowuj spójność w bazie</a:t>
            </a:r>
            <a:endParaRPr lang="en-US" sz="2000" dirty="0"/>
          </a:p>
          <a:p>
            <a:pPr indent="0" marL="0">
              <a:buNone/>
            </a:pPr>
            <a:r>
              <a:rPr lang="en-US" sz="1600" dirty="0">
                <a:solidFill>
                  <a:schemeClr val="tx1"/>
                </a:solidFill>
              </a:rPr>
              <a:t>Różne zestawy utrudniają JOIN — wtedy CONVERT(… USING …).</a:t>
            </a:r>
            <a:endParaRPr lang="en-US" sz="2000" dirty="0"/>
          </a:p>
        </p:txBody>
      </p:sp>
      <p:sp>
        <p:nvSpPr>
          <p:cNvPr id="10" name="Ikona tło"/>
          <p:cNvSpPr/>
          <p:nvPr/>
        </p:nvSpPr>
        <p:spPr>
          <a:xfrm>
            <a:off x="640080" y="3328416"/>
            <a:ext cx="594360" cy="594360"/>
          </a:xfrm>
          <a:prstGeom prst="ellipse">
            <a:avLst/>
          </a:prstGeom>
          <a:solidFill>
            <a:schemeClr val="accent2"/>
          </a:solidFill>
          <a:ln/>
        </p:spPr>
      </p:sp>
      <p:pic>
        <p:nvPicPr>
          <p:cNvPr id="11" name="Ikona Dobieraj collation do języka" descr="preencoded.png">    </p:cNvPr>
          <p:cNvPicPr>
            <a:picLocks noChangeAspect="1"/>
          </p:cNvPicPr>
          <p:nvPr/>
        </p:nvPicPr>
        <p:blipFill>
          <a:blip r:embed="rId3"/>
          <a:stretch>
            <a:fillRect/>
          </a:stretch>
        </p:blipFill>
        <p:spPr>
          <a:xfrm>
            <a:off x="786384" y="3474720"/>
            <a:ext cx="301752" cy="301752"/>
          </a:xfrm>
          <a:prstGeom prst="rect">
            <a:avLst/>
          </a:prstGeom>
        </p:spPr>
      </p:pic>
      <p:sp>
        <p:nvSpPr>
          <p:cNvPr id="12" name="Text 6"/>
          <p:cNvSpPr txBox="1"/>
          <p:nvPr/>
        </p:nvSpPr>
        <p:spPr>
          <a:xfrm>
            <a:off x="1463040" y="3282696"/>
            <a:ext cx="10058400" cy="731520"/>
          </a:xfrm>
          <a:prstGeom prst="rect">
            <a:avLst/>
          </a:prstGeom>
          <a:noFill/>
          <a:ln/>
        </p:spPr>
        <p:txBody>
          <a:bodyPr wrap="square" lIns="0" tIns="0" rIns="0" bIns="0" rtlCol="0" anchor="ctr"/>
          <a:lstStyle/>
          <a:p>
            <a:pPr indent="0" marL="0">
              <a:buNone/>
            </a:pPr>
            <a:r>
              <a:rPr lang="en-US" sz="2000" b="1" dirty="0">
                <a:solidFill>
                  <a:schemeClr val="tx1"/>
                </a:solidFill>
              </a:rPr>
              <a:t>Dobieraj collation do języka</a:t>
            </a:r>
            <a:endParaRPr lang="en-US" sz="2000" dirty="0"/>
          </a:p>
          <a:p>
            <a:pPr indent="0" marL="0">
              <a:buNone/>
            </a:pPr>
            <a:r>
              <a:rPr lang="en-US" sz="1600" dirty="0">
                <a:solidFill>
                  <a:schemeClr val="tx1"/>
                </a:solidFill>
              </a:rPr>
              <a:t>Dla polskich nazw wybierz wariant _polish_ci.</a:t>
            </a:r>
            <a:endParaRPr lang="en-US" sz="2000" dirty="0"/>
          </a:p>
        </p:txBody>
      </p:sp>
      <p:sp>
        <p:nvSpPr>
          <p:cNvPr id="13" name="Ikona tło"/>
          <p:cNvSpPr/>
          <p:nvPr/>
        </p:nvSpPr>
        <p:spPr>
          <a:xfrm>
            <a:off x="640080" y="4261104"/>
            <a:ext cx="594360" cy="594360"/>
          </a:xfrm>
          <a:prstGeom prst="ellipse">
            <a:avLst/>
          </a:prstGeom>
          <a:solidFill>
            <a:schemeClr val="accent3"/>
          </a:solidFill>
          <a:ln/>
        </p:spPr>
      </p:sp>
      <p:pic>
        <p:nvPicPr>
          <p:cNvPr id="14" name="Ikona Silnik dobieraj do danych" descr="preencoded.png">    </p:cNvPr>
          <p:cNvPicPr>
            <a:picLocks noChangeAspect="1"/>
          </p:cNvPicPr>
          <p:nvPr/>
        </p:nvPicPr>
        <p:blipFill>
          <a:blip r:embed="rId4"/>
          <a:stretch>
            <a:fillRect/>
          </a:stretch>
        </p:blipFill>
        <p:spPr>
          <a:xfrm>
            <a:off x="786384" y="4407408"/>
            <a:ext cx="301752" cy="301752"/>
          </a:xfrm>
          <a:prstGeom prst="rect">
            <a:avLst/>
          </a:prstGeom>
        </p:spPr>
      </p:pic>
      <p:sp>
        <p:nvSpPr>
          <p:cNvPr id="15" name="Text 8"/>
          <p:cNvSpPr txBox="1"/>
          <p:nvPr/>
        </p:nvSpPr>
        <p:spPr>
          <a:xfrm>
            <a:off x="1463040" y="4215384"/>
            <a:ext cx="10058400" cy="731520"/>
          </a:xfrm>
          <a:prstGeom prst="rect">
            <a:avLst/>
          </a:prstGeom>
          <a:noFill/>
          <a:ln/>
        </p:spPr>
        <p:txBody>
          <a:bodyPr wrap="square" lIns="0" tIns="0" rIns="0" bIns="0" rtlCol="0" anchor="ctr"/>
          <a:lstStyle/>
          <a:p>
            <a:pPr indent="0" marL="0">
              <a:buNone/>
            </a:pPr>
            <a:r>
              <a:rPr lang="en-US" sz="2000" b="1" dirty="0">
                <a:solidFill>
                  <a:schemeClr val="tx1"/>
                </a:solidFill>
              </a:rPr>
              <a:t>Silnik dobieraj do danych</a:t>
            </a:r>
            <a:endParaRPr lang="en-US" sz="2000" dirty="0"/>
          </a:p>
          <a:p>
            <a:pPr indent="0" marL="0">
              <a:buNone/>
            </a:pPr>
            <a:r>
              <a:rPr lang="en-US" sz="1600" dirty="0">
                <a:solidFill>
                  <a:schemeClr val="tx1"/>
                </a:solidFill>
              </a:rPr>
              <a:t>Mieszanka InnoDB i ARCHIVE w jednej bazie jest w porządku.</a:t>
            </a:r>
            <a:endParaRPr lang="en-US" sz="2000" dirty="0"/>
          </a:p>
        </p:txBody>
      </p:sp>
      <p:sp>
        <p:nvSpPr>
          <p:cNvPr id="16" name="Ikona tło"/>
          <p:cNvSpPr/>
          <p:nvPr/>
        </p:nvSpPr>
        <p:spPr>
          <a:xfrm>
            <a:off x="640080" y="5193792"/>
            <a:ext cx="594360" cy="594360"/>
          </a:xfrm>
          <a:prstGeom prst="ellipse">
            <a:avLst/>
          </a:prstGeom>
          <a:solidFill>
            <a:schemeClr val="accent5"/>
          </a:solidFill>
          <a:ln/>
        </p:spPr>
      </p:sp>
      <p:pic>
        <p:nvPicPr>
          <p:cNvPr id="17" name="Ikona MEMORY tylko tymczasowo" descr="preencoded.png">    </p:cNvPr>
          <p:cNvPicPr>
            <a:picLocks noChangeAspect="1"/>
          </p:cNvPicPr>
          <p:nvPr/>
        </p:nvPicPr>
        <p:blipFill>
          <a:blip r:embed="rId5"/>
          <a:stretch>
            <a:fillRect/>
          </a:stretch>
        </p:blipFill>
        <p:spPr>
          <a:xfrm>
            <a:off x="786384" y="5340096"/>
            <a:ext cx="301752" cy="301752"/>
          </a:xfrm>
          <a:prstGeom prst="rect">
            <a:avLst/>
          </a:prstGeom>
        </p:spPr>
      </p:pic>
      <p:sp>
        <p:nvSpPr>
          <p:cNvPr id="18" name="Text 10"/>
          <p:cNvSpPr txBox="1"/>
          <p:nvPr/>
        </p:nvSpPr>
        <p:spPr>
          <a:xfrm>
            <a:off x="1463040" y="5148072"/>
            <a:ext cx="10058400" cy="731520"/>
          </a:xfrm>
          <a:prstGeom prst="rect">
            <a:avLst/>
          </a:prstGeom>
          <a:noFill/>
          <a:ln/>
        </p:spPr>
        <p:txBody>
          <a:bodyPr wrap="square" lIns="0" tIns="0" rIns="0" bIns="0" rtlCol="0" anchor="ctr"/>
          <a:lstStyle/>
          <a:p>
            <a:pPr indent="0" marL="0">
              <a:buNone/>
            </a:pPr>
            <a:r>
              <a:rPr lang="en-US" sz="2000" b="1" dirty="0">
                <a:solidFill>
                  <a:schemeClr val="tx1"/>
                </a:solidFill>
              </a:rPr>
              <a:t>MEMORY tylko tymczasowo</a:t>
            </a:r>
            <a:endParaRPr lang="en-US" sz="2000" dirty="0"/>
          </a:p>
          <a:p>
            <a:pPr indent="0" marL="0">
              <a:buNone/>
            </a:pPr>
            <a:r>
              <a:rPr lang="en-US" sz="1600" dirty="0">
                <a:solidFill>
                  <a:schemeClr val="tx1"/>
                </a:solidFill>
              </a:rPr>
              <a:t>Restart lub awaria zasilania kasuje zawartość.</a:t>
            </a:r>
            <a:endParaRPr lang="en-US" sz="2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0"/>
          <p:cNvSpPr/>
          <p:nvPr>
            <p:ph idx="100" type="title" hasCustomPrompt="1"/>
          </p:nvPr>
        </p:nvSpPr>
        <p:spPr>
          <a:xfrm>
            <a:off x="640080" y="365760"/>
            <a:ext cx="10881360" cy="86868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Podsumowanie</a:t>
            </a:r>
            <a:endParaRPr lang="en-US" sz="3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0080" y="1554480"/>
          <a:ext cx="10881360" cy="914400"/>
        </p:xfrm>
        <a:graphic>
          <a:graphicData uri="http://schemas.openxmlformats.org/drawingml/2006/table">
            <a:tbl>
              <a:tblPr/>
              <a:tblGrid>
                <a:gridCol w="2651760"/>
                <a:gridCol w="4206240"/>
                <a:gridCol w="4023360"/>
              </a:tblGrid>
              <a:tr h="658368">
                <a:tc>
                  <a:txBody>
                    <a:bodyPr/>
                    <a:lstStyle/>
                    <a:p>
                      <a:pPr indent="0" marL="0">
                        <a:buNone/>
                      </a:pPr>
                      <a:r>
                        <a:rPr lang="en-US" sz="1800" b="1" dirty="0">
                          <a:solidFill>
                            <a:schemeClr val="bg1"/>
                          </a:solidFill>
                        </a:rPr>
                        <a:t>Zagadnienie</a:t>
                      </a:r>
                      <a:endParaRPr lang="en-US" sz="18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tx2"/>
                    </a:solidFill>
                  </a:tcPr>
                </a:tc>
                <a:tc>
                  <a:txBody>
                    <a:bodyPr/>
                    <a:lstStyle/>
                    <a:p>
                      <a:pPr indent="0" marL="0">
                        <a:buNone/>
                      </a:pPr>
                      <a:r>
                        <a:rPr lang="en-US" sz="1800" b="1" dirty="0">
                          <a:solidFill>
                            <a:schemeClr val="bg1"/>
                          </a:solidFill>
                        </a:rPr>
                        <a:t>Kluczowa decyzja</a:t>
                      </a:r>
                      <a:endParaRPr lang="en-US" sz="18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tx2"/>
                    </a:solidFill>
                  </a:tcPr>
                </a:tc>
                <a:tc>
                  <a:txBody>
                    <a:bodyPr/>
                    <a:lstStyle/>
                    <a:p>
                      <a:pPr indent="0" marL="0">
                        <a:buNone/>
                      </a:pPr>
                      <a:r>
                        <a:rPr lang="en-US" sz="1800" b="1" dirty="0">
                          <a:solidFill>
                            <a:schemeClr val="bg1"/>
                          </a:solidFill>
                        </a:rPr>
                        <a:t>Gdzie ustawiamy</a:t>
                      </a:r>
                      <a:endParaRPr lang="en-US" sz="18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tx2"/>
                    </a:solidFill>
                  </a:tcPr>
                </a:tc>
              </a:tr>
              <a:tr h="658368">
                <a:tc>
                  <a:txBody>
                    <a:bodyPr/>
                    <a:lstStyle/>
                    <a:p>
                      <a:pPr indent="0" marL="0">
                        <a:buNone/>
                      </a:pPr>
                      <a:r>
                        <a:rPr lang="en-US" sz="1800" b="1" dirty="0">
                          <a:solidFill>
                            <a:schemeClr val="tx1"/>
                          </a:solidFill>
                        </a:rPr>
                        <a:t>Silnik składowania</a:t>
                      </a:r>
                      <a:endParaRPr lang="en-US" sz="18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InnoDB / MyISAM / MEMORY / ARCHIVE</a:t>
                      </a:r>
                      <a:endParaRPr lang="en-US" sz="18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ENGINE = w CREATE / ALTER TABLE</a:t>
                      </a:r>
                      <a:endParaRPr lang="en-US" sz="18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1"/>
                    </a:solidFill>
                  </a:tcPr>
                </a:tc>
              </a:tr>
              <a:tr h="658368">
                <a:tc>
                  <a:txBody>
                    <a:bodyPr/>
                    <a:lstStyle/>
                    <a:p>
                      <a:pPr indent="0" marL="0">
                        <a:buNone/>
                      </a:pPr>
                      <a:r>
                        <a:rPr lang="en-US" sz="1800" b="1" dirty="0">
                          <a:solidFill>
                            <a:schemeClr val="tx1"/>
                          </a:solidFill>
                        </a:rPr>
                        <a:t>Zestaw znaków</a:t>
                      </a:r>
                      <a:endParaRPr lang="en-US" sz="18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utf8mb4 / utf8 / latin2 / cp1250</a:t>
                      </a:r>
                      <a:endParaRPr lang="en-US" sz="18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serwer, baza, tabela, kolumna</a:t>
                      </a:r>
                      <a:endParaRPr lang="en-US" sz="18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2"/>
                    </a:solidFill>
                  </a:tcPr>
                </a:tc>
              </a:tr>
              <a:tr h="658368">
                <a:tc>
                  <a:txBody>
                    <a:bodyPr/>
                    <a:lstStyle/>
                    <a:p>
                      <a:pPr indent="0" marL="0">
                        <a:buNone/>
                      </a:pPr>
                      <a:r>
                        <a:rPr lang="en-US" sz="1800" b="1" dirty="0">
                          <a:solidFill>
                            <a:schemeClr val="tx1"/>
                          </a:solidFill>
                        </a:rPr>
                        <a:t>Reguły porównywania</a:t>
                      </a:r>
                      <a:endParaRPr lang="en-US" sz="18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_general_ci / _bin / _polish_ci</a:t>
                      </a:r>
                      <a:endParaRPr lang="en-US" sz="18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serwer, baza, tabela, kolumna</a:t>
                      </a:r>
                      <a:endParaRPr lang="en-US" sz="18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1"/>
                    </a:solidFill>
                  </a:tcPr>
                </a:tc>
              </a:tr>
              <a:tr h="658368">
                <a:tc>
                  <a:txBody>
                    <a:bodyPr/>
                    <a:lstStyle/>
                    <a:p>
                      <a:pPr indent="0" marL="0">
                        <a:buNone/>
                      </a:pPr>
                      <a:r>
                        <a:rPr lang="en-US" sz="1800" b="1" dirty="0">
                          <a:solidFill>
                            <a:schemeClr val="tx1"/>
                          </a:solidFill>
                        </a:rPr>
                        <a:t>Kodowanie połączenia</a:t>
                      </a:r>
                      <a:endParaRPr lang="en-US" sz="18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zgodne z klientem</a:t>
                      </a:r>
                      <a:endParaRPr lang="en-US" sz="18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SET NAMES</a:t>
                      </a:r>
                      <a:endParaRPr lang="en-US" sz="1800" dirty="0"/>
                    </a:p>
                  </a:txBody>
                  <a:tcPr marL="109728" marR="109728" marT="45720" marB="45720" anchor="ctr">
                    <a:lnL w="9525" cap="flat" cmpd="sng" algn="ctr">
                      <a:solidFill>
                        <a:srgbClr val="CBDCE3"/>
                      </a:solidFill>
                      <a:prstDash val="solid"/>
                      <a:round/>
                      <a:headEnd type="none" w="med" len="med"/>
                      <a:tailEnd type="none" w="med" len="med"/>
                    </a:lnL>
                    <a:lnR w="9525" cap="flat" cmpd="sng" algn="ctr">
                      <a:solidFill>
                        <a:srgbClr val="CBDCE3"/>
                      </a:solidFill>
                      <a:prstDash val="solid"/>
                      <a:round/>
                      <a:headEnd type="none" w="med" len="med"/>
                      <a:tailEnd type="none" w="med" len="med"/>
                    </a:lnR>
                    <a:lnT w="9525" cap="flat" cmpd="sng" algn="ctr">
                      <a:solidFill>
                        <a:srgbClr val="CBDCE3"/>
                      </a:solidFill>
                      <a:prstDash val="solid"/>
                      <a:round/>
                      <a:headEnd type="none" w="med" len="med"/>
                      <a:tailEnd type="none" w="med" len="med"/>
                    </a:lnT>
                    <a:lnB w="9525" cap="flat" cmpd="sng" algn="ctr">
                      <a:solidFill>
                        <a:srgbClr val="CBDCE3"/>
                      </a:solidFill>
                      <a:prstDash val="solid"/>
                      <a:round/>
                      <a:headEnd type="none" w="med" len="med"/>
                      <a:tailEnd type="none" w="med" len="med"/>
                    </a:lnB>
                    <a:solidFill>
                      <a:schemeClr val="bg2"/>
                    </a:solidFill>
                  </a:tcPr>
                </a:tc>
              </a:tr>
            </a:tbl>
          </a:graphicData>
        </a:graphic>
      </p:graphicFrame>
      <p:sp>
        <p:nvSpPr>
          <p:cNvPr id="5" name="Text 1"/>
          <p:cNvSpPr txBox="1"/>
          <p:nvPr/>
        </p:nvSpPr>
        <p:spPr>
          <a:xfrm>
            <a:off x="640080" y="5074920"/>
            <a:ext cx="10881360" cy="1005840"/>
          </a:xfrm>
          <a:prstGeom prst="rect">
            <a:avLst/>
          </a:prstGeom>
          <a:noFill/>
          <a:ln/>
        </p:spPr>
        <p:txBody>
          <a:bodyPr wrap="square" lIns="0" tIns="0" rIns="0" bIns="0" rtlCol="0" anchor="ctr"/>
          <a:lstStyle/>
          <a:p>
            <a:pPr indent="0" marL="0">
              <a:buNone/>
            </a:pPr>
            <a:r>
              <a:rPr lang="en-US" sz="1700" b="1" dirty="0">
                <a:solidFill>
                  <a:schemeClr val="accent1"/>
                </a:solidFill>
              </a:rPr>
              <a:t>Silnik decyduje, jak bezpiecznie i wydajnie zapisujemy dane. Kodowanie decyduje, czy tekst jest poprawnie przechowywany, wyświetlany i sortowany.</a:t>
            </a:r>
            <a:endParaRPr lang="en-US" sz="17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0"/>
          <p:cNvSpPr/>
          <p:nvPr>
            <p:ph idx="100" type="title" hasCustomPrompt="1"/>
          </p:nvPr>
        </p:nvSpPr>
        <p:spPr>
          <a:xfrm>
            <a:off x="731520" y="1737360"/>
            <a:ext cx="6766560" cy="2194560"/>
          </a:xfrm>
          <a:prstGeom prst="rect">
            <a:avLst/>
          </a:prstGeom>
          <a:noFill/>
          <a:ln/>
        </p:spPr>
        <p:txBody>
          <a:bodyPr wrap="square" lIns="0" tIns="0" rIns="0" bIns="0" rtlCol="0" anchor="b"/>
          <a:lstStyle/>
          <a:p>
            <a:pPr algn="l" indent="0" marL="0">
              <a:buNone/>
            </a:pPr>
            <a:r>
              <a:rPr lang="en-US" sz="4200" b="1" dirty="0">
                <a:solidFill>
                  <a:schemeClr val="bg1"/>
                </a:solidFill>
                <a:latin typeface="Cambria" pitchFamily="34" charset="0"/>
                <a:ea typeface="Cambria" pitchFamily="34" charset="-122"/>
                <a:cs typeface="Cambria" pitchFamily="34" charset="-120"/>
              </a:rPr>
              <a:t>Dziękuję za uwagę</a:t>
            </a:r>
            <a:endParaRPr lang="en-US" sz="4200" dirty="0"/>
          </a:p>
        </p:txBody>
      </p:sp>
      <p:sp>
        <p:nvSpPr>
          <p:cNvPr id="4" name="Text 0"/>
          <p:cNvSpPr/>
          <p:nvPr>
            <p:ph idx="101" type="body" hasCustomPrompt="1"/>
          </p:nvPr>
        </p:nvSpPr>
        <p:spPr>
          <a:xfrm>
            <a:off x="731520" y="4114800"/>
            <a:ext cx="6583680" cy="1005840"/>
          </a:xfrm>
          <a:prstGeom prst="rect">
            <a:avLst/>
          </a:prstGeom>
          <a:noFill/>
          <a:ln/>
        </p:spPr>
        <p:txBody>
          <a:bodyPr wrap="square" lIns="0" tIns="0" rIns="0" bIns="0" rtlCol="0" anchor="t"/>
          <a:lstStyle/>
          <a:p>
            <a:pPr algn="l" indent="0" marL="0">
              <a:buNone/>
            </a:pPr>
            <a:r>
              <a:rPr lang="en-US" sz="2000" dirty="0">
                <a:solidFill>
                  <a:schemeClr val="accent6"/>
                </a:solidFill>
              </a:rPr>
              <a:t>Pytania sprawdzające do samodzielnego przemyślenia</a:t>
            </a:r>
            <a:endParaRPr lang="en-US" sz="2000" dirty="0"/>
          </a:p>
        </p:txBody>
      </p:sp>
      <p:sp>
        <p:nvSpPr>
          <p:cNvPr id="5" name="Karta pytań"/>
          <p:cNvSpPr/>
          <p:nvPr/>
        </p:nvSpPr>
        <p:spPr>
          <a:xfrm>
            <a:off x="6949440" y="1280160"/>
            <a:ext cx="4572000" cy="4297680"/>
          </a:xfrm>
          <a:prstGeom prst="roundRect">
            <a:avLst>
              <a:gd name="adj" fmla="val 2553"/>
            </a:avLst>
          </a:prstGeom>
          <a:solidFill>
            <a:schemeClr val="tx2"/>
          </a:solidFill>
          <a:ln/>
        </p:spPr>
      </p:sp>
      <p:sp>
        <p:nvSpPr>
          <p:cNvPr id="6" name="Text 3"/>
          <p:cNvSpPr txBox="1"/>
          <p:nvPr/>
        </p:nvSpPr>
        <p:spPr>
          <a:xfrm>
            <a:off x="7223760" y="1508760"/>
            <a:ext cx="4023360" cy="384048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1"/>
                </a:solidFill>
              </a:rPr>
              <a:t>Blokada wiersza a blokada tabeli — który silnik którą stosuje?</a:t>
            </a:r>
            <a:endParaRPr lang="en-US" sz="1700" dirty="0"/>
          </a:p>
          <a:p>
            <a:pPr marL="342900" indent="-342900">
              <a:spcAft>
                <a:spcPts val="1000"/>
              </a:spcAft>
              <a:buSzPct val="100000"/>
              <a:buChar char="•"/>
            </a:pPr>
            <a:r>
              <a:rPr lang="en-US" sz="1700" dirty="0">
                <a:solidFill>
                  <a:schemeClr val="bg1"/>
                </a:solidFill>
              </a:rPr>
              <a:t>Dlaczego ARCHIVE nie pozwala na UPDATE i DELETE, a mimo to się przydaje?</a:t>
            </a:r>
            <a:endParaRPr lang="en-US" sz="1700" dirty="0"/>
          </a:p>
          <a:p>
            <a:pPr marL="342900" indent="-342900">
              <a:spcAft>
                <a:spcPts val="1000"/>
              </a:spcAft>
              <a:buSzPct val="100000"/>
              <a:buChar char="•"/>
            </a:pPr>
            <a:r>
              <a:rPr lang="en-US" sz="1700" dirty="0">
                <a:solidFill>
                  <a:schemeClr val="bg1"/>
                </a:solidFill>
              </a:rPr>
              <a:t>Czym różni się character set od collation?</a:t>
            </a:r>
            <a:endParaRPr lang="en-US" sz="1700" dirty="0"/>
          </a:p>
          <a:p>
            <a:pPr marL="342900" indent="-342900">
              <a:spcAft>
                <a:spcPts val="1000"/>
              </a:spcAft>
              <a:buSzPct val="100000"/>
              <a:buChar char="•"/>
            </a:pPr>
            <a:r>
              <a:rPr lang="en-US" sz="1700" dirty="0">
                <a:solidFill>
                  <a:schemeClr val="bg1"/>
                </a:solidFill>
              </a:rPr>
              <a:t>Co grozi przy JOIN kolumn o różnych zestawach znaków?</a:t>
            </a:r>
            <a:endParaRPr lang="en-US" sz="1700" dirty="0"/>
          </a:p>
          <a:p>
            <a:pPr marL="342900" indent="-342900">
              <a:spcAft>
                <a:spcPts val="1000"/>
              </a:spcAft>
              <a:buSzPct val="100000"/>
              <a:buChar char="•"/>
            </a:pPr>
            <a:r>
              <a:rPr lang="en-US" sz="1700" dirty="0">
                <a:solidFill>
                  <a:schemeClr val="bg1"/>
                </a:solidFill>
              </a:rPr>
              <a:t>Dlaczego wybór silnika i kodowania są niezależne?</a:t>
            </a:r>
            <a:endParaRPr lang="en-US" sz="1700" dirty="0"/>
          </a:p>
        </p:txBody>
      </p:sp>
    </p:spTree>
  </p:cSld>
  <p:clrMapOvr>
    <a:masterClrMapping/>
  </p:clrMapOvr>
</p:sld>
</file>

<file path=ppt/theme/theme1.xml><?xml version="1.0" encoding="utf-8"?>
<a:theme xmlns:a="http://schemas.openxmlformats.org/drawingml/2006/main" name="MySQL Silniki">
  <a:themeElements>
    <a:clrScheme name="MySQL Silniki">
      <a:dk1>
        <a:srgbClr val="0B2A3F"/>
      </a:dk1>
      <a:lt1>
        <a:srgbClr val="FFFFFF"/>
      </a:lt1>
      <a:dk2>
        <a:srgbClr val="00546B"/>
      </a:dk2>
      <a:lt2>
        <a:srgbClr val="EAF3F6"/>
      </a:lt2>
      <a:accent1>
        <a:srgbClr val="00758F"/>
      </a:accent1>
      <a:accent2>
        <a:srgbClr val="F29111"/>
      </a:accent2>
      <a:accent3>
        <a:srgbClr val="2A9D8F"/>
      </a:accent3>
      <a:accent4>
        <a:srgbClr val="5B7C8D"/>
      </a:accent4>
      <a:accent5>
        <a:srgbClr val="C8553D"/>
      </a:accent5>
      <a:accent6>
        <a:srgbClr val="8AB6C4"/>
      </a:accent6>
      <a:hlink>
        <a:srgbClr val="00758F"/>
      </a:hlink>
      <a:folHlink>
        <a:srgbClr val="5B7C8D"/>
      </a:folHlink>
    </a:clrScheme>
    <a:fontScheme name="MySQL Silnik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Mechanizmy składowania danych i systemy kodowania znaków w MySQL</dc:title>
  <dc:subject>PptxGenJS Presentation</dc:subject>
  <dc:creator>PptxGenJS</dc:creator>
  <cp:lastModifiedBy>PptxGenJS</cp:lastModifiedBy>
  <cp:revision>1</cp:revision>
  <dcterms:created xsi:type="dcterms:W3CDTF">2026-10-03T18:18:09Z</dcterms:created>
  <dcterms:modified xsi:type="dcterms:W3CDTF">2026-10-03T18:18:09Z</dcterms:modified>
</cp:coreProperties>
</file>