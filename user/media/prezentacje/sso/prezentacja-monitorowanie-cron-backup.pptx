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Dzisiejszy temat jest trochę inny niż poprzednie zajęcia, bo nie dotyczy pojedynczej usługi, tylko codziennej, rutynowej pracy administratora, bez której żaden serwer nie może być bezpiecznie i niezawodnie utrzymywany. Będziemy mówić o trzech ściśle powiązanych ze sobą filarach. Pierwszy to widoczność — czyli jak czytać i analizować dzienniki systemowe, zarówno przez nowoczesny journalctl, jak i przez klasyczne pliki tekstowe w katalogu var log. Drugi filar to audyt bezpieczeństwa za pomocą auditd, czyli precyzyjne śledzenie, kto i kiedy dotknął konkretnego pliku czy zasobu systemowego. Trzeci, największy filar to automatyzacja — harmonogramowanie zadań przez cron i jego nowocześniejszy odpowiednik, czyli timery systemd, oraz pisanie solidnych, odpornych na błędy skryptów Bash do tworzenia kopii zapasowych za pomocą tar. Chcę, żebyście po dzisiejszych zajęciach rozumieli nie tylko pojedyncze polecenia, ale filozofię stojącą za tym wszystkim — że dobry administrator nie siedzi i nie czeka, aż coś się zepsuje, tylko buduje system, który sam go informuje o problemach i sam wykonuje rutynowe zadania.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dzisiejszych zajęć obejmuje cztery bloki. W pierwszym zajmiemy się architekturą logowania — zobaczycie, jak nowoczesny journald współpracuje z klasycznym rsyslogiem, nauczycie się filtrować dziennik poleceniem journalctl na wiele różnych sposobów, oraz dlaczego logi trzeba rotować, żeby nie zapełniły całego dysku. Drugi blok to krótkie, ale ważne wprowadzenie do auditd — narzędzia, które pozwala na dużo bardziej precyzyjne śledzenie zdarzeń niż standardowe logi, na poziomie pojedynczych wywołań systemowych. Trzeci blok to serce automatyzacji w Linuksie, czyli cron — poznacie składnię crontab, różnicę między zadaniami systemowymi a użytkownika, typowe pułapki, w które wpada niemal każdy początkujący administrator, oraz nowocześniejszą alternatywę w postaci timerów systemd. Czwarty, najbardziej praktyczny blok, poświęcimy kopiom zapasowym — przejdziemy przez narzędzie tar, zobaczymy kompletny, gotowy do wdrożenia skrypt Bash realizujący automatyczny backup z obsługą błędów, i omówimy, jak monitorować, czy zaplanowane zadania faktycznie się wykonują.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Zaczynamy od fundamentu każdej diagnostyki — logów systemowych. Zanim cokolwiek zepsuje się w waszym serwerze, zostawi po sobie ślad w dzienniku, i umiejętność sprawnego czytania tego śladu odróżnia administratora, który rozwiązuje problem w pięć minut, od tego, który szuka po omacku godzinami.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Żeby zrozumieć logowanie we współczesnym Linuksie, trzeba poznać dwa mechanizmy, które działają obok siebie, a nie zamiast siebie. Pierwszy to systemd-journald — nowoczesny, binarny, strukturalny system logowania wbudowany w systemd. Jego przewaga polega na tym, że każdy wpis niesie ze sobą bogate metadane — identyfikator procesu, nazwę jednostki systemd, poziom priorytetu, numer rozruchu systemu — co pozwala na bardzo precyzyjne filtrowanie, które zaraz zobaczymy. Odczytujemy go wyłącznie przez dedykowane narzędzie journalctl, bo format binarny nie nadaje się do przeglądania zwykłym cat czy less. Drugi mechanizm to klasyczny rsyslog, który zapisuje logi jako zwykłe pliki tekstowe w katalogu var log — to jest ten sam model logowania, który znacie z systemów uniksowych od dekad, w pełni kompatybilny ze standardowymi narzędziami tekstowymi jak grep czy awk. Kluczowa rzecz, którą musicie zapamiętać: na współczesnej dystrybucji te dwa mechanizmy nie są alternatywą, tylko współpracują — dane trafiają najpierw do journald, a rsyslog, jeśli jest zainstalowany, odczytuje je stamtąd i zapisuje równolegle jako czytelne pliki tekstowe, zachowując kompatybilność wsteczną ze starszymi narzędziami i skryptami.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journalctl to jedno z tych poleceń, które warto znać na pamięć w kilkunastu wariantach, bo używacie go codziennie. Samo journalctl bez flag pokaże cały dziennik od najstarszego wpisu — w praktyce rzadko tego potrzebujecie. Flaga -f, dokładnie jak tail -f, przechodzi w tryb śledzenia na żywo — nowe wpisy pojawiają się na bieżąco, idealne przy diagnozowaniu problemu w czasie rzeczywistym. -e przeskakuje od razu na koniec dziennika, -r odwraca kolejność, żeby najnowsze wpisy były na górze. Filtrowanie po usłudze, flagą -u, jest absolutnie podstawowym narzędziem — zamiast przedzierać się przez cały dziennik systemowy, widzicie tylko logi konkretnej jednostki systemd, na przykład nginx albo sshd, i możecie to łączyć z trybem live. Filtrowanie czasowe przez --since i --until przyjmuje zarówno konkretne daty, jak i wyrażenia względne, takie jak jedna godzina temu albo wczoraj, co jest bardzo wygodne przy szybkiej diagnostyce. Flaga -p pozwala filtrować po priorytecie zdarzenia, w skali od zero, czyli emergency, do siedem, czyli debug — journalctl -p err pokaże wam tylko rzeczywiste błędy, odcinając szum informacyjny. -b pokazuje logi z bieżącego rozruchu systemu, a -b -1 z poprzedniego, co jest nieocenione przy diagnozowaniu, dlaczego serwer się zrestartował. A format JSON, przez -o json-pretty, przydaje się, gdy chcecie dalej przetwarzać logi programowo, na przykład w skrypcie albo w systemie monitoringu.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Bardzo częsty błąd początkujących administratorów to założenie, że journalctl zawsze pokaże historię sprzed kilku restartów — a to wcale nie jest prawdą domyślnie. Na wielu dystrybucjach dziennik journald jest przechowywany wyłącznie w ulotnej pamięci, w katalogu run log journal, który ginie przy każdym restarcie systemu. Żeby to zmienić, trzeba ręcznie utworzyć katalog var log journal, co systemd-tmpfiles rozpoznaje jako sygnał do przełączenia na trwałe przechowywanie, i zrestartować usługę journald. Dodatkowo w pliku journald.conf możecie jawnie ustawić Storage na persistent, co wymusza trwałość niezależnie od istnienia katalogu, a także ograniczyć rozmiar dziennika dyrektywą SystemMaxUse, tutaj pięćset megabajtów, oraz maksymalny czas przechowywania przez MaxRetentionSec, w tym przykładzie dziewięćdziesiąt dni. To jest istotne, bo bez takich limitów trwały dziennik binarny potrafi rosnąć bez końca i w skrajnym przypadku zapełnić całą partycję systemową. Jeśli dziennik już urósł za bardzo, możecie go ręcznie przyciąć poleceniem journalctl --vacuum-size, wskazując docelowy maksymalny rozmiar, albo --vacuum-time, zachowując tylko wpisy z ostatnich N dni.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Mimo rozwoju journald, klasyczne pliki tekstowe w var log wciąż są absolutnie podstawowym źródłem informacji, szczególnie na systemach RHEL-owych i w starszych wdrożeniach. auth.log na Debianie, albo secure na RHEL, to pierwszy plik, do którego zaglądacie przy podejrzeniu nieautoryzowanego dostępu — rejestruje próby logowania, użycia sudo, wszelkie zdarzenia uwierzytelniania przez PAM. syslog, odpowiednio messages na RHEL, to ogólny, wszechstronny dziennik komunikatów systemowych. kern.log zawiera wyłącznie komunikaty jądra, przydatne przy diagnozowaniu problemów sprzętowych albo sterowników. dpkg.log i yum.log dają wam historię instalacji i aktualizacji pakietów — nieocenione, kiedy trzeba ustalić, co się zmieniło w systemie tuż przed wystąpieniem problemu. audit.log to miejsce, gdzie trafiają zdarzenia z auditd, o którym zaraz powiemy więcej. A katalogi nginx i apache2 przechowują logi dostępu i błędów konkretnych serwerów WWW. Mimo istnienia journalctl, klasyczne narzędzia tekstowe pozostają niezastąpione — grep do wyszukiwania konkretnych fraz, tutaj nieudanych prób logowania, awk do przetwarzania i agregacji danych kolumnowych, a zgrep do przeszukiwania już skompresowanych, zarchiwizowanych logów bez potrzeby ich ręcznego rozpakowywania.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 tekstowe w var log, w przeciwieństwie do journald, nie mają wbudowanego mechanizmu limitowania rozmiaru — bez dodatkowego narzędzia rosłyby w nieskończoność, aż zapełniłyby cały dysk. Rolę tę pełni logrotate, konfigurowany osobnym plikiem dla każdej usługi w katalogu etc logrotate.d. Spójrzmy na typowy przykład dla Nginx. daily oznacza, że rotacja ma następować raz dziennie. rotate 14 mówi, żeby zachować czternaście poprzednich archiwalnych plików, starsze usuwając automatycznie. compress włącza kompresję starych plików, oszczędzając miejsce na dysku, a delaycompress odracza kompresję najnowszego zrotowanego pliku o jeden cykl — to ważne, bo niektóre procesy mogą jeszcze dopisywać do pliku tuż po rotacji, zanim przełączą się na nowy deskryptor. missingok i notifempty zapobiegają błędom, jeśli plik nie istnieje albo jest pusty. create określa uprawnienia i właściciela nowo tworzonego pliku logu po rotacji. A najważniejszy, często pomijany fragment to blok postrotate-endscript — po wykonaniu rotacji logrotate uruchamia tam podane polecenie, w tym przypadku przeładowanie Nginx, bo inaczej serwer nadal pisałby do starego, już przeniesionego pliku, zamiast otworzyć nowy. sharedscripts gwarantuje, że ten skrypt postrotate wykona się tylko raz, nawet jeśli wzorzec dotyczy wielu plików naraz.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krótsza część zajęć poświęcona jest auditd. To narzędzie wchodzi do gry wtedy, kiedy standardowe logi to za mało — kiedy musicie wiedzieć dokładnie, które konto odczytało albo zmodyfikowało konkretny, newralgiczny plik w systemie.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gdzie journalctl i pliki w var log dają wam ogólny obraz zdarzeń w systemie, auditd pozwala zejść znacznie głębiej — na poziom pojedynczych wywołań systemowych jądra. Instalujemy go wraz z dodatkowymi wtyczkami audispd-plugins i włączamy jako usługę systemową. Najważniejszym poleceniem konfiguracyjnym jest auditctl — tutaj definiujemy regułę -w, czyli watch, wskazującą konkretny plik do monitorowania, w tym przykładzie etc passwd, absolutnie kluczowy plik systemu kont użytkowników. Flaga -p określa, jakie typy dostępu nas interesują — w tym wypadku w i a, czyli write i attribute change, czyli zapis i zmiana atrybutów pliku. Flaga -k pozwala nadać regule czytelną nazwę, czyli klucz, tutaj zmiany_kont, co bardzo ułatwia późniejsze wyszukiwanie. Mając taką regułę aktywną, każda próba modyfikacji pliku passwd, niezależnie od tego, czy wykonana ręcznie, przez skrypt, czy przez jakiś proces w tle, zostanie zapisana wraz z dokładną informacją o tym, kto i kiedy to zrobił. Do przeszukiwania takich zdarzeń służy ausearch, z flagą -k wskazującą ten sam klucz, co przy tworzeniu reguły. A aureport generuje czytelne, zbiorcze podsumowania — tutaj przykład dla zdarzeń uwierzytelniania. Żeby reguły przetrwały restart samej usługi auditd, trzeba je zapisać trwale w pliku etc audit rules.d audit.rules, a nie tylko dodać doraźnie poleceniem auditctl, które działa wyłącznie w bieżącej sesji działania usługi.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Trzecia część to serce automatyzacji w systemach uniksowych — cron. Przejdziemy przez składnię, różnicę między zadaniami systemowymi a zadaniami użytkownika, omówimy anacron dla maszyn, które nie pracują bez przerwy, a także typowe pułapki, które sprawiają, że skrypt działający idealnie z linii poleceń nagle przestaje działać, gdy uruchomi go cron.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Każdy wpis w crontab składa się z pięciu pól czasowych, a po nich polecenia do wykonania. Kolejność jest zawsze taka sama: minuta, od zera do pięćdziesięciu dziewięciu, godzina, od zera do dwudziestu trzech, dzień miesiąca, od jednego do trzydziestu jeden, miesiąc, od jednego do dwunastu, i dzień tygodnia, od zera do siedmiu, gdzie zarówno zero, jak i siedem oznaczają niedzielę. Gwiazdka w dowolnym polu oznacza każdą możliwą wartość. Spójrzmy na przykładowy wpis: 30 2 gwiazdka gwiazdka 1 myślnik 5 — to oznacza trzydziestą minutę, drugiej godziny, każdego dnia miesiąca, każdego miesiąca, ale tylko od poniedziałku do piątku. Innymi słowy, skrypt uruchomi się o drugiej trzydzieści w nocy, wyłącznie w dni robocze. Do edycji crontab bieżącego użytkownika służy crontab -e, do podglądu aktualnych zadań crontab -l, a crontab -r usuwa WSZYSTKIE zadania naraz, bez pytania o potwierdzenie — polecenie, którego trzeba używać z dużą ostrożnością. Cron oferuje też wygodne skróty specjalne dla najczęstszych harmonogramów — @reboot uruchamia zadanie przy każdym starcie systemu, @daily, @weekly i @monthly odpowiadają konkretnym wyrażeniom czasowym, ale są czytelniejsze i mniej podatne na pomyłkę niż ręczne wypisywanie pięciu pól.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Cron w Linuksie istnieje w kilku wariantach, i rozróżnienie ich jest ważne, żeby wiedzieć, gdzie szukać problemu. Pierwszy wariant to crontab per użytkownik, edytowany poleceniem crontab -e — zadania zdefiniowane w ten sposób wykonują się z uprawnieniami dokładnie tego konta, które je stworzyło, bez potrzeby podawania nazwy użytkownika w wierszu. Drugi wariant to katalog etc cron.d — to miejsce, gdzie pakiety instalowane przez menadżer pakietów zazwyczaj umieszczają własne zadania systemowe, na przykład rotację logów czy czyszczenie plików tymczasowych. Istotna różnica w formacie: w cron.d, w przeciwieństwie do crontab użytkownika, trzeba jawnie podać nazwę użytkownika, z którego uprawnieniami zadanie ma się wykonać, tak jak widzicie w przykładzie z appuser. Trzeci wariant to katalogi cron.daily, cron.weekly, cron.monthly — tam po prostu wrzucacie wykonywalny skrypt, a system sam zadba o jego cykliczne uruchamianie, bez potrzeby definiowania harmonogramu ręcznie. Czwarty wariant to globalny plik etc crontab, też z dodatkową kolumną użytkownika, konfigurujący zadania na poziomie całego systemu. W praktyce administracyjnej najczęściej używacie crontab -e dla zadań osobistych i cron.d dla zadań instalowanych przez wasze własne aplikacje czy skrypty wdrożeniowe.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Standardowy cron ma pewne istotne ograniczenie, o którym wielu administratorów dowiaduje się dopiero w bolesny sposób — jeśli system był wyłączony dokładnie w momencie, kiedy zadanie miało się wykonać, cron po prostu to zadanie pomija. Nie nadrabia go później, nie uruchamia przy starcie systemu — czeka po prostu na kolejny zaplanowany termin. Na serwerze działającym nieprzerwanie dwadzieścia cztery godziny na dobę to zwykle nie jest problem. Ale pomyślcie o laptopie administratora albo o stacji roboczej, która jest wyłączana na noc i weekendy — jeśli zadanie backupu miało wykonać się o drugiej w nocy, a komputer był wtedy wyłączony, backup po prostu nigdy się nie wykona tego dnia. Rozwiązaniem tego problemu jest anacron, wykorzystywany między innymi przez mechanizm cron.daily, o którym mówiliśmy przed chwilą. anacron, w przeciwieństwie do zwykłego crona, pamięta, kiedy dane zadanie było ostatnio wykonane, i jeśli zauważy, że minął już czas, kiedy powinno się wykonać, a tak się nie stało, uruchamia je przy najbliższej okazji, czyli zaraz po starcie systemu. To czyni go znacznie bardziej odpowiednim narzędziem na urządzeniach, które nie pracują bez przerwy.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być może najważniejszy slajd tej części zajęć, bo opisuje problem, z którym prędzej czy później zmierzy się każdy z was. Skrypt uruchomiony ręcznie w terminalu działa, ale ten sam skrypt w cronie milczy albo się wywala — dlaczego? Odpowiedź leży w tym, że cron uruchamia zadania w bardzo ubogim, minimalnym środowisku. Nie ładuje waszego pliku .bashrc, nie ma pełnej zmiennej PATH, którą znacie z interaktywnej powłoki, często zawiera tylko podstawowe, systemowe ścieżki. W rezultacie polecenie takie jak po prostu tar, które w terminalu działa, bo powłoka znajduje je w PATH, w cronie może zakończyć się błędem „command not found”. Dlatego pierwsza i najważniejsza zasada: zawsze podawajcie pełne, bezwzględne ścieżki do poleceń w zadaniach cron — nie tar, tylko /usr/bin/tar. Druga zasada: domyślnie cron próbuje wysyłać wyjście zadania pocztą lokalną do użytkownika, co w praktyce większości serwerów oznacza, że ta wiadomość ginie w nieskonfigurowanym systemie pocztowym i nigdy jej nie zobaczycie. Zamiast na to liczyć, zawsze jawnie przekierowujcie standardowe wyjście i błędy do pliku logu, tak jak widzicie w drugim przykładzie, z użyciem &gt;&gt; i 2&gt;&amp;1. Trzecia opcja, przydatna gdy macie wiele zadań korzystających z nietypowych lokalizacji binarek, to jawne zdefiniowanie zmiennej PATH na samej górze pliku crontab, obejmującej wszystkie potrzebne katalogi.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nowszych wdrożeniach, szczególnie tam, gdzie i tak cały system opiera się na systemd, coraz częściej zamiast crona stosuje się timery systemd. Taki timer definiujecie w dwóch plikach jednostek — tutaj backup.timer, określający harmonogram, oraz powiązany z nim backup.service, który faktycznie definiuje, co ma zostać wykonane. W sekcji Timer dyrektywa OnCalendar przyjmuje wyrażenie czasowe w formacie systemd, tutaj gwiazdka myślnik gwiazdka myślnik gwiazdka dla dowolnej daty, i konkretna godzina 02:30:00. Bardzo istotna jest dyrektywa Persistent=true — to jest dokładny odpowiednik tego, co omówiliśmy przy anacron: jeśli system był wyłączony w zaplanowanym momencie, timer nadrobi pominięte uruchomienie zaraz po starcie. Timer aktywujemy standardowo poleceniem systemctl enable now, a listę wszystkich aktywnych timerów wraz z czasem następnego uruchomienia podejrzycie poleceniem systemctl list-timers. Dlaczego w ogóle warto rozważyć timery zamiast crona? Po pierwsze, logowanie jest dużo lepsze — wynik wykonania zadania trafia bezpośrednio do dziennika journald i przeglądacie go standardowym journalctl -u, bez potrzeby ręcznego przekierowywania wyjścia do pliku. Po drugie, timery mogą korzystać z pełnego mechanizmu zależności systemd, na przykład uruchomić się dopiero po tym, jak inna usługa w pełni wystartuje. Po trzecie, jak już wspomniałem, wbudowana obsługa pominiętych uruchomień. I po czwarte, harmonogram w formacie OnCalendar bywa bardziej elastyczny i czytelny niż klasyczne pięć pól crontab, szczególnie przy bardziej skomplikowanych wzorcach czasowych.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Czwarta, najbardziej praktyczna część zajęć. Zaczniemy od podstaw narzędzia tar, przejdziemy przez różnicę między kopią pełną a przyrostową, a następnie rozłożymy na czynniki pierwsze kompletny, gotowy do wdrożenia skrypt Bash realizujący automatyczny backup z pełną obsługą błędów.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 od Tape Archive, to absolutnie fundamentalne narzędzie archiwizacji w świecie uniksowym, mimo że jego nazwa pochodzi jeszcze z czasów taśm magnetycznych. Podstawowe polecenie tworzenia archiwum to tar czf, gdzie c oznacza create, z oznacza kompresję gzip, a f wskazuje, że zaraz podamy nazwę pliku wyjściowego — po niej podajemy ścieżkę do katalogu, który chcemy zarchiwizować. Rozpakowanie to tar xzf, gdzie x oznacza extract, a flaga -C pozwala wskazać katalog docelowy, inny niż bieżący. Bardzo przydatna, a często pomijana opcja to tar tzf, pozwalająca podejrzeć listę plików wewnątrz archiwum bez jego faktycznego rozpakowywania — warto to robić przed przywróceniem dużego backupu, żeby upewnić się, że archiwum zawiera to, czego oczekujecie. Nowoczesne systemy coraz częściej oferują też kompresję zstd, znacznie szybszą niż tradycyjny gzip przy porównywalnym stopniu kompresji, dostępną przez flagę --zstd. Opcja --exclude pozwala wykluczyć z archiwum określone wzorce plików czy katalogów, na przykład pliki tymczasowe albo katalog cache, co zarówno zmniejsza rozmiar archiwum, jak i przyspiesza cały proces. Na dole macie ściągawkę z najważniejszymi flagami — zwróćcie szczególną uwagę na f, które zawsze musi być ostatnią literą w grupie flag, bo zaraz po nim tar oczekuje nazwy pliku archiwum.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Przy większych zbiorach danych codzienne tworzenie pełnej kopii zapasowej bywa i czasochłonne, i kosztowne w miejscu na dysku. Rozwiązaniem jest mechanizm kopii przyrostowych, wbudowany w tar przez flagę --listed-incremental. Działa to w ten sposób: wskazujecie plik, tutaj snapshot.snar, w którym tar zapisuje metadane o stanie wszystkich plików w momencie tworzenia archiwum — czasy modyfikacji, rozmiary, i tak dalej. Przy pierwszym uruchomieniu ten plik snar jeszcze nie istnieje, więc tar tworzy pełną kopię wszystkich plików i jednocześnie zapisuje ich stan do tego pliku snapshot. Przy kolejnym uruchomieniu, z tym samym plikiem snar, tar porównuje bieżący stan katalogu z zapisanym wcześniej stanem i do nowego archiwum pakuje wyłącznie te pliki, które zostały zmienione, dodane albo usunięte od czasu poprzedniego backupu — stąd nazwa kopia przyrostowa. To drastycznie redukuje zarówno czas tworzenia kopii, jak i jej rozmiar przy kolejnych uruchomieniach, bo nie duplikujecie w kółko tych samych, niezmienionych danych. W typowym schemacie produkcyjnym robi się jedną pełną kopię, na przykład raz w tygodniu, a każdego kolejnego dnia kopię przyrostową bazującą na tym samym pliku snapshot, co pozwala przy odtwarzaniu połączyć kopię pełną z sekwencją kopii przyrostowych i odtworzyć dokładny stan danych z wybranego dnia.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Przejdźmy teraz przez kompletny, produkcyjny skrypt backupowy krok po kroku, bo to jest przykład, który powinniście umieć odtworzyć samodzielnie. Na samym początku mamy shebang wskazujący interpreter bash, a zaraz po nim jedną z najważniejszych linii w całym skrypcie: set -euo pipefail. Litera e sprawia, że skrypt natychmiast przerywa działanie, gdy jakiekolwiek polecenie zwróci błąd — bez tego błąd w jednej linii mógłby zostać po cichu zignorowany, a skrypt kontynuowałby działanie w niezdefiniowanym stanie. Litera u przerywa skrypt, jeśli odwołacie się do niezdefiniowanej zmiennej, co łapie literówki w nazwach zmiennych. Opcja pipefail sprawia, że potok poleceń połączonych znakiem rury zwraca błąd, jeśli którykolwiek z elementów potoku zawiedzie, a nie tylko ostatni. Ustawienie IFS ogranicza sposób, w jaki bash dzieli słowa, co zapobiega niespodziankom przy nazwach plików zawierających spacje. Dalej mamy sekcję konfiguracji, zdefiniowaną jako zmienne readonly, żeby przypadkiem nie zostały nadpisane dalej w skrypcie — tablica ZRODLA z katalogami do zarchiwizowania, katalog docelowy, liczbę dni przechowywania, znacznik czasu w nazwie archiwum i ścieżkę do pliku logu. Funkcja log() to prosty, ale bardzo przydatny wzorzec — zapisuje komunikat z dokładną datą i godziną jednocześnie na ekran i do pliku logu, dzięki poleceniu tee -a. Na końcu tego fragmentu mamy funkcję sprzataj_przy_bledzie oraz instrukcję trap, która wiąże tę funkcję z sygnałem ERR — jeśli gdziekolwiek w skrypcie wystąpi błąd, zanim skrypt się zakończy, automatycznie zostanie wywołana ta funkcja, usuwająca niekompletne, potencjalnie uszkodzone archiwum, żeby nie zaśmiecać katalogu backupów plikami, którym nie można ufać.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połowa skryptu to już właściwa logika backupu. Zaczynamy od wpisu w logu informującego o rozpoczęciu operacji i liście źródeł, tworzymy katalog docelowy, jeśli jeszcze nie istnieje, a następnie wykonujemy właściwe archiwizowanie poleceniem tar czf, przekierowując ewentualne błędy tar bezpośrednio do pliku logu. Zaraz potem następuje krok, który bardzo wielu skryptów backupowych pomija, a który jest absolutnie kluczowy — weryfikacja integralności dopiero co utworzonego archiwum. Polecenie tar tzf próbuje odczytać listę plików z archiwum; jeśli archiwum jest uszkodzone, na przykład przez przerwany zapis albo brak miejsca na dysku w trakcie tworzenia, ta operacja zawiedzie, warunek if się spełni, skrypt zaloguje błąd i zakończy działanie kodem wyjścia jeden — co jest sygnałem dla crona czy systemd, że coś poszło nie tak. Jeśli weryfikacja przeszła pomyślnie, zapisujemy w logu rozmiar utworzonego archiwum, odczytany poleceniem du -h. Kolejny fragment to rotacja — polecenie find przeszukuje katalog docelowy w poszukiwaniu plików pasujących do wzorca nazwy backupów, starszych niż liczba dni zdefiniowana w zmiennej DNI_PRZECHOWYWANIA, i od razu je usuwa flagą -delete, jednocześnie wypisując, co zostało usunięte. Na samym końcu mamy opcjonalny, ale bardzo wartościowy krok — synchronizację zdalną poleceniem rsync, realizującą klasyczną zasadę trzy-dwa-jeden w backupach: trzy kopie danych, na dwóch różnych nośnikach, z czego jedna przechowywana poza siedzibą firmy. Warunek command -v rsync sprawdza, czy narzędzie w ogóle jest dostępne, zanim spróbujemy go użyć, a konstrukcja z &amp;&amp; i || loguje odpowiednio sukces albo ostrzeżenie o niepowodzeniu synchronizacji, bez przerywania całego skryptu, bo sam lokalny backup już się powiódł.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Zbierzmy w checklistę kluczowe zasady, jakimi powinien kierować się każdy solidny skrypt backupowy — część z nich już widzieliśmy w praktyce w analizowanym przed chwilą skrypcie. Po pierwsze, set -euo pipefail na samym początku — to absolutna podstawa, bez niej błąd w jednej linii może zostać po cichu zignorowany, a skrypt będzie kontynuował w nieprzewidywalnym stanie. Po drugie, trap na sygnały ERR albo EXIT, gwarantujący sprzątanie plików tymczasowych i niekompletnych archiwów nawet przy nieoczekiwanym przerwaniu działania. Po trzecie, weryfikacja integralności archiwum zaraz po jego utworzeniu — backup, którego nie da się odtworzyć, jest zupełnie bezwartościowy, a dowiedzenie się o tym dopiero w sytuacji awaryjnej jest najgorszym możliwym momentem. Po czwarte, jawne logowanie ze znacznikiem czasu do dedykowanego pliku, niezależnie od standardowych logów crona, które łatwo przeoczyć. Po piąte, rotacja starych kopii, żeby dysk przeznaczony na backupy nie zapełnił się w nieskończoność. Po szóste, i to jest zasada, o której najczęściej się zapomina — testowe odtwarzanie kopii zapasowej. Backup, którego nigdy nie spróbowaliście faktycznie przywrócić, nie jest w pełni zaufanym backupem — mogliście mieć uszkodzone archiwum, zły zakres danych, albo brakujące uprawnienia przy odtwarzaniu, i dowiecie się o tym dopiero, gdy będzie już za późno. Na koniec, jeśli archiwum zawiera dane wrażliwe i trafia poza wasz bezpośrednio kontrolowany serwer, zawsze szyfrujcie je przed wysyłką — tutaj przykład z gpg w trybie symetrycznym, z silnym algorytmem AES256, oraz odpowiadające mu polecenie odszyfrowania.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Ostatnia część zajęć łączy wszystko, co dziś omówiliśmy — logi i automatyzację. Samo zaplanowanie zadania w cronie to nie koniec pracy administratora; trzeba jeszcze wiedzieć, jak sprawdzić, czy to zadanie faktycznie się wykonuje, i co zrobić, żeby dowiedzieć się o awarii, zanim zauważy ją ktoś inny.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Zaplanowanie zadania w cronie albo w timerze systemd to dopiero połowa sukcesu — druga połowa to upewnienie się, że ono faktycznie się wykonuje, i to zgodnie z oczekiwaniem. Samą usługę crona możecie monitorować przez journalctl -u cron w trybie live na Debianie i Ubuntu, albo -u crond na RHEL i Fedorze, gdzie nazwa usługi jest inna. Jeśli wolicie klasyczne logi tekstowe, grep CRON na pliku syslog pokaże wam historię wszystkich uruchomień zadań cron zarejestrowanych przez system. Dla zadań opartych na timerach systemd macie jeszcze wygodniejsze narzędzia — systemctl status na nazwie timera pokazuje, kiedy ostatnio się uruchomił i kiedy uruchomi się następnym razem, a journalctl -u z nazwą odpowiadającej usługi i flagą --since today pokaże pełny log wykonania z dzisiejszego dnia. Ale to wszystko to podejście reaktywne — wymaga, żebyście sami, ręcznie, od czasu do czasu sprawdzili te logi. Prawdziwie dojrzałe podejście administracyjne polega na tym, żeby skrypt backupowy sam was informował o problemie, zamiast polegać na tym, że ktoś przypadkiem zajrzy do logów. Stąd dobra praktyka, żeby skrypt zawsze kończył działanie jawnym, sensownym kodem wyjścia — zero przy sukcesie, różne od zera przy błędzie — i w razie niepowodzenia aktywnie wysyłał powiadomienie, czy to e-mailem przez mail albo sendmail, czy to przez webhook do dedykowanego systemu monitoringu, takiego jak Zabbix czy Prometheus z Alertmanagerem. Dzięki temu o awarii backupu dowiecie się od razu, automatycznie, a nie dopiero wtedy, gdy będziecie akurat potrzebować przywrócić dane i okaże się, że najnowszy backup ma dwa tygodnie.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Podsumujmy całe dzisiejsze zajęcia. Poznaliście trzy filary, które razem składają się na dojrzałą, profesjonalną administrację systemem — widoczność, automatyzację i niezawodność. Widoczność zapewniają journalctl i klasyczne pliki w var log, dające wgląd zarówno w bieżący, jak i historyczny stan systemu, uzupełnione przez auditd tam, gdzie potrzebujecie precyzyjnego śledzenia zmian konkretnych, newralgicznych zasobów. Automatyzację zapewnia cron, albo jego nowocześniejszy odpowiednik w postaci timerów systemd, pozwalający zautomatyzować rutynowe operacje, które inaczej musielibyście wykonywać ręcznie każdego dnia. A niezawodność to już kwestia tego, jak piszecie wasze skrypty — solidny skrypt Bash oparty na tar, z obsługą błędów przez set -euo pipefail i trap, z weryfikacją integralności archiwum i rotacją starych kopii, zamienia backup z ryzykownego zadania typu „pamiętać, żeby zrobić” w niezawodny, samodzielnie działający proces, na którym naprawdę można polegać. I najważniejsza myśl na zakończenie, do której chcę, żebyście wracali w swojej przyszłej pracy: widoczność i automatyzacja to dwie strony tej samej monety, i żadna z nich osobno nie wystarczy. Dobrze skonfigurowany monitoring bez automatyzacji oznacza, że musicie ręcznie reagować na każdy pojedynczy sygnał, co nie skaluje się przy większej liczbie serwerów. A automatyzacja bez monitoringu oznacza, że zaplanowane zadanie może zacząć po cichu zawodzić, i nikt się o tym nie dowie, dopóki nie będzie już za późno. Dopiero połączenie obu daje wam system, któremu naprawdę można zaufać. To wszystko na dziś, dziękuję za uwagę — zapraszam do pytań.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9509760" y="-1097280"/>
            <a:ext cx="4572000" cy="4572000"/>
          </a:xfrm>
          <a:prstGeom prst="ellipse">
            <a:avLst/>
          </a:prstGeom>
          <a:solidFill>
            <a:srgbClr val="38BDF8">
              <a:alpha val="10000"/>
            </a:srgbClr>
          </a:solidFill>
          <a:ln/>
        </p:spPr>
      </p:sp>
      <p:sp>
        <p:nvSpPr>
          <p:cNvPr id="3" name="Shape 1"/>
          <p:cNvSpPr/>
          <p:nvPr/>
        </p:nvSpPr>
        <p:spPr>
          <a:xfrm>
            <a:off x="-1371600" y="4754880"/>
            <a:ext cx="4114800" cy="4114800"/>
          </a:xfrm>
          <a:prstGeom prst="ellipse">
            <a:avLst/>
          </a:prstGeom>
          <a:solidFill>
            <a:srgbClr val="2DD4BF">
              <a:alpha val="8000"/>
            </a:srgbClr>
          </a:solidFill>
          <a:ln/>
        </p:spPr>
      </p:sp>
      <p:sp>
        <p:nvSpPr>
          <p:cNvPr id="4" name="Text 2"/>
          <p:cNvSpPr txBox="1"/>
          <p:nvPr/>
        </p:nvSpPr>
        <p:spPr>
          <a:xfrm>
            <a:off x="822960" y="1737360"/>
            <a:ext cx="9144000" cy="365760"/>
          </a:xfrm>
          <a:prstGeom prst="rect">
            <a:avLst/>
          </a:prstGeom>
          <a:noFill/>
          <a:ln/>
        </p:spPr>
        <p:txBody>
          <a:bodyPr wrap="square" lIns="0" tIns="0" rIns="0" bIns="0" rtlCol="0" anchor="ctr"/>
          <a:lstStyle/>
          <a:p>
            <a:pPr indent="0" marL="0">
              <a:buNone/>
            </a:pPr>
            <a:r>
              <a:rPr lang="en-US" sz="1400" b="1" spc="300" kern="0" dirty="0">
                <a:solidFill>
                  <a:srgbClr val="38BDF8"/>
                </a:solidFill>
                <a:latin typeface="Calibri" pitchFamily="34" charset="0"/>
                <a:ea typeface="Calibri" pitchFamily="34" charset="-122"/>
                <a:cs typeface="Calibri" pitchFamily="34" charset="-120"/>
              </a:rPr>
              <a:t>ADMINISTRACJA SYSTEMAMI UNIKSOWYMI</a:t>
            </a:r>
            <a:endParaRPr lang="en-US" sz="1400" dirty="0"/>
          </a:p>
        </p:txBody>
      </p:sp>
      <p:sp>
        <p:nvSpPr>
          <p:cNvPr id="5" name="Text 3"/>
          <p:cNvSpPr txBox="1"/>
          <p:nvPr/>
        </p:nvSpPr>
        <p:spPr>
          <a:xfrm>
            <a:off x="822960" y="2194560"/>
            <a:ext cx="10241280" cy="192024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Monitorowanie, audyt bezpieczeństwa</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 automatyzacja zadań</a:t>
            </a:r>
            <a:endParaRPr lang="en-US" sz="4000" dirty="0"/>
          </a:p>
        </p:txBody>
      </p:sp>
      <p:sp>
        <p:nvSpPr>
          <p:cNvPr id="6" name="Text 4"/>
          <p:cNvSpPr txBox="1"/>
          <p:nvPr/>
        </p:nvSpPr>
        <p:spPr>
          <a:xfrm>
            <a:off x="822960" y="4160520"/>
            <a:ext cx="10058400" cy="45720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journalctl / var/log  •  auditd  •  cron i timery systemd  •  skrypty Bash + tar</a:t>
            </a:r>
            <a:endParaRPr lang="en-US" sz="1700" dirty="0"/>
          </a:p>
        </p:txBody>
      </p:sp>
      <p:sp>
        <p:nvSpPr>
          <p:cNvPr id="7" name="Shape 5"/>
          <p:cNvSpPr/>
          <p:nvPr/>
        </p:nvSpPr>
        <p:spPr>
          <a:xfrm>
            <a:off x="822960" y="4937760"/>
            <a:ext cx="1417320" cy="457200"/>
          </a:xfrm>
          <a:prstGeom prst="roundRect">
            <a:avLst>
              <a:gd name="adj" fmla="val 50000"/>
            </a:avLst>
          </a:prstGeom>
          <a:solidFill>
            <a:srgbClr val="121B2E"/>
          </a:solidFill>
          <a:ln w="15875">
            <a:solidFill>
              <a:srgbClr val="38BDF8"/>
            </a:solidFill>
            <a:prstDash val="solid"/>
          </a:ln>
        </p:spPr>
      </p:sp>
      <p:sp>
        <p:nvSpPr>
          <p:cNvPr id="8" name="Text 6"/>
          <p:cNvSpPr txBox="1"/>
          <p:nvPr/>
        </p:nvSpPr>
        <p:spPr>
          <a:xfrm>
            <a:off x="822960" y="4937760"/>
            <a:ext cx="1417320" cy="457200"/>
          </a:xfrm>
          <a:prstGeom prst="rect">
            <a:avLst/>
          </a:prstGeom>
          <a:noFill/>
          <a:ln/>
        </p:spPr>
        <p:txBody>
          <a:bodyPr wrap="square" lIns="0" tIns="0" rIns="0" bIns="0" rtlCol="0" anchor="ctr"/>
          <a:lstStyle/>
          <a:p>
            <a:pPr algn="ctr" indent="0" marL="0">
              <a:buNone/>
            </a:pPr>
            <a:r>
              <a:rPr lang="en-US" sz="1300" dirty="0">
                <a:solidFill>
                  <a:srgbClr val="38BDF8"/>
                </a:solidFill>
                <a:latin typeface="Consolas" pitchFamily="34" charset="0"/>
                <a:ea typeface="Consolas" pitchFamily="34" charset="-122"/>
                <a:cs typeface="Consolas" pitchFamily="34" charset="-120"/>
              </a:rPr>
              <a:t>journalctl</a:t>
            </a:r>
            <a:endParaRPr lang="en-US" sz="1300" dirty="0"/>
          </a:p>
        </p:txBody>
      </p:sp>
      <p:sp>
        <p:nvSpPr>
          <p:cNvPr id="9" name="Shape 7"/>
          <p:cNvSpPr/>
          <p:nvPr/>
        </p:nvSpPr>
        <p:spPr>
          <a:xfrm>
            <a:off x="2468880" y="4937760"/>
            <a:ext cx="1837944" cy="457200"/>
          </a:xfrm>
          <a:prstGeom prst="roundRect">
            <a:avLst>
              <a:gd name="adj" fmla="val 50000"/>
            </a:avLst>
          </a:prstGeom>
          <a:solidFill>
            <a:srgbClr val="121B2E"/>
          </a:solidFill>
          <a:ln w="15875">
            <a:solidFill>
              <a:srgbClr val="34D399"/>
            </a:solidFill>
            <a:prstDash val="solid"/>
          </a:ln>
        </p:spPr>
      </p:sp>
      <p:sp>
        <p:nvSpPr>
          <p:cNvPr id="10" name="Text 8"/>
          <p:cNvSpPr txBox="1"/>
          <p:nvPr/>
        </p:nvSpPr>
        <p:spPr>
          <a:xfrm>
            <a:off x="2468880" y="4937760"/>
            <a:ext cx="1837944" cy="457200"/>
          </a:xfrm>
          <a:prstGeom prst="rect">
            <a:avLst/>
          </a:prstGeom>
          <a:noFill/>
          <a:ln/>
        </p:spPr>
        <p:txBody>
          <a:bodyPr wrap="square" lIns="0" tIns="0" rIns="0" bIns="0" rtlCol="0" anchor="ctr"/>
          <a:lstStyle/>
          <a:p>
            <a:pPr algn="ctr" indent="0" marL="0">
              <a:buNone/>
            </a:pPr>
            <a:r>
              <a:rPr lang="en-US" sz="1300" dirty="0">
                <a:solidFill>
                  <a:srgbClr val="34D399"/>
                </a:solidFill>
                <a:latin typeface="Consolas" pitchFamily="34" charset="0"/>
                <a:ea typeface="Consolas" pitchFamily="34" charset="-122"/>
                <a:cs typeface="Consolas" pitchFamily="34" charset="-120"/>
              </a:rPr>
              <a:t>cron / anacron</a:t>
            </a:r>
            <a:endParaRPr lang="en-US" sz="1300" dirty="0"/>
          </a:p>
        </p:txBody>
      </p:sp>
      <p:sp>
        <p:nvSpPr>
          <p:cNvPr id="11" name="Shape 9"/>
          <p:cNvSpPr/>
          <p:nvPr/>
        </p:nvSpPr>
        <p:spPr>
          <a:xfrm>
            <a:off x="4535424" y="4937760"/>
            <a:ext cx="1943100" cy="457200"/>
          </a:xfrm>
          <a:prstGeom prst="roundRect">
            <a:avLst>
              <a:gd name="adj" fmla="val 50000"/>
            </a:avLst>
          </a:prstGeom>
          <a:solidFill>
            <a:srgbClr val="121B2E"/>
          </a:solidFill>
          <a:ln w="15875">
            <a:solidFill>
              <a:srgbClr val="2DD4BF"/>
            </a:solidFill>
            <a:prstDash val="solid"/>
          </a:ln>
        </p:spPr>
      </p:sp>
      <p:sp>
        <p:nvSpPr>
          <p:cNvPr id="12" name="Text 10"/>
          <p:cNvSpPr txBox="1"/>
          <p:nvPr/>
        </p:nvSpPr>
        <p:spPr>
          <a:xfrm>
            <a:off x="4535424" y="4937760"/>
            <a:ext cx="1943100" cy="457200"/>
          </a:xfrm>
          <a:prstGeom prst="rect">
            <a:avLst/>
          </a:prstGeom>
          <a:noFill/>
          <a:ln/>
        </p:spPr>
        <p:txBody>
          <a:bodyPr wrap="square" lIns="0" tIns="0" rIns="0" bIns="0" rtlCol="0" anchor="ctr"/>
          <a:lstStyle/>
          <a:p>
            <a:pPr algn="ctr" indent="0" marL="0">
              <a:buNone/>
            </a:pPr>
            <a:r>
              <a:rPr lang="en-US" sz="1300" dirty="0">
                <a:solidFill>
                  <a:srgbClr val="2DD4BF"/>
                </a:solidFill>
                <a:latin typeface="Consolas" pitchFamily="34" charset="0"/>
                <a:ea typeface="Consolas" pitchFamily="34" charset="-122"/>
                <a:cs typeface="Consolas" pitchFamily="34" charset="-120"/>
              </a:rPr>
              <a:t>tar + backup.sh</a:t>
            </a:r>
            <a:endParaRPr lang="en-US" sz="1300" dirty="0"/>
          </a:p>
        </p:txBody>
      </p:sp>
      <p:sp>
        <p:nvSpPr>
          <p:cNvPr id="13" name="Text 11"/>
          <p:cNvSpPr txBox="1"/>
          <p:nvPr/>
        </p:nvSpPr>
        <p:spPr>
          <a:xfrm>
            <a:off x="822960" y="6263640"/>
            <a:ext cx="91440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Kwalifikacja INF.02  •  Administrowanie serwerowymi systemami operacyjnymi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PLAN ZAJĘĆ</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Agenda</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PLAN ZAJĘĆ</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11064240" cy="1051560"/>
          </a:xfrm>
          <a:prstGeom prst="roundRect">
            <a:avLst>
              <a:gd name="adj" fmla="val 6957"/>
            </a:avLst>
          </a:prstGeom>
          <a:solidFill>
            <a:srgbClr val="F1F5F9"/>
          </a:solidFill>
          <a:ln/>
        </p:spPr>
      </p:sp>
      <p:sp>
        <p:nvSpPr>
          <p:cNvPr id="7" name="Text 5"/>
          <p:cNvSpPr txBox="1"/>
          <p:nvPr/>
        </p:nvSpPr>
        <p:spPr>
          <a:xfrm>
            <a:off x="822960" y="1709928"/>
            <a:ext cx="914400" cy="822960"/>
          </a:xfrm>
          <a:prstGeom prst="rect">
            <a:avLst/>
          </a:prstGeom>
          <a:noFill/>
          <a:ln/>
        </p:spPr>
        <p:txBody>
          <a:bodyPr wrap="square" lIns="0" tIns="0" rIns="0" bIns="0" rtlCol="0" anchor="ctr"/>
          <a:lstStyle/>
          <a:p>
            <a:pPr algn="l" indent="0" marL="0">
              <a:buNone/>
            </a:pPr>
            <a:r>
              <a:rPr lang="en-US" sz="3000" b="1" dirty="0">
                <a:solidFill>
                  <a:srgbClr val="38BDF8"/>
                </a:solidFill>
                <a:latin typeface="Cambria" pitchFamily="34" charset="0"/>
                <a:ea typeface="Cambria" pitchFamily="34" charset="-122"/>
                <a:cs typeface="Cambria" pitchFamily="34" charset="-120"/>
              </a:rPr>
              <a:t>01</a:t>
            </a:r>
            <a:endParaRPr lang="en-US" sz="3000" dirty="0"/>
          </a:p>
        </p:txBody>
      </p:sp>
      <p:sp>
        <p:nvSpPr>
          <p:cNvPr id="8" name="Text 6"/>
          <p:cNvSpPr txBox="1"/>
          <p:nvPr/>
        </p:nvSpPr>
        <p:spPr>
          <a:xfrm>
            <a:off x="1828800" y="1737360"/>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Architektura logowania</a:t>
            </a:r>
            <a:endParaRPr lang="en-US" sz="1800" dirty="0"/>
          </a:p>
        </p:txBody>
      </p:sp>
      <p:sp>
        <p:nvSpPr>
          <p:cNvPr id="9" name="Text 7"/>
          <p:cNvSpPr txBox="1"/>
          <p:nvPr/>
        </p:nvSpPr>
        <p:spPr>
          <a:xfrm>
            <a:off x="1828800" y="2148840"/>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journald, journalctl, /var/log, rotacja logrotate</a:t>
            </a:r>
            <a:endParaRPr lang="en-US" sz="1300" dirty="0"/>
          </a:p>
        </p:txBody>
      </p:sp>
      <p:sp>
        <p:nvSpPr>
          <p:cNvPr id="10" name="Shape 8"/>
          <p:cNvSpPr/>
          <p:nvPr/>
        </p:nvSpPr>
        <p:spPr>
          <a:xfrm>
            <a:off x="548640" y="2816352"/>
            <a:ext cx="11064240" cy="1051560"/>
          </a:xfrm>
          <a:prstGeom prst="roundRect">
            <a:avLst>
              <a:gd name="adj" fmla="val 6957"/>
            </a:avLst>
          </a:prstGeom>
          <a:solidFill>
            <a:srgbClr val="F1F5F9"/>
          </a:solidFill>
          <a:ln/>
        </p:spPr>
      </p:sp>
      <p:sp>
        <p:nvSpPr>
          <p:cNvPr id="11" name="Text 9"/>
          <p:cNvSpPr txBox="1"/>
          <p:nvPr/>
        </p:nvSpPr>
        <p:spPr>
          <a:xfrm>
            <a:off x="822960" y="2926080"/>
            <a:ext cx="914400" cy="822960"/>
          </a:xfrm>
          <a:prstGeom prst="rect">
            <a:avLst/>
          </a:prstGeom>
          <a:noFill/>
          <a:ln/>
        </p:spPr>
        <p:txBody>
          <a:bodyPr wrap="square" lIns="0" tIns="0" rIns="0" bIns="0" rtlCol="0" anchor="ctr"/>
          <a:lstStyle/>
          <a:p>
            <a:pPr algn="l" indent="0" marL="0">
              <a:buNone/>
            </a:pPr>
            <a:r>
              <a:rPr lang="en-US" sz="3000" b="1" dirty="0">
                <a:solidFill>
                  <a:srgbClr val="A78BFA"/>
                </a:solidFill>
                <a:latin typeface="Cambria" pitchFamily="34" charset="0"/>
                <a:ea typeface="Cambria" pitchFamily="34" charset="-122"/>
                <a:cs typeface="Cambria" pitchFamily="34" charset="-120"/>
              </a:rPr>
              <a:t>02</a:t>
            </a:r>
            <a:endParaRPr lang="en-US" sz="3000" dirty="0"/>
          </a:p>
        </p:txBody>
      </p:sp>
      <p:sp>
        <p:nvSpPr>
          <p:cNvPr id="12" name="Text 10"/>
          <p:cNvSpPr txBox="1"/>
          <p:nvPr/>
        </p:nvSpPr>
        <p:spPr>
          <a:xfrm>
            <a:off x="1828800" y="2953512"/>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Audyt bezpieczeństwa</a:t>
            </a:r>
            <a:endParaRPr lang="en-US" sz="1800" dirty="0"/>
          </a:p>
        </p:txBody>
      </p:sp>
      <p:sp>
        <p:nvSpPr>
          <p:cNvPr id="13" name="Text 11"/>
          <p:cNvSpPr txBox="1"/>
          <p:nvPr/>
        </p:nvSpPr>
        <p:spPr>
          <a:xfrm>
            <a:off x="1828800" y="3364992"/>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auditd — śledzenie zdarzeń na poziomie wywołań systemowych</a:t>
            </a:r>
            <a:endParaRPr lang="en-US" sz="1300" dirty="0"/>
          </a:p>
        </p:txBody>
      </p:sp>
      <p:sp>
        <p:nvSpPr>
          <p:cNvPr id="14" name="Shape 12"/>
          <p:cNvSpPr/>
          <p:nvPr/>
        </p:nvSpPr>
        <p:spPr>
          <a:xfrm>
            <a:off x="548640" y="4032504"/>
            <a:ext cx="11064240" cy="1051560"/>
          </a:xfrm>
          <a:prstGeom prst="roundRect">
            <a:avLst>
              <a:gd name="adj" fmla="val 6957"/>
            </a:avLst>
          </a:prstGeom>
          <a:solidFill>
            <a:srgbClr val="F1F5F9"/>
          </a:solidFill>
          <a:ln/>
        </p:spPr>
      </p:sp>
      <p:sp>
        <p:nvSpPr>
          <p:cNvPr id="15" name="Text 13"/>
          <p:cNvSpPr txBox="1"/>
          <p:nvPr/>
        </p:nvSpPr>
        <p:spPr>
          <a:xfrm>
            <a:off x="822960" y="4142232"/>
            <a:ext cx="914400" cy="822960"/>
          </a:xfrm>
          <a:prstGeom prst="rect">
            <a:avLst/>
          </a:prstGeom>
          <a:noFill/>
          <a:ln/>
        </p:spPr>
        <p:txBody>
          <a:bodyPr wrap="square" lIns="0" tIns="0" rIns="0" bIns="0" rtlCol="0" anchor="ctr"/>
          <a:lstStyle/>
          <a:p>
            <a:pPr algn="l" indent="0" marL="0">
              <a:buNone/>
            </a:pPr>
            <a:r>
              <a:rPr lang="en-US" sz="3000" b="1" dirty="0">
                <a:solidFill>
                  <a:srgbClr val="34D399"/>
                </a:solidFill>
                <a:latin typeface="Cambria" pitchFamily="34" charset="0"/>
                <a:ea typeface="Cambria" pitchFamily="34" charset="-122"/>
                <a:cs typeface="Cambria" pitchFamily="34" charset="-120"/>
              </a:rPr>
              <a:t>03</a:t>
            </a:r>
            <a:endParaRPr lang="en-US" sz="3000" dirty="0"/>
          </a:p>
        </p:txBody>
      </p:sp>
      <p:sp>
        <p:nvSpPr>
          <p:cNvPr id="16" name="Text 14"/>
          <p:cNvSpPr txBox="1"/>
          <p:nvPr/>
        </p:nvSpPr>
        <p:spPr>
          <a:xfrm>
            <a:off x="1828800" y="4169664"/>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Zadania cykliczne</a:t>
            </a:r>
            <a:endParaRPr lang="en-US" sz="1800" dirty="0"/>
          </a:p>
        </p:txBody>
      </p:sp>
      <p:sp>
        <p:nvSpPr>
          <p:cNvPr id="17" name="Text 15"/>
          <p:cNvSpPr txBox="1"/>
          <p:nvPr/>
        </p:nvSpPr>
        <p:spPr>
          <a:xfrm>
            <a:off x="1828800" y="4581144"/>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cron, anacron, pułapki środowiska, timery systemd</a:t>
            </a:r>
            <a:endParaRPr lang="en-US" sz="1300" dirty="0"/>
          </a:p>
        </p:txBody>
      </p:sp>
      <p:sp>
        <p:nvSpPr>
          <p:cNvPr id="18" name="Shape 16"/>
          <p:cNvSpPr/>
          <p:nvPr/>
        </p:nvSpPr>
        <p:spPr>
          <a:xfrm>
            <a:off x="548640" y="5248656"/>
            <a:ext cx="11064240" cy="1051560"/>
          </a:xfrm>
          <a:prstGeom prst="roundRect">
            <a:avLst>
              <a:gd name="adj" fmla="val 6957"/>
            </a:avLst>
          </a:prstGeom>
          <a:solidFill>
            <a:srgbClr val="F1F5F9"/>
          </a:solidFill>
          <a:ln/>
        </p:spPr>
      </p:sp>
      <p:sp>
        <p:nvSpPr>
          <p:cNvPr id="19" name="Text 17"/>
          <p:cNvSpPr txBox="1"/>
          <p:nvPr/>
        </p:nvSpPr>
        <p:spPr>
          <a:xfrm>
            <a:off x="822960" y="5358384"/>
            <a:ext cx="914400" cy="822960"/>
          </a:xfrm>
          <a:prstGeom prst="rect">
            <a:avLst/>
          </a:prstGeom>
          <a:noFill/>
          <a:ln/>
        </p:spPr>
        <p:txBody>
          <a:bodyPr wrap="square" lIns="0" tIns="0" rIns="0" bIns="0" rtlCol="0" anchor="ctr"/>
          <a:lstStyle/>
          <a:p>
            <a:pPr algn="l" indent="0" marL="0">
              <a:buNone/>
            </a:pPr>
            <a:r>
              <a:rPr lang="en-US" sz="3000" b="1" dirty="0">
                <a:solidFill>
                  <a:srgbClr val="2DD4BF"/>
                </a:solidFill>
                <a:latin typeface="Cambria" pitchFamily="34" charset="0"/>
                <a:ea typeface="Cambria" pitchFamily="34" charset="-122"/>
                <a:cs typeface="Cambria" pitchFamily="34" charset="-120"/>
              </a:rPr>
              <a:t>04</a:t>
            </a:r>
            <a:endParaRPr lang="en-US" sz="3000" dirty="0"/>
          </a:p>
        </p:txBody>
      </p:sp>
      <p:sp>
        <p:nvSpPr>
          <p:cNvPr id="20" name="Text 18"/>
          <p:cNvSpPr txBox="1"/>
          <p:nvPr/>
        </p:nvSpPr>
        <p:spPr>
          <a:xfrm>
            <a:off x="1828800" y="5385816"/>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Backup i automatyzacja</a:t>
            </a:r>
            <a:endParaRPr lang="en-US" sz="1800" dirty="0"/>
          </a:p>
        </p:txBody>
      </p:sp>
      <p:sp>
        <p:nvSpPr>
          <p:cNvPr id="21" name="Text 19"/>
          <p:cNvSpPr txBox="1"/>
          <p:nvPr/>
        </p:nvSpPr>
        <p:spPr>
          <a:xfrm>
            <a:off x="1828800" y="5797296"/>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tar, skrypty Bash, dobre praktyki, monitorowanie wykonania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8BDF8"/>
                </a:solidFill>
                <a:latin typeface="Calibri" pitchFamily="34" charset="0"/>
                <a:ea typeface="Calibri" pitchFamily="34" charset="-122"/>
                <a:cs typeface="Calibri" pitchFamily="34" charset="-120"/>
              </a:rPr>
              <a:t>CZĘŚĆ 1</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Architektura logowania</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systemd-journald, journalctl, klasyczne pliki w /var/log i ich rotacja</a:t>
            </a:r>
            <a:endParaRPr lang="en-US" sz="1800" dirty="0"/>
          </a:p>
        </p:txBody>
      </p:sp>
      <p:sp>
        <p:nvSpPr>
          <p:cNvPr id="5" name="Shape 3"/>
          <p:cNvSpPr/>
          <p:nvPr/>
        </p:nvSpPr>
        <p:spPr>
          <a:xfrm>
            <a:off x="10332720" y="1097280"/>
            <a:ext cx="1463040" cy="1463040"/>
          </a:xfrm>
          <a:prstGeom prst="ellipse">
            <a:avLst/>
          </a:prstGeom>
          <a:solidFill>
            <a:srgbClr val="38BDF8">
              <a:alpha val="15000"/>
            </a:srgbClr>
          </a:solidFill>
          <a:ln w="19050">
            <a:solidFill>
              <a:srgbClr val="38BDF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Logowanie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Dwa uzupełniające się mechanizmy</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Logowanie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640080" y="1783080"/>
            <a:ext cx="5349240" cy="2377440"/>
          </a:xfrm>
          <a:prstGeom prst="roundRect">
            <a:avLst>
              <a:gd name="adj" fmla="val 3846"/>
            </a:avLst>
          </a:prstGeom>
          <a:solidFill>
            <a:srgbClr val="F1F5F9"/>
          </a:solidFill>
          <a:ln/>
          <a:effectLst>
            <a:outerShdw sx="100000" sy="100000" kx="0" ky="0" algn="bl" rotWithShape="0" blurRad="127000" dist="38100" dir="5400000">
              <a:srgbClr val="000000">
                <a:alpha val="12000"/>
              </a:srgbClr>
            </a:outerShdw>
          </a:effectLst>
        </p:spPr>
      </p:sp>
      <p:sp>
        <p:nvSpPr>
          <p:cNvPr id="7" name="Text 5"/>
          <p:cNvSpPr txBox="1"/>
          <p:nvPr/>
        </p:nvSpPr>
        <p:spPr>
          <a:xfrm>
            <a:off x="960120" y="2011680"/>
            <a:ext cx="4709160" cy="457200"/>
          </a:xfrm>
          <a:prstGeom prst="rect">
            <a:avLst/>
          </a:prstGeom>
          <a:noFill/>
          <a:ln/>
        </p:spPr>
        <p:txBody>
          <a:bodyPr wrap="square" lIns="0" tIns="0" rIns="0" bIns="0" rtlCol="0" anchor="ctr"/>
          <a:lstStyle/>
          <a:p>
            <a:pPr indent="0" marL="0">
              <a:buNone/>
            </a:pPr>
            <a:r>
              <a:rPr lang="en-US" sz="1900" b="1" dirty="0">
                <a:solidFill>
                  <a:srgbClr val="38BDF8"/>
                </a:solidFill>
                <a:latin typeface="Cambria" pitchFamily="34" charset="0"/>
                <a:ea typeface="Cambria" pitchFamily="34" charset="-122"/>
                <a:cs typeface="Cambria" pitchFamily="34" charset="-120"/>
              </a:rPr>
              <a:t>systemd-journald</a:t>
            </a:r>
            <a:endParaRPr lang="en-US" sz="1900" dirty="0"/>
          </a:p>
        </p:txBody>
      </p:sp>
      <p:sp>
        <p:nvSpPr>
          <p:cNvPr id="8" name="Text 6"/>
          <p:cNvSpPr txBox="1"/>
          <p:nvPr/>
        </p:nvSpPr>
        <p:spPr>
          <a:xfrm>
            <a:off x="960120" y="2560320"/>
            <a:ext cx="4709160" cy="1463040"/>
          </a:xfrm>
          <a:prstGeom prst="rect">
            <a:avLst/>
          </a:prstGeom>
          <a:noFill/>
          <a:ln/>
        </p:spPr>
        <p:txBody>
          <a:bodyPr wrap="square" lIns="0" tIns="0" rIns="0" bIns="0" rtlCol="0" anchor="ctr"/>
          <a:lstStyle/>
          <a:p>
            <a:pPr indent="0" marL="0">
              <a:lnSpc>
                <a:spcPct val="120000"/>
              </a:lnSpc>
              <a:buNone/>
            </a:pPr>
            <a:r>
              <a:rPr lang="en-US" sz="1400" dirty="0">
                <a:solidFill>
                  <a:srgbClr val="475569"/>
                </a:solidFill>
                <a:latin typeface="Calibri" pitchFamily="34" charset="0"/>
                <a:ea typeface="Calibri" pitchFamily="34" charset="-122"/>
                <a:cs typeface="Calibri" pitchFamily="34" charset="-120"/>
              </a:rPr>
              <a:t>Logowanie binarne, strukturalne. Przechowuje metadane (PID, jednostka, priorytet). Odczyt przez journalctl.</a:t>
            </a:r>
            <a:endParaRPr lang="en-US" sz="1400" dirty="0"/>
          </a:p>
        </p:txBody>
      </p:sp>
      <p:sp>
        <p:nvSpPr>
          <p:cNvPr id="9" name="Shape 7"/>
          <p:cNvSpPr/>
          <p:nvPr/>
        </p:nvSpPr>
        <p:spPr>
          <a:xfrm>
            <a:off x="6263640" y="1783080"/>
            <a:ext cx="5349240" cy="2377440"/>
          </a:xfrm>
          <a:prstGeom prst="roundRect">
            <a:avLst>
              <a:gd name="adj" fmla="val 3846"/>
            </a:avLst>
          </a:prstGeom>
          <a:solidFill>
            <a:srgbClr val="F1F5F9"/>
          </a:solidFill>
          <a:ln/>
          <a:effectLst>
            <a:outerShdw sx="100000" sy="100000" kx="0" ky="0" algn="bl" rotWithShape="0" blurRad="127000" dist="38100" dir="5400000">
              <a:srgbClr val="000000">
                <a:alpha val="12000"/>
              </a:srgbClr>
            </a:outerShdw>
          </a:effectLst>
        </p:spPr>
      </p:sp>
      <p:sp>
        <p:nvSpPr>
          <p:cNvPr id="10" name="Text 8"/>
          <p:cNvSpPr txBox="1"/>
          <p:nvPr/>
        </p:nvSpPr>
        <p:spPr>
          <a:xfrm>
            <a:off x="6583680" y="2011680"/>
            <a:ext cx="4709160" cy="457200"/>
          </a:xfrm>
          <a:prstGeom prst="rect">
            <a:avLst/>
          </a:prstGeom>
          <a:noFill/>
          <a:ln/>
        </p:spPr>
        <p:txBody>
          <a:bodyPr wrap="square" lIns="0" tIns="0" rIns="0" bIns="0" rtlCol="0" anchor="ctr"/>
          <a:lstStyle/>
          <a:p>
            <a:pPr indent="0" marL="0">
              <a:buNone/>
            </a:pPr>
            <a:r>
              <a:rPr lang="en-US" sz="1900" b="1" dirty="0">
                <a:solidFill>
                  <a:srgbClr val="34D399"/>
                </a:solidFill>
                <a:latin typeface="Cambria" pitchFamily="34" charset="0"/>
                <a:ea typeface="Cambria" pitchFamily="34" charset="-122"/>
                <a:cs typeface="Cambria" pitchFamily="34" charset="-120"/>
              </a:rPr>
              <a:t>rsyslog</a:t>
            </a:r>
            <a:endParaRPr lang="en-US" sz="1900" dirty="0"/>
          </a:p>
        </p:txBody>
      </p:sp>
      <p:sp>
        <p:nvSpPr>
          <p:cNvPr id="11" name="Text 9"/>
          <p:cNvSpPr txBox="1"/>
          <p:nvPr/>
        </p:nvSpPr>
        <p:spPr>
          <a:xfrm>
            <a:off x="6583680" y="2560320"/>
            <a:ext cx="4709160" cy="1463040"/>
          </a:xfrm>
          <a:prstGeom prst="rect">
            <a:avLst/>
          </a:prstGeom>
          <a:noFill/>
          <a:ln/>
        </p:spPr>
        <p:txBody>
          <a:bodyPr wrap="square" lIns="0" tIns="0" rIns="0" bIns="0" rtlCol="0" anchor="ctr"/>
          <a:lstStyle/>
          <a:p>
            <a:pPr indent="0" marL="0">
              <a:lnSpc>
                <a:spcPct val="120000"/>
              </a:lnSpc>
              <a:buNone/>
            </a:pPr>
            <a:r>
              <a:rPr lang="en-US" sz="1400" dirty="0">
                <a:solidFill>
                  <a:srgbClr val="475569"/>
                </a:solidFill>
                <a:latin typeface="Calibri" pitchFamily="34" charset="0"/>
                <a:ea typeface="Calibri" pitchFamily="34" charset="-122"/>
                <a:cs typeface="Calibri" pitchFamily="34" charset="-120"/>
              </a:rPr>
              <a:t>Klasyczny, tekstowy mechanizm. Zapisuje czytelne pliki w /var/log — kompatybilne z grep, awk, zgrep.</a:t>
            </a:r>
            <a:endParaRPr lang="en-US" sz="1400" dirty="0"/>
          </a:p>
        </p:txBody>
      </p:sp>
      <p:sp>
        <p:nvSpPr>
          <p:cNvPr id="12" name="Text 10"/>
          <p:cNvSpPr txBox="1"/>
          <p:nvPr/>
        </p:nvSpPr>
        <p:spPr>
          <a:xfrm>
            <a:off x="640080" y="4434840"/>
            <a:ext cx="10881360" cy="822960"/>
          </a:xfrm>
          <a:prstGeom prst="rect">
            <a:avLst/>
          </a:prstGeom>
          <a:noFill/>
          <a:ln/>
        </p:spPr>
        <p:txBody>
          <a:bodyPr wrap="square" lIns="0" tIns="0" rIns="0" bIns="0" rtlCol="0" anchor="ctr"/>
          <a:lstStyle/>
          <a:p>
            <a:pPr indent="0" marL="0">
              <a:lnSpc>
                <a:spcPct val="120000"/>
              </a:lnSpc>
              <a:buNone/>
            </a:pPr>
            <a:r>
              <a:rPr lang="en-US" sz="1450" i="1" dirty="0">
                <a:solidFill>
                  <a:srgbClr val="475569"/>
                </a:solidFill>
                <a:latin typeface="Calibri" pitchFamily="34" charset="0"/>
                <a:ea typeface="Calibri" pitchFamily="34" charset="-122"/>
                <a:cs typeface="Calibri" pitchFamily="34" charset="-120"/>
              </a:rPr>
              <a:t>Współczesne dystrybucje oparte na systemd korzystają z obu mechanizmów naraz — journald jako warstwa strukturalna „pod spodem”, rsyslog jako tradycyjna warstwa tekstowa.</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Logowanie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journalctl — przegląd i filtrowanie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Logowanie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45920"/>
            <a:ext cx="11109960" cy="4251960"/>
          </a:xfrm>
          <a:prstGeom prst="roundRect">
            <a:avLst>
              <a:gd name="adj" fmla="val 172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10652760" cy="3886200"/>
          </a:xfrm>
          <a:prstGeom prst="rect">
            <a:avLst/>
          </a:prstGeom>
          <a:noFill/>
          <a:ln/>
        </p:spPr>
        <p:txBody>
          <a:bodyPr wrap="square" lIns="0" tIns="0" rIns="0" bIns="0" rtlCol="0" anchor="t"/>
          <a:lstStyle/>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journalctl -f                 # tryb live, jak tail -f</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journalctl -e / -r             # koniec dziennika / od najnowszych</a:t>
            </a:r>
            <a:endParaRPr lang="en-US" sz="1350" dirty="0"/>
          </a:p>
          <a:p>
            <a:pPr indent="0" marL="0">
              <a:spcAft>
                <a:spcPts val="200"/>
              </a:spcAft>
              <a:buNone/>
            </a:pP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journalctl -u nginx.service    # filtr po usludze</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journalctl -u sshd -f</a:t>
            </a:r>
            <a:endParaRPr lang="en-US" sz="1350" dirty="0"/>
          </a:p>
          <a:p>
            <a:pPr indent="0" marL="0">
              <a:spcAft>
                <a:spcPts val="200"/>
              </a:spcAft>
              <a:buNone/>
            </a:pP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journalctl --since "1 hour ago" --until now</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journalctl --since yesterday</a:t>
            </a:r>
            <a:endParaRPr lang="en-US" sz="1350" dirty="0"/>
          </a:p>
          <a:p>
            <a:pPr indent="0" marL="0">
              <a:spcAft>
                <a:spcPts val="200"/>
              </a:spcAft>
              <a:buNone/>
            </a:pPr>
            <a:endParaRPr lang="en-US" sz="1350" dirty="0"/>
          </a:p>
          <a:p>
            <a:pPr indent="0" marL="0">
              <a:spcAft>
                <a:spcPts val="200"/>
              </a:spcAft>
              <a:buNone/>
            </a:pPr>
            <a:r>
              <a:rPr lang="en-US" sz="1350" dirty="0">
                <a:solidFill>
                  <a:srgbClr val="F87171"/>
                </a:solidFill>
                <a:latin typeface="Consolas" pitchFamily="34" charset="0"/>
                <a:ea typeface="Consolas" pitchFamily="34" charset="-122"/>
                <a:cs typeface="Consolas" pitchFamily="34" charset="-120"/>
              </a:rPr>
              <a:t>journalctl -p err               # priorytet 0=emerg..7=debug</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journalctl -b / -b -1           # biezacy / poprzedni rozruch</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journalctl -u nginx -o json-pretty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Logowanie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Trwałość dziennika i zarządzanie rozmiarem</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Logowanie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
        <p:nvSpPr>
          <p:cNvPr id="6" name="Text 4"/>
          <p:cNvSpPr txBox="1"/>
          <p:nvPr/>
        </p:nvSpPr>
        <p:spPr>
          <a:xfrm>
            <a:off x="548640" y="1645920"/>
            <a:ext cx="11109960" cy="594360"/>
          </a:xfrm>
          <a:prstGeom prst="rect">
            <a:avLst/>
          </a:prstGeom>
          <a:noFill/>
          <a:ln/>
        </p:spPr>
        <p:txBody>
          <a:bodyPr wrap="square" lIns="0" tIns="0" rIns="0" bIns="0" rtlCol="0" anchor="ctr"/>
          <a:lstStyle/>
          <a:p>
            <a:pPr indent="0" marL="0">
              <a:buNone/>
            </a:pPr>
            <a:r>
              <a:rPr lang="en-US" sz="1450" dirty="0">
                <a:solidFill>
                  <a:srgbClr val="0F172A"/>
                </a:solidFill>
                <a:latin typeface="Calibri" pitchFamily="34" charset="0"/>
                <a:ea typeface="Calibri" pitchFamily="34" charset="-122"/>
                <a:cs typeface="Calibri" pitchFamily="34" charset="-120"/>
              </a:rPr>
              <a:t>Domyślnie na wielu dystrybucjach journald przechowuje dziennik wyłącznie w pamięci ulotnej (/run/log/journal) — ginie po restarcie systemu.</a:t>
            </a:r>
            <a:endParaRPr lang="en-US" sz="1450" dirty="0"/>
          </a:p>
        </p:txBody>
      </p:sp>
      <p:sp>
        <p:nvSpPr>
          <p:cNvPr id="7" name="Shape 5"/>
          <p:cNvSpPr/>
          <p:nvPr/>
        </p:nvSpPr>
        <p:spPr>
          <a:xfrm>
            <a:off x="548640" y="2331720"/>
            <a:ext cx="5577840" cy="1325880"/>
          </a:xfrm>
          <a:prstGeom prst="roundRect">
            <a:avLst>
              <a:gd name="adj" fmla="val 551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6"/>
          <p:cNvSpPr txBox="1"/>
          <p:nvPr/>
        </p:nvSpPr>
        <p:spPr>
          <a:xfrm>
            <a:off x="777240" y="2514600"/>
            <a:ext cx="5120640" cy="960120"/>
          </a:xfrm>
          <a:prstGeom prst="rect">
            <a:avLst/>
          </a:prstGeom>
          <a:noFill/>
          <a:ln/>
        </p:spPr>
        <p:txBody>
          <a:bodyPr wrap="square" lIns="0" tIns="0" rIns="0" bIns="0" rtlCol="0" anchor="t"/>
          <a:lstStyle/>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mkdir -p /var/log/journal</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systemd-tmpfiles --create --prefix /var/log/journal</a:t>
            </a: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 systemctl restart systemd-journald</a:t>
            </a:r>
            <a:endParaRPr lang="en-US" sz="1250" dirty="0"/>
          </a:p>
        </p:txBody>
      </p:sp>
      <p:sp>
        <p:nvSpPr>
          <p:cNvPr id="9" name="Shape 7"/>
          <p:cNvSpPr/>
          <p:nvPr/>
        </p:nvSpPr>
        <p:spPr>
          <a:xfrm>
            <a:off x="6309360" y="2331720"/>
            <a:ext cx="5349240" cy="1325880"/>
          </a:xfrm>
          <a:prstGeom prst="roundRect">
            <a:avLst>
              <a:gd name="adj" fmla="val 551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0" name="Text 8"/>
          <p:cNvSpPr txBox="1"/>
          <p:nvPr/>
        </p:nvSpPr>
        <p:spPr>
          <a:xfrm>
            <a:off x="6537960" y="2514600"/>
            <a:ext cx="4892040" cy="960120"/>
          </a:xfrm>
          <a:prstGeom prst="rect">
            <a:avLst/>
          </a:prstGeom>
          <a:noFill/>
          <a:ln/>
        </p:spPr>
        <p:txBody>
          <a:bodyPr wrap="square" lIns="0" tIns="0" rIns="0" bIns="0" rtlCol="0" anchor="t"/>
          <a:lstStyle/>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/etc/systemd/journald.conf</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[Journal]</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Storage=persistent</a:t>
            </a: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SystemMaxUse=500M</a:t>
            </a: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MaxRetentionSec=90day</a:t>
            </a:r>
            <a:endParaRPr lang="en-US" sz="1250" dirty="0"/>
          </a:p>
        </p:txBody>
      </p:sp>
      <p:sp>
        <p:nvSpPr>
          <p:cNvPr id="11" name="Shape 9"/>
          <p:cNvSpPr/>
          <p:nvPr/>
        </p:nvSpPr>
        <p:spPr>
          <a:xfrm>
            <a:off x="548640" y="3840480"/>
            <a:ext cx="11109960" cy="1143000"/>
          </a:xfrm>
          <a:prstGeom prst="roundRect">
            <a:avLst>
              <a:gd name="adj" fmla="val 64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2" name="Text 10"/>
          <p:cNvSpPr txBox="1"/>
          <p:nvPr/>
        </p:nvSpPr>
        <p:spPr>
          <a:xfrm>
            <a:off x="777240" y="4023360"/>
            <a:ext cx="10652760" cy="77724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Reczne czyszczenie dziennika</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journalctl --vacuum-size=200M    # max 200 MB</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journalctl --vacuum-time=30d     # tylko ostatnie 30 dni</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Logowanie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Klasyczne pliki w /var/log</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Logowanie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114800"/>
                <a:gridCol w="6995160"/>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Plik</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Zawartość</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auth.log (Debian) / secure (RHEL)</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próby logowania, sudo, uwierzytelnianie PAM</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syslog (Debian) / messages (RHEL)</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ogólne komunikaty systemowe</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kern.log</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komunikaty jądra</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dpkg.log / yum.log</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historia instalacji/aktualizacji pakietów</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audit/audit.log</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zdarzenia auditd</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nginx/, apache2/</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logi dostępu i błędów serwerów WWW</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7" name="Shape 4"/>
          <p:cNvSpPr/>
          <p:nvPr/>
        </p:nvSpPr>
        <p:spPr>
          <a:xfrm>
            <a:off x="548640" y="4572000"/>
            <a:ext cx="11109960" cy="1417320"/>
          </a:xfrm>
          <a:prstGeom prst="roundRect">
            <a:avLst>
              <a:gd name="adj" fmla="val 5161"/>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5"/>
          <p:cNvSpPr txBox="1"/>
          <p:nvPr/>
        </p:nvSpPr>
        <p:spPr>
          <a:xfrm>
            <a:off x="777240" y="4754880"/>
            <a:ext cx="10652760" cy="1051560"/>
          </a:xfrm>
          <a:prstGeom prst="rect">
            <a:avLst/>
          </a:prstGeom>
          <a:noFill/>
          <a:ln/>
        </p:spPr>
        <p:txBody>
          <a:bodyPr wrap="square" lIns="0" tIns="0" rIns="0" bIns="0" rtlCol="0" anchor="t"/>
          <a:lstStyle/>
          <a:p>
            <a:pPr indent="0" marL="0">
              <a:spcAft>
                <a:spcPts val="200"/>
              </a:spcAft>
              <a:buNone/>
            </a:pPr>
            <a:r>
              <a:rPr lang="en-US" sz="1250" dirty="0">
                <a:solidFill>
                  <a:srgbClr val="F87171"/>
                </a:solidFill>
                <a:latin typeface="Consolas" pitchFamily="34" charset="0"/>
                <a:ea typeface="Consolas" pitchFamily="34" charset="-122"/>
                <a:cs typeface="Consolas" pitchFamily="34" charset="-120"/>
              </a:rPr>
              <a:t>$ grep "Failed password" /var/log/auth.log | tail -20</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awk '{print $1,$2,$3}' /var/log/syslog | uniq -c | sort -rn | head</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zgrep "error" /var/log/nginx/error.log*.gz</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1. Logowanie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Rotacja logów — logrotate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Logowanie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
        <p:nvSpPr>
          <p:cNvPr id="6" name="Text 4"/>
          <p:cNvSpPr txBox="1"/>
          <p:nvPr/>
        </p:nvSpPr>
        <p:spPr>
          <a:xfrm>
            <a:off x="548640" y="1600200"/>
            <a:ext cx="11109960" cy="457200"/>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Pliki tekstowe w /var/log rosłyby w nieskończoność bez mechanizmu rotacji. Konfiguracja w /etc/logrotate.d/:</a:t>
            </a:r>
            <a:endParaRPr lang="en-US" sz="1500" dirty="0"/>
          </a:p>
        </p:txBody>
      </p:sp>
      <p:sp>
        <p:nvSpPr>
          <p:cNvPr id="7" name="Shape 5"/>
          <p:cNvSpPr/>
          <p:nvPr/>
        </p:nvSpPr>
        <p:spPr>
          <a:xfrm>
            <a:off x="1554480" y="2148840"/>
            <a:ext cx="8229600" cy="3931920"/>
          </a:xfrm>
          <a:prstGeom prst="roundRect">
            <a:avLst>
              <a:gd name="adj" fmla="val 186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6"/>
          <p:cNvSpPr txBox="1"/>
          <p:nvPr/>
        </p:nvSpPr>
        <p:spPr>
          <a:xfrm>
            <a:off x="1783080" y="2331720"/>
            <a:ext cx="7772400" cy="3566160"/>
          </a:xfrm>
          <a:prstGeom prst="rect">
            <a:avLst/>
          </a:prstGeom>
          <a:noFill/>
          <a:ln/>
        </p:spPr>
        <p:txBody>
          <a:bodyPr wrap="square" lIns="0" tIns="0" rIns="0" bIns="0" rtlCol="0" anchor="t"/>
          <a:lstStyle/>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/var/log/nginx/*.log {</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    daily</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    rotate 14</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compress</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delaycompress</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    missingok</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    notifempty</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create 0640 www-data adm</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sharedscripts</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    postrotate</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        systemctl reload nginx &gt; /dev/null 2&gt;&amp;1 || true</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    endscript</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A78BFA"/>
                </a:solidFill>
                <a:latin typeface="Calibri" pitchFamily="34" charset="0"/>
                <a:ea typeface="Calibri" pitchFamily="34" charset="-122"/>
                <a:cs typeface="Calibri" pitchFamily="34" charset="-120"/>
              </a:rPr>
              <a:t>CZĘŚĆ 2</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Audyt bezpieczeństwa — auditd</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Precyzyjne śledzenie na poziomie wywołań systemowych</a:t>
            </a:r>
            <a:endParaRPr lang="en-US" sz="1800" dirty="0"/>
          </a:p>
        </p:txBody>
      </p:sp>
      <p:sp>
        <p:nvSpPr>
          <p:cNvPr id="5" name="Shape 3"/>
          <p:cNvSpPr/>
          <p:nvPr/>
        </p:nvSpPr>
        <p:spPr>
          <a:xfrm>
            <a:off x="10332720" y="1097280"/>
            <a:ext cx="1463040" cy="1463040"/>
          </a:xfrm>
          <a:prstGeom prst="ellipse">
            <a:avLst/>
          </a:prstGeom>
          <a:solidFill>
            <a:srgbClr val="A78BFA">
              <a:alpha val="15000"/>
            </a:srgbClr>
          </a:solidFill>
          <a:ln w="19050">
            <a:solidFill>
              <a:srgbClr val="A78BF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2. Audyt</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auditd — instalacja, reguły, przeszukiwanie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Audyt</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645920"/>
            <a:ext cx="11109960" cy="3291840"/>
          </a:xfrm>
          <a:prstGeom prst="roundRect">
            <a:avLst>
              <a:gd name="adj" fmla="val 2222"/>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10652760" cy="2926080"/>
          </a:xfrm>
          <a:prstGeom prst="rect">
            <a:avLst/>
          </a:prstGeom>
          <a:noFill/>
          <a:ln/>
        </p:spPr>
        <p:txBody>
          <a:bodyPr wrap="square" lIns="0" tIns="0" rIns="0" bIns="0" rtlCol="0" anchor="t"/>
          <a:lstStyle/>
          <a:p>
            <a:pPr indent="0" marL="0">
              <a:spcAft>
                <a:spcPts val="200"/>
              </a:spcAft>
              <a:buNone/>
            </a:pPr>
            <a:r>
              <a:rPr lang="en-US" sz="1450" dirty="0">
                <a:solidFill>
                  <a:srgbClr val="34D399"/>
                </a:solidFill>
                <a:latin typeface="Consolas" pitchFamily="34" charset="0"/>
                <a:ea typeface="Consolas" pitchFamily="34" charset="-122"/>
                <a:cs typeface="Consolas" pitchFamily="34" charset="-120"/>
              </a:rPr>
              <a:t>$ apt install auditd audispd-plugins</a:t>
            </a:r>
            <a:endParaRPr lang="en-US" sz="1450" dirty="0"/>
          </a:p>
          <a:p>
            <a:pPr indent="0" marL="0">
              <a:spcAft>
                <a:spcPts val="200"/>
              </a:spcAft>
              <a:buNone/>
            </a:pPr>
            <a:r>
              <a:rPr lang="en-US" sz="1450" dirty="0">
                <a:solidFill>
                  <a:srgbClr val="34D399"/>
                </a:solidFill>
                <a:latin typeface="Consolas" pitchFamily="34" charset="0"/>
                <a:ea typeface="Consolas" pitchFamily="34" charset="-122"/>
                <a:cs typeface="Consolas" pitchFamily="34" charset="-120"/>
              </a:rPr>
              <a:t>$ systemctl enable --now auditd</a:t>
            </a:r>
            <a:endParaRPr lang="en-US" sz="1450" dirty="0"/>
          </a:p>
          <a:p>
            <a:pPr indent="0" marL="0">
              <a:spcAft>
                <a:spcPts val="200"/>
              </a:spcAft>
              <a:buNone/>
            </a:pPr>
            <a:endParaRPr lang="en-US" sz="1450" dirty="0"/>
          </a:p>
          <a:p>
            <a:pPr indent="0" marL="0">
              <a:spcAft>
                <a:spcPts val="200"/>
              </a:spcAft>
              <a:buNone/>
            </a:pPr>
            <a:r>
              <a:rPr lang="en-US" sz="1450" dirty="0">
                <a:solidFill>
                  <a:srgbClr val="64748B"/>
                </a:solidFill>
                <a:latin typeface="Consolas" pitchFamily="34" charset="0"/>
                <a:ea typeface="Consolas" pitchFamily="34" charset="-122"/>
                <a:cs typeface="Consolas" pitchFamily="34" charset="-120"/>
              </a:rPr>
              <a:t># Regula: monitoruj kazda zmiane pliku /etc/passwd</a:t>
            </a:r>
            <a:endParaRPr lang="en-US" sz="1450" dirty="0"/>
          </a:p>
          <a:p>
            <a:pPr indent="0" marL="0">
              <a:spcAft>
                <a:spcPts val="200"/>
              </a:spcAft>
              <a:buNone/>
            </a:pPr>
            <a:r>
              <a:rPr lang="en-US" sz="1450" dirty="0">
                <a:solidFill>
                  <a:srgbClr val="7DD3FC"/>
                </a:solidFill>
                <a:latin typeface="Consolas" pitchFamily="34" charset="0"/>
                <a:ea typeface="Consolas" pitchFamily="34" charset="-122"/>
                <a:cs typeface="Consolas" pitchFamily="34" charset="-120"/>
              </a:rPr>
              <a:t>$ auditctl -w /etc/passwd -p wa -k zmiany_kont</a:t>
            </a:r>
            <a:endParaRPr lang="en-US" sz="1450" dirty="0"/>
          </a:p>
          <a:p>
            <a:pPr indent="0" marL="0">
              <a:spcAft>
                <a:spcPts val="200"/>
              </a:spcAft>
              <a:buNone/>
            </a:pPr>
            <a:endParaRPr lang="en-US" sz="1450" dirty="0"/>
          </a:p>
          <a:p>
            <a:pPr indent="0" marL="0">
              <a:spcAft>
                <a:spcPts val="200"/>
              </a:spcAft>
              <a:buNone/>
            </a:pPr>
            <a:r>
              <a:rPr lang="en-US" sz="1450" dirty="0">
                <a:solidFill>
                  <a:srgbClr val="64748B"/>
                </a:solidFill>
                <a:latin typeface="Consolas" pitchFamily="34" charset="0"/>
                <a:ea typeface="Consolas" pitchFamily="34" charset="-122"/>
                <a:cs typeface="Consolas" pitchFamily="34" charset="-120"/>
              </a:rPr>
              <a:t># Wyszukiwanie zdarzen wg klucza</a:t>
            </a:r>
            <a:endParaRPr lang="en-US" sz="1450" dirty="0"/>
          </a:p>
          <a:p>
            <a:pPr indent="0" marL="0">
              <a:spcAft>
                <a:spcPts val="200"/>
              </a:spcAft>
              <a:buNone/>
            </a:pPr>
            <a:r>
              <a:rPr lang="en-US" sz="1450" dirty="0">
                <a:solidFill>
                  <a:srgbClr val="FBBF24"/>
                </a:solidFill>
                <a:latin typeface="Consolas" pitchFamily="34" charset="0"/>
                <a:ea typeface="Consolas" pitchFamily="34" charset="-122"/>
                <a:cs typeface="Consolas" pitchFamily="34" charset="-120"/>
              </a:rPr>
              <a:t>$ ausearch -k zmiany_kont</a:t>
            </a:r>
            <a:endParaRPr lang="en-US" sz="1450" dirty="0"/>
          </a:p>
          <a:p>
            <a:pPr indent="0" marL="0">
              <a:spcAft>
                <a:spcPts val="200"/>
              </a:spcAft>
              <a:buNone/>
            </a:pPr>
            <a:endParaRPr lang="en-US" sz="1450" dirty="0"/>
          </a:p>
          <a:p>
            <a:pPr indent="0" marL="0">
              <a:spcAft>
                <a:spcPts val="200"/>
              </a:spcAft>
              <a:buNone/>
            </a:pPr>
            <a:r>
              <a:rPr lang="en-US" sz="1450" dirty="0">
                <a:solidFill>
                  <a:srgbClr val="64748B"/>
                </a:solidFill>
                <a:latin typeface="Consolas" pitchFamily="34" charset="0"/>
                <a:ea typeface="Consolas" pitchFamily="34" charset="-122"/>
                <a:cs typeface="Consolas" pitchFamily="34" charset="-120"/>
              </a:rPr>
              <a:t># Czytelne podsumowanie</a:t>
            </a:r>
            <a:endParaRPr lang="en-US" sz="1450" dirty="0"/>
          </a:p>
          <a:p>
            <a:pPr indent="0" marL="0">
              <a:spcAft>
                <a:spcPts val="200"/>
              </a:spcAft>
              <a:buNone/>
            </a:pPr>
            <a:r>
              <a:rPr lang="en-US" sz="1450" dirty="0">
                <a:solidFill>
                  <a:srgbClr val="C4B5FD"/>
                </a:solidFill>
                <a:latin typeface="Consolas" pitchFamily="34" charset="0"/>
                <a:ea typeface="Consolas" pitchFamily="34" charset="-122"/>
                <a:cs typeface="Consolas" pitchFamily="34" charset="-120"/>
              </a:rPr>
              <a:t>$ aureport --auth --summary</a:t>
            </a:r>
            <a:endParaRPr lang="en-US" sz="1450" dirty="0"/>
          </a:p>
        </p:txBody>
      </p:sp>
      <p:sp>
        <p:nvSpPr>
          <p:cNvPr id="8" name="Shape 6"/>
          <p:cNvSpPr/>
          <p:nvPr/>
        </p:nvSpPr>
        <p:spPr>
          <a:xfrm>
            <a:off x="548640" y="5120640"/>
            <a:ext cx="11109960" cy="1005840"/>
          </a:xfrm>
          <a:prstGeom prst="roundRect">
            <a:avLst>
              <a:gd name="adj" fmla="val 7273"/>
            </a:avLst>
          </a:prstGeom>
          <a:solidFill>
            <a:srgbClr val="EDE9FE"/>
          </a:solidFill>
          <a:ln/>
        </p:spPr>
      </p:sp>
      <p:sp>
        <p:nvSpPr>
          <p:cNvPr id="9" name="Text 7"/>
          <p:cNvSpPr txBox="1"/>
          <p:nvPr/>
        </p:nvSpPr>
        <p:spPr>
          <a:xfrm>
            <a:off x="822960" y="5120640"/>
            <a:ext cx="10515600" cy="1005840"/>
          </a:xfrm>
          <a:prstGeom prst="rect">
            <a:avLst/>
          </a:prstGeom>
          <a:noFill/>
          <a:ln/>
        </p:spPr>
        <p:txBody>
          <a:bodyPr wrap="square" lIns="0" tIns="0" rIns="0" bIns="0" rtlCol="0" anchor="ctr"/>
          <a:lstStyle/>
          <a:p>
            <a:pPr indent="0" marL="0">
              <a:buNone/>
            </a:pPr>
            <a:r>
              <a:rPr lang="en-US" sz="1500" b="1" dirty="0">
                <a:solidFill>
                  <a:srgbClr val="5B21B6"/>
                </a:solidFill>
                <a:latin typeface="Cambria" pitchFamily="34" charset="0"/>
                <a:ea typeface="Cambria" pitchFamily="34" charset="-122"/>
                <a:cs typeface="Cambria" pitchFamily="34" charset="-120"/>
              </a:rPr>
              <a:t>Reguły trwałe definiuje się w /etc/audit/rules.d/audit.rules, aby przetrwały restart usługi.</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4D399"/>
                </a:solidFill>
                <a:latin typeface="Calibri" pitchFamily="34" charset="0"/>
                <a:ea typeface="Calibri" pitchFamily="34" charset="-122"/>
                <a:cs typeface="Calibri" pitchFamily="34" charset="-120"/>
              </a:rPr>
              <a:t>CZĘŚĆ 3</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Zadania cykliczne — cron</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Harmonogramowanie, pułapki środowiska i nowoczesna alternatywa</a:t>
            </a:r>
            <a:endParaRPr lang="en-US" sz="1800" dirty="0"/>
          </a:p>
        </p:txBody>
      </p:sp>
      <p:sp>
        <p:nvSpPr>
          <p:cNvPr id="5" name="Shape 3"/>
          <p:cNvSpPr/>
          <p:nvPr/>
        </p:nvSpPr>
        <p:spPr>
          <a:xfrm>
            <a:off x="10332720" y="1097280"/>
            <a:ext cx="1463040" cy="1463040"/>
          </a:xfrm>
          <a:prstGeom prst="ellipse">
            <a:avLst/>
          </a:prstGeom>
          <a:solidFill>
            <a:srgbClr val="34D399">
              <a:alpha val="15000"/>
            </a:srgbClr>
          </a:solidFill>
          <a:ln w="19050">
            <a:solidFill>
              <a:srgbClr val="34D399"/>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3. cron</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Składnia crontab</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cron</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91640"/>
            <a:ext cx="2057400" cy="1188720"/>
          </a:xfrm>
          <a:prstGeom prst="roundRect">
            <a:avLst>
              <a:gd name="adj" fmla="val 7692"/>
            </a:avLst>
          </a:prstGeom>
          <a:solidFill>
            <a:srgbClr val="F1F5F9"/>
          </a:solidFill>
          <a:ln w="19050">
            <a:solidFill>
              <a:srgbClr val="38BDF8"/>
            </a:solidFill>
            <a:prstDash val="solid"/>
          </a:ln>
        </p:spPr>
      </p:sp>
      <p:sp>
        <p:nvSpPr>
          <p:cNvPr id="7" name="Text 5"/>
          <p:cNvSpPr txBox="1"/>
          <p:nvPr/>
        </p:nvSpPr>
        <p:spPr>
          <a:xfrm>
            <a:off x="548640" y="1828800"/>
            <a:ext cx="205740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min</a:t>
            </a:r>
            <a:endParaRPr lang="en-US" sz="1400" dirty="0"/>
          </a:p>
        </p:txBody>
      </p:sp>
      <p:sp>
        <p:nvSpPr>
          <p:cNvPr id="8" name="Text 6"/>
          <p:cNvSpPr txBox="1"/>
          <p:nvPr/>
        </p:nvSpPr>
        <p:spPr>
          <a:xfrm>
            <a:off x="548640" y="2286000"/>
            <a:ext cx="2057400" cy="457200"/>
          </a:xfrm>
          <a:prstGeom prst="rect">
            <a:avLst/>
          </a:prstGeom>
          <a:noFill/>
          <a:ln/>
        </p:spPr>
        <p:txBody>
          <a:bodyPr wrap="square" lIns="0" tIns="0" rIns="0" bIns="0" rtlCol="0" anchor="ctr"/>
          <a:lstStyle/>
          <a:p>
            <a:pPr algn="ctr" indent="0" marL="0">
              <a:buNone/>
            </a:pPr>
            <a:r>
              <a:rPr lang="en-US" sz="1500" dirty="0">
                <a:solidFill>
                  <a:srgbClr val="38BDF8"/>
                </a:solidFill>
                <a:latin typeface="Consolas" pitchFamily="34" charset="0"/>
                <a:ea typeface="Consolas" pitchFamily="34" charset="-122"/>
                <a:cs typeface="Consolas" pitchFamily="34" charset="-120"/>
              </a:rPr>
              <a:t>0-59</a:t>
            </a:r>
            <a:endParaRPr lang="en-US" sz="1500" dirty="0"/>
          </a:p>
        </p:txBody>
      </p:sp>
      <p:sp>
        <p:nvSpPr>
          <p:cNvPr id="9" name="Shape 7"/>
          <p:cNvSpPr/>
          <p:nvPr/>
        </p:nvSpPr>
        <p:spPr>
          <a:xfrm>
            <a:off x="2743200" y="1691640"/>
            <a:ext cx="2057400" cy="1188720"/>
          </a:xfrm>
          <a:prstGeom prst="roundRect">
            <a:avLst>
              <a:gd name="adj" fmla="val 7692"/>
            </a:avLst>
          </a:prstGeom>
          <a:solidFill>
            <a:srgbClr val="F1F5F9"/>
          </a:solidFill>
          <a:ln w="19050">
            <a:solidFill>
              <a:srgbClr val="34D399"/>
            </a:solidFill>
            <a:prstDash val="solid"/>
          </a:ln>
        </p:spPr>
      </p:sp>
      <p:sp>
        <p:nvSpPr>
          <p:cNvPr id="10" name="Text 8"/>
          <p:cNvSpPr txBox="1"/>
          <p:nvPr/>
        </p:nvSpPr>
        <p:spPr>
          <a:xfrm>
            <a:off x="2743200" y="1828800"/>
            <a:ext cx="205740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godz</a:t>
            </a:r>
            <a:endParaRPr lang="en-US" sz="1400" dirty="0"/>
          </a:p>
        </p:txBody>
      </p:sp>
      <p:sp>
        <p:nvSpPr>
          <p:cNvPr id="11" name="Text 9"/>
          <p:cNvSpPr txBox="1"/>
          <p:nvPr/>
        </p:nvSpPr>
        <p:spPr>
          <a:xfrm>
            <a:off x="2743200" y="2286000"/>
            <a:ext cx="2057400" cy="457200"/>
          </a:xfrm>
          <a:prstGeom prst="rect">
            <a:avLst/>
          </a:prstGeom>
          <a:noFill/>
          <a:ln/>
        </p:spPr>
        <p:txBody>
          <a:bodyPr wrap="square" lIns="0" tIns="0" rIns="0" bIns="0" rtlCol="0" anchor="ctr"/>
          <a:lstStyle/>
          <a:p>
            <a:pPr algn="ctr" indent="0" marL="0">
              <a:buNone/>
            </a:pPr>
            <a:r>
              <a:rPr lang="en-US" sz="1500" dirty="0">
                <a:solidFill>
                  <a:srgbClr val="34D399"/>
                </a:solidFill>
                <a:latin typeface="Consolas" pitchFamily="34" charset="0"/>
                <a:ea typeface="Consolas" pitchFamily="34" charset="-122"/>
                <a:cs typeface="Consolas" pitchFamily="34" charset="-120"/>
              </a:rPr>
              <a:t>0-23</a:t>
            </a:r>
            <a:endParaRPr lang="en-US" sz="1500" dirty="0"/>
          </a:p>
        </p:txBody>
      </p:sp>
      <p:sp>
        <p:nvSpPr>
          <p:cNvPr id="12" name="Shape 10"/>
          <p:cNvSpPr/>
          <p:nvPr/>
        </p:nvSpPr>
        <p:spPr>
          <a:xfrm>
            <a:off x="4937760" y="1691640"/>
            <a:ext cx="2057400" cy="1188720"/>
          </a:xfrm>
          <a:prstGeom prst="roundRect">
            <a:avLst>
              <a:gd name="adj" fmla="val 7692"/>
            </a:avLst>
          </a:prstGeom>
          <a:solidFill>
            <a:srgbClr val="F1F5F9"/>
          </a:solidFill>
          <a:ln w="19050">
            <a:solidFill>
              <a:srgbClr val="FBBF24"/>
            </a:solidFill>
            <a:prstDash val="solid"/>
          </a:ln>
        </p:spPr>
      </p:sp>
      <p:sp>
        <p:nvSpPr>
          <p:cNvPr id="13" name="Text 11"/>
          <p:cNvSpPr txBox="1"/>
          <p:nvPr/>
        </p:nvSpPr>
        <p:spPr>
          <a:xfrm>
            <a:off x="4937760" y="1828800"/>
            <a:ext cx="205740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dzień mies.</a:t>
            </a:r>
            <a:endParaRPr lang="en-US" sz="1400" dirty="0"/>
          </a:p>
        </p:txBody>
      </p:sp>
      <p:sp>
        <p:nvSpPr>
          <p:cNvPr id="14" name="Text 12"/>
          <p:cNvSpPr txBox="1"/>
          <p:nvPr/>
        </p:nvSpPr>
        <p:spPr>
          <a:xfrm>
            <a:off x="4937760" y="2286000"/>
            <a:ext cx="2057400" cy="457200"/>
          </a:xfrm>
          <a:prstGeom prst="rect">
            <a:avLst/>
          </a:prstGeom>
          <a:noFill/>
          <a:ln/>
        </p:spPr>
        <p:txBody>
          <a:bodyPr wrap="square" lIns="0" tIns="0" rIns="0" bIns="0" rtlCol="0" anchor="ctr"/>
          <a:lstStyle/>
          <a:p>
            <a:pPr algn="ctr" indent="0" marL="0">
              <a:buNone/>
            </a:pPr>
            <a:r>
              <a:rPr lang="en-US" sz="1500" dirty="0">
                <a:solidFill>
                  <a:srgbClr val="FBBF24"/>
                </a:solidFill>
                <a:latin typeface="Consolas" pitchFamily="34" charset="0"/>
                <a:ea typeface="Consolas" pitchFamily="34" charset="-122"/>
                <a:cs typeface="Consolas" pitchFamily="34" charset="-120"/>
              </a:rPr>
              <a:t>1-31</a:t>
            </a:r>
            <a:endParaRPr lang="en-US" sz="1500" dirty="0"/>
          </a:p>
        </p:txBody>
      </p:sp>
      <p:sp>
        <p:nvSpPr>
          <p:cNvPr id="15" name="Shape 13"/>
          <p:cNvSpPr/>
          <p:nvPr/>
        </p:nvSpPr>
        <p:spPr>
          <a:xfrm>
            <a:off x="7132320" y="1691640"/>
            <a:ext cx="2057400" cy="1188720"/>
          </a:xfrm>
          <a:prstGeom prst="roundRect">
            <a:avLst>
              <a:gd name="adj" fmla="val 7692"/>
            </a:avLst>
          </a:prstGeom>
          <a:solidFill>
            <a:srgbClr val="F1F5F9"/>
          </a:solidFill>
          <a:ln w="19050">
            <a:solidFill>
              <a:srgbClr val="A78BFA"/>
            </a:solidFill>
            <a:prstDash val="solid"/>
          </a:ln>
        </p:spPr>
      </p:sp>
      <p:sp>
        <p:nvSpPr>
          <p:cNvPr id="16" name="Text 14"/>
          <p:cNvSpPr txBox="1"/>
          <p:nvPr/>
        </p:nvSpPr>
        <p:spPr>
          <a:xfrm>
            <a:off x="7132320" y="1828800"/>
            <a:ext cx="205740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miesiąc</a:t>
            </a:r>
            <a:endParaRPr lang="en-US" sz="1400" dirty="0"/>
          </a:p>
        </p:txBody>
      </p:sp>
      <p:sp>
        <p:nvSpPr>
          <p:cNvPr id="17" name="Text 15"/>
          <p:cNvSpPr txBox="1"/>
          <p:nvPr/>
        </p:nvSpPr>
        <p:spPr>
          <a:xfrm>
            <a:off x="7132320" y="2286000"/>
            <a:ext cx="2057400" cy="457200"/>
          </a:xfrm>
          <a:prstGeom prst="rect">
            <a:avLst/>
          </a:prstGeom>
          <a:noFill/>
          <a:ln/>
        </p:spPr>
        <p:txBody>
          <a:bodyPr wrap="square" lIns="0" tIns="0" rIns="0" bIns="0" rtlCol="0" anchor="ctr"/>
          <a:lstStyle/>
          <a:p>
            <a:pPr algn="ctr" indent="0" marL="0">
              <a:buNone/>
            </a:pPr>
            <a:r>
              <a:rPr lang="en-US" sz="1500" dirty="0">
                <a:solidFill>
                  <a:srgbClr val="A78BFA"/>
                </a:solidFill>
                <a:latin typeface="Consolas" pitchFamily="34" charset="0"/>
                <a:ea typeface="Consolas" pitchFamily="34" charset="-122"/>
                <a:cs typeface="Consolas" pitchFamily="34" charset="-120"/>
              </a:rPr>
              <a:t>1-12</a:t>
            </a:r>
            <a:endParaRPr lang="en-US" sz="1500" dirty="0"/>
          </a:p>
        </p:txBody>
      </p:sp>
      <p:sp>
        <p:nvSpPr>
          <p:cNvPr id="18" name="Shape 16"/>
          <p:cNvSpPr/>
          <p:nvPr/>
        </p:nvSpPr>
        <p:spPr>
          <a:xfrm>
            <a:off x="9326880" y="1691640"/>
            <a:ext cx="2057400" cy="1188720"/>
          </a:xfrm>
          <a:prstGeom prst="roundRect">
            <a:avLst>
              <a:gd name="adj" fmla="val 7692"/>
            </a:avLst>
          </a:prstGeom>
          <a:solidFill>
            <a:srgbClr val="F1F5F9"/>
          </a:solidFill>
          <a:ln w="19050">
            <a:solidFill>
              <a:srgbClr val="2DD4BF"/>
            </a:solidFill>
            <a:prstDash val="solid"/>
          </a:ln>
        </p:spPr>
      </p:sp>
      <p:sp>
        <p:nvSpPr>
          <p:cNvPr id="19" name="Text 17"/>
          <p:cNvSpPr txBox="1"/>
          <p:nvPr/>
        </p:nvSpPr>
        <p:spPr>
          <a:xfrm>
            <a:off x="9326880" y="1828800"/>
            <a:ext cx="205740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dzień tyg.</a:t>
            </a:r>
            <a:endParaRPr lang="en-US" sz="1400" dirty="0"/>
          </a:p>
        </p:txBody>
      </p:sp>
      <p:sp>
        <p:nvSpPr>
          <p:cNvPr id="20" name="Text 18"/>
          <p:cNvSpPr txBox="1"/>
          <p:nvPr/>
        </p:nvSpPr>
        <p:spPr>
          <a:xfrm>
            <a:off x="9326880" y="2286000"/>
            <a:ext cx="2057400" cy="457200"/>
          </a:xfrm>
          <a:prstGeom prst="rect">
            <a:avLst/>
          </a:prstGeom>
          <a:noFill/>
          <a:ln/>
        </p:spPr>
        <p:txBody>
          <a:bodyPr wrap="square" lIns="0" tIns="0" rIns="0" bIns="0" rtlCol="0" anchor="ctr"/>
          <a:lstStyle/>
          <a:p>
            <a:pPr algn="ctr" indent="0" marL="0">
              <a:buNone/>
            </a:pPr>
            <a:r>
              <a:rPr lang="en-US" sz="1500" dirty="0">
                <a:solidFill>
                  <a:srgbClr val="2DD4BF"/>
                </a:solidFill>
                <a:latin typeface="Consolas" pitchFamily="34" charset="0"/>
                <a:ea typeface="Consolas" pitchFamily="34" charset="-122"/>
                <a:cs typeface="Consolas" pitchFamily="34" charset="-120"/>
              </a:rPr>
              <a:t>0-7</a:t>
            </a:r>
            <a:endParaRPr lang="en-US" sz="1500" dirty="0"/>
          </a:p>
        </p:txBody>
      </p:sp>
      <p:sp>
        <p:nvSpPr>
          <p:cNvPr id="21" name="Shape 19"/>
          <p:cNvSpPr/>
          <p:nvPr/>
        </p:nvSpPr>
        <p:spPr>
          <a:xfrm>
            <a:off x="548640" y="3200400"/>
            <a:ext cx="11109960" cy="777240"/>
          </a:xfrm>
          <a:prstGeom prst="roundRect">
            <a:avLst>
              <a:gd name="adj" fmla="val 9412"/>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22" name="Text 20"/>
          <p:cNvSpPr txBox="1"/>
          <p:nvPr/>
        </p:nvSpPr>
        <p:spPr>
          <a:xfrm>
            <a:off x="777240" y="3383280"/>
            <a:ext cx="10652760" cy="411480"/>
          </a:xfrm>
          <a:prstGeom prst="rect">
            <a:avLst/>
          </a:prstGeom>
          <a:noFill/>
          <a:ln/>
        </p:spPr>
        <p:txBody>
          <a:bodyPr wrap="square" lIns="0" tIns="0" rIns="0" bIns="0" rtlCol="0" anchor="t"/>
          <a:lstStyle/>
          <a:p>
            <a:pPr indent="0" marL="0">
              <a:spcAft>
                <a:spcPts val="200"/>
              </a:spcAft>
              <a:buNone/>
            </a:pPr>
            <a:r>
              <a:rPr lang="en-US" sz="1500" dirty="0">
                <a:solidFill>
                  <a:srgbClr val="7DD3FC"/>
                </a:solidFill>
                <a:latin typeface="Consolas" pitchFamily="34" charset="0"/>
                <a:ea typeface="Consolas" pitchFamily="34" charset="-122"/>
                <a:cs typeface="Consolas" pitchFamily="34" charset="-120"/>
              </a:rPr>
              <a:t>30 2 * * 1-5 /usr/local/bin/skrypt.sh</a:t>
            </a:r>
            <a:endParaRPr lang="en-US" sz="1500" dirty="0"/>
          </a:p>
        </p:txBody>
      </p:sp>
      <p:sp>
        <p:nvSpPr>
          <p:cNvPr id="23" name="Shape 21"/>
          <p:cNvSpPr/>
          <p:nvPr/>
        </p:nvSpPr>
        <p:spPr>
          <a:xfrm>
            <a:off x="548640" y="4160520"/>
            <a:ext cx="11109960" cy="1828800"/>
          </a:xfrm>
          <a:prstGeom prst="roundRect">
            <a:avLst>
              <a:gd name="adj" fmla="val 4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24" name="Text 22"/>
          <p:cNvSpPr txBox="1"/>
          <p:nvPr/>
        </p:nvSpPr>
        <p:spPr>
          <a:xfrm>
            <a:off x="777240" y="4343400"/>
            <a:ext cx="10652760" cy="1463040"/>
          </a:xfrm>
          <a:prstGeom prst="rect">
            <a:avLst/>
          </a:prstGeom>
          <a:noFill/>
          <a:ln/>
        </p:spPr>
        <p:txBody>
          <a:bodyPr wrap="square" lIns="0" tIns="0" rIns="0" bIns="0" rtlCol="0" anchor="t"/>
          <a:lstStyle/>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 crontab -e      # edycja crontab biezacego uzytkownika</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 crontab -l      # wyswietlenie aktualnych zadan</a:t>
            </a:r>
            <a:endParaRPr lang="en-US" sz="1300" dirty="0"/>
          </a:p>
          <a:p>
            <a:pPr indent="0" marL="0">
              <a:spcAft>
                <a:spcPts val="200"/>
              </a:spcAft>
              <a:buNone/>
            </a:pPr>
            <a:r>
              <a:rPr lang="en-US" sz="1300" dirty="0">
                <a:solidFill>
                  <a:srgbClr val="F87171"/>
                </a:solidFill>
                <a:latin typeface="Consolas" pitchFamily="34" charset="0"/>
                <a:ea typeface="Consolas" pitchFamily="34" charset="-122"/>
                <a:cs typeface="Consolas" pitchFamily="34" charset="-120"/>
              </a:rPr>
              <a:t>$ crontab -r      # usuniecie WSZYSTKICH zadan (ostroznie!)</a:t>
            </a:r>
            <a:endParaRPr lang="en-US" sz="1300" dirty="0"/>
          </a:p>
          <a:p>
            <a:pPr indent="0" marL="0">
              <a:spcAft>
                <a:spcPts val="200"/>
              </a:spcAft>
              <a:buNone/>
            </a:pPr>
            <a:endParaRPr lang="en-US" sz="1300" dirty="0"/>
          </a:p>
          <a:p>
            <a:pPr indent="0" marL="0">
              <a:spcAft>
                <a:spcPts val="200"/>
              </a:spcAft>
              <a:buNone/>
            </a:pPr>
            <a:r>
              <a:rPr lang="en-US" sz="1300" dirty="0">
                <a:solidFill>
                  <a:srgbClr val="C4B5FD"/>
                </a:solidFill>
                <a:latin typeface="Consolas" pitchFamily="34" charset="0"/>
                <a:ea typeface="Consolas" pitchFamily="34" charset="-122"/>
                <a:cs typeface="Consolas" pitchFamily="34" charset="-120"/>
              </a:rPr>
              <a:t>@reboot /skrypt.sh     @daily /skrypt.sh    @weekly /skrypt.sh</a:t>
            </a:r>
            <a:endParaRPr lang="en-US" sz="1300" dirty="0"/>
          </a:p>
          <a:p>
            <a:pPr indent="0" marL="0">
              <a:spcAft>
                <a:spcPts val="200"/>
              </a:spcAft>
              <a:buNone/>
            </a:pPr>
            <a:r>
              <a:rPr lang="en-US" sz="1300" dirty="0">
                <a:solidFill>
                  <a:srgbClr val="C4B5FD"/>
                </a:solidFill>
                <a:latin typeface="Consolas" pitchFamily="34" charset="0"/>
                <a:ea typeface="Consolas" pitchFamily="34" charset="-122"/>
                <a:cs typeface="Consolas" pitchFamily="34" charset="-120"/>
              </a:rPr>
              <a:t>@monthly /skrypt.sh    # odpowiednik: 0 0 1 * *</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3. cron</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Cron systemowy vs użytkownika</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cron</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114800"/>
                <a:gridCol w="699516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Lokalizacja</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Zastosowanie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0">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crontab -e (per użytkownik)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zadania osobiste, wykonywane z uprawnieniami danego konta</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/etc/cron.d/</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zadania systemowe instalowane przez pakiety, z nazwą użytkownika w wierszu</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/etc/cron.daily/, cron.weekly/</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skrypty wykonywane cyklicznie przez anacron/cron automatycznie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/etc/crontab</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globalny plik systemowy, format z dodatkową kolumną użytkownika</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7" name="Shape 4"/>
          <p:cNvSpPr/>
          <p:nvPr/>
        </p:nvSpPr>
        <p:spPr>
          <a:xfrm>
            <a:off x="548640" y="4206240"/>
            <a:ext cx="11109960" cy="868680"/>
          </a:xfrm>
          <a:prstGeom prst="roundRect">
            <a:avLst>
              <a:gd name="adj" fmla="val 8421"/>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5"/>
          <p:cNvSpPr txBox="1"/>
          <p:nvPr/>
        </p:nvSpPr>
        <p:spPr>
          <a:xfrm>
            <a:off x="777240" y="4389120"/>
            <a:ext cx="10652760" cy="502920"/>
          </a:xfrm>
          <a:prstGeom prst="rect">
            <a:avLst/>
          </a:prstGeom>
          <a:noFill/>
          <a:ln/>
        </p:spPr>
        <p:txBody>
          <a:bodyPr wrap="square" lIns="0" tIns="0" rIns="0" bIns="0" rtlCol="0" anchor="t"/>
          <a:lstStyle/>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/etc/cron.d/moja-aplikacja</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30 2 * * * appuser /opt/aplikacja/bin/czyszczenie.sh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3. cron</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anacron — cron dla maszyn pracujących z przerwami</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cron</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731520" y="1920240"/>
            <a:ext cx="1188720" cy="1188720"/>
          </a:xfrm>
          <a:prstGeom prst="ellipse">
            <a:avLst/>
          </a:prstGeom>
          <a:solidFill>
            <a:srgbClr val="FBBF24"/>
          </a:solidFill>
          <a:ln/>
        </p:spPr>
      </p:sp>
      <p:sp>
        <p:nvSpPr>
          <p:cNvPr id="7" name="Text 5"/>
          <p:cNvSpPr txBox="1"/>
          <p:nvPr/>
        </p:nvSpPr>
        <p:spPr>
          <a:xfrm>
            <a:off x="731520" y="1920240"/>
            <a:ext cx="1188720" cy="1188720"/>
          </a:xfrm>
          <a:prstGeom prst="rect">
            <a:avLst/>
          </a:prstGeom>
          <a:noFill/>
          <a:ln/>
        </p:spPr>
        <p:txBody>
          <a:bodyPr wrap="square" lIns="0" tIns="0" rIns="0" bIns="0" rtlCol="0" anchor="ctr"/>
          <a:lstStyle/>
          <a:p>
            <a:pPr algn="ctr" indent="0" marL="0">
              <a:buNone/>
            </a:pPr>
            <a:r>
              <a:rPr lang="en-US" sz="3640" b="1" dirty="0">
                <a:solidFill>
                  <a:srgbClr val="FFFFFF"/>
                </a:solidFill>
                <a:latin typeface="Calibri" pitchFamily="34" charset="0"/>
                <a:ea typeface="Calibri" pitchFamily="34" charset="-122"/>
                <a:cs typeface="Calibri" pitchFamily="34" charset="-120"/>
              </a:rPr>
              <a:t>⏱</a:t>
            </a:r>
            <a:endParaRPr lang="en-US" sz="3640" dirty="0"/>
          </a:p>
        </p:txBody>
      </p:sp>
      <p:sp>
        <p:nvSpPr>
          <p:cNvPr id="8" name="Text 6"/>
          <p:cNvSpPr txBox="1"/>
          <p:nvPr/>
        </p:nvSpPr>
        <p:spPr>
          <a:xfrm>
            <a:off x="2194560" y="2011680"/>
            <a:ext cx="8961120" cy="45720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Problem: standardowy cron pomija zadanie</a:t>
            </a:r>
            <a:endParaRPr lang="en-US" sz="1900" dirty="0"/>
          </a:p>
        </p:txBody>
      </p:sp>
      <p:sp>
        <p:nvSpPr>
          <p:cNvPr id="9" name="Text 7"/>
          <p:cNvSpPr txBox="1"/>
          <p:nvPr/>
        </p:nvSpPr>
        <p:spPr>
          <a:xfrm>
            <a:off x="2194560" y="2514600"/>
            <a:ext cx="8961120" cy="1005840"/>
          </a:xfrm>
          <a:prstGeom prst="rect">
            <a:avLst/>
          </a:prstGeom>
          <a:noFill/>
          <a:ln/>
        </p:spPr>
        <p:txBody>
          <a:bodyPr wrap="square" lIns="0" tIns="0" rIns="0" bIns="0" rtlCol="0" anchor="ctr"/>
          <a:lstStyle/>
          <a:p>
            <a:pPr indent="0" marL="0">
              <a:lnSpc>
                <a:spcPct val="120000"/>
              </a:lnSpc>
              <a:buNone/>
            </a:pPr>
            <a:r>
              <a:rPr lang="en-US" sz="1450" dirty="0">
                <a:solidFill>
                  <a:srgbClr val="475569"/>
                </a:solidFill>
                <a:latin typeface="Calibri" pitchFamily="34" charset="0"/>
                <a:ea typeface="Calibri" pitchFamily="34" charset="-122"/>
                <a:cs typeface="Calibri" pitchFamily="34" charset="-120"/>
              </a:rPr>
              <a:t>Jeśli system był wyłączony w zaplanowanym momencie wykonania zadania, standardowy cron po prostu je pomija — zadanie nie wykona się wcale, dopóki nie nadejdzie jego kolejny zaplanowany termin.</a:t>
            </a:r>
            <a:endParaRPr lang="en-US" sz="1450" dirty="0"/>
          </a:p>
        </p:txBody>
      </p:sp>
      <p:sp>
        <p:nvSpPr>
          <p:cNvPr id="10" name="Shape 8"/>
          <p:cNvSpPr/>
          <p:nvPr/>
        </p:nvSpPr>
        <p:spPr>
          <a:xfrm>
            <a:off x="640080" y="3840480"/>
            <a:ext cx="10744200" cy="1554480"/>
          </a:xfrm>
          <a:prstGeom prst="roundRect">
            <a:avLst>
              <a:gd name="adj" fmla="val 5882"/>
            </a:avLst>
          </a:prstGeom>
          <a:solidFill>
            <a:srgbClr val="D1FAE5"/>
          </a:solidFill>
          <a:ln/>
        </p:spPr>
      </p:sp>
      <p:sp>
        <p:nvSpPr>
          <p:cNvPr id="11" name="Text 9"/>
          <p:cNvSpPr txBox="1"/>
          <p:nvPr/>
        </p:nvSpPr>
        <p:spPr>
          <a:xfrm>
            <a:off x="914400" y="4023360"/>
            <a:ext cx="10149840" cy="365760"/>
          </a:xfrm>
          <a:prstGeom prst="rect">
            <a:avLst/>
          </a:prstGeom>
          <a:noFill/>
          <a:ln/>
        </p:spPr>
        <p:txBody>
          <a:bodyPr wrap="square" lIns="0" tIns="0" rIns="0" bIns="0" rtlCol="0" anchor="ctr"/>
          <a:lstStyle/>
          <a:p>
            <a:pPr indent="0" marL="0">
              <a:buNone/>
            </a:pPr>
            <a:r>
              <a:rPr lang="en-US" sz="1600" b="1" dirty="0">
                <a:solidFill>
                  <a:srgbClr val="065F46"/>
                </a:solidFill>
                <a:latin typeface="Calibri" pitchFamily="34" charset="0"/>
                <a:ea typeface="Calibri" pitchFamily="34" charset="-122"/>
                <a:cs typeface="Calibri" pitchFamily="34" charset="-120"/>
              </a:rPr>
              <a:t>Rozwiązanie: anacron</a:t>
            </a:r>
            <a:endParaRPr lang="en-US" sz="1600" dirty="0"/>
          </a:p>
        </p:txBody>
      </p:sp>
      <p:sp>
        <p:nvSpPr>
          <p:cNvPr id="12" name="Text 10"/>
          <p:cNvSpPr txBox="1"/>
          <p:nvPr/>
        </p:nvSpPr>
        <p:spPr>
          <a:xfrm>
            <a:off x="914400" y="4434840"/>
            <a:ext cx="10149840" cy="822960"/>
          </a:xfrm>
          <a:prstGeom prst="rect">
            <a:avLst/>
          </a:prstGeom>
          <a:noFill/>
          <a:ln/>
        </p:spPr>
        <p:txBody>
          <a:bodyPr wrap="square" lIns="0" tIns="0" rIns="0" bIns="0" rtlCol="0" anchor="ctr"/>
          <a:lstStyle/>
          <a:p>
            <a:pPr indent="0" marL="0">
              <a:lnSpc>
                <a:spcPct val="120000"/>
              </a:lnSpc>
              <a:buNone/>
            </a:pPr>
            <a:r>
              <a:rPr lang="en-US" sz="1400" dirty="0">
                <a:solidFill>
                  <a:srgbClr val="065F46"/>
                </a:solidFill>
                <a:latin typeface="Calibri" pitchFamily="34" charset="0"/>
                <a:ea typeface="Calibri" pitchFamily="34" charset="-122"/>
                <a:cs typeface="Calibri" pitchFamily="34" charset="-120"/>
              </a:rPr>
              <a:t>anacron (używany m.in. przez /etc/cron.daily) nadrabia pominięte zadania po najbliższym uruchomieniu systemu — kluczowe na laptopach i stacjach roboczych, które nie pracują 24/7.</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87171"/>
                </a:solidFill>
                <a:latin typeface="Calibri" pitchFamily="34" charset="0"/>
                <a:ea typeface="Calibri" pitchFamily="34" charset="-122"/>
                <a:cs typeface="Calibri" pitchFamily="34" charset="-120"/>
              </a:rPr>
              <a:t>3. cron</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Środowisko wykonania i typowe pułapki</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cron</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
        <p:nvSpPr>
          <p:cNvPr id="6" name="Text 4"/>
          <p:cNvSpPr txBox="1"/>
          <p:nvPr/>
        </p:nvSpPr>
        <p:spPr>
          <a:xfrm>
            <a:off x="548640" y="1645920"/>
            <a:ext cx="11109960" cy="822960"/>
          </a:xfrm>
          <a:prstGeom prst="rect">
            <a:avLst/>
          </a:prstGeom>
          <a:noFill/>
          <a:ln/>
        </p:spPr>
        <p:txBody>
          <a:bodyPr wrap="square" lIns="0" tIns="0" rIns="0" bIns="0" rtlCol="0" anchor="ctr"/>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„Działa ręcznie, nie działa w cronie” — najczęstsza przyczyna: zadania cron uruchamiane są w bardzo ograniczonym środowisku, bez pełnego $PATH i bez zmiennych powłoki interaktywnej.</a:t>
            </a:r>
            <a:endParaRPr lang="en-US" sz="1500" dirty="0"/>
          </a:p>
        </p:txBody>
      </p:sp>
      <p:sp>
        <p:nvSpPr>
          <p:cNvPr id="7" name="Shape 5"/>
          <p:cNvSpPr/>
          <p:nvPr/>
        </p:nvSpPr>
        <p:spPr>
          <a:xfrm>
            <a:off x="548640" y="2651760"/>
            <a:ext cx="11109960" cy="2377440"/>
          </a:xfrm>
          <a:prstGeom prst="roundRect">
            <a:avLst>
              <a:gd name="adj" fmla="val 307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6"/>
          <p:cNvSpPr txBox="1"/>
          <p:nvPr/>
        </p:nvSpPr>
        <p:spPr>
          <a:xfrm>
            <a:off x="777240" y="2834640"/>
            <a:ext cx="10652760" cy="201168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Zawsze podawaj pelne sciezki</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0 3 * * * /usr/bin/tar czf /backup/dane.tar.gz /home/uzytkownik/dane</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Przekierowanie wyjscia do logu zamiast domyslnej poczty lokalnej</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0 3 * * * /usr/local/bin/backup.sh &gt;&gt; /var/log/backup.log 2&gt;&amp;1</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Jawne ustawienie PATH na gorze crontab</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PATH=/usr/local/sbin:/usr/local/bin:/usr/sbin:/usr/bin:/sbin:/bin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3. cron</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Alternatywa: timery systemd</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cron</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645920"/>
            <a:ext cx="6035040" cy="2926080"/>
          </a:xfrm>
          <a:prstGeom prst="roundRect">
            <a:avLst>
              <a:gd name="adj" fmla="val 25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5577840" cy="2560320"/>
          </a:xfrm>
          <a:prstGeom prst="rect">
            <a:avLst/>
          </a:prstGeom>
          <a:noFill/>
          <a:ln/>
        </p:spPr>
        <p:txBody>
          <a:bodyPr wrap="square" lIns="0" tIns="0" rIns="0" bIns="0" rtlCol="0" anchor="t"/>
          <a:lstStyle/>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/etc/systemd/system/backup.timer</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[Unit]</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Description=Codzienny backup o 2:30</a:t>
            </a:r>
            <a:endParaRPr lang="en-US" sz="1300" dirty="0"/>
          </a:p>
          <a:p>
            <a:pPr indent="0" marL="0">
              <a:spcAft>
                <a:spcPts val="200"/>
              </a:spcAft>
              <a:buNone/>
            </a:pP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[Timer]</a:t>
            </a:r>
            <a:endParaRPr lang="en-US" sz="1300" dirty="0"/>
          </a:p>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OnCalendar=*-*-* 02:30:00</a:t>
            </a:r>
            <a:endParaRPr lang="en-US" sz="1300" dirty="0"/>
          </a:p>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Persistent=true</a:t>
            </a:r>
            <a:endParaRPr lang="en-US" sz="1300" dirty="0"/>
          </a:p>
          <a:p>
            <a:pPr indent="0" marL="0">
              <a:spcAft>
                <a:spcPts val="200"/>
              </a:spcAft>
              <a:buNone/>
            </a:pP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[Install]</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WantedBy=timers.target</a:t>
            </a:r>
            <a:endParaRPr lang="en-US" sz="1300" dirty="0"/>
          </a:p>
        </p:txBody>
      </p:sp>
      <p:sp>
        <p:nvSpPr>
          <p:cNvPr id="8" name="Shape 6"/>
          <p:cNvSpPr/>
          <p:nvPr/>
        </p:nvSpPr>
        <p:spPr>
          <a:xfrm>
            <a:off x="6720840" y="1645920"/>
            <a:ext cx="4937760" cy="1005840"/>
          </a:xfrm>
          <a:prstGeom prst="roundRect">
            <a:avLst>
              <a:gd name="adj" fmla="val 727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9" name="Text 7"/>
          <p:cNvSpPr txBox="1"/>
          <p:nvPr/>
        </p:nvSpPr>
        <p:spPr>
          <a:xfrm>
            <a:off x="6949440" y="1828800"/>
            <a:ext cx="4480560" cy="640080"/>
          </a:xfrm>
          <a:prstGeom prst="rect">
            <a:avLst/>
          </a:prstGeom>
          <a:noFill/>
          <a:ln/>
        </p:spPr>
        <p:txBody>
          <a:bodyPr wrap="square" lIns="0" tIns="0" rIns="0" bIns="0" rtlCol="0" anchor="t"/>
          <a:lstStyle/>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 systemctl enable --now backup.timer</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 systemctl list-timers</a:t>
            </a:r>
            <a:endParaRPr lang="en-US" sz="1300" dirty="0"/>
          </a:p>
        </p:txBody>
      </p:sp>
      <p:sp>
        <p:nvSpPr>
          <p:cNvPr id="10" name="Text 8"/>
          <p:cNvSpPr txBox="1"/>
          <p:nvPr/>
        </p:nvSpPr>
        <p:spPr>
          <a:xfrm>
            <a:off x="6720840" y="2834640"/>
            <a:ext cx="4937760" cy="1828800"/>
          </a:xfrm>
          <a:prstGeom prst="rect">
            <a:avLst/>
          </a:prstGeom>
          <a:noFill/>
          <a:ln/>
        </p:spPr>
        <p:txBody>
          <a:bodyPr wrap="square" lIns="0" tIns="0" rIns="0" bIns="0" rtlCol="0" anchor="t"/>
          <a:lstStyle/>
          <a:p>
            <a:pPr marL="342900" indent="-342900">
              <a:lnSpc>
                <a:spcPct val="108000"/>
              </a:lnSpc>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Lepsze logowanie — journalctl -u backup.service</a:t>
            </a:r>
            <a:endParaRPr lang="en-US" sz="1300" dirty="0"/>
          </a:p>
          <a:p>
            <a:pPr marL="342900" indent="-342900">
              <a:lnSpc>
                <a:spcPct val="108000"/>
              </a:lnSpc>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Obsługa zależności między usługami (After=, Requires=)</a:t>
            </a:r>
            <a:endParaRPr lang="en-US" sz="1300" dirty="0"/>
          </a:p>
          <a:p>
            <a:pPr marL="342900" indent="-342900">
              <a:lnSpc>
                <a:spcPct val="108000"/>
              </a:lnSpc>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Persistent=true — nadrabia pominięte uruchomienia (jak anacron)</a:t>
            </a:r>
            <a:endParaRPr lang="en-US" sz="1300" dirty="0"/>
          </a:p>
          <a:p>
            <a:pPr marL="342900" indent="-342900">
              <a:lnSpc>
                <a:spcPct val="108000"/>
              </a:lnSpc>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Precyzyjniejsza kontrola harmonogramu</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2DD4BF"/>
                </a:solidFill>
                <a:latin typeface="Calibri" pitchFamily="34" charset="0"/>
                <a:ea typeface="Calibri" pitchFamily="34" charset="-122"/>
                <a:cs typeface="Calibri" pitchFamily="34" charset="-120"/>
              </a:rPr>
              <a:t>CZĘŚĆ 4</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Skrypty Bash i archiwizacja tar</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Od pojedynczego polecenia tar do solidnego, produkcyjnego skryptu backupowego</a:t>
            </a:r>
            <a:endParaRPr lang="en-US" sz="1800" dirty="0"/>
          </a:p>
        </p:txBody>
      </p:sp>
      <p:sp>
        <p:nvSpPr>
          <p:cNvPr id="5" name="Shape 3"/>
          <p:cNvSpPr/>
          <p:nvPr/>
        </p:nvSpPr>
        <p:spPr>
          <a:xfrm>
            <a:off x="10332720" y="1097280"/>
            <a:ext cx="1463040" cy="1463040"/>
          </a:xfrm>
          <a:prstGeom prst="ellipse">
            <a:avLst/>
          </a:prstGeom>
          <a:solidFill>
            <a:srgbClr val="2DD4BF">
              <a:alpha val="15000"/>
            </a:srgbClr>
          </a:solidFill>
          <a:ln w="19050">
            <a:solidFill>
              <a:srgbClr val="2DD4BF"/>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4. Backup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Podstawy tar</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Backup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645920"/>
            <a:ext cx="11109960" cy="2834640"/>
          </a:xfrm>
          <a:prstGeom prst="roundRect">
            <a:avLst>
              <a:gd name="adj" fmla="val 2581"/>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10652760" cy="2468880"/>
          </a:xfrm>
          <a:prstGeom prst="rect">
            <a:avLst/>
          </a:prstGeom>
          <a:noFill/>
          <a:ln/>
        </p:spPr>
        <p:txBody>
          <a:bodyPr wrap="square" lIns="0" tIns="0" rIns="0" bIns="0" rtlCol="0" anchor="t"/>
          <a:lstStyle/>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tar czf archiwum.tar.gz /sciezka/do/katalogu    # utworz (gzip)</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 tar xzf archiwum.tar.gz -C /sciezka/docelowa     # rozpakuj</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 tar tzf archiwum.tar.gz                           # podglad zawartosci</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Nowoczesna, szybsza kompresja zstd (jesli dostepna)</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tar --zstd -cf archiwum.tar.zst /sciezka/do/katalogu</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Wykluczanie katalogow/plikow</a:t>
            </a:r>
            <a:endParaRPr lang="en-US" sz="1350" dirty="0"/>
          </a:p>
          <a:p>
            <a:pPr indent="0" marL="0">
              <a:spcAft>
                <a:spcPts val="200"/>
              </a:spcAft>
              <a:buNone/>
            </a:pPr>
            <a:r>
              <a:rPr lang="en-US" sz="1350" dirty="0">
                <a:solidFill>
                  <a:srgbClr val="F87171"/>
                </a:solidFill>
                <a:latin typeface="Consolas" pitchFamily="34" charset="0"/>
                <a:ea typeface="Consolas" pitchFamily="34" charset="-122"/>
                <a:cs typeface="Consolas" pitchFamily="34" charset="-120"/>
              </a:rPr>
              <a:t>$ tar czf archiwum.tar.gz --exclude='*.tmp' --exclude='./cache' /var/www</a:t>
            </a:r>
            <a:endParaRPr lang="en-US" sz="1350" dirty="0"/>
          </a:p>
        </p:txBody>
      </p:sp>
      <p:sp>
        <p:nvSpPr>
          <p:cNvPr id="8" name="Shape 6"/>
          <p:cNvSpPr/>
          <p:nvPr/>
        </p:nvSpPr>
        <p:spPr>
          <a:xfrm>
            <a:off x="548640" y="4709160"/>
            <a:ext cx="11109960" cy="1371600"/>
          </a:xfrm>
          <a:prstGeom prst="roundRect">
            <a:avLst>
              <a:gd name="adj" fmla="val 5333"/>
            </a:avLst>
          </a:prstGeom>
          <a:solidFill>
            <a:srgbClr val="F1F5F9"/>
          </a:solidFill>
          <a:ln/>
        </p:spPr>
      </p:sp>
      <p:sp>
        <p:nvSpPr>
          <p:cNvPr id="9" name="Text 7"/>
          <p:cNvSpPr txBox="1"/>
          <p:nvPr/>
        </p:nvSpPr>
        <p:spPr>
          <a:xfrm>
            <a:off x="822960" y="4937760"/>
            <a:ext cx="10515600" cy="914400"/>
          </a:xfrm>
          <a:prstGeom prst="rect">
            <a:avLst/>
          </a:prstGeom>
          <a:noFill/>
          <a:ln/>
        </p:spPr>
        <p:txBody>
          <a:bodyPr wrap="square" lIns="0" tIns="0" rIns="0" bIns="0" rtlCol="0" anchor="ctr"/>
          <a:lstStyle/>
          <a:p>
            <a:pPr indent="0" marL="0">
              <a:buNone/>
            </a:pPr>
            <a:r>
              <a:rPr lang="en-US" sz="1400" dirty="0">
                <a:solidFill>
                  <a:srgbClr val="0F172A"/>
                </a:solidFill>
                <a:latin typeface="Consolas" pitchFamily="34" charset="0"/>
                <a:ea typeface="Consolas" pitchFamily="34" charset="-122"/>
                <a:cs typeface="Consolas" pitchFamily="34" charset="-120"/>
              </a:rPr>
              <a:t>c (create)   x (extract)   t (list)   z (gzip)   j (bzip2)   f (nazwa pliku — zawsze na końcu flag)   v (verbose)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4. Backup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Kopie pełne vs przyrostowe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Backup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1737360"/>
            <a:ext cx="11109960" cy="2286000"/>
          </a:xfrm>
          <a:prstGeom prst="roundRect">
            <a:avLst>
              <a:gd name="adj" fmla="val 32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920240"/>
            <a:ext cx="10652760" cy="192024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Pelna kopia z lista referencyjna dla przyszlych przyrostow</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tar --create --file=/backup/pelna_2026-09-01.tar.gz --gzip \</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--listed-incremental=/backup/snapshot.snar /home/uzytkownik</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Kopia przyrostowa — zawiera tylko zmiany od ostatniej kopii</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 tar --create --file=/backup/przyrost_2026-09-08.tar.gz --gzip \</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    --listed-incremental=/backup/snapshot.snar /home/uzytkownik</a:t>
            </a:r>
            <a:endParaRPr lang="en-US" sz="1350" dirty="0"/>
          </a:p>
        </p:txBody>
      </p:sp>
      <p:sp>
        <p:nvSpPr>
          <p:cNvPr id="8" name="Text 6"/>
          <p:cNvSpPr txBox="1"/>
          <p:nvPr/>
        </p:nvSpPr>
        <p:spPr>
          <a:xfrm>
            <a:off x="548640" y="4251960"/>
            <a:ext cx="11109960" cy="1005840"/>
          </a:xfrm>
          <a:prstGeom prst="rect">
            <a:avLst/>
          </a:prstGeom>
          <a:noFill/>
          <a:ln/>
        </p:spPr>
        <p:txBody>
          <a:bodyPr wrap="square" lIns="0" tIns="0" rIns="0" bIns="0" rtlCol="0" anchor="ctr"/>
          <a:lstStyle/>
          <a:p>
            <a:pPr indent="0" marL="0">
              <a:lnSpc>
                <a:spcPct val="120000"/>
              </a:lnSpc>
              <a:buNone/>
            </a:pPr>
            <a:r>
              <a:rPr lang="en-US" sz="1500" i="1" dirty="0">
                <a:solidFill>
                  <a:srgbClr val="475569"/>
                </a:solidFill>
                <a:latin typeface="Calibri" pitchFamily="34" charset="0"/>
                <a:ea typeface="Calibri" pitchFamily="34" charset="-122"/>
                <a:cs typeface="Calibri" pitchFamily="34" charset="-120"/>
              </a:rPr>
              <a:t>Ten sam plik snapshot.snar śledzi stan plików między uruchomieniami — tar porównuje go z bieżącym stanem katalogu i zapisuje w nowym archiwum tylko to, co się zmieniło od ostatniego razu.</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4. Backup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Skrypt backup.sh — konfiguracja i logowanie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Backup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48640" y="1600200"/>
            <a:ext cx="11109960" cy="4617720"/>
          </a:xfrm>
          <a:prstGeom prst="roundRect">
            <a:avLst>
              <a:gd name="adj" fmla="val 1584"/>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783080"/>
            <a:ext cx="10652760" cy="4251960"/>
          </a:xfrm>
          <a:prstGeom prst="rect">
            <a:avLst/>
          </a:prstGeom>
          <a:noFill/>
          <a:ln/>
        </p:spPr>
        <p:txBody>
          <a:bodyPr wrap="square" lIns="0" tIns="0" rIns="0" bIns="0" rtlCol="0" anchor="t"/>
          <a:lstStyle/>
          <a:p>
            <a:pPr indent="0" marL="0">
              <a:spcAft>
                <a:spcPts val="200"/>
              </a:spcAft>
              <a:buNone/>
            </a:pPr>
            <a:r>
              <a:rPr lang="en-US" sz="1150" dirty="0">
                <a:solidFill>
                  <a:srgbClr val="64748B"/>
                </a:solidFill>
                <a:latin typeface="Consolas" pitchFamily="34" charset="0"/>
                <a:ea typeface="Consolas" pitchFamily="34" charset="-122"/>
                <a:cs typeface="Consolas" pitchFamily="34" charset="-120"/>
              </a:rPr>
              <a:t>#!/usr/bin/env bash</a:t>
            </a:r>
            <a:endParaRPr lang="en-US" sz="1150" dirty="0"/>
          </a:p>
          <a:p>
            <a:pPr indent="0" marL="0">
              <a:spcAft>
                <a:spcPts val="200"/>
              </a:spcAft>
              <a:buNone/>
            </a:pPr>
            <a:r>
              <a:rPr lang="en-US" sz="1150" dirty="0">
                <a:solidFill>
                  <a:srgbClr val="F87171"/>
                </a:solidFill>
                <a:latin typeface="Consolas" pitchFamily="34" charset="0"/>
                <a:ea typeface="Consolas" pitchFamily="34" charset="-122"/>
                <a:cs typeface="Consolas" pitchFamily="34" charset="-120"/>
              </a:rPr>
              <a:t>set -euo pipefail    # przerwij przy bledzie / nieustawionej zmiennej</a:t>
            </a:r>
            <a:endParaRPr lang="en-US" sz="1150" dirty="0"/>
          </a:p>
          <a:p>
            <a:pPr indent="0" marL="0">
              <a:spcAft>
                <a:spcPts val="200"/>
              </a:spcAft>
              <a:buNone/>
            </a:pPr>
            <a:r>
              <a:rPr lang="en-US" sz="1150" dirty="0">
                <a:solidFill>
                  <a:srgbClr val="F87171"/>
                </a:solidFill>
                <a:latin typeface="Consolas" pitchFamily="34" charset="0"/>
                <a:ea typeface="Consolas" pitchFamily="34" charset="-122"/>
                <a:cs typeface="Consolas" pitchFamily="34" charset="-120"/>
              </a:rPr>
              <a:t>IFS=$'\n\t'</a:t>
            </a:r>
            <a:endParaRPr lang="en-US" sz="1150" dirty="0"/>
          </a:p>
          <a:p>
            <a:pPr indent="0" marL="0">
              <a:spcAft>
                <a:spcPts val="200"/>
              </a:spcAft>
              <a:buNone/>
            </a:pP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ZRODLA=(/etc /home /var/www)</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KATALOG_DOCELOWY="/backup"</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DNI_PRZECHOWYWANIA=14</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DATA=$(date +%Y-%m-%d_%H%M%S)</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NAZWA_ARCHIWUM="backup_${DATA}.tar.gz"</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SCIEZKA_ARCHIWUM="${KATALOG_DOCELOWY}/${NAZWA_ARCHIWUM}"</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readonly LOG="/var/log/backup.log"</a:t>
            </a:r>
            <a:endParaRPr lang="en-US" sz="1150" dirty="0"/>
          </a:p>
          <a:p>
            <a:pPr indent="0" marL="0">
              <a:spcAft>
                <a:spcPts val="200"/>
              </a:spcAft>
              <a:buNone/>
            </a:pP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log() {</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    echo "$(date '+%Y-%m-%d %H:%M:%S') $*" | tee -a "${LOG}"</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a:t>
            </a:r>
            <a:endParaRPr lang="en-US" sz="1150" dirty="0"/>
          </a:p>
          <a:p>
            <a:pPr indent="0" marL="0">
              <a:spcAft>
                <a:spcPts val="200"/>
              </a:spcAft>
              <a:buNone/>
            </a:pP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sprzataj_przy_bledzie() {</a:t>
            </a: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    log "BŁĄD: backup przerwany, usuwam niekompletne archiwum."</a:t>
            </a: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    rm -f "${SCIEZKA_ARCHIWUM}"</a:t>
            </a: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a:t>
            </a: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trap sprzataj_przy_bledzie ERR</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4. Backup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Skrypt backup.sh — wykonanie, weryfikacja, rotacja</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Backup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1600200"/>
            <a:ext cx="11109960" cy="4663440"/>
          </a:xfrm>
          <a:prstGeom prst="roundRect">
            <a:avLst>
              <a:gd name="adj" fmla="val 1569"/>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783080"/>
            <a:ext cx="10652760" cy="4297680"/>
          </a:xfrm>
          <a:prstGeom prst="rect">
            <a:avLst/>
          </a:prstGeom>
          <a:noFill/>
          <a:ln/>
        </p:spPr>
        <p:txBody>
          <a:bodyPr wrap="square" lIns="0" tIns="0" rIns="0" bIns="0" rtlCol="0" anchor="t"/>
          <a:lstStyle/>
          <a:p>
            <a:pPr indent="0" marL="0">
              <a:spcAft>
                <a:spcPts val="200"/>
              </a:spcAft>
              <a:buNone/>
            </a:pPr>
            <a:r>
              <a:rPr lang="en-US" sz="1080" dirty="0">
                <a:solidFill>
                  <a:srgbClr val="E2E8F0"/>
                </a:solidFill>
                <a:latin typeface="Consolas" pitchFamily="34" charset="0"/>
                <a:ea typeface="Consolas" pitchFamily="34" charset="-122"/>
                <a:cs typeface="Consolas" pitchFamily="34" charset="-120"/>
              </a:rPr>
              <a:t>log "Rozpoczynam backup: ${ZRODLA[*]}"</a:t>
            </a:r>
            <a:endParaRPr lang="en-US" sz="1080" dirty="0"/>
          </a:p>
          <a:p>
            <a:pPr indent="0" marL="0">
              <a:spcAft>
                <a:spcPts val="200"/>
              </a:spcAft>
              <a:buNone/>
            </a:pPr>
            <a:r>
              <a:rPr lang="en-US" sz="1080" dirty="0">
                <a:solidFill>
                  <a:srgbClr val="E2E8F0"/>
                </a:solidFill>
                <a:latin typeface="Consolas" pitchFamily="34" charset="0"/>
                <a:ea typeface="Consolas" pitchFamily="34" charset="-122"/>
                <a:cs typeface="Consolas" pitchFamily="34" charset="-120"/>
              </a:rPr>
              <a:t>mkdir -p "${KATALOG_DOCELOWY}"</a:t>
            </a:r>
            <a:endParaRPr lang="en-US" sz="1080" dirty="0"/>
          </a:p>
          <a:p>
            <a:pPr indent="0" marL="0">
              <a:spcAft>
                <a:spcPts val="200"/>
              </a:spcAft>
              <a:buNone/>
            </a:pPr>
            <a:r>
              <a:rPr lang="en-US" sz="1080" dirty="0">
                <a:solidFill>
                  <a:srgbClr val="7DD3FC"/>
                </a:solidFill>
                <a:latin typeface="Consolas" pitchFamily="34" charset="0"/>
                <a:ea typeface="Consolas" pitchFamily="34" charset="-122"/>
                <a:cs typeface="Consolas" pitchFamily="34" charset="-120"/>
              </a:rPr>
              <a:t>tar czf "${SCIEZKA_ARCHIWUM}" "${ZRODLA[@]}" 2&gt;&gt;"${LOG}"</a:t>
            </a:r>
            <a:endParaRPr lang="en-US" sz="1080" dirty="0"/>
          </a:p>
          <a:p>
            <a:pPr indent="0" marL="0">
              <a:spcAft>
                <a:spcPts val="200"/>
              </a:spcAft>
              <a:buNone/>
            </a:pPr>
            <a:endParaRPr lang="en-US" sz="1080" dirty="0"/>
          </a:p>
          <a:p>
            <a:pPr indent="0" marL="0">
              <a:spcAft>
                <a:spcPts val="200"/>
              </a:spcAft>
              <a:buNone/>
            </a:pPr>
            <a:r>
              <a:rPr lang="en-US" sz="1080" dirty="0">
                <a:solidFill>
                  <a:srgbClr val="64748B"/>
                </a:solidFill>
                <a:latin typeface="Consolas" pitchFamily="34" charset="0"/>
                <a:ea typeface="Consolas" pitchFamily="34" charset="-122"/>
                <a:cs typeface="Consolas" pitchFamily="34" charset="-120"/>
              </a:rPr>
              <a:t># Weryfikacja integralnosci archiwum</a:t>
            </a:r>
            <a:endParaRPr lang="en-US" sz="1080" dirty="0"/>
          </a:p>
          <a:p>
            <a:pPr indent="0" marL="0">
              <a:spcAft>
                <a:spcPts val="200"/>
              </a:spcAft>
              <a:buNone/>
            </a:pPr>
            <a:r>
              <a:rPr lang="en-US" sz="1080" dirty="0">
                <a:solidFill>
                  <a:srgbClr val="F87171"/>
                </a:solidFill>
                <a:latin typeface="Consolas" pitchFamily="34" charset="0"/>
                <a:ea typeface="Consolas" pitchFamily="34" charset="-122"/>
                <a:cs typeface="Consolas" pitchFamily="34" charset="-120"/>
              </a:rPr>
              <a:t>if ! tar tzf "${SCIEZKA_ARCHIWUM}" &gt; /dev/null 2&gt;&amp;1; then</a:t>
            </a:r>
            <a:endParaRPr lang="en-US" sz="1080" dirty="0"/>
          </a:p>
          <a:p>
            <a:pPr indent="0" marL="0">
              <a:spcAft>
                <a:spcPts val="200"/>
              </a:spcAft>
              <a:buNone/>
            </a:pPr>
            <a:r>
              <a:rPr lang="en-US" sz="1080" dirty="0">
                <a:solidFill>
                  <a:srgbClr val="F87171"/>
                </a:solidFill>
                <a:latin typeface="Consolas" pitchFamily="34" charset="0"/>
                <a:ea typeface="Consolas" pitchFamily="34" charset="-122"/>
                <a:cs typeface="Consolas" pitchFamily="34" charset="-120"/>
              </a:rPr>
              <a:t>    log "BŁĄD: archiwum jest uszkodzone!"; exit 1</a:t>
            </a:r>
            <a:endParaRPr lang="en-US" sz="1080" dirty="0"/>
          </a:p>
          <a:p>
            <a:pPr indent="0" marL="0">
              <a:spcAft>
                <a:spcPts val="200"/>
              </a:spcAft>
              <a:buNone/>
            </a:pPr>
            <a:r>
              <a:rPr lang="en-US" sz="1080" dirty="0">
                <a:solidFill>
                  <a:srgbClr val="F87171"/>
                </a:solidFill>
                <a:latin typeface="Consolas" pitchFamily="34" charset="0"/>
                <a:ea typeface="Consolas" pitchFamily="34" charset="-122"/>
                <a:cs typeface="Consolas" pitchFamily="34" charset="-120"/>
              </a:rPr>
              <a:t>fi</a:t>
            </a:r>
            <a:endParaRPr lang="en-US" sz="1080" dirty="0"/>
          </a:p>
          <a:p>
            <a:pPr indent="0" marL="0">
              <a:spcAft>
                <a:spcPts val="200"/>
              </a:spcAft>
              <a:buNone/>
            </a:pPr>
            <a:endParaRPr lang="en-US" sz="1080" dirty="0"/>
          </a:p>
          <a:p>
            <a:pPr indent="0" marL="0">
              <a:spcAft>
                <a:spcPts val="200"/>
              </a:spcAft>
              <a:buNone/>
            </a:pPr>
            <a:r>
              <a:rPr lang="en-US" sz="1080" dirty="0">
                <a:solidFill>
                  <a:srgbClr val="34D399"/>
                </a:solidFill>
                <a:latin typeface="Consolas" pitchFamily="34" charset="0"/>
                <a:ea typeface="Consolas" pitchFamily="34" charset="-122"/>
                <a:cs typeface="Consolas" pitchFamily="34" charset="-120"/>
              </a:rPr>
              <a:t>ROZMIAR=$(du -h "${SCIEZKA_ARCHIWUM}" | cut -f1)</a:t>
            </a:r>
            <a:endParaRPr lang="en-US" sz="1080" dirty="0"/>
          </a:p>
          <a:p>
            <a:pPr indent="0" marL="0">
              <a:spcAft>
                <a:spcPts val="200"/>
              </a:spcAft>
              <a:buNone/>
            </a:pPr>
            <a:r>
              <a:rPr lang="en-US" sz="1080" dirty="0">
                <a:solidFill>
                  <a:srgbClr val="34D399"/>
                </a:solidFill>
                <a:latin typeface="Consolas" pitchFamily="34" charset="0"/>
                <a:ea typeface="Consolas" pitchFamily="34" charset="-122"/>
                <a:cs typeface="Consolas" pitchFamily="34" charset="-120"/>
              </a:rPr>
              <a:t>log "Backup zakonczony sukcesem: ${NAZWA_ARCHIWUM} (${ROZMIAR})"</a:t>
            </a:r>
            <a:endParaRPr lang="en-US" sz="1080" dirty="0"/>
          </a:p>
          <a:p>
            <a:pPr indent="0" marL="0">
              <a:spcAft>
                <a:spcPts val="200"/>
              </a:spcAft>
              <a:buNone/>
            </a:pPr>
            <a:endParaRPr lang="en-US" sz="1080" dirty="0"/>
          </a:p>
          <a:p>
            <a:pPr indent="0" marL="0">
              <a:spcAft>
                <a:spcPts val="200"/>
              </a:spcAft>
              <a:buNone/>
            </a:pPr>
            <a:r>
              <a:rPr lang="en-US" sz="1080" dirty="0">
                <a:solidFill>
                  <a:srgbClr val="64748B"/>
                </a:solidFill>
                <a:latin typeface="Consolas" pitchFamily="34" charset="0"/>
                <a:ea typeface="Consolas" pitchFamily="34" charset="-122"/>
                <a:cs typeface="Consolas" pitchFamily="34" charset="-120"/>
              </a:rPr>
              <a:t># Rotacja — usuniecie kopii starszych niz DNI_PRZECHOWYWANIA</a:t>
            </a:r>
            <a:endParaRPr lang="en-US" sz="1080" dirty="0"/>
          </a:p>
          <a:p>
            <a:pPr indent="0" marL="0">
              <a:spcAft>
                <a:spcPts val="200"/>
              </a:spcAft>
              <a:buNone/>
            </a:pPr>
            <a:r>
              <a:rPr lang="en-US" sz="1080" dirty="0">
                <a:solidFill>
                  <a:srgbClr val="FBBF24"/>
                </a:solidFill>
                <a:latin typeface="Consolas" pitchFamily="34" charset="0"/>
                <a:ea typeface="Consolas" pitchFamily="34" charset="-122"/>
                <a:cs typeface="Consolas" pitchFamily="34" charset="-120"/>
              </a:rPr>
              <a:t>find "${KATALOG_DOCELOWY}" -name "backup_*.tar.gz" \</a:t>
            </a:r>
            <a:endParaRPr lang="en-US" sz="1080" dirty="0"/>
          </a:p>
          <a:p>
            <a:pPr indent="0" marL="0">
              <a:spcAft>
                <a:spcPts val="200"/>
              </a:spcAft>
              <a:buNone/>
            </a:pPr>
            <a:r>
              <a:rPr lang="en-US" sz="1080" dirty="0">
                <a:solidFill>
                  <a:srgbClr val="FBBF24"/>
                </a:solidFill>
                <a:latin typeface="Consolas" pitchFamily="34" charset="0"/>
                <a:ea typeface="Consolas" pitchFamily="34" charset="-122"/>
                <a:cs typeface="Consolas" pitchFamily="34" charset="-120"/>
              </a:rPr>
              <a:t>    -mtime "+${DNI_PRZECHOWYWANIA}" -print -delete | tee -a "${LOG}"</a:t>
            </a:r>
            <a:endParaRPr lang="en-US" sz="1080" dirty="0"/>
          </a:p>
          <a:p>
            <a:pPr indent="0" marL="0">
              <a:spcAft>
                <a:spcPts val="200"/>
              </a:spcAft>
              <a:buNone/>
            </a:pPr>
            <a:endParaRPr lang="en-US" sz="1080" dirty="0"/>
          </a:p>
          <a:p>
            <a:pPr indent="0" marL="0">
              <a:spcAft>
                <a:spcPts val="200"/>
              </a:spcAft>
              <a:buNone/>
            </a:pPr>
            <a:r>
              <a:rPr lang="en-US" sz="1080" dirty="0">
                <a:solidFill>
                  <a:srgbClr val="64748B"/>
                </a:solidFill>
                <a:latin typeface="Consolas" pitchFamily="34" charset="0"/>
                <a:ea typeface="Consolas" pitchFamily="34" charset="-122"/>
                <a:cs typeface="Consolas" pitchFamily="34" charset="-120"/>
              </a:rPr>
              <a:t># Opcjonalna synchronizacja zdalna (zasada 3-2-1)</a:t>
            </a:r>
            <a:endParaRPr lang="en-US" sz="1080" dirty="0"/>
          </a:p>
          <a:p>
            <a:pPr indent="0" marL="0">
              <a:spcAft>
                <a:spcPts val="200"/>
              </a:spcAft>
              <a:buNone/>
            </a:pPr>
            <a:r>
              <a:rPr lang="en-US" sz="1080" dirty="0">
                <a:solidFill>
                  <a:srgbClr val="C4B5FD"/>
                </a:solidFill>
                <a:latin typeface="Consolas" pitchFamily="34" charset="0"/>
                <a:ea typeface="Consolas" pitchFamily="34" charset="-122"/>
                <a:cs typeface="Consolas" pitchFamily="34" charset="-120"/>
              </a:rPr>
              <a:t>if command -v rsync &amp;&gt; /dev/null; then</a:t>
            </a:r>
            <a:endParaRPr lang="en-US" sz="1080" dirty="0"/>
          </a:p>
          <a:p>
            <a:pPr indent="0" marL="0">
              <a:spcAft>
                <a:spcPts val="200"/>
              </a:spcAft>
              <a:buNone/>
            </a:pPr>
            <a:r>
              <a:rPr lang="en-US" sz="1080" dirty="0">
                <a:solidFill>
                  <a:srgbClr val="C4B5FD"/>
                </a:solidFill>
                <a:latin typeface="Consolas" pitchFamily="34" charset="0"/>
                <a:ea typeface="Consolas" pitchFamily="34" charset="-122"/>
                <a:cs typeface="Consolas" pitchFamily="34" charset="-120"/>
              </a:rPr>
              <a:t>    rsync -az "${SCIEZKA_ARCHIWUM}" backupuser@serwer-zapasowy:/archiwa/ \</a:t>
            </a:r>
            <a:endParaRPr lang="en-US" sz="1080" dirty="0"/>
          </a:p>
          <a:p>
            <a:pPr indent="0" marL="0">
              <a:spcAft>
                <a:spcPts val="200"/>
              </a:spcAft>
              <a:buNone/>
            </a:pPr>
            <a:r>
              <a:rPr lang="en-US" sz="1080" dirty="0">
                <a:solidFill>
                  <a:srgbClr val="C4B5FD"/>
                </a:solidFill>
                <a:latin typeface="Consolas" pitchFamily="34" charset="0"/>
                <a:ea typeface="Consolas" pitchFamily="34" charset="-122"/>
                <a:cs typeface="Consolas" pitchFamily="34" charset="-120"/>
              </a:rPr>
              <a:t>        &amp;&amp; log "Zsynchronizowano." || log "OSTRZEŻENIE: sync nieudany."</a:t>
            </a:r>
            <a:endParaRPr lang="en-US" sz="1080" dirty="0"/>
          </a:p>
          <a:p>
            <a:pPr indent="0" marL="0">
              <a:spcAft>
                <a:spcPts val="200"/>
              </a:spcAft>
              <a:buNone/>
            </a:pPr>
            <a:r>
              <a:rPr lang="en-US" sz="1080" dirty="0">
                <a:solidFill>
                  <a:srgbClr val="C4B5FD"/>
                </a:solidFill>
                <a:latin typeface="Consolas" pitchFamily="34" charset="0"/>
                <a:ea typeface="Consolas" pitchFamily="34" charset="-122"/>
                <a:cs typeface="Consolas" pitchFamily="34" charset="-120"/>
              </a:rPr>
              <a:t>fi</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4. Backup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Dobre praktyki w skryptach backupowych</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Backup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1600200"/>
            <a:ext cx="5440680" cy="960120"/>
          </a:xfrm>
          <a:prstGeom prst="roundRect">
            <a:avLst>
              <a:gd name="adj" fmla="val 7619"/>
            </a:avLst>
          </a:prstGeom>
          <a:solidFill>
            <a:srgbClr val="F1F5F9"/>
          </a:solidFill>
          <a:ln/>
        </p:spPr>
      </p:sp>
      <p:sp>
        <p:nvSpPr>
          <p:cNvPr id="7" name="Shape 5"/>
          <p:cNvSpPr/>
          <p:nvPr/>
        </p:nvSpPr>
        <p:spPr>
          <a:xfrm>
            <a:off x="731520" y="1755648"/>
            <a:ext cx="365760" cy="365760"/>
          </a:xfrm>
          <a:prstGeom prst="ellipse">
            <a:avLst/>
          </a:prstGeom>
          <a:solidFill>
            <a:srgbClr val="2DD4BF"/>
          </a:solidFill>
          <a:ln/>
        </p:spPr>
      </p:sp>
      <p:sp>
        <p:nvSpPr>
          <p:cNvPr id="8" name="Text 6"/>
          <p:cNvSpPr txBox="1"/>
          <p:nvPr/>
        </p:nvSpPr>
        <p:spPr>
          <a:xfrm>
            <a:off x="731520" y="1755648"/>
            <a:ext cx="365760"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Calibri" pitchFamily="34" charset="0"/>
                <a:ea typeface="Calibri" pitchFamily="34" charset="-122"/>
                <a:cs typeface="Calibri" pitchFamily="34" charset="-120"/>
              </a:rPr>
              <a:t>✓</a:t>
            </a:r>
            <a:endParaRPr lang="en-US" sz="1120" dirty="0"/>
          </a:p>
        </p:txBody>
      </p:sp>
      <p:sp>
        <p:nvSpPr>
          <p:cNvPr id="9" name="Text 7"/>
          <p:cNvSpPr txBox="1"/>
          <p:nvPr/>
        </p:nvSpPr>
        <p:spPr>
          <a:xfrm>
            <a:off x="1298448" y="1645920"/>
            <a:ext cx="4553712" cy="8686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set -euo pipefail na początku każdego skryptu produkcyjnego</a:t>
            </a:r>
            <a:endParaRPr lang="en-US" sz="1200" dirty="0"/>
          </a:p>
        </p:txBody>
      </p:sp>
      <p:sp>
        <p:nvSpPr>
          <p:cNvPr id="10" name="Shape 8"/>
          <p:cNvSpPr/>
          <p:nvPr/>
        </p:nvSpPr>
        <p:spPr>
          <a:xfrm>
            <a:off x="6309360" y="1600200"/>
            <a:ext cx="5440680" cy="960120"/>
          </a:xfrm>
          <a:prstGeom prst="roundRect">
            <a:avLst>
              <a:gd name="adj" fmla="val 7619"/>
            </a:avLst>
          </a:prstGeom>
          <a:solidFill>
            <a:srgbClr val="F1F5F9"/>
          </a:solidFill>
          <a:ln/>
        </p:spPr>
      </p:sp>
      <p:sp>
        <p:nvSpPr>
          <p:cNvPr id="11" name="Shape 9"/>
          <p:cNvSpPr/>
          <p:nvPr/>
        </p:nvSpPr>
        <p:spPr>
          <a:xfrm>
            <a:off x="6492240" y="1755648"/>
            <a:ext cx="365760" cy="365760"/>
          </a:xfrm>
          <a:prstGeom prst="ellipse">
            <a:avLst/>
          </a:prstGeom>
          <a:solidFill>
            <a:srgbClr val="2DD4BF"/>
          </a:solidFill>
          <a:ln/>
        </p:spPr>
      </p:sp>
      <p:sp>
        <p:nvSpPr>
          <p:cNvPr id="12" name="Text 10"/>
          <p:cNvSpPr txBox="1"/>
          <p:nvPr/>
        </p:nvSpPr>
        <p:spPr>
          <a:xfrm>
            <a:off x="6492240" y="1755648"/>
            <a:ext cx="365760"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Calibri" pitchFamily="34" charset="0"/>
                <a:ea typeface="Calibri" pitchFamily="34" charset="-122"/>
                <a:cs typeface="Calibri" pitchFamily="34" charset="-120"/>
              </a:rPr>
              <a:t>✓</a:t>
            </a:r>
            <a:endParaRPr lang="en-US" sz="1120" dirty="0"/>
          </a:p>
        </p:txBody>
      </p:sp>
      <p:sp>
        <p:nvSpPr>
          <p:cNvPr id="13" name="Text 11"/>
          <p:cNvSpPr txBox="1"/>
          <p:nvPr/>
        </p:nvSpPr>
        <p:spPr>
          <a:xfrm>
            <a:off x="7059168" y="1645920"/>
            <a:ext cx="4553712" cy="8686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trap na sygnały ERR/EXIT — gwarantuje sprzątanie nawet przy awarii</a:t>
            </a:r>
            <a:endParaRPr lang="en-US" sz="1200" dirty="0"/>
          </a:p>
        </p:txBody>
      </p:sp>
      <p:sp>
        <p:nvSpPr>
          <p:cNvPr id="14" name="Shape 12"/>
          <p:cNvSpPr/>
          <p:nvPr/>
        </p:nvSpPr>
        <p:spPr>
          <a:xfrm>
            <a:off x="548640" y="2743200"/>
            <a:ext cx="5440680" cy="960120"/>
          </a:xfrm>
          <a:prstGeom prst="roundRect">
            <a:avLst>
              <a:gd name="adj" fmla="val 7619"/>
            </a:avLst>
          </a:prstGeom>
          <a:solidFill>
            <a:srgbClr val="F1F5F9"/>
          </a:solidFill>
          <a:ln/>
        </p:spPr>
      </p:sp>
      <p:sp>
        <p:nvSpPr>
          <p:cNvPr id="15" name="Shape 13"/>
          <p:cNvSpPr/>
          <p:nvPr/>
        </p:nvSpPr>
        <p:spPr>
          <a:xfrm>
            <a:off x="731520" y="2898648"/>
            <a:ext cx="365760" cy="365760"/>
          </a:xfrm>
          <a:prstGeom prst="ellipse">
            <a:avLst/>
          </a:prstGeom>
          <a:solidFill>
            <a:srgbClr val="2DD4BF"/>
          </a:solidFill>
          <a:ln/>
        </p:spPr>
      </p:sp>
      <p:sp>
        <p:nvSpPr>
          <p:cNvPr id="16" name="Text 14"/>
          <p:cNvSpPr txBox="1"/>
          <p:nvPr/>
        </p:nvSpPr>
        <p:spPr>
          <a:xfrm>
            <a:off x="731520" y="2898648"/>
            <a:ext cx="365760"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Calibri" pitchFamily="34" charset="0"/>
                <a:ea typeface="Calibri" pitchFamily="34" charset="-122"/>
                <a:cs typeface="Calibri" pitchFamily="34" charset="-120"/>
              </a:rPr>
              <a:t>✓</a:t>
            </a:r>
            <a:endParaRPr lang="en-US" sz="1120" dirty="0"/>
          </a:p>
        </p:txBody>
      </p:sp>
      <p:sp>
        <p:nvSpPr>
          <p:cNvPr id="17" name="Text 15"/>
          <p:cNvSpPr txBox="1"/>
          <p:nvPr/>
        </p:nvSpPr>
        <p:spPr>
          <a:xfrm>
            <a:off x="1298448" y="2788920"/>
            <a:ext cx="4553712" cy="8686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Weryfikacja integralności archiwum (tar tzf) od razu po utworzeniu</a:t>
            </a:r>
            <a:endParaRPr lang="en-US" sz="1200" dirty="0"/>
          </a:p>
        </p:txBody>
      </p:sp>
      <p:sp>
        <p:nvSpPr>
          <p:cNvPr id="18" name="Shape 16"/>
          <p:cNvSpPr/>
          <p:nvPr/>
        </p:nvSpPr>
        <p:spPr>
          <a:xfrm>
            <a:off x="6309360" y="2743200"/>
            <a:ext cx="5440680" cy="960120"/>
          </a:xfrm>
          <a:prstGeom prst="roundRect">
            <a:avLst>
              <a:gd name="adj" fmla="val 7619"/>
            </a:avLst>
          </a:prstGeom>
          <a:solidFill>
            <a:srgbClr val="F1F5F9"/>
          </a:solidFill>
          <a:ln/>
        </p:spPr>
      </p:sp>
      <p:sp>
        <p:nvSpPr>
          <p:cNvPr id="19" name="Shape 17"/>
          <p:cNvSpPr/>
          <p:nvPr/>
        </p:nvSpPr>
        <p:spPr>
          <a:xfrm>
            <a:off x="6492240" y="2898648"/>
            <a:ext cx="365760" cy="365760"/>
          </a:xfrm>
          <a:prstGeom prst="ellipse">
            <a:avLst/>
          </a:prstGeom>
          <a:solidFill>
            <a:srgbClr val="2DD4BF"/>
          </a:solidFill>
          <a:ln/>
        </p:spPr>
      </p:sp>
      <p:sp>
        <p:nvSpPr>
          <p:cNvPr id="20" name="Text 18"/>
          <p:cNvSpPr txBox="1"/>
          <p:nvPr/>
        </p:nvSpPr>
        <p:spPr>
          <a:xfrm>
            <a:off x="6492240" y="2898648"/>
            <a:ext cx="365760"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Calibri" pitchFamily="34" charset="0"/>
                <a:ea typeface="Calibri" pitchFamily="34" charset="-122"/>
                <a:cs typeface="Calibri" pitchFamily="34" charset="-120"/>
              </a:rPr>
              <a:t>✓</a:t>
            </a:r>
            <a:endParaRPr lang="en-US" sz="1120" dirty="0"/>
          </a:p>
        </p:txBody>
      </p:sp>
      <p:sp>
        <p:nvSpPr>
          <p:cNvPr id="21" name="Text 19"/>
          <p:cNvSpPr txBox="1"/>
          <p:nvPr/>
        </p:nvSpPr>
        <p:spPr>
          <a:xfrm>
            <a:off x="7059168" y="2788920"/>
            <a:ext cx="4553712" cy="8686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Jawne logowanie ze znacznikiem czasu, niezależnie od logów cron</a:t>
            </a:r>
            <a:endParaRPr lang="en-US" sz="1200" dirty="0"/>
          </a:p>
        </p:txBody>
      </p:sp>
      <p:sp>
        <p:nvSpPr>
          <p:cNvPr id="22" name="Shape 20"/>
          <p:cNvSpPr/>
          <p:nvPr/>
        </p:nvSpPr>
        <p:spPr>
          <a:xfrm>
            <a:off x="548640" y="3886200"/>
            <a:ext cx="5440680" cy="960120"/>
          </a:xfrm>
          <a:prstGeom prst="roundRect">
            <a:avLst>
              <a:gd name="adj" fmla="val 7619"/>
            </a:avLst>
          </a:prstGeom>
          <a:solidFill>
            <a:srgbClr val="F1F5F9"/>
          </a:solidFill>
          <a:ln/>
        </p:spPr>
      </p:sp>
      <p:sp>
        <p:nvSpPr>
          <p:cNvPr id="23" name="Shape 21"/>
          <p:cNvSpPr/>
          <p:nvPr/>
        </p:nvSpPr>
        <p:spPr>
          <a:xfrm>
            <a:off x="731520" y="4041648"/>
            <a:ext cx="365760" cy="365760"/>
          </a:xfrm>
          <a:prstGeom prst="ellipse">
            <a:avLst/>
          </a:prstGeom>
          <a:solidFill>
            <a:srgbClr val="2DD4BF"/>
          </a:solidFill>
          <a:ln/>
        </p:spPr>
      </p:sp>
      <p:sp>
        <p:nvSpPr>
          <p:cNvPr id="24" name="Text 22"/>
          <p:cNvSpPr txBox="1"/>
          <p:nvPr/>
        </p:nvSpPr>
        <p:spPr>
          <a:xfrm>
            <a:off x="731520" y="4041648"/>
            <a:ext cx="365760"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Calibri" pitchFamily="34" charset="0"/>
                <a:ea typeface="Calibri" pitchFamily="34" charset="-122"/>
                <a:cs typeface="Calibri" pitchFamily="34" charset="-120"/>
              </a:rPr>
              <a:t>✓</a:t>
            </a:r>
            <a:endParaRPr lang="en-US" sz="1120" dirty="0"/>
          </a:p>
        </p:txBody>
      </p:sp>
      <p:sp>
        <p:nvSpPr>
          <p:cNvPr id="25" name="Text 23"/>
          <p:cNvSpPr txBox="1"/>
          <p:nvPr/>
        </p:nvSpPr>
        <p:spPr>
          <a:xfrm>
            <a:off x="1298448" y="3931920"/>
            <a:ext cx="4553712" cy="8686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Rotacja starych kopii (find ... -mtime +N -delete)</a:t>
            </a:r>
            <a:endParaRPr lang="en-US" sz="1200" dirty="0"/>
          </a:p>
        </p:txBody>
      </p:sp>
      <p:sp>
        <p:nvSpPr>
          <p:cNvPr id="26" name="Shape 24"/>
          <p:cNvSpPr/>
          <p:nvPr/>
        </p:nvSpPr>
        <p:spPr>
          <a:xfrm>
            <a:off x="6309360" y="3886200"/>
            <a:ext cx="5440680" cy="960120"/>
          </a:xfrm>
          <a:prstGeom prst="roundRect">
            <a:avLst>
              <a:gd name="adj" fmla="val 7619"/>
            </a:avLst>
          </a:prstGeom>
          <a:solidFill>
            <a:srgbClr val="F1F5F9"/>
          </a:solidFill>
          <a:ln/>
        </p:spPr>
      </p:sp>
      <p:sp>
        <p:nvSpPr>
          <p:cNvPr id="27" name="Shape 25"/>
          <p:cNvSpPr/>
          <p:nvPr/>
        </p:nvSpPr>
        <p:spPr>
          <a:xfrm>
            <a:off x="6492240" y="4041648"/>
            <a:ext cx="365760" cy="365760"/>
          </a:xfrm>
          <a:prstGeom prst="ellipse">
            <a:avLst/>
          </a:prstGeom>
          <a:solidFill>
            <a:srgbClr val="2DD4BF"/>
          </a:solidFill>
          <a:ln/>
        </p:spPr>
      </p:sp>
      <p:sp>
        <p:nvSpPr>
          <p:cNvPr id="28" name="Text 26"/>
          <p:cNvSpPr txBox="1"/>
          <p:nvPr/>
        </p:nvSpPr>
        <p:spPr>
          <a:xfrm>
            <a:off x="6492240" y="4041648"/>
            <a:ext cx="365760"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Calibri" pitchFamily="34" charset="0"/>
                <a:ea typeface="Calibri" pitchFamily="34" charset="-122"/>
                <a:cs typeface="Calibri" pitchFamily="34" charset="-120"/>
              </a:rPr>
              <a:t>✓</a:t>
            </a:r>
            <a:endParaRPr lang="en-US" sz="1120" dirty="0"/>
          </a:p>
        </p:txBody>
      </p:sp>
      <p:sp>
        <p:nvSpPr>
          <p:cNvPr id="29" name="Text 27"/>
          <p:cNvSpPr txBox="1"/>
          <p:nvPr/>
        </p:nvSpPr>
        <p:spPr>
          <a:xfrm>
            <a:off x="7059168" y="3931920"/>
            <a:ext cx="4553712" cy="8686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Testowe odtwarzanie kopii — nieprzetestowany backup to nie backup</a:t>
            </a:r>
            <a:endParaRPr lang="en-US" sz="1200" dirty="0"/>
          </a:p>
        </p:txBody>
      </p:sp>
      <p:sp>
        <p:nvSpPr>
          <p:cNvPr id="30" name="Shape 28"/>
          <p:cNvSpPr/>
          <p:nvPr/>
        </p:nvSpPr>
        <p:spPr>
          <a:xfrm>
            <a:off x="548640" y="5486400"/>
            <a:ext cx="11109960" cy="822960"/>
          </a:xfrm>
          <a:prstGeom prst="roundRect">
            <a:avLst>
              <a:gd name="adj" fmla="val 8889"/>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31" name="Text 29"/>
          <p:cNvSpPr txBox="1"/>
          <p:nvPr/>
        </p:nvSpPr>
        <p:spPr>
          <a:xfrm>
            <a:off x="777240" y="5669280"/>
            <a:ext cx="10652760" cy="457200"/>
          </a:xfrm>
          <a:prstGeom prst="rect">
            <a:avLst/>
          </a:prstGeom>
          <a:noFill/>
          <a:ln/>
        </p:spPr>
        <p:txBody>
          <a:bodyPr wrap="square" lIns="0" tIns="0" rIns="0" bIns="0" rtlCol="0" anchor="t"/>
          <a:lstStyle/>
          <a:p>
            <a:pPr indent="0" marL="0">
              <a:spcAft>
                <a:spcPts val="200"/>
              </a:spcAft>
              <a:buNone/>
            </a:pPr>
            <a:r>
              <a:rPr lang="en-US" sz="1200" dirty="0">
                <a:solidFill>
                  <a:srgbClr val="C4B5FD"/>
                </a:solidFill>
                <a:latin typeface="Consolas" pitchFamily="34" charset="0"/>
                <a:ea typeface="Consolas" pitchFamily="34" charset="-122"/>
                <a:cs typeface="Consolas" pitchFamily="34" charset="-120"/>
              </a:rPr>
              <a:t>$ gpg --symmetric --cipher-algo AES256 -o archiwum.tar.gz.gpg archiwum.tar.gz</a:t>
            </a:r>
            <a:endParaRPr lang="en-US" sz="1200" dirty="0"/>
          </a:p>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 gpg --decrypt archiwum.tar.gz.gpg &gt; archiwum.tar.gz     # odszyfrowanie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BBF24"/>
                </a:solidFill>
                <a:latin typeface="Calibri" pitchFamily="34" charset="0"/>
                <a:ea typeface="Calibri" pitchFamily="34" charset="-122"/>
                <a:cs typeface="Calibri" pitchFamily="34" charset="-120"/>
              </a:rPr>
              <a:t>CZĘŚĆ 5</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Monitorowanie wykonania zadań</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Jak sprawdzić, że automatyzacja faktycznie działa</a:t>
            </a:r>
            <a:endParaRPr lang="en-US" sz="1800" dirty="0"/>
          </a:p>
        </p:txBody>
      </p:sp>
      <p:sp>
        <p:nvSpPr>
          <p:cNvPr id="5" name="Shape 3"/>
          <p:cNvSpPr/>
          <p:nvPr/>
        </p:nvSpPr>
        <p:spPr>
          <a:xfrm>
            <a:off x="10332720" y="1097280"/>
            <a:ext cx="1463040" cy="1463040"/>
          </a:xfrm>
          <a:prstGeom prst="ellipse">
            <a:avLst/>
          </a:prstGeom>
          <a:solidFill>
            <a:srgbClr val="FBBF24">
              <a:alpha val="15000"/>
            </a:srgbClr>
          </a:solidFill>
          <a:ln w="19050">
            <a:solidFill>
              <a:srgbClr val="FBBF24"/>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5. Monitorowanie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Weryfikacja wykonania i powiadomienia</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Monitorowanie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645920"/>
            <a:ext cx="11109960" cy="2194560"/>
          </a:xfrm>
          <a:prstGeom prst="roundRect">
            <a:avLst>
              <a:gd name="adj" fmla="val 333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10652760" cy="1828800"/>
          </a:xfrm>
          <a:prstGeom prst="rect">
            <a:avLst/>
          </a:prstGeom>
          <a:noFill/>
          <a:ln/>
        </p:spPr>
        <p:txBody>
          <a:bodyPr wrap="square" lIns="0" tIns="0" rIns="0" bIns="0" rtlCol="0" anchor="t"/>
          <a:lstStyle/>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 journalctl -u cron -f      # Debian/Ubuntu (usluga "cron")</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 journalctl -u crond -f     # RHEL/Fedora (usluga "crond")</a:t>
            </a:r>
            <a:endParaRPr lang="en-US" sz="1400" dirty="0"/>
          </a:p>
          <a:p>
            <a:pPr indent="0" marL="0">
              <a:spcAft>
                <a:spcPts val="200"/>
              </a:spcAft>
              <a:buNone/>
            </a:pPr>
            <a:endParaRPr lang="en-US" sz="1400" dirty="0"/>
          </a:p>
          <a:p>
            <a:pPr indent="0" marL="0">
              <a:spcAft>
                <a:spcPts val="200"/>
              </a:spcAft>
              <a:buNone/>
            </a:pPr>
            <a:r>
              <a:rPr lang="en-US" sz="1400" dirty="0">
                <a:solidFill>
                  <a:srgbClr val="34D399"/>
                </a:solidFill>
                <a:latin typeface="Consolas" pitchFamily="34" charset="0"/>
                <a:ea typeface="Consolas" pitchFamily="34" charset="-122"/>
                <a:cs typeface="Consolas" pitchFamily="34" charset="-120"/>
              </a:rPr>
              <a:t>$ grep CRON /var/log/syslog | tail -20</a:t>
            </a:r>
            <a:endParaRPr lang="en-US" sz="1400" dirty="0"/>
          </a:p>
          <a:p>
            <a:pPr indent="0" marL="0">
              <a:spcAft>
                <a:spcPts val="200"/>
              </a:spcAft>
              <a:buNone/>
            </a:pP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systemctl status backup.timer</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journalctl -u backup.service --since today</a:t>
            </a:r>
            <a:endParaRPr lang="en-US" sz="1400" dirty="0"/>
          </a:p>
        </p:txBody>
      </p:sp>
      <p:sp>
        <p:nvSpPr>
          <p:cNvPr id="8" name="Shape 6"/>
          <p:cNvSpPr/>
          <p:nvPr/>
        </p:nvSpPr>
        <p:spPr>
          <a:xfrm>
            <a:off x="548640" y="4114800"/>
            <a:ext cx="11109960" cy="1783080"/>
          </a:xfrm>
          <a:prstGeom prst="roundRect">
            <a:avLst>
              <a:gd name="adj" fmla="val 4103"/>
            </a:avLst>
          </a:prstGeom>
          <a:solidFill>
            <a:srgbClr val="FEF3C7"/>
          </a:solidFill>
          <a:ln w="12700">
            <a:solidFill>
              <a:srgbClr val="FBBF24"/>
            </a:solidFill>
            <a:prstDash val="solid"/>
          </a:ln>
        </p:spPr>
      </p:sp>
      <p:sp>
        <p:nvSpPr>
          <p:cNvPr id="9" name="Text 7"/>
          <p:cNvSpPr txBox="1"/>
          <p:nvPr/>
        </p:nvSpPr>
        <p:spPr>
          <a:xfrm>
            <a:off x="822960" y="4251960"/>
            <a:ext cx="10515600" cy="365760"/>
          </a:xfrm>
          <a:prstGeom prst="rect">
            <a:avLst/>
          </a:prstGeom>
          <a:noFill/>
          <a:ln/>
        </p:spPr>
        <p:txBody>
          <a:bodyPr wrap="square" lIns="0" tIns="0" rIns="0" bIns="0" rtlCol="0" anchor="ctr"/>
          <a:lstStyle/>
          <a:p>
            <a:pPr indent="0" marL="0">
              <a:buNone/>
            </a:pPr>
            <a:r>
              <a:rPr lang="en-US" sz="1500" b="1" dirty="0">
                <a:solidFill>
                  <a:srgbClr val="92400E"/>
                </a:solidFill>
                <a:latin typeface="Calibri" pitchFamily="34" charset="0"/>
                <a:ea typeface="Calibri" pitchFamily="34" charset="-122"/>
                <a:cs typeface="Calibri" pitchFamily="34" charset="-120"/>
              </a:rPr>
              <a:t>Nie czekaj, aż ktoś ręcznie przejrzy logi</a:t>
            </a:r>
            <a:endParaRPr lang="en-US" sz="1500" dirty="0"/>
          </a:p>
        </p:txBody>
      </p:sp>
      <p:sp>
        <p:nvSpPr>
          <p:cNvPr id="10" name="Text 8"/>
          <p:cNvSpPr txBox="1"/>
          <p:nvPr/>
        </p:nvSpPr>
        <p:spPr>
          <a:xfrm>
            <a:off x="822960" y="4617720"/>
            <a:ext cx="10515600" cy="1188720"/>
          </a:xfrm>
          <a:prstGeom prst="rect">
            <a:avLst/>
          </a:prstGeom>
          <a:noFill/>
          <a:ln/>
        </p:spPr>
        <p:txBody>
          <a:bodyPr wrap="square" lIns="0" tIns="0" rIns="0" bIns="0" rtlCol="0" anchor="ctr"/>
          <a:lstStyle/>
          <a:p>
            <a:pPr indent="0" marL="0">
              <a:lnSpc>
                <a:spcPct val="120000"/>
              </a:lnSpc>
              <a:buNone/>
            </a:pPr>
            <a:r>
              <a:rPr lang="en-US" sz="1400" dirty="0">
                <a:solidFill>
                  <a:srgbClr val="78350F"/>
                </a:solidFill>
                <a:latin typeface="Calibri" pitchFamily="34" charset="0"/>
                <a:ea typeface="Calibri" pitchFamily="34" charset="-122"/>
                <a:cs typeface="Calibri" pitchFamily="34" charset="-120"/>
              </a:rPr>
              <a:t>Dobrą praktyką jest, aby skrypt backupu kończył się jawnym kodem wyjścia i w razie błędu wysyłał powiadomienie — e-mail przez mail/sendmail, albo webhook do systemu monitoringu typu Zabbix / Prometheus Alertmanager.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Podsumowanie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Widoczność i automatyzacja — dwie strony tej samej monety</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Podsumowanie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1691640"/>
            <a:ext cx="3566160" cy="2743200"/>
          </a:xfrm>
          <a:prstGeom prst="roundRect">
            <a:avLst>
              <a:gd name="adj" fmla="val 3333"/>
            </a:avLst>
          </a:prstGeom>
          <a:solidFill>
            <a:srgbClr val="F1F5F9"/>
          </a:solidFill>
          <a:ln/>
        </p:spPr>
      </p:sp>
      <p:sp>
        <p:nvSpPr>
          <p:cNvPr id="7" name="Shape 5"/>
          <p:cNvSpPr/>
          <p:nvPr/>
        </p:nvSpPr>
        <p:spPr>
          <a:xfrm>
            <a:off x="822960" y="1920240"/>
            <a:ext cx="3017520" cy="73152"/>
          </a:xfrm>
          <a:prstGeom prst="roundRect">
            <a:avLst/>
          </a:prstGeom>
          <a:solidFill>
            <a:srgbClr val="38BDF8"/>
          </a:solidFill>
          <a:ln/>
        </p:spPr>
      </p:sp>
      <p:sp>
        <p:nvSpPr>
          <p:cNvPr id="8" name="Text 6"/>
          <p:cNvSpPr txBox="1"/>
          <p:nvPr/>
        </p:nvSpPr>
        <p:spPr>
          <a:xfrm>
            <a:off x="822960" y="2103120"/>
            <a:ext cx="3017520" cy="457200"/>
          </a:xfrm>
          <a:prstGeom prst="rect">
            <a:avLst/>
          </a:prstGeom>
          <a:noFill/>
          <a:ln/>
        </p:spPr>
        <p:txBody>
          <a:bodyPr wrap="square" lIns="0" tIns="0" rIns="0" bIns="0" rtlCol="0" anchor="ctr"/>
          <a:lstStyle/>
          <a:p>
            <a:pPr indent="0" marL="0">
              <a:buNone/>
            </a:pPr>
            <a:r>
              <a:rPr lang="en-US" sz="1800" b="1" dirty="0">
                <a:solidFill>
                  <a:srgbClr val="38BDF8"/>
                </a:solidFill>
                <a:latin typeface="Cambria" pitchFamily="34" charset="0"/>
                <a:ea typeface="Cambria" pitchFamily="34" charset="-122"/>
                <a:cs typeface="Cambria" pitchFamily="34" charset="-120"/>
              </a:rPr>
              <a:t>Widoczność</a:t>
            </a:r>
            <a:endParaRPr lang="en-US" sz="1800" dirty="0"/>
          </a:p>
        </p:txBody>
      </p:sp>
      <p:sp>
        <p:nvSpPr>
          <p:cNvPr id="9" name="Text 7"/>
          <p:cNvSpPr txBox="1"/>
          <p:nvPr/>
        </p:nvSpPr>
        <p:spPr>
          <a:xfrm>
            <a:off x="822960" y="2606040"/>
            <a:ext cx="3017520" cy="1737360"/>
          </a:xfrm>
          <a:prstGeom prst="rect">
            <a:avLst/>
          </a:prstGeom>
          <a:noFill/>
          <a:ln/>
        </p:spPr>
        <p:txBody>
          <a:bodyPr wrap="square" lIns="0" tIns="0" rIns="0" bIns="0" rtlCol="0" anchor="ctr"/>
          <a:lstStyle/>
          <a:p>
            <a:pPr indent="0" marL="0">
              <a:lnSpc>
                <a:spcPct val="120000"/>
              </a:lnSpc>
              <a:buNone/>
            </a:pPr>
            <a:r>
              <a:rPr lang="en-US" sz="1250" dirty="0">
                <a:solidFill>
                  <a:srgbClr val="475569"/>
                </a:solidFill>
                <a:latin typeface="Calibri" pitchFamily="34" charset="0"/>
                <a:ea typeface="Calibri" pitchFamily="34" charset="-122"/>
                <a:cs typeface="Calibri" pitchFamily="34" charset="-120"/>
              </a:rPr>
              <a:t>journalctl i /var/log dają wgląd w bieżący i historyczny stan systemu; auditd precyzyjnie śledzi zmiany newralgicznych zasobów.</a:t>
            </a:r>
            <a:endParaRPr lang="en-US" sz="1250" dirty="0"/>
          </a:p>
        </p:txBody>
      </p:sp>
      <p:sp>
        <p:nvSpPr>
          <p:cNvPr id="10" name="Shape 8"/>
          <p:cNvSpPr/>
          <p:nvPr/>
        </p:nvSpPr>
        <p:spPr>
          <a:xfrm>
            <a:off x="4343400" y="1691640"/>
            <a:ext cx="3566160" cy="2743200"/>
          </a:xfrm>
          <a:prstGeom prst="roundRect">
            <a:avLst>
              <a:gd name="adj" fmla="val 3333"/>
            </a:avLst>
          </a:prstGeom>
          <a:solidFill>
            <a:srgbClr val="F1F5F9"/>
          </a:solidFill>
          <a:ln/>
        </p:spPr>
      </p:sp>
      <p:sp>
        <p:nvSpPr>
          <p:cNvPr id="11" name="Shape 9"/>
          <p:cNvSpPr/>
          <p:nvPr/>
        </p:nvSpPr>
        <p:spPr>
          <a:xfrm>
            <a:off x="4617720" y="1920240"/>
            <a:ext cx="3017520" cy="73152"/>
          </a:xfrm>
          <a:prstGeom prst="roundRect">
            <a:avLst/>
          </a:prstGeom>
          <a:solidFill>
            <a:srgbClr val="34D399"/>
          </a:solidFill>
          <a:ln/>
        </p:spPr>
      </p:sp>
      <p:sp>
        <p:nvSpPr>
          <p:cNvPr id="12" name="Text 10"/>
          <p:cNvSpPr txBox="1"/>
          <p:nvPr/>
        </p:nvSpPr>
        <p:spPr>
          <a:xfrm>
            <a:off x="4617720" y="2103120"/>
            <a:ext cx="3017520" cy="457200"/>
          </a:xfrm>
          <a:prstGeom prst="rect">
            <a:avLst/>
          </a:prstGeom>
          <a:noFill/>
          <a:ln/>
        </p:spPr>
        <p:txBody>
          <a:bodyPr wrap="square" lIns="0" tIns="0" rIns="0" bIns="0" rtlCol="0" anchor="ctr"/>
          <a:lstStyle/>
          <a:p>
            <a:pPr indent="0" marL="0">
              <a:buNone/>
            </a:pPr>
            <a:r>
              <a:rPr lang="en-US" sz="1800" b="1" dirty="0">
                <a:solidFill>
                  <a:srgbClr val="34D399"/>
                </a:solidFill>
                <a:latin typeface="Cambria" pitchFamily="34" charset="0"/>
                <a:ea typeface="Cambria" pitchFamily="34" charset="-122"/>
                <a:cs typeface="Cambria" pitchFamily="34" charset="-120"/>
              </a:rPr>
              <a:t>Automatyzacja</a:t>
            </a:r>
            <a:endParaRPr lang="en-US" sz="1800" dirty="0"/>
          </a:p>
        </p:txBody>
      </p:sp>
      <p:sp>
        <p:nvSpPr>
          <p:cNvPr id="13" name="Text 11"/>
          <p:cNvSpPr txBox="1"/>
          <p:nvPr/>
        </p:nvSpPr>
        <p:spPr>
          <a:xfrm>
            <a:off x="4617720" y="2606040"/>
            <a:ext cx="3017520" cy="1737360"/>
          </a:xfrm>
          <a:prstGeom prst="rect">
            <a:avLst/>
          </a:prstGeom>
          <a:noFill/>
          <a:ln/>
        </p:spPr>
        <p:txBody>
          <a:bodyPr wrap="square" lIns="0" tIns="0" rIns="0" bIns="0" rtlCol="0" anchor="ctr"/>
          <a:lstStyle/>
          <a:p>
            <a:pPr indent="0" marL="0">
              <a:lnSpc>
                <a:spcPct val="120000"/>
              </a:lnSpc>
              <a:buNone/>
            </a:pPr>
            <a:r>
              <a:rPr lang="en-US" sz="1250" dirty="0">
                <a:solidFill>
                  <a:srgbClr val="475569"/>
                </a:solidFill>
                <a:latin typeface="Calibri" pitchFamily="34" charset="0"/>
                <a:ea typeface="Calibri" pitchFamily="34" charset="-122"/>
                <a:cs typeface="Calibri" pitchFamily="34" charset="-120"/>
              </a:rPr>
              <a:t>cron (lub timery systemd) pozwala zautomatyzować rutynowe operacje bez codziennej ręcznej interwencji administratora.</a:t>
            </a:r>
            <a:endParaRPr lang="en-US" sz="1250" dirty="0"/>
          </a:p>
        </p:txBody>
      </p:sp>
      <p:sp>
        <p:nvSpPr>
          <p:cNvPr id="14" name="Shape 12"/>
          <p:cNvSpPr/>
          <p:nvPr/>
        </p:nvSpPr>
        <p:spPr>
          <a:xfrm>
            <a:off x="8138160" y="1691640"/>
            <a:ext cx="3566160" cy="2743200"/>
          </a:xfrm>
          <a:prstGeom prst="roundRect">
            <a:avLst>
              <a:gd name="adj" fmla="val 3333"/>
            </a:avLst>
          </a:prstGeom>
          <a:solidFill>
            <a:srgbClr val="F1F5F9"/>
          </a:solidFill>
          <a:ln/>
        </p:spPr>
      </p:sp>
      <p:sp>
        <p:nvSpPr>
          <p:cNvPr id="15" name="Shape 13"/>
          <p:cNvSpPr/>
          <p:nvPr/>
        </p:nvSpPr>
        <p:spPr>
          <a:xfrm>
            <a:off x="8412480" y="1920240"/>
            <a:ext cx="3017520" cy="73152"/>
          </a:xfrm>
          <a:prstGeom prst="roundRect">
            <a:avLst/>
          </a:prstGeom>
          <a:solidFill>
            <a:srgbClr val="2DD4BF"/>
          </a:solidFill>
          <a:ln/>
        </p:spPr>
      </p:sp>
      <p:sp>
        <p:nvSpPr>
          <p:cNvPr id="16" name="Text 14"/>
          <p:cNvSpPr txBox="1"/>
          <p:nvPr/>
        </p:nvSpPr>
        <p:spPr>
          <a:xfrm>
            <a:off x="8412480" y="2103120"/>
            <a:ext cx="3017520" cy="457200"/>
          </a:xfrm>
          <a:prstGeom prst="rect">
            <a:avLst/>
          </a:prstGeom>
          <a:noFill/>
          <a:ln/>
        </p:spPr>
        <p:txBody>
          <a:bodyPr wrap="square" lIns="0" tIns="0" rIns="0" bIns="0" rtlCol="0" anchor="ctr"/>
          <a:lstStyle/>
          <a:p>
            <a:pPr indent="0" marL="0">
              <a:buNone/>
            </a:pPr>
            <a:r>
              <a:rPr lang="en-US" sz="1800" b="1" dirty="0">
                <a:solidFill>
                  <a:srgbClr val="2DD4BF"/>
                </a:solidFill>
                <a:latin typeface="Cambria" pitchFamily="34" charset="0"/>
                <a:ea typeface="Cambria" pitchFamily="34" charset="-122"/>
                <a:cs typeface="Cambria" pitchFamily="34" charset="-120"/>
              </a:rPr>
              <a:t>Niezawodność</a:t>
            </a:r>
            <a:endParaRPr lang="en-US" sz="1800" dirty="0"/>
          </a:p>
        </p:txBody>
      </p:sp>
      <p:sp>
        <p:nvSpPr>
          <p:cNvPr id="17" name="Text 15"/>
          <p:cNvSpPr txBox="1"/>
          <p:nvPr/>
        </p:nvSpPr>
        <p:spPr>
          <a:xfrm>
            <a:off x="8412480" y="2606040"/>
            <a:ext cx="3017520" cy="1737360"/>
          </a:xfrm>
          <a:prstGeom prst="rect">
            <a:avLst/>
          </a:prstGeom>
          <a:noFill/>
          <a:ln/>
        </p:spPr>
        <p:txBody>
          <a:bodyPr wrap="square" lIns="0" tIns="0" rIns="0" bIns="0" rtlCol="0" anchor="ctr"/>
          <a:lstStyle/>
          <a:p>
            <a:pPr indent="0" marL="0">
              <a:lnSpc>
                <a:spcPct val="120000"/>
              </a:lnSpc>
              <a:buNone/>
            </a:pPr>
            <a:r>
              <a:rPr lang="en-US" sz="1250" dirty="0">
                <a:solidFill>
                  <a:srgbClr val="475569"/>
                </a:solidFill>
                <a:latin typeface="Calibri" pitchFamily="34" charset="0"/>
                <a:ea typeface="Calibri" pitchFamily="34" charset="-122"/>
                <a:cs typeface="Calibri" pitchFamily="34" charset="-120"/>
              </a:rPr>
              <a:t>solidny skrypt Bash z obsługą błędów, weryfikacją integralności i rotacją zamienia backup z „pamiętać, żeby zrobić” w pewny proces.</a:t>
            </a:r>
            <a:endParaRPr lang="en-US" sz="1250" dirty="0"/>
          </a:p>
        </p:txBody>
      </p:sp>
      <p:sp>
        <p:nvSpPr>
          <p:cNvPr id="18" name="Shape 16"/>
          <p:cNvSpPr/>
          <p:nvPr/>
        </p:nvSpPr>
        <p:spPr>
          <a:xfrm>
            <a:off x="548640" y="4663440"/>
            <a:ext cx="11109960" cy="1417320"/>
          </a:xfrm>
          <a:prstGeom prst="roundRect">
            <a:avLst>
              <a:gd name="adj" fmla="val 5161"/>
            </a:avLst>
          </a:prstGeom>
          <a:solidFill>
            <a:srgbClr val="DBEAFE"/>
          </a:solidFill>
          <a:ln/>
        </p:spPr>
      </p:sp>
      <p:sp>
        <p:nvSpPr>
          <p:cNvPr id="19" name="Text 17"/>
          <p:cNvSpPr txBox="1"/>
          <p:nvPr/>
        </p:nvSpPr>
        <p:spPr>
          <a:xfrm>
            <a:off x="822960" y="4800600"/>
            <a:ext cx="10561320" cy="1143000"/>
          </a:xfrm>
          <a:prstGeom prst="rect">
            <a:avLst/>
          </a:prstGeom>
          <a:noFill/>
          <a:ln/>
        </p:spPr>
        <p:txBody>
          <a:bodyPr wrap="square" lIns="0" tIns="0" rIns="0" bIns="0" rtlCol="0" anchor="ctr"/>
          <a:lstStyle/>
          <a:p>
            <a:pPr indent="0" marL="0">
              <a:lnSpc>
                <a:spcPct val="120000"/>
              </a:lnSpc>
              <a:buNone/>
            </a:pPr>
            <a:r>
              <a:rPr lang="en-US" sz="1450" b="1" dirty="0">
                <a:solidFill>
                  <a:srgbClr val="1E40AF"/>
                </a:solidFill>
                <a:latin typeface="Cambria" pitchFamily="34" charset="0"/>
                <a:ea typeface="Cambria" pitchFamily="34" charset="-122"/>
                <a:cs typeface="Cambria" pitchFamily="34" charset="-120"/>
              </a:rPr>
              <a:t>Dobrze skonfigurowany monitoring bez automatyzacji oznacza, że administrator musi ręcznie reagować na każdy sygnał. Automatyzacja bez monitoringu oznacza, że nikt nie dowie się, gdy zaplanowane zadanie zacznie zawodzić po cichu.</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Technik informatyk - INF.02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Monitorowanie, audyt i automatyzacja</dc:title>
  <dc:subject>PptxGenJS Presentation</dc:subject>
  <dc:creator>Administracja systemami uniksowymi</dc:creator>
  <cp:lastModifiedBy>Administracja systemami uniksowymi</cp:lastModifiedBy>
  <cp:revision>1</cp:revision>
  <dcterms:created xsi:type="dcterms:W3CDTF">2026-10-16T06:14:08Z</dcterms:created>
  <dcterms:modified xsi:type="dcterms:W3CDTF">2026-10-16T06:14:08Z</dcterms:modified>
</cp:coreProperties>
</file>