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Dzień dobry. Na dzisiejszych zajęciach zajmiemy się tematem, który w praktyce zawodowej administratora pojawia się niemal od pierwszego dnia pracy — wdrożeniem i zabezpieczeniem serwera WWW. Uruchomienie samego serwera HTTP to w gruncie rzeczy najprostsza część tego zadania. Prawdziwa administracyjna robota zaczyna się dopiero wtedy, gdy trzeba obsłużyć wiele niezależnych domen na jednej maszynie za pomocą wirtualnych hostów, zabezpieczyć całą komunikację szyfrowaniem SSL i TLS, a na końcu zapewnić bezpieczny kanał do przesyłania plików między administratorem a serwerem albo między klientami a serwerem. Przejdziemy przez to wszystko na przykładzie dwóch najpopularniejszych serwerów HTTP na rynku, czyli Apache i Nginx, pokażemy narzędzie OpenSSL do zarządzania certyfikatami, a na koniec dwa podejścia do transferu plików — klasyczne FTP realizowane przez usługę vsftpd oraz znacznie bezpieczniejsze SFTP oparte na protokole SSH. Celem jest, żebyście po tych zajęciach potrafili samodzielnie, od zera, postawić bezpiecznie skonfigurowaną witrynę produkcyjną.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dzisiejszych zajęć obejmuje cztery bloki tematyczne. Zaczniemy od porównania Apache i Nginx — poznacie różnice architektoniczne między tymi dwoma najpopularniejszymi serwerami HTTP, przejdziemy przez instalację obu, a następnie przez konfigurację wirtualnych hostów, czyli mechanizmu pozwalającego obsłużyć wiele domen na jednym serwerze. Drugi blok to SSL i TLS — pokażę wam, jak działa cały cykl życia certyfikatu, od wygenerowania klucza, przez żądanie podpisania, aż po automatyczne odnawianie certyfikatów narzędziem Certbot. Trzeci blok poświęcimy transferowi plików — zobaczycie klasyczny FTP realizowany usługą vsftpd, a potem znacznie bezpieczniejszą alternatywę, czyli SFTP działające w ramach protokołu SSH. Na koniec zbierzemy wszystko w checklistę dobrych praktyk bezpieczeństwa oraz poznacie zestaw narzędzi diagnostycznych, które przydadzą się, gdy coś nie będzie działać zgodnie z oczekiwaniami.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Wchodzimy w pierwszą część zajęć. Zanim zaczniemy cokolwiek instalować, musicie zrozumieć, że Apache i Nginx to nie są dwa identyczne produkty rywalizujące o te same zadanie — to dwie różne filozofie obsługi ruchu sieciowego, każda z własnymi mocnymi stronami. Decyzja, którego serwera użyć, albo czy użyć obu naraz, powinna wynikać ze zrozumienia tych różnic, a nie z przypadkowego wyboru.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Zacznijmy od fundamentalnej różnicy architektonicznej. Apache, w nazwie pakietu httpd, domyślnie obsługuje połączenia w modelu procesowym albo wątkowym, zarządzanym przez tak zwane moduły MPM — Multi-Processing Module — takie jak prefork, worker czy event. W uproszczeniu: każde połączenie klienckie zajmuje osobny proces albo wątek systemowy. Nginx działa zupełnie inaczej — w modelu zdarzeniowym, asynchronicznym, gdzie jeden proces roboczy potrafi obsłużyć tysiące jednoczesnych połączeń bez tworzenia nowych wątków dla każdego z nich, co czyni go dużo bardziej wydajnym przy wysokiej współbieżności. Druga istotna różnica dotyczy konfiguracji. Apache pozwala na rozproszoną konfigurację przez pliki .htaccess umieszczane bezpośrednio w katalogach z treścią — to wygodne, bo nie wymaga dostępu administracyjnego do głównej konfiguracji, ale kosztuje wydajność, bo serwer musi przy każdym żądaniu sprawdzać obecność takich plików w całej hierarchii katalogów. Nginx świadomie z tego zrezygnował — cała konfiguracja jest scentralizowana, co odciąża serwer kosztem elastyczności per-katalog. Trzecia różnica to moduły — Apache ładuje je dynamicznie w czasie działania, Nginx ma mniejszy rdzeń i często kompiluje funkcjonalność statycznie. W praktyce bardzo często te dwa serwery nie konkurują, tylko współpracują — Nginx jako szybki reverse proxy z cache'owaniem stoi przed Apache albo przed aplikacją uruchomioną w kontenerze, i to jest wzorzec, który zobaczycie w wielu nowoczesnych wdrożeniach produkcyjnych.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Druga część to konkretna, praktyczna instalacja obu serwerów. Pokażę wam polecenia dla dwóch rodzin dystrybucji — Debian/Ubuntu i RHEL/Fedora — oraz omówimy, gdzie każdy z serwerów trzyma swoje pliki konfiguracyjne, bo to jest wiedza, której będziecie używać praktycznie codziennie.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Instalacja Apache różni się w zależności od rodziny dystrybucji. Na Debianie i Ubuntu pakiet nazywa się apache2 i instalujemy go standardowo przez apt. Na RHEL, Fedorze i Rocky Linux pakiet nosi nazwę httpd — to pozostałość po oryginalnej nazwie projektu Apache HTTP Server. Po instalacji włączamy usługę od razu i na stałe poleceniem systemctl enable now, pamiętając, że nazwa usługi też się różni między dystrybucjami — apache2 kontra httpd. Teraz najważniejsza część — gdzie szukać plików konfiguracyjnych. Główny plik to apache2.conf, w nim znajdują się globalne ustawienia serwera. Katalog sites-available przechowuje definicje wszystkich wirtualnych hostów, niezależnie od tego, czy są aktywne. Katalog sites-enabled zawiera tylko te aktywne — w praktyce są to dowiązania symboliczne do plików z sites-available, co pozwala łatwo włączać i wyłączać witryny bez usuwania ich konfiguracji. mods-enabled pokazuje, które moduły są obecnie załadowane. A var/www/html to domyślny katalog, z którego Apache serwuje treść, jeśli nie skonfigurujemy nic innego.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Nginx instalujemy analogicznie — na Debianie i Ubuntu oraz na RHEL i Fedorze pakiet w obu przypadkach nazywa się po prostu nginx, co jest wygodniejsze niż w przypadku Apache. Włączamy usługę w ten sam sposób, systemctl enable now nginx. Jeśli chodzi o strukturę plików konfiguracyjnych — jest ona koncepcyjnie podobna do Apache, ale z istotną różnicą. Główny plik to nginx.conf. Na Debianie i Ubuntu panuje konwencja sites-available i sites-enabled, identyczna z Apache, z dowiązaniami symbolicznymi aktywnych witryn. Natomiast na RHEL i pochodnych częściej spotkacie katalog conf.d, z którego pliki są ładowane bezpośrednio, bez pośredniego kroku włączania przez dowiązanie. To jest różnica dystrybucyjna, a nie różnica samego Nginx, więc zawsze warto sprawdzić dyrektywę include w głównym pliku nginx.conf, żeby zobaczyć, skąd faktycznie są wczytywane konfiguracje witryn. Domyślny katalog dokumentów to usr/share/nginx/html, inny niż w Apache.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Zanim przeładujecie konfigurację na produkcyjnym serwerze, zawsze, bez wyjątku, sprawdźcie jej składnię. Apache ma do tego polecenie apache2ctl configtest, albo równoważnie httpd -t na systemach RHEL-owych. Nginx ma własne, bardzo poręczne polecenie nginx -t, które parsuje całą konfigurację i mówi wprost, czy jest poprawna, zanim cokolwiek zmienicie na żywo. Dopiero gdy test wypadnie pozytywnie, wykonujemy systemctl reload — zwróćcie uwagę, że to jest reload, nie restart. Reload każe serwerowi wczytać nową konfigurację bez zrywania istniejących połączeń klienckich, co jest kluczowe na działającej usłudze produkcyjnej. To jest jeden z tych nawyków, które na pierwszy rzut oka wyglądają jak zbędny dodatkowy krok, ale w rzeczywistości ratują przed sytuacją, w której literówka w pliku konfiguracyjnym powoduje, że usługa w ogóle nie wstaje po restarcie, a wy dowiadujecie się o tym dopiero, gdy klienci zaczynają zgłaszać niedostępność strony.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Trzecia część zajęć to mechanizm, bez którego nie wyobrażacie sobie żadnego współczesnego hostingu — wirtualne hosty w Apache i ich odpowiednik w Nginx, czyli Server Blocks. Dzięki nim jeden fizyczny serwer, z jednym adresem IP, może obsługiwać dowolnie wiele niezależnych witryn internetowych, każdą z osobnym katalogiem, osobnymi logami, a za chwilę zobaczycie, że też osobnym certyfikatem SSL.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Spójrzmy na konkretny przykład wirtualnego hosta w Apache. Cały blok zaczyna się od znacznika VirtualHost z adresem i portem — tutaj gwiazdka oznacza dowolny adres IP serwera, a 80 to standardowy port HTTP. Wewnątrz mamy ServerName, czyli główną nazwę domeny, którą ten blok obsługuje, oraz ServerAlias, pozwalający dopisać dodatkowe nazwy, na przykład wariant z www. DocumentRoot wskazuje katalog, z którego serwowana jest treść tej konkretnej witryny. ErrorLog i CustomLog kierują logi błędów i dostępu do osobnych plików dla tej domeny — to bardzo ważne przy wielu witrynach na jednym serwerze, bo inaczej wszystkie logi lądowałyby w jednym wspólnym pliku, co znacznie utrudnia diagnostykę. Po utworzeniu pliku konfiguracyjnego w sites-available, aktywujemy go poleceniem a2ensite, które tworzy dowiązanie symboliczne w sites-enabled. Analogicznie a2dissite dezaktywuje witrynę. Zauważcie, jak eleganckie jest to rozwiązanie — możemy przygotować konfigurację wielu witryn naraz, trzymając nieaktywne w sites-available, i włączać je pojedynczo, kiedy są gotowe, bez ryzyka wpływu na pozostałe domeny.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Odpowiednikiem wirtualnego hosta w Nginx jest blok server. Konstrukcja jest koncepcyjnie bardzo podobna do tego, co widzieliśmy w Apache, ale składnia jest inna — Nginx używa własnego, deklaratywnego języka konfiguracji, a nie znaczników przypominających XML. listen 80 określa port nasłuchu, server_name pełni tę samą rolę co ServerName i ServerAlias razem wzięte — możemy wymienić kilka nazw domenowych po spacji. root wskazuje katalog dokumentów, a index listę plików traktowanych jako strona startowa katalogu. Osobne logi dostępu i błędów konfigurujemy analogicznie jak w Apache. Istotny jest blok location, który w Nginx kontroluje, jak serwer ma obsługiwać poszczególne ścieżki URL — tutaj dyrektywa try_files próbuje kolejno znaleźć plik, potem katalog, a jeśli nic nie pasuje, zwraca błąd 404. Żeby aktywować tę konfigurację, w przeciwieństwie do Apache, który ma dedykowane polecenia a2ensite, w Nginx na Debianie tworzymy ręcznie dowiązanie symboliczne poleceniem ln -s z sites-available do sites-enabled, po czym zawsze testujemy składnię i dopiero przeładowujemy usługę. I niezależnie od tego, którego serwera używacie — trzymajcie każdą domenę w osobnym pliku konfiguracyjnym. To fundamentalnie ułatwia audyt bezpieczeństwa, automatyzację przez Ansible czy Puppet, oraz pozwala błyskawicznie wyłączyć jedną problematyczną witrynę, bez ryzyka wpłynięcia na pozostałe domeny hostowane na tym samym serwerze.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Czwarta część to temat, bez którego żadnej współczesnej witryny nie da się traktować poważnie — szyfrowanie SSL i TLS. Przejdziemy cały cykl życia certyfikatu: od wygenerowania klucza prywatnego, przez żądanie podpisania certyfikatu, aż po automatyzację całego procesu narzędziem Certbot, a na końcu pokażę wam, jak to wszystko spiąć w konkretnej konfiguracji Apache i Nginx.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Zanim przejdziemy do konkretnych poleceń, musicie zrozumieć cały proces jako sekwencję logicznych kroków. Krok pierwszy: generujemy klucz prywatny — to jest najbardziej strzeżony element całego systemu, nigdy nie opuszcza waszego serwera i nigdy nie jest nikomu przekazywany. Krok drugi: na podstawie tego klucza tworzymy CSR, czyli Certificate Signing Request — żądanie podpisania certyfikatu, zawierające informacje o domenie i organizacji, ale bez klucza prywatnego. Krok trzeci: ten CSR wysyłamy do urzędu certyfikacji, w skrócie CA — Certificate Authority. Może to być płatny, komercyjny urząd, albo, jak w zdecydowanej większości współczesnych wdrożeń, darmowy Let's Encrypt. Krok czwarty: urząd certyfikacji weryfikuje, że faktycznie kontrolujecie daną domenę, i w zamian wystawia podpisany certyfikat, który od tej pory przeglądarki internetowe będą automatycznie traktować jako zaufany, bo ufają samemu urzędowi CA. Ta czteroetapowa ścieżka jest absolutnym fundamentem zrozumienia, dlaczego certyfikat self-signed, który zaraz wam pokażę, nie jest tym samym co certyfikat produkcyjny — bo pomija właśnie ten kluczowy trzeci i czwarty krok, czyli zewnętrzne poświadczenie zaufania.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Jedno polecenie openssl req z flagą -x509 pozwala jednym strzałem wygenerować klucz prywatny i certyfikat podpisany samym sobą — stąd nazwa self-signed. -newkey rsa:4096 tworzy nowy klucz RSA o długości 4096 bitów, -keyout i -out wskazują, gdzie zapisać klucz i certyfikat, -days 365 ustawia okres ważności na rok, a -nodes oznacza, że klucz prywatny nie będzie dodatkowo zaszyfrowany hasłem — co jest wygodne dla usług startujących automatycznie, bo serwer nie musi pytać o hasło przy starcie. Flaga -subj pozwala podać od razu wszystkie dane podmiotu certyfikatu bez interaktywnych pytań — kraj, województwo, miasto, organizację i najważniejsze, Common Name, czyli domenę, dla której certyfikat jest wystawiony. Natomiast absolutnie kluczowa rzecz, którą musicie zapamiętać: taki certyfikat nie jest zaufany przez żadną przeglądarkę, bo nie przeszedł przez żaden zewnętrzny urząd certyfikacji — przeglądarka zobaczy, że certyfikat sam siebie podpisał, i wyświetli ostrzeżenie o niezaufanym połączeniu. Dlatego self-signed nadaje się wyłącznie do środowisk deweloperskich, wewnętrznych API komunikujących się między sobą w zaufanej sieci, albo do testów — nigdy do publicznej witryny produkcyjnej.</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Ścieżka produkcyjna zaczyna się podobnie — generujemy klucz prywatny poleceniem openssl genrsa, a następnie na jego podstawie CSR poleceniem openssl req z flagą -new. Ten plik CSR przekazujecie urzędowi certyfikacji. Ale w praktyce zawodowej prawie nikt nie robi tego ręcznie — rolę tę przejmuje Certbot, oficjalny klient Let's Encrypt. Instalujemy go razem z odpowiednią wtyczką — python3-certbot-apache dla Apache albo python3-certbot-nginx dla Nginx, w zależności od tego, którego serwera używacie. Najważniejsza zaleta Certbota polega na tym, że jednym poleceniem — certbot --apache albo certbot --nginx z flagą -d wskazującą domeny — automatycznie wygeneruje klucz, CSR, przeprowadzi weryfikację, że kontrolujecie domenę, pobierze podpisany certyfikat i co bardzo istotne, od razu samodzielnie zmodyfikuje konfigurację serwera, żeby HTTPS zaczęło działać, bez żadnej ręcznej edycji plików. I ostatnia, kluczowa sprawa: certyfikaty Let's Encrypt są ważne tylko 90 dni, więc odnawianie musi być zautomatyzowane — Certbot instaluje zadanie cron albo timer systemd, które robi to samo w sobie, a polecenie certbot renew --dry-run pozwala wam bezpiecznie przetestować, czy mechanizm odnowienia faktycznie zadziała, zanim zaufacie mu w pełni na produkcji.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Konfiguracja HTTPS w Apache to osobny blok VirtualHost nasłuchujący na porcie 443, zamiast standardowego 80. Włączamy obsługę SSL dyrektywą SSLEngine on, a następnie wskazujemy ścieżki do certyfikatu, klucza prywatnego oraz, jeśli urząd certyfikacji go dostarczył, pliku łańcucha pośredniego SSLCertificateChainFile. Niezwykle istotne są dwie kolejne dyrektywy wzmacniające bezpieczeństwo — SSLProtocol z wykluczeniem SSLv3, TLS w wersji 1.0 i 1.1, bo te starsze protokoły mają znane podatności i nie powinny być dziś akceptowane, oraz SSLCipherSuite ograniczający zestawy szyfrów do silnych algorytmów. Na końcu dodajemy nagłówek Strict-Transport-Security, czyli HSTS, o którym za chwilę powiem więcej. Pamiętajcie też o praktycznym kroku — żeby moduły SSL i headers w ogóle działały, trzeba je włączyć poleceniem a2enmod ssl headers, a potem przeładować usługę. Na dole przykładu widzicie jeszcze jeden, osobny blok VirtualHost na porcie 80 — jego jedynym zadaniem jest przekierować każdy ruch przychodzący po zwykłym HTTP na wersję HTTPS za pomocą Redirect permanent, tak żeby nikt przypadkiem nie został na niezaszyfrowanym połączeniu.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 Nginx konfiguracja HTTPS jest koncepcyjnie identyczna, tylko inna składniowo. listen 443 ssl http2 od razu włącza nowoczesny protokół HTTP/2, co dodatkowo poprawia wydajność. ssl_certificate i ssl_certificate_key wskazują pliki certyfikatu i klucza, a ssl_protocols ogranicza dopuszczalne wersje TLS wyłącznie do 1.2 i 1.3, pomijając już nawet wymienianie starszych, podatnych wersji. add_header dodaje ten sam nagłówek HSTS co w Apache, z dopiskiem always, żeby był dołączany do każdej odpowiedzi, włącznie z błędami. Teraz poświęćmy chwilę samemu HSTS, bo to jest mechanizm, który wielu administratorów pomija, a jest bardzo ważny. Nagłówek Strict-Transport-Security mówi przeglądarce: zapamiętaj, że przez czas podany w max-age, tutaj ponad dwa lata wyrażone w sekundach, nigdy więcej nie próbuj łączyć się z tą domeną przez zwykłe, niezaszyfrowane HTTP — zawsze od razu używaj HTTPS, nawet jeśli użytkownik wpisze adres bez https. Dlaczego to jest istotne? Bo samo przekierowanie z HTTP na HTTPS, które widzicie w drugim bloku server na dole, ma słaby punkt — to pierwsze żądanie, zanim przekierowanie zadziała, teoretycznie może zostać przechwycone w ataku typu SSL stripping. HSTS, zapamiętany przez przeglądarkę od poprzedniej wizyty, całkowicie eliminuje to okno podatności, bo przeglądarka nawet nie spróbuje połączyć się przez HTTP.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 każdym wdrożeniu albo odnowieniu certyfikatu dobrą praktyką jest ręczna weryfikacja, że wszystko faktycznie zadziałało poprawnie, zamiast ufać wyłącznie komunikatom narzędzia instalacyjnego. openssl s_client to swoisty klient TLS działający z linii komend — łączy się z serwerem na porcie 443, podając flagą -servername nazwę domeny, co jest niezbędne przy obsłudze wielu certyfikatów na jednym adresie IP przez mechanizm SNI, o którym zresztą jedno z pytań kontrolnych was zapyta. Polecenie to wyświetli cały łańcuch certyfikatów, użyty protokół i zestaw szyfrów — pozwala dokładnie zobaczyć, co w praktyce negocjuje serwer z klientem. Drugie polecenie, openssl x509 z flagami -noout -dates, w prostszy sposób pokazuje tylko to, co najczęściej nas interesuje w codziennej administracji — datę wystawienia i datę wygaśnięcia certyfikatu. To jest polecenie, które warto mieć pod ręką albo wręcz zautomatyzować w skrypcie monitorującym, żeby nigdy nie dopuścić do sytuacji, w której certyfikat wygasa niezauważony, a klienci nagle widzą ostrzeżenie o niebezpiecznym połączeniu.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Ostatnia merytoryczna część zajęć dotyczy transferu plików. Zaczniemy od klasycznego FTP realizowanego usługą vsftpd, zrozumiemy, dlaczego w swojej podstawowej formie jest protokołem ryzykownym, a następnie przejdziemy do SFTP, czyli rozwiązania, które w nowoczesnych wdrożeniach zdecydowanie wypiera zwykłe FTP.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Instalacja vsftpd, czyli Very Secure FTP Daemon, przebiega standardowo przez menadżer pakietów. Kluczowy jest plik /etc/vsftpd.conf, w którym kilka dyrektyw ma fundamentalne znaczenie dla bezpieczeństwa. anonymous_enable ustawione na NO blokuje anonimowy dostęp — to absolutna podstawa, nigdy nie zostawiajcie tego włączonego na serwerze produkcyjnym. local_enable na YES pozwala logować się lokalnym kontom systemowym, a write_enable umożliwia zapis, bez którego FTP służyłby tylko do pobierania plików. chroot_local_user ustawione na YES to bardzo ważna dyrektywa bezpieczeństwa — zamyka każdego zalogowanego użytkownika w jego katalogu domowym, uniemożliwiając mu nawigację po całym systemie plików serwera; allow_writeable_chroot jest potrzebne, gdy ten katalog domowy ma mieć prawo zapisu. Dalej mamy konfigurację trybu pasywnego — pasv_enable oraz zakres portów pasv_min_port i pasv_max_port, do którego zaraz wrócimy przy omawianiu różnicy między trybem aktywnym a pasywnym. Na samym końcu, i to jest kluczowe — blok dyrektyw ssl_enable oraz rsa_cert_file i rsa_private_key_file, wskazujące na te same certyfikaty, które generowaliśmy wcześniej dla HTTPS. Włączenie tych opcji, razem z force_local_data_ssl i force_local_logins_ssl, zamienia zwykłe, niezaszyfrowane FTP w wariant FTPS, wymuszając szyfrowanie zarówno logowania, jak i transferu danych.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FTP jest protokołem nietypowym w tym sensie, że używa dwóch osobnych kanałów — kontrolnego, do przesyłania poleceń, oraz danych, do faktycznego przesyłu plików — i to rodzi dwa różne tryby pracy. W trybie aktywnym to serwer inicjuje połączenie zwrotne do klienta na kanał danych. Brzmi niewinnie, ale w praktyce jest to ogromny problem w świecie, gdzie niemal każdy klient siedzi za NAT-em albo firewallem — serwer próbuje połączyć się z adresem prywatnym klienta, do którego z zewnątrz po prostu nie ma dostępu, i transfer się nie udaje. Dlatego w praktyce niemal zawsze używa się trybu pasywnego, w którym to klient inicjuje oba połączenia — zarówno kontrolne, jak i danych. To rozwiązuje problem NAT po stronie klienta, ale przenosi wymaganie na stronę serwera — serwer musi mieć otwarty nie tylko port 21 do połączenia kontrolnego, ale cały zakres portów zdefiniowany dyrektywami pasv_min_port i pasv_max_port, bo każde nowe połączenie danych w trybie pasywnym negocjuje sobie port z tej puli. Dlatego na firewallu serwera, tak jak widzicie w przykładzie z firewall-cmd, musicie otworzyć zarówno port 21, jak i cały ten zakres portów pasywnych — w naszym przykładzie od 40000 do 40100.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Teraz przechodzimy do SFTP, i tu zaraz na wstępie musicie wyzbyć się pewnego mitu — SFTP, czyli SSH File Transfer Protocol, mimo podobieństwa w nazwie, nie jest wariantem FTP. To zupełnie inny protokół, zaprojektowany od zera, działający jako podsystem wewnątrz już istniejącego, zaszyfrowanego połączenia SSH. Dzięki temu korzysta z jednego, dobrze znanego portu 22, z tego samego mechanizmu uwierzytelniania co zwykłe logowanie SSH — czyli hasła albo klucze publiczne — i z pełnego szyfrowania end-to-end, obejmującego zarówno dane, jak i poświadczenia logowania. SFTP jest zwykle dostępny od razu wraz z serwerem OpenSSH, wystarczy, że w pliku sshd_config obecna jest dyrektywa Subsystem sftp, wskazująca na binarkę sftp-server. Częstym wymaganiem administracyjnym jest ograniczenie użytkownika wyłącznie do transferu plików, bez pełnego dostępu do powłoki systemowej — służy do tego blok Match Group, przypisany do konkretnej grupy sftpusers. ChrootDirectory zamyka użytkownika w konkretnym katalogu, %u automatycznie podstawia nazwę użytkownika, ForceCommand internal-sftp wymusza, że jedyną dostępną operacją jest SFTP, a AllowTcpForwarding i X11Forwarding ustawione na no dodatkowo zawężają uprawnienia sesji, uniemożliwiając użycie połączenia SSH do czegokolwiek poza transferem plików.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Zanim ChrootDirectory w ogóle zadziała, trzeba przygotować konta i katalogi. Tworzymy grupę sftpusers, a następnie konto użytkownika z powłoką /usr/sbin/nologin, żeby nie mógł zalogować się interaktywną sesją shellową — jedyne, co może zrobić, to transfer plików przez SFTP. Teraz absolutnie krytyczny szczegół, o którym wspominałem przy omawianiu artykułu — katalog wskazany jako ChrootDirectory musi należeć do root:root i nie może mieć prawa zapisu dla grupy ani innych, w naszym przypadku chmod 755. Jeśli o tym zapomnicie, sshd odmówi w ogóle uruchomienia sesji, zgłaszając błąd o nieprawidłowym właścicielu lub trybie dostępu. Dlatego faktyczny katalog roboczy, do którego klient ma zapisywać pliki, tworzymy jako podkatalog, na przykład pliki, i dopiero jemu nadajemy własność konta klienckiego z prawem zapisu. Po stronie klienta zalecamy uwierzytelnianie kluczem publicznym zamiast hasłem — generujemy parę kluczy ssh-keygen, kopiujemy klucz publiczny na serwer ssh-copy-id, a następnie wyłączamy logowanie hasłem w sshd_config dyrektywą PasswordAuthentication no, co eliminuje możliwość ataku brute-force na hasła. Na dole widzicie zbiorcze porównanie trzech protokołów — zwróćcie uwagę, że SFTP wygrywa praktycznie na każdym polu: pełne szyfrowanie, jeden port, elastyczne uwierzytelnianie i bardzo dobra współpraca z NAT i firewallami, dlatego to on jest dziś standardem dla nowych wdrożeń.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Zbierzmy teraz w jedną checklistę kluczowe zasady utwardzania konfiguracji, o których mówiliśmy przy okazji poszczególnych tematów. Po pierwsze, HTTPS wszędzie — żaden ruch nie powinien zostawać na niezaszyfrowanym HTTP, zawsze przekierowujcie na HTTPS i stosujcie HSTS, które omawialiśmy przy Nginx. Po drugie, automatyzujcie odnawianie certyfikatów przez certbot renew w zadaniu cron albo timerze systemd — ręczne odnawianie co 90 dni to proszenie się o kłopoty, bo prędzej czy później ktoś o tym zapomni. Po trzecie, zawsze wyłączajcie przestarzałe protokoły TLS, czyli SSLv3 oraz TLS w wersjach 1.0 i 1.1, razem ze słabymi zestawami szyfrów — to mieliśmy skonfigurowane zarówno w Apache, jak i w Nginx. Po czwarte, ograniczcie nagłówki ujawniające wersję oprogramowania serwera — ServerTokens Prod w Apache albo server_tokens off w Nginx — bo każda informacja o konkretnej wersji ułatwia atakującemu dobór znanych podatności. Po piąte, wdrażajcie fail2ban dla usług vsftpd i sshd — automatycznie blokuje adresy IP po określonej liczbie nieudanych prób logowania, co skutecznie ogranicza ataki brute-force. I po szóste, zawsze gdy to możliwe, preferujcie SFTP nad klasycznym FTP czy nawet FTPS w nowych wdrożeniach — mniejsza powierzchnia ataku i prostsza obsługa firewalla to argumenty trudne do podważenia.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 koniec zestaw narzędzi diagnostycznych, które powinniście znać na pamięć, bo w realnej pracy administratora prędzej czy później każde z nich się przyda. apache2ctl -S albo nginx -T pokazuje pełną, przetworzoną konfigurację wszystkich wirtualnych hostów — bardzo przydatne, kiedy nie jesteście pewni, która konfiguracja faktycznie jest aktywna. curl -I pozwala szybko sprawdzić nagłówki odpowiedzi i kod statusu bez otwierania przeglądarki. openssl s_client, które już poznaliśmy, służy do inspekcji certyfikatu i przebiegu negocjacji TLS. tail -f na pliku logu błędów pokazuje zdarzenia w czasie rzeczywistym, co jest nieocenione przy debugowaniu na żywo. journalctl -u vsftpd -f robi to samo dla usługi FTP, korzystając z systemowego dziennika zdarzeń. ss -tulpn z grep pozwala zweryfikować, czy dana usługa faktycznie nasłuchuje na oczekiwanym porcie — klasyczny pierwszy krok, gdy coś w ogóle nie odpowiada. A sshd -T wyświetla efektywną, w pełni przetworzoną konfigurację demona SSH, uwzględniającą wszystkie bloki Match, co bywa zaskakujące, bo efektywne ustawienia często różnią się od tego, co widać w samym pliku konfiguracyjnym na pierwszy rzut oka. Podsumowując całe dzisiejsze zajęcia — bezpieczne wdrożenie serwera WWW zawsze opiera się na trzech filarach, które dziś poznaliśmy: elastycznej obsłudze wielu domen przez wirtualne hosty, pełnym szyfrowaniu transmisji przez SSL i TLS, najlepiej zautomatyzowanym Certbotem, oraz bezpiecznym kanałem transferu plików, gdzie SFTP zdecydowanie wypiera klasyczny FTP. Zapamiętajcie, że żaden z tych elementów nie jest jednorazowym zadaniem — certyfikaty wygasają, klucze trzeba rotować, konfiguracje trzeba regularnie audytować. Jednorazowe wdrożenie bez planu utrzymania to w praktyce najczęstsza przyczyna incydentów bezpieczeństwa, z jakimi spotkacie się w swojej karierze zawodowej. To wszystko na dziś, dziękuję za uwagę — zapraszam do pytań.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9509760" y="-1097280"/>
            <a:ext cx="4572000" cy="4572000"/>
          </a:xfrm>
          <a:prstGeom prst="ellipse">
            <a:avLst/>
          </a:prstGeom>
          <a:solidFill>
            <a:srgbClr val="38BDF8">
              <a:alpha val="10000"/>
            </a:srgbClr>
          </a:solidFill>
          <a:ln/>
        </p:spPr>
      </p:sp>
      <p:sp>
        <p:nvSpPr>
          <p:cNvPr id="3" name="Shape 1"/>
          <p:cNvSpPr/>
          <p:nvPr/>
        </p:nvSpPr>
        <p:spPr>
          <a:xfrm>
            <a:off x="-1371600" y="4754880"/>
            <a:ext cx="4114800" cy="4114800"/>
          </a:xfrm>
          <a:prstGeom prst="ellipse">
            <a:avLst/>
          </a:prstGeom>
          <a:solidFill>
            <a:srgbClr val="A78BFA">
              <a:alpha val="8000"/>
            </a:srgbClr>
          </a:solidFill>
          <a:ln/>
        </p:spPr>
      </p:sp>
      <p:sp>
        <p:nvSpPr>
          <p:cNvPr id="4" name="Text 2"/>
          <p:cNvSpPr txBox="1"/>
          <p:nvPr/>
        </p:nvSpPr>
        <p:spPr>
          <a:xfrm>
            <a:off x="822960" y="1737360"/>
            <a:ext cx="9144000" cy="365760"/>
          </a:xfrm>
          <a:prstGeom prst="rect">
            <a:avLst/>
          </a:prstGeom>
          <a:noFill/>
          <a:ln/>
        </p:spPr>
        <p:txBody>
          <a:bodyPr wrap="square" lIns="0" tIns="0" rIns="0" bIns="0" rtlCol="0" anchor="ctr"/>
          <a:lstStyle/>
          <a:p>
            <a:pPr indent="0" marL="0">
              <a:buNone/>
            </a:pPr>
            <a:r>
              <a:rPr lang="en-US" sz="1400" b="1" spc="300" kern="0" dirty="0">
                <a:solidFill>
                  <a:srgbClr val="38BDF8"/>
                </a:solidFill>
                <a:latin typeface="Calibri" pitchFamily="34" charset="0"/>
                <a:ea typeface="Calibri" pitchFamily="34" charset="-122"/>
                <a:cs typeface="Calibri" pitchFamily="34" charset="-120"/>
              </a:rPr>
              <a:t>ADMINISTRACJA SYSTEMAMI UNIKSOWYMI</a:t>
            </a:r>
            <a:endParaRPr lang="en-US" sz="1400" dirty="0"/>
          </a:p>
        </p:txBody>
      </p:sp>
      <p:sp>
        <p:nvSpPr>
          <p:cNvPr id="5" name="Text 3"/>
          <p:cNvSpPr txBox="1"/>
          <p:nvPr/>
        </p:nvSpPr>
        <p:spPr>
          <a:xfrm>
            <a:off x="822960" y="2194560"/>
            <a:ext cx="10424160" cy="1920240"/>
          </a:xfrm>
          <a:prstGeom prst="rect">
            <a:avLst/>
          </a:prstGeom>
          <a:noFill/>
          <a:ln/>
        </p:spPr>
        <p:txBody>
          <a:bodyPr wrap="square" lIns="0" tIns="0" rIns="0" bIns="0" rtlCol="0" anchor="ctr"/>
          <a:lstStyle/>
          <a:p>
            <a:pPr indent="0" marL="0">
              <a:lnSpc>
                <a:spcPct val="108000"/>
              </a:lnSpc>
              <a:buNone/>
            </a:pPr>
            <a:r>
              <a:rPr lang="en-US" sz="3800" b="1" dirty="0">
                <a:solidFill>
                  <a:srgbClr val="FFFFFF"/>
                </a:solidFill>
                <a:latin typeface="Cambria" pitchFamily="34" charset="0"/>
                <a:ea typeface="Cambria" pitchFamily="34" charset="-122"/>
                <a:cs typeface="Cambria" pitchFamily="34" charset="-120"/>
              </a:rPr>
              <a:t>Wdrażanie serwera WWW (Apache/Nginx)</a:t>
            </a:r>
            <a:endParaRPr lang="en-US" sz="3800" dirty="0"/>
          </a:p>
          <a:p>
            <a:pPr indent="0" marL="0">
              <a:lnSpc>
                <a:spcPct val="108000"/>
              </a:lnSpc>
              <a:buNone/>
            </a:pPr>
            <a:r>
              <a:rPr lang="en-US" sz="3800" b="1" dirty="0">
                <a:solidFill>
                  <a:srgbClr val="FFFFFF"/>
                </a:solidFill>
                <a:latin typeface="Cambria" pitchFamily="34" charset="0"/>
                <a:ea typeface="Cambria" pitchFamily="34" charset="-122"/>
                <a:cs typeface="Cambria" pitchFamily="34" charset="-120"/>
              </a:rPr>
              <a:t>i bezpiecznego transferu plików</a:t>
            </a:r>
            <a:endParaRPr lang="en-US" sz="3800" dirty="0"/>
          </a:p>
        </p:txBody>
      </p:sp>
      <p:sp>
        <p:nvSpPr>
          <p:cNvPr id="6" name="Text 4"/>
          <p:cNvSpPr txBox="1"/>
          <p:nvPr/>
        </p:nvSpPr>
        <p:spPr>
          <a:xfrm>
            <a:off x="822960" y="4160520"/>
            <a:ext cx="9601200" cy="457200"/>
          </a:xfrm>
          <a:prstGeom prst="rect">
            <a:avLst/>
          </a:prstGeom>
          <a:noFill/>
          <a:ln/>
        </p:spPr>
        <p:txBody>
          <a:bodyPr wrap="square" lIns="0" tIns="0" rIns="0" bIns="0" rtlCol="0" anchor="ctr"/>
          <a:lstStyle/>
          <a:p>
            <a:pPr indent="0" marL="0">
              <a:buNone/>
            </a:pPr>
            <a:r>
              <a:rPr lang="en-US" sz="1700" dirty="0">
                <a:solidFill>
                  <a:srgbClr val="94A3B8"/>
                </a:solidFill>
                <a:latin typeface="Calibri" pitchFamily="34" charset="0"/>
                <a:ea typeface="Calibri" pitchFamily="34" charset="-122"/>
                <a:cs typeface="Calibri" pitchFamily="34" charset="-120"/>
              </a:rPr>
              <a:t>Wirtualne hosty  •  SSL/TLS (OpenSSL)  •  vsftpd / SFTP</a:t>
            </a:r>
            <a:endParaRPr lang="en-US" sz="1700" dirty="0"/>
          </a:p>
        </p:txBody>
      </p:sp>
      <p:sp>
        <p:nvSpPr>
          <p:cNvPr id="7" name="Shape 5"/>
          <p:cNvSpPr/>
          <p:nvPr/>
        </p:nvSpPr>
        <p:spPr>
          <a:xfrm>
            <a:off x="822960" y="4937760"/>
            <a:ext cx="1837944" cy="457200"/>
          </a:xfrm>
          <a:prstGeom prst="roundRect">
            <a:avLst>
              <a:gd name="adj" fmla="val 50000"/>
            </a:avLst>
          </a:prstGeom>
          <a:solidFill>
            <a:srgbClr val="121B2E"/>
          </a:solidFill>
          <a:ln w="15875">
            <a:solidFill>
              <a:srgbClr val="38BDF8"/>
            </a:solidFill>
            <a:prstDash val="solid"/>
          </a:ln>
        </p:spPr>
      </p:sp>
      <p:sp>
        <p:nvSpPr>
          <p:cNvPr id="8" name="Text 6"/>
          <p:cNvSpPr txBox="1"/>
          <p:nvPr/>
        </p:nvSpPr>
        <p:spPr>
          <a:xfrm>
            <a:off x="822960" y="4937760"/>
            <a:ext cx="1837944" cy="457200"/>
          </a:xfrm>
          <a:prstGeom prst="rect">
            <a:avLst/>
          </a:prstGeom>
          <a:noFill/>
          <a:ln/>
        </p:spPr>
        <p:txBody>
          <a:bodyPr wrap="square" lIns="0" tIns="0" rIns="0" bIns="0" rtlCol="0" anchor="ctr"/>
          <a:lstStyle/>
          <a:p>
            <a:pPr algn="ctr" indent="0" marL="0">
              <a:buNone/>
            </a:pPr>
            <a:r>
              <a:rPr lang="en-US" sz="1300" dirty="0">
                <a:solidFill>
                  <a:srgbClr val="38BDF8"/>
                </a:solidFill>
                <a:latin typeface="Consolas" pitchFamily="34" charset="0"/>
                <a:ea typeface="Consolas" pitchFamily="34" charset="-122"/>
                <a:cs typeface="Consolas" pitchFamily="34" charset="-120"/>
              </a:rPr>
              <a:t>Apache / Nginx</a:t>
            </a:r>
            <a:endParaRPr lang="en-US" sz="1300" dirty="0"/>
          </a:p>
        </p:txBody>
      </p:sp>
      <p:sp>
        <p:nvSpPr>
          <p:cNvPr id="9" name="Shape 7"/>
          <p:cNvSpPr/>
          <p:nvPr/>
        </p:nvSpPr>
        <p:spPr>
          <a:xfrm>
            <a:off x="2889504" y="4937760"/>
            <a:ext cx="2153412" cy="457200"/>
          </a:xfrm>
          <a:prstGeom prst="roundRect">
            <a:avLst>
              <a:gd name="adj" fmla="val 50000"/>
            </a:avLst>
          </a:prstGeom>
          <a:solidFill>
            <a:srgbClr val="121B2E"/>
          </a:solidFill>
          <a:ln w="15875">
            <a:solidFill>
              <a:srgbClr val="A78BFA"/>
            </a:solidFill>
            <a:prstDash val="solid"/>
          </a:ln>
        </p:spPr>
      </p:sp>
      <p:sp>
        <p:nvSpPr>
          <p:cNvPr id="10" name="Text 8"/>
          <p:cNvSpPr txBox="1"/>
          <p:nvPr/>
        </p:nvSpPr>
        <p:spPr>
          <a:xfrm>
            <a:off x="2889504" y="4937760"/>
            <a:ext cx="2153412" cy="457200"/>
          </a:xfrm>
          <a:prstGeom prst="rect">
            <a:avLst/>
          </a:prstGeom>
          <a:noFill/>
          <a:ln/>
        </p:spPr>
        <p:txBody>
          <a:bodyPr wrap="square" lIns="0" tIns="0" rIns="0" bIns="0" rtlCol="0" anchor="ctr"/>
          <a:lstStyle/>
          <a:p>
            <a:pPr algn="ctr" indent="0" marL="0">
              <a:buNone/>
            </a:pPr>
            <a:r>
              <a:rPr lang="en-US" sz="1300" dirty="0">
                <a:solidFill>
                  <a:srgbClr val="A78BFA"/>
                </a:solidFill>
                <a:latin typeface="Consolas" pitchFamily="34" charset="0"/>
                <a:ea typeface="Consolas" pitchFamily="34" charset="-122"/>
                <a:cs typeface="Consolas" pitchFamily="34" charset="-120"/>
              </a:rPr>
              <a:t>openssl / certbot</a:t>
            </a:r>
            <a:endParaRPr lang="en-US" sz="1300" dirty="0"/>
          </a:p>
        </p:txBody>
      </p:sp>
      <p:sp>
        <p:nvSpPr>
          <p:cNvPr id="11" name="Shape 9"/>
          <p:cNvSpPr/>
          <p:nvPr/>
        </p:nvSpPr>
        <p:spPr>
          <a:xfrm>
            <a:off x="5271516" y="4937760"/>
            <a:ext cx="1732788" cy="457200"/>
          </a:xfrm>
          <a:prstGeom prst="roundRect">
            <a:avLst>
              <a:gd name="adj" fmla="val 50000"/>
            </a:avLst>
          </a:prstGeom>
          <a:solidFill>
            <a:srgbClr val="121B2E"/>
          </a:solidFill>
          <a:ln w="15875">
            <a:solidFill>
              <a:srgbClr val="2DD4BF"/>
            </a:solidFill>
            <a:prstDash val="solid"/>
          </a:ln>
        </p:spPr>
      </p:sp>
      <p:sp>
        <p:nvSpPr>
          <p:cNvPr id="12" name="Text 10"/>
          <p:cNvSpPr txBox="1"/>
          <p:nvPr/>
        </p:nvSpPr>
        <p:spPr>
          <a:xfrm>
            <a:off x="5271516" y="4937760"/>
            <a:ext cx="1732788" cy="457200"/>
          </a:xfrm>
          <a:prstGeom prst="rect">
            <a:avLst/>
          </a:prstGeom>
          <a:noFill/>
          <a:ln/>
        </p:spPr>
        <p:txBody>
          <a:bodyPr wrap="square" lIns="0" tIns="0" rIns="0" bIns="0" rtlCol="0" anchor="ctr"/>
          <a:lstStyle/>
          <a:p>
            <a:pPr algn="ctr" indent="0" marL="0">
              <a:buNone/>
            </a:pPr>
            <a:r>
              <a:rPr lang="en-US" sz="1300" dirty="0">
                <a:solidFill>
                  <a:srgbClr val="2DD4BF"/>
                </a:solidFill>
                <a:latin typeface="Consolas" pitchFamily="34" charset="0"/>
                <a:ea typeface="Consolas" pitchFamily="34" charset="-122"/>
                <a:cs typeface="Consolas" pitchFamily="34" charset="-120"/>
              </a:rPr>
              <a:t>vsftpd / SFTP</a:t>
            </a:r>
            <a:endParaRPr lang="en-US" sz="1300" dirty="0"/>
          </a:p>
        </p:txBody>
      </p:sp>
      <p:sp>
        <p:nvSpPr>
          <p:cNvPr id="13" name="Text 11"/>
          <p:cNvSpPr txBox="1"/>
          <p:nvPr/>
        </p:nvSpPr>
        <p:spPr>
          <a:xfrm>
            <a:off x="822960" y="6263640"/>
            <a:ext cx="9144000" cy="32004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Kwalifikacja INF.02  •  Administrowanie serwerowymi systemami operacyjnymi</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indent="0" marL="0">
              <a:buNone/>
            </a:pPr>
            <a:r>
              <a:rPr lang="en-US" sz="1200" b="1" spc="200" kern="0" dirty="0">
                <a:solidFill>
                  <a:srgbClr val="38BDF8"/>
                </a:solidFill>
                <a:latin typeface="Calibri" pitchFamily="34" charset="0"/>
                <a:ea typeface="Calibri" pitchFamily="34" charset="-122"/>
                <a:cs typeface="Calibri" pitchFamily="34" charset="-120"/>
              </a:rPr>
              <a:t>PLAN ZAJĘĆ</a:t>
            </a:r>
            <a:endParaRPr lang="en-US" sz="1200" dirty="0"/>
          </a:p>
        </p:txBody>
      </p:sp>
      <p:sp>
        <p:nvSpPr>
          <p:cNvPr id="3" name="Text 1"/>
          <p:cNvSpPr txBox="1"/>
          <p:nvPr/>
        </p:nvSpPr>
        <p:spPr>
          <a:xfrm>
            <a:off x="548640" y="411480"/>
            <a:ext cx="11064240" cy="868680"/>
          </a:xfrm>
          <a:prstGeom prst="rect">
            <a:avLst/>
          </a:prstGeom>
          <a:noFill/>
          <a:ln/>
        </p:spPr>
        <p:txBody>
          <a:bodyPr wrap="square" lIns="0" tIns="0" rIns="0" bIns="0" rtlCol="0" anchor="ctr"/>
          <a:lstStyle/>
          <a:p>
            <a:pPr algn="l" indent="0" marL="0">
              <a:buNone/>
            </a:pPr>
            <a:r>
              <a:rPr lang="en-US" sz="3000" b="1" dirty="0">
                <a:solidFill>
                  <a:srgbClr val="0F172A"/>
                </a:solidFill>
                <a:latin typeface="Cambria" pitchFamily="34" charset="0"/>
                <a:ea typeface="Cambria" pitchFamily="34" charset="-122"/>
                <a:cs typeface="Cambria" pitchFamily="34" charset="-120"/>
              </a:rPr>
              <a:t>Agenda</a:t>
            </a:r>
            <a:endParaRPr lang="en-US" sz="3000" dirty="0"/>
          </a:p>
        </p:txBody>
      </p:sp>
      <p:sp>
        <p:nvSpPr>
          <p:cNvPr id="4" name="Text 2"/>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PLAN ZAJĘĆ</a:t>
            </a:r>
            <a:endParaRPr lang="en-US" sz="1000" dirty="0"/>
          </a:p>
        </p:txBody>
      </p:sp>
      <p:sp>
        <p:nvSpPr>
          <p:cNvPr id="5" name="Text 3"/>
          <p:cNvSpPr txBox="1"/>
          <p:nvPr/>
        </p:nvSpPr>
        <p:spPr>
          <a:xfrm>
            <a:off x="11430000" y="6510528"/>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2</a:t>
            </a:r>
            <a:endParaRPr lang="en-US" sz="1000" dirty="0"/>
          </a:p>
        </p:txBody>
      </p:sp>
      <p:sp>
        <p:nvSpPr>
          <p:cNvPr id="6" name="Shape 4"/>
          <p:cNvSpPr/>
          <p:nvPr/>
        </p:nvSpPr>
        <p:spPr>
          <a:xfrm>
            <a:off x="548640" y="1600200"/>
            <a:ext cx="11064240" cy="1051560"/>
          </a:xfrm>
          <a:prstGeom prst="roundRect">
            <a:avLst>
              <a:gd name="adj" fmla="val 6957"/>
            </a:avLst>
          </a:prstGeom>
          <a:solidFill>
            <a:srgbClr val="F1F5F9"/>
          </a:solidFill>
          <a:ln/>
        </p:spPr>
      </p:sp>
      <p:sp>
        <p:nvSpPr>
          <p:cNvPr id="7" name="Text 5"/>
          <p:cNvSpPr txBox="1"/>
          <p:nvPr/>
        </p:nvSpPr>
        <p:spPr>
          <a:xfrm>
            <a:off x="822960" y="1709928"/>
            <a:ext cx="914400" cy="822960"/>
          </a:xfrm>
          <a:prstGeom prst="rect">
            <a:avLst/>
          </a:prstGeom>
          <a:noFill/>
          <a:ln/>
        </p:spPr>
        <p:txBody>
          <a:bodyPr wrap="square" lIns="0" tIns="0" rIns="0" bIns="0" rtlCol="0" anchor="ctr"/>
          <a:lstStyle/>
          <a:p>
            <a:pPr algn="l" indent="0" marL="0">
              <a:buNone/>
            </a:pPr>
            <a:r>
              <a:rPr lang="en-US" sz="3000" b="1" dirty="0">
                <a:solidFill>
                  <a:srgbClr val="38BDF8"/>
                </a:solidFill>
                <a:latin typeface="Cambria" pitchFamily="34" charset="0"/>
                <a:ea typeface="Cambria" pitchFamily="34" charset="-122"/>
                <a:cs typeface="Cambria" pitchFamily="34" charset="-120"/>
              </a:rPr>
              <a:t>01</a:t>
            </a:r>
            <a:endParaRPr lang="en-US" sz="3000" dirty="0"/>
          </a:p>
        </p:txBody>
      </p:sp>
      <p:sp>
        <p:nvSpPr>
          <p:cNvPr id="8" name="Text 6"/>
          <p:cNvSpPr txBox="1"/>
          <p:nvPr/>
        </p:nvSpPr>
        <p:spPr>
          <a:xfrm>
            <a:off x="1828800" y="1737360"/>
            <a:ext cx="5943600" cy="457200"/>
          </a:xfrm>
          <a:prstGeom prst="rect">
            <a:avLst/>
          </a:prstGeom>
          <a:noFill/>
          <a:ln/>
        </p:spPr>
        <p:txBody>
          <a:bodyPr wrap="square" lIns="0" tIns="0" rIns="0" bIns="0" rtlCol="0" anchor="ctr"/>
          <a:lstStyle/>
          <a:p>
            <a:pPr indent="0" marL="0">
              <a:buNone/>
            </a:pPr>
            <a:r>
              <a:rPr lang="en-US" sz="1800" b="1" dirty="0">
                <a:solidFill>
                  <a:srgbClr val="0F172A"/>
                </a:solidFill>
                <a:latin typeface="Calibri" pitchFamily="34" charset="0"/>
                <a:ea typeface="Calibri" pitchFamily="34" charset="-122"/>
                <a:cs typeface="Calibri" pitchFamily="34" charset="-120"/>
              </a:rPr>
              <a:t>Apache vs Nginx</a:t>
            </a:r>
            <a:endParaRPr lang="en-US" sz="1800" dirty="0"/>
          </a:p>
        </p:txBody>
      </p:sp>
      <p:sp>
        <p:nvSpPr>
          <p:cNvPr id="9" name="Text 7"/>
          <p:cNvSpPr txBox="1"/>
          <p:nvPr/>
        </p:nvSpPr>
        <p:spPr>
          <a:xfrm>
            <a:off x="1828800" y="2148840"/>
            <a:ext cx="8503920" cy="411480"/>
          </a:xfrm>
          <a:prstGeom prst="rect">
            <a:avLst/>
          </a:prstGeom>
          <a:noFill/>
          <a:ln/>
        </p:spPr>
        <p:txBody>
          <a:bodyPr wrap="square" lIns="0" tIns="0" rIns="0" bIns="0" rtlCol="0" anchor="ctr"/>
          <a:lstStyle/>
          <a:p>
            <a:pPr indent="0" marL="0">
              <a:buNone/>
            </a:pPr>
            <a:r>
              <a:rPr lang="en-US" sz="1300" dirty="0">
                <a:solidFill>
                  <a:srgbClr val="475569"/>
                </a:solidFill>
                <a:latin typeface="Calibri" pitchFamily="34" charset="0"/>
                <a:ea typeface="Calibri" pitchFamily="34" charset="-122"/>
                <a:cs typeface="Calibri" pitchFamily="34" charset="-120"/>
              </a:rPr>
              <a:t>różnice architektoniczne, instalacja, wirtualne hosty / server blocks</a:t>
            </a:r>
            <a:endParaRPr lang="en-US" sz="1300" dirty="0"/>
          </a:p>
        </p:txBody>
      </p:sp>
      <p:sp>
        <p:nvSpPr>
          <p:cNvPr id="10" name="Shape 8"/>
          <p:cNvSpPr/>
          <p:nvPr/>
        </p:nvSpPr>
        <p:spPr>
          <a:xfrm>
            <a:off x="548640" y="2816352"/>
            <a:ext cx="11064240" cy="1051560"/>
          </a:xfrm>
          <a:prstGeom prst="roundRect">
            <a:avLst>
              <a:gd name="adj" fmla="val 6957"/>
            </a:avLst>
          </a:prstGeom>
          <a:solidFill>
            <a:srgbClr val="F1F5F9"/>
          </a:solidFill>
          <a:ln/>
        </p:spPr>
      </p:sp>
      <p:sp>
        <p:nvSpPr>
          <p:cNvPr id="11" name="Text 9"/>
          <p:cNvSpPr txBox="1"/>
          <p:nvPr/>
        </p:nvSpPr>
        <p:spPr>
          <a:xfrm>
            <a:off x="822960" y="2926080"/>
            <a:ext cx="914400" cy="822960"/>
          </a:xfrm>
          <a:prstGeom prst="rect">
            <a:avLst/>
          </a:prstGeom>
          <a:noFill/>
          <a:ln/>
        </p:spPr>
        <p:txBody>
          <a:bodyPr wrap="square" lIns="0" tIns="0" rIns="0" bIns="0" rtlCol="0" anchor="ctr"/>
          <a:lstStyle/>
          <a:p>
            <a:pPr algn="l" indent="0" marL="0">
              <a:buNone/>
            </a:pPr>
            <a:r>
              <a:rPr lang="en-US" sz="3000" b="1" dirty="0">
                <a:solidFill>
                  <a:srgbClr val="A78BFA"/>
                </a:solidFill>
                <a:latin typeface="Cambria" pitchFamily="34" charset="0"/>
                <a:ea typeface="Cambria" pitchFamily="34" charset="-122"/>
                <a:cs typeface="Cambria" pitchFamily="34" charset="-120"/>
              </a:rPr>
              <a:t>02</a:t>
            </a:r>
            <a:endParaRPr lang="en-US" sz="3000" dirty="0"/>
          </a:p>
        </p:txBody>
      </p:sp>
      <p:sp>
        <p:nvSpPr>
          <p:cNvPr id="12" name="Text 10"/>
          <p:cNvSpPr txBox="1"/>
          <p:nvPr/>
        </p:nvSpPr>
        <p:spPr>
          <a:xfrm>
            <a:off x="1828800" y="2953512"/>
            <a:ext cx="5943600" cy="457200"/>
          </a:xfrm>
          <a:prstGeom prst="rect">
            <a:avLst/>
          </a:prstGeom>
          <a:noFill/>
          <a:ln/>
        </p:spPr>
        <p:txBody>
          <a:bodyPr wrap="square" lIns="0" tIns="0" rIns="0" bIns="0" rtlCol="0" anchor="ctr"/>
          <a:lstStyle/>
          <a:p>
            <a:pPr indent="0" marL="0">
              <a:buNone/>
            </a:pPr>
            <a:r>
              <a:rPr lang="en-US" sz="1800" b="1" dirty="0">
                <a:solidFill>
                  <a:srgbClr val="0F172A"/>
                </a:solidFill>
                <a:latin typeface="Calibri" pitchFamily="34" charset="0"/>
                <a:ea typeface="Calibri" pitchFamily="34" charset="-122"/>
                <a:cs typeface="Calibri" pitchFamily="34" charset="-120"/>
              </a:rPr>
              <a:t>SSL/TLS i OpenSSL</a:t>
            </a:r>
            <a:endParaRPr lang="en-US" sz="1800" dirty="0"/>
          </a:p>
        </p:txBody>
      </p:sp>
      <p:sp>
        <p:nvSpPr>
          <p:cNvPr id="13" name="Text 11"/>
          <p:cNvSpPr txBox="1"/>
          <p:nvPr/>
        </p:nvSpPr>
        <p:spPr>
          <a:xfrm>
            <a:off x="1828800" y="3364992"/>
            <a:ext cx="8503920" cy="411480"/>
          </a:xfrm>
          <a:prstGeom prst="rect">
            <a:avLst/>
          </a:prstGeom>
          <a:noFill/>
          <a:ln/>
        </p:spPr>
        <p:txBody>
          <a:bodyPr wrap="square" lIns="0" tIns="0" rIns="0" bIns="0" rtlCol="0" anchor="ctr"/>
          <a:lstStyle/>
          <a:p>
            <a:pPr indent="0" marL="0">
              <a:buNone/>
            </a:pPr>
            <a:r>
              <a:rPr lang="en-US" sz="1300" dirty="0">
                <a:solidFill>
                  <a:srgbClr val="475569"/>
                </a:solidFill>
                <a:latin typeface="Calibri" pitchFamily="34" charset="0"/>
                <a:ea typeface="Calibri" pitchFamily="34" charset="-122"/>
                <a:cs typeface="Calibri" pitchFamily="34" charset="-120"/>
              </a:rPr>
              <a:t>cykl życia certyfikatu, self-signed, CSR, Certbot, konfiguracja HTTPS</a:t>
            </a:r>
            <a:endParaRPr lang="en-US" sz="1300" dirty="0"/>
          </a:p>
        </p:txBody>
      </p:sp>
      <p:sp>
        <p:nvSpPr>
          <p:cNvPr id="14" name="Shape 12"/>
          <p:cNvSpPr/>
          <p:nvPr/>
        </p:nvSpPr>
        <p:spPr>
          <a:xfrm>
            <a:off x="548640" y="4032504"/>
            <a:ext cx="11064240" cy="1051560"/>
          </a:xfrm>
          <a:prstGeom prst="roundRect">
            <a:avLst>
              <a:gd name="adj" fmla="val 6957"/>
            </a:avLst>
          </a:prstGeom>
          <a:solidFill>
            <a:srgbClr val="F1F5F9"/>
          </a:solidFill>
          <a:ln/>
        </p:spPr>
      </p:sp>
      <p:sp>
        <p:nvSpPr>
          <p:cNvPr id="15" name="Text 13"/>
          <p:cNvSpPr txBox="1"/>
          <p:nvPr/>
        </p:nvSpPr>
        <p:spPr>
          <a:xfrm>
            <a:off x="822960" y="4142232"/>
            <a:ext cx="914400" cy="822960"/>
          </a:xfrm>
          <a:prstGeom prst="rect">
            <a:avLst/>
          </a:prstGeom>
          <a:noFill/>
          <a:ln/>
        </p:spPr>
        <p:txBody>
          <a:bodyPr wrap="square" lIns="0" tIns="0" rIns="0" bIns="0" rtlCol="0" anchor="ctr"/>
          <a:lstStyle/>
          <a:p>
            <a:pPr algn="l" indent="0" marL="0">
              <a:buNone/>
            </a:pPr>
            <a:r>
              <a:rPr lang="en-US" sz="3000" b="1" dirty="0">
                <a:solidFill>
                  <a:srgbClr val="2DD4BF"/>
                </a:solidFill>
                <a:latin typeface="Cambria" pitchFamily="34" charset="0"/>
                <a:ea typeface="Cambria" pitchFamily="34" charset="-122"/>
                <a:cs typeface="Cambria" pitchFamily="34" charset="-120"/>
              </a:rPr>
              <a:t>03</a:t>
            </a:r>
            <a:endParaRPr lang="en-US" sz="3000" dirty="0"/>
          </a:p>
        </p:txBody>
      </p:sp>
      <p:sp>
        <p:nvSpPr>
          <p:cNvPr id="16" name="Text 14"/>
          <p:cNvSpPr txBox="1"/>
          <p:nvPr/>
        </p:nvSpPr>
        <p:spPr>
          <a:xfrm>
            <a:off x="1828800" y="4169664"/>
            <a:ext cx="5943600" cy="457200"/>
          </a:xfrm>
          <a:prstGeom prst="rect">
            <a:avLst/>
          </a:prstGeom>
          <a:noFill/>
          <a:ln/>
        </p:spPr>
        <p:txBody>
          <a:bodyPr wrap="square" lIns="0" tIns="0" rIns="0" bIns="0" rtlCol="0" anchor="ctr"/>
          <a:lstStyle/>
          <a:p>
            <a:pPr indent="0" marL="0">
              <a:buNone/>
            </a:pPr>
            <a:r>
              <a:rPr lang="en-US" sz="1800" b="1" dirty="0">
                <a:solidFill>
                  <a:srgbClr val="0F172A"/>
                </a:solidFill>
                <a:latin typeface="Calibri" pitchFamily="34" charset="0"/>
                <a:ea typeface="Calibri" pitchFamily="34" charset="-122"/>
                <a:cs typeface="Calibri" pitchFamily="34" charset="-120"/>
              </a:rPr>
              <a:t>FTP, FTPS i SFTP</a:t>
            </a:r>
            <a:endParaRPr lang="en-US" sz="1800" dirty="0"/>
          </a:p>
        </p:txBody>
      </p:sp>
      <p:sp>
        <p:nvSpPr>
          <p:cNvPr id="17" name="Text 15"/>
          <p:cNvSpPr txBox="1"/>
          <p:nvPr/>
        </p:nvSpPr>
        <p:spPr>
          <a:xfrm>
            <a:off x="1828800" y="4581144"/>
            <a:ext cx="8503920" cy="411480"/>
          </a:xfrm>
          <a:prstGeom prst="rect">
            <a:avLst/>
          </a:prstGeom>
          <a:noFill/>
          <a:ln/>
        </p:spPr>
        <p:txBody>
          <a:bodyPr wrap="square" lIns="0" tIns="0" rIns="0" bIns="0" rtlCol="0" anchor="ctr"/>
          <a:lstStyle/>
          <a:p>
            <a:pPr indent="0" marL="0">
              <a:buNone/>
            </a:pPr>
            <a:r>
              <a:rPr lang="en-US" sz="1300" dirty="0">
                <a:solidFill>
                  <a:srgbClr val="475569"/>
                </a:solidFill>
                <a:latin typeface="Calibri" pitchFamily="34" charset="0"/>
                <a:ea typeface="Calibri" pitchFamily="34" charset="-122"/>
                <a:cs typeface="Calibri" pitchFamily="34" charset="-120"/>
              </a:rPr>
              <a:t>vsftpd, tryb aktywny/pasywny, SFTP przez SSH, chroot, klucze publiczne</a:t>
            </a:r>
            <a:endParaRPr lang="en-US" sz="1300" dirty="0"/>
          </a:p>
        </p:txBody>
      </p:sp>
      <p:sp>
        <p:nvSpPr>
          <p:cNvPr id="18" name="Shape 16"/>
          <p:cNvSpPr/>
          <p:nvPr/>
        </p:nvSpPr>
        <p:spPr>
          <a:xfrm>
            <a:off x="548640" y="5248656"/>
            <a:ext cx="11064240" cy="1051560"/>
          </a:xfrm>
          <a:prstGeom prst="roundRect">
            <a:avLst>
              <a:gd name="adj" fmla="val 6957"/>
            </a:avLst>
          </a:prstGeom>
          <a:solidFill>
            <a:srgbClr val="F1F5F9"/>
          </a:solidFill>
          <a:ln/>
        </p:spPr>
      </p:sp>
      <p:sp>
        <p:nvSpPr>
          <p:cNvPr id="19" name="Text 17"/>
          <p:cNvSpPr txBox="1"/>
          <p:nvPr/>
        </p:nvSpPr>
        <p:spPr>
          <a:xfrm>
            <a:off x="822960" y="5358384"/>
            <a:ext cx="914400" cy="822960"/>
          </a:xfrm>
          <a:prstGeom prst="rect">
            <a:avLst/>
          </a:prstGeom>
          <a:noFill/>
          <a:ln/>
        </p:spPr>
        <p:txBody>
          <a:bodyPr wrap="square" lIns="0" tIns="0" rIns="0" bIns="0" rtlCol="0" anchor="ctr"/>
          <a:lstStyle/>
          <a:p>
            <a:pPr algn="l" indent="0" marL="0">
              <a:buNone/>
            </a:pPr>
            <a:r>
              <a:rPr lang="en-US" sz="3000" b="1" dirty="0">
                <a:solidFill>
                  <a:srgbClr val="FBBF24"/>
                </a:solidFill>
                <a:latin typeface="Cambria" pitchFamily="34" charset="0"/>
                <a:ea typeface="Cambria" pitchFamily="34" charset="-122"/>
                <a:cs typeface="Cambria" pitchFamily="34" charset="-120"/>
              </a:rPr>
              <a:t>04</a:t>
            </a:r>
            <a:endParaRPr lang="en-US" sz="3000" dirty="0"/>
          </a:p>
        </p:txBody>
      </p:sp>
      <p:sp>
        <p:nvSpPr>
          <p:cNvPr id="20" name="Text 18"/>
          <p:cNvSpPr txBox="1"/>
          <p:nvPr/>
        </p:nvSpPr>
        <p:spPr>
          <a:xfrm>
            <a:off x="1828800" y="5385816"/>
            <a:ext cx="5943600" cy="457200"/>
          </a:xfrm>
          <a:prstGeom prst="rect">
            <a:avLst/>
          </a:prstGeom>
          <a:noFill/>
          <a:ln/>
        </p:spPr>
        <p:txBody>
          <a:bodyPr wrap="square" lIns="0" tIns="0" rIns="0" bIns="0" rtlCol="0" anchor="ctr"/>
          <a:lstStyle/>
          <a:p>
            <a:pPr indent="0" marL="0">
              <a:buNone/>
            </a:pPr>
            <a:r>
              <a:rPr lang="en-US" sz="1800" b="1" dirty="0">
                <a:solidFill>
                  <a:srgbClr val="0F172A"/>
                </a:solidFill>
                <a:latin typeface="Calibri" pitchFamily="34" charset="0"/>
                <a:ea typeface="Calibri" pitchFamily="34" charset="-122"/>
                <a:cs typeface="Calibri" pitchFamily="34" charset="-120"/>
              </a:rPr>
              <a:t>Bezpieczeństwo i diagnostyka</a:t>
            </a:r>
            <a:endParaRPr lang="en-US" sz="1800" dirty="0"/>
          </a:p>
        </p:txBody>
      </p:sp>
      <p:sp>
        <p:nvSpPr>
          <p:cNvPr id="21" name="Text 19"/>
          <p:cNvSpPr txBox="1"/>
          <p:nvPr/>
        </p:nvSpPr>
        <p:spPr>
          <a:xfrm>
            <a:off x="1828800" y="5797296"/>
            <a:ext cx="8503920" cy="411480"/>
          </a:xfrm>
          <a:prstGeom prst="rect">
            <a:avLst/>
          </a:prstGeom>
          <a:noFill/>
          <a:ln/>
        </p:spPr>
        <p:txBody>
          <a:bodyPr wrap="square" lIns="0" tIns="0" rIns="0" bIns="0" rtlCol="0" anchor="ctr"/>
          <a:lstStyle/>
          <a:p>
            <a:pPr indent="0" marL="0">
              <a:buNone/>
            </a:pPr>
            <a:r>
              <a:rPr lang="en-US" sz="1300" dirty="0">
                <a:solidFill>
                  <a:srgbClr val="475569"/>
                </a:solidFill>
                <a:latin typeface="Calibri" pitchFamily="34" charset="0"/>
                <a:ea typeface="Calibri" pitchFamily="34" charset="-122"/>
                <a:cs typeface="Calibri" pitchFamily="34" charset="-120"/>
              </a:rPr>
              <a:t>utwardzanie konfiguracji, fail2ban, narzędzia diagnostyczne</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731520" y="2331720"/>
            <a:ext cx="5486400" cy="457200"/>
          </a:xfrm>
          <a:prstGeom prst="rect">
            <a:avLst/>
          </a:prstGeom>
          <a:noFill/>
          <a:ln/>
        </p:spPr>
        <p:txBody>
          <a:bodyPr wrap="square" lIns="0" tIns="0" rIns="0" bIns="0" rtlCol="0" anchor="ctr"/>
          <a:lstStyle/>
          <a:p>
            <a:pPr indent="0" marL="0">
              <a:buNone/>
            </a:pPr>
            <a:r>
              <a:rPr lang="en-US" sz="1600" b="1" spc="300" kern="0" dirty="0">
                <a:solidFill>
                  <a:srgbClr val="38BDF8"/>
                </a:solidFill>
                <a:latin typeface="Calibri" pitchFamily="34" charset="0"/>
                <a:ea typeface="Calibri" pitchFamily="34" charset="-122"/>
                <a:cs typeface="Calibri" pitchFamily="34" charset="-120"/>
              </a:rPr>
              <a:t>CZĘŚĆ 1</a:t>
            </a:r>
            <a:endParaRPr lang="en-US" sz="1600" dirty="0"/>
          </a:p>
        </p:txBody>
      </p:sp>
      <p:sp>
        <p:nvSpPr>
          <p:cNvPr id="3" name="Text 1"/>
          <p:cNvSpPr txBox="1"/>
          <p:nvPr/>
        </p:nvSpPr>
        <p:spPr>
          <a:xfrm>
            <a:off x="731520" y="2743200"/>
            <a:ext cx="10515600" cy="146304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Apache vs Nginx</a:t>
            </a:r>
            <a:endParaRPr lang="en-US" sz="4200" dirty="0"/>
          </a:p>
        </p:txBody>
      </p:sp>
      <p:sp>
        <p:nvSpPr>
          <p:cNvPr id="4" name="Text 2"/>
          <p:cNvSpPr txBox="1"/>
          <p:nvPr/>
        </p:nvSpPr>
        <p:spPr>
          <a:xfrm>
            <a:off x="731520" y="4114800"/>
            <a:ext cx="9875520" cy="822960"/>
          </a:xfrm>
          <a:prstGeom prst="rect">
            <a:avLst/>
          </a:prstGeom>
          <a:noFill/>
          <a:ln/>
        </p:spPr>
        <p:txBody>
          <a:bodyPr wrap="square" lIns="0" tIns="0" rIns="0" bIns="0" rtlCol="0" anchor="ctr"/>
          <a:lstStyle/>
          <a:p>
            <a:pPr indent="0" marL="0">
              <a:buNone/>
            </a:pPr>
            <a:r>
              <a:rPr lang="en-US" sz="1800" dirty="0">
                <a:solidFill>
                  <a:srgbClr val="94A3B8"/>
                </a:solidFill>
                <a:latin typeface="Calibri" pitchFamily="34" charset="0"/>
                <a:ea typeface="Calibri" pitchFamily="34" charset="-122"/>
                <a:cs typeface="Calibri" pitchFamily="34" charset="-120"/>
              </a:rPr>
              <a:t>Dwa filary świata serwerów HTTP — różne podejścia do tego samego problemu</a:t>
            </a:r>
            <a:endParaRPr lang="en-US" sz="1800" dirty="0"/>
          </a:p>
        </p:txBody>
      </p:sp>
      <p:sp>
        <p:nvSpPr>
          <p:cNvPr id="5" name="Shape 3"/>
          <p:cNvSpPr/>
          <p:nvPr/>
        </p:nvSpPr>
        <p:spPr>
          <a:xfrm>
            <a:off x="10332720" y="1097280"/>
            <a:ext cx="1463040" cy="1463040"/>
          </a:xfrm>
          <a:prstGeom prst="ellipse">
            <a:avLst/>
          </a:prstGeom>
          <a:solidFill>
            <a:srgbClr val="38BDF8">
              <a:alpha val="15000"/>
            </a:srgbClr>
          </a:solidFill>
          <a:ln w="19050">
            <a:solidFill>
              <a:srgbClr val="38BDF8"/>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indent="0" marL="0">
              <a:buNone/>
            </a:pPr>
            <a:r>
              <a:rPr lang="en-US" sz="1200" b="1" spc="200" kern="0" dirty="0">
                <a:solidFill>
                  <a:srgbClr val="38BDF8"/>
                </a:solidFill>
                <a:latin typeface="Calibri" pitchFamily="34" charset="0"/>
                <a:ea typeface="Calibri" pitchFamily="34" charset="-122"/>
                <a:cs typeface="Calibri" pitchFamily="34" charset="-120"/>
              </a:rPr>
              <a:t>1. Apache vs Nginx</a:t>
            </a:r>
            <a:endParaRPr lang="en-US" sz="1200" dirty="0"/>
          </a:p>
        </p:txBody>
      </p:sp>
      <p:sp>
        <p:nvSpPr>
          <p:cNvPr id="3" name="Text 1"/>
          <p:cNvSpPr txBox="1"/>
          <p:nvPr/>
        </p:nvSpPr>
        <p:spPr>
          <a:xfrm>
            <a:off x="548640" y="411480"/>
            <a:ext cx="11064240" cy="868680"/>
          </a:xfrm>
          <a:prstGeom prst="rect">
            <a:avLst/>
          </a:prstGeom>
          <a:noFill/>
          <a:ln/>
        </p:spPr>
        <p:txBody>
          <a:bodyPr wrap="square" lIns="0" tIns="0" rIns="0" bIns="0" rtlCol="0" anchor="ctr"/>
          <a:lstStyle/>
          <a:p>
            <a:pPr algn="l" indent="0" marL="0">
              <a:buNone/>
            </a:pPr>
            <a:r>
              <a:rPr lang="en-US" sz="3000" b="1" dirty="0">
                <a:solidFill>
                  <a:srgbClr val="0F172A"/>
                </a:solidFill>
                <a:latin typeface="Cambria" pitchFamily="34" charset="0"/>
                <a:ea typeface="Cambria" pitchFamily="34" charset="-122"/>
                <a:cs typeface="Cambria" pitchFamily="34" charset="-120"/>
              </a:rPr>
              <a:t>Różnice architektoniczne</a:t>
            </a:r>
            <a:endParaRPr lang="en-US" sz="3000" dirty="0"/>
          </a:p>
        </p:txBody>
      </p:sp>
      <p:sp>
        <p:nvSpPr>
          <p:cNvPr id="4" name="Text 2"/>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1. Apache vs Nginx</a:t>
            </a:r>
            <a:endParaRPr lang="en-US" sz="1000" dirty="0"/>
          </a:p>
        </p:txBody>
      </p:sp>
      <p:sp>
        <p:nvSpPr>
          <p:cNvPr id="5" name="Text 3"/>
          <p:cNvSpPr txBox="1"/>
          <p:nvPr/>
        </p:nvSpPr>
        <p:spPr>
          <a:xfrm>
            <a:off x="11430000" y="6510528"/>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4</a:t>
            </a:r>
            <a:endParaRPr lang="en-US" sz="1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109960" cy="914400"/>
        </p:xfrm>
        <a:graphic>
          <a:graphicData uri="http://schemas.openxmlformats.org/drawingml/2006/table">
            <a:tbl>
              <a:tblPr/>
              <a:tblGrid>
                <a:gridCol w="3703320"/>
                <a:gridCol w="3703320"/>
                <a:gridCol w="3703320"/>
              </a:tblGrid>
              <a:tr h="0">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Cecha</a:t>
                      </a:r>
                      <a:endParaRPr lang="en-US" sz="125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Apache (httpd)</a:t>
                      </a:r>
                      <a:endParaRPr lang="en-US" sz="125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Nginx</a:t>
                      </a:r>
                      <a:endParaRPr lang="en-US" sz="125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r>
              <a:tr h="0">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Model obsługi połączeń</a:t>
                      </a:r>
                      <a:endParaRPr lang="en-US" sz="125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procesowy/wątkowy (MPM: prefork, worker, event)</a:t>
                      </a:r>
                      <a:endParaRPr lang="en-US" sz="125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zdarzeniowy, asynchroniczny</a:t>
                      </a:r>
                      <a:endParaRPr lang="en-US" sz="125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0">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Konfiguracja</a:t>
                      </a:r>
                      <a:endParaRPr lang="en-US" sz="125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rozproszona, .htaccess per katalog</a:t>
                      </a:r>
                      <a:endParaRPr lang="en-US" sz="125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scentralizowana, brak .htaccess</a:t>
                      </a:r>
                      <a:endParaRPr lang="en-US" sz="125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r>
              <a:tr h="0">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Typowe zastosowanie</a:t>
                      </a:r>
                      <a:endParaRPr lang="en-US" sz="125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aplikacje wymagające dynamicznej konfiguracji per katalog</a:t>
                      </a:r>
                      <a:endParaRPr lang="en-US" sz="125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serwowanie statyczne, reverse proxy, load balancing</a:t>
                      </a:r>
                      <a:endParaRPr lang="en-US" sz="125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0">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Moduły</a:t>
                      </a:r>
                      <a:endParaRPr lang="en-US" sz="125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mod_php, mod_ssl, mod_rewrite — dynamicznie</a:t>
                      </a:r>
                      <a:endParaRPr lang="en-US" sz="125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mniejszy rdzeń, moduły statyczne/dynamiczne</a:t>
                      </a:r>
                      <a:endParaRPr lang="en-US" sz="125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r>
            </a:tbl>
          </a:graphicData>
        </a:graphic>
      </p:graphicFrame>
      <p:sp>
        <p:nvSpPr>
          <p:cNvPr id="7" name="Shape 4"/>
          <p:cNvSpPr/>
          <p:nvPr/>
        </p:nvSpPr>
        <p:spPr>
          <a:xfrm>
            <a:off x="548640" y="5074920"/>
            <a:ext cx="11109960" cy="960120"/>
          </a:xfrm>
          <a:prstGeom prst="roundRect">
            <a:avLst>
              <a:gd name="adj" fmla="val 7619"/>
            </a:avLst>
          </a:prstGeom>
          <a:solidFill>
            <a:srgbClr val="DBEAFE"/>
          </a:solidFill>
          <a:ln/>
        </p:spPr>
      </p:sp>
      <p:sp>
        <p:nvSpPr>
          <p:cNvPr id="8" name="Text 5"/>
          <p:cNvSpPr txBox="1"/>
          <p:nvPr/>
        </p:nvSpPr>
        <p:spPr>
          <a:xfrm>
            <a:off x="822960" y="5074920"/>
            <a:ext cx="10515600" cy="960120"/>
          </a:xfrm>
          <a:prstGeom prst="rect">
            <a:avLst/>
          </a:prstGeom>
          <a:noFill/>
          <a:ln/>
        </p:spPr>
        <p:txBody>
          <a:bodyPr wrap="square" lIns="0" tIns="0" rIns="0" bIns="0" rtlCol="0" anchor="ctr"/>
          <a:lstStyle/>
          <a:p>
            <a:pPr indent="0" marL="0">
              <a:buNone/>
            </a:pPr>
            <a:r>
              <a:rPr lang="en-US" sz="1550" b="1" dirty="0">
                <a:solidFill>
                  <a:srgbClr val="1E40AF"/>
                </a:solidFill>
                <a:latin typeface="Cambria" pitchFamily="34" charset="0"/>
                <a:ea typeface="Cambria" pitchFamily="34" charset="-122"/>
                <a:cs typeface="Cambria" pitchFamily="34" charset="-120"/>
              </a:rPr>
              <a:t>Wybór często nie jest rozłączny — powszechnym wzorcem jest Nginx jako reverse proxy przed Apache lub aplikacją w kontenerze, łączący zalety obu.</a:t>
            </a:r>
            <a:endParaRPr lang="en-US" sz="1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731520" y="2331720"/>
            <a:ext cx="5486400" cy="457200"/>
          </a:xfrm>
          <a:prstGeom prst="rect">
            <a:avLst/>
          </a:prstGeom>
          <a:noFill/>
          <a:ln/>
        </p:spPr>
        <p:txBody>
          <a:bodyPr wrap="square" lIns="0" tIns="0" rIns="0" bIns="0" rtlCol="0" anchor="ctr"/>
          <a:lstStyle/>
          <a:p>
            <a:pPr indent="0" marL="0">
              <a:buNone/>
            </a:pPr>
            <a:r>
              <a:rPr lang="en-US" sz="1600" b="1" spc="300" kern="0" dirty="0">
                <a:solidFill>
                  <a:srgbClr val="38BDF8"/>
                </a:solidFill>
                <a:latin typeface="Calibri" pitchFamily="34" charset="0"/>
                <a:ea typeface="Calibri" pitchFamily="34" charset="-122"/>
                <a:cs typeface="Calibri" pitchFamily="34" charset="-120"/>
              </a:rPr>
              <a:t>CZĘŚĆ 2</a:t>
            </a:r>
            <a:endParaRPr lang="en-US" sz="1600" dirty="0"/>
          </a:p>
        </p:txBody>
      </p:sp>
      <p:sp>
        <p:nvSpPr>
          <p:cNvPr id="3" name="Text 1"/>
          <p:cNvSpPr txBox="1"/>
          <p:nvPr/>
        </p:nvSpPr>
        <p:spPr>
          <a:xfrm>
            <a:off x="731520" y="2743200"/>
            <a:ext cx="10515600" cy="146304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Instalacja i konfiguracja</a:t>
            </a:r>
            <a:endParaRPr lang="en-US" sz="4200" dirty="0"/>
          </a:p>
        </p:txBody>
      </p:sp>
      <p:sp>
        <p:nvSpPr>
          <p:cNvPr id="4" name="Text 2"/>
          <p:cNvSpPr txBox="1"/>
          <p:nvPr/>
        </p:nvSpPr>
        <p:spPr>
          <a:xfrm>
            <a:off x="731520" y="4114800"/>
            <a:ext cx="9875520" cy="822960"/>
          </a:xfrm>
          <a:prstGeom prst="rect">
            <a:avLst/>
          </a:prstGeom>
          <a:noFill/>
          <a:ln/>
        </p:spPr>
        <p:txBody>
          <a:bodyPr wrap="square" lIns="0" tIns="0" rIns="0" bIns="0" rtlCol="0" anchor="ctr"/>
          <a:lstStyle/>
          <a:p>
            <a:pPr indent="0" marL="0">
              <a:buNone/>
            </a:pPr>
            <a:r>
              <a:rPr lang="en-US" sz="1800" dirty="0">
                <a:solidFill>
                  <a:srgbClr val="94A3B8"/>
                </a:solidFill>
                <a:latin typeface="Calibri" pitchFamily="34" charset="0"/>
                <a:ea typeface="Calibri" pitchFamily="34" charset="-122"/>
                <a:cs typeface="Calibri" pitchFamily="34" charset="-120"/>
              </a:rPr>
              <a:t>Pierwsze kroki — pakiety, pliki konfiguracyjne, weryfikacja składni</a:t>
            </a:r>
            <a:endParaRPr lang="en-US" sz="1800" dirty="0"/>
          </a:p>
        </p:txBody>
      </p:sp>
      <p:sp>
        <p:nvSpPr>
          <p:cNvPr id="5" name="Shape 3"/>
          <p:cNvSpPr/>
          <p:nvPr/>
        </p:nvSpPr>
        <p:spPr>
          <a:xfrm>
            <a:off x="10332720" y="1097280"/>
            <a:ext cx="1463040" cy="1463040"/>
          </a:xfrm>
          <a:prstGeom prst="ellipse">
            <a:avLst/>
          </a:prstGeom>
          <a:solidFill>
            <a:srgbClr val="38BDF8">
              <a:alpha val="15000"/>
            </a:srgbClr>
          </a:solidFill>
          <a:ln w="19050">
            <a:solidFill>
              <a:srgbClr val="38BDF8"/>
            </a:solidFill>
            <a:prstDash val="solid"/>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indent="0" marL="0">
              <a:buNone/>
            </a:pPr>
            <a:r>
              <a:rPr lang="en-US" sz="1200" b="1" spc="200" kern="0" dirty="0">
                <a:solidFill>
                  <a:srgbClr val="38BDF8"/>
                </a:solidFill>
                <a:latin typeface="Calibri" pitchFamily="34" charset="0"/>
                <a:ea typeface="Calibri" pitchFamily="34" charset="-122"/>
                <a:cs typeface="Calibri" pitchFamily="34" charset="-120"/>
              </a:rPr>
              <a:t>2. Instalacja</a:t>
            </a:r>
            <a:endParaRPr lang="en-US" sz="1200" dirty="0"/>
          </a:p>
        </p:txBody>
      </p:sp>
      <p:sp>
        <p:nvSpPr>
          <p:cNvPr id="3" name="Text 1"/>
          <p:cNvSpPr txBox="1"/>
          <p:nvPr/>
        </p:nvSpPr>
        <p:spPr>
          <a:xfrm>
            <a:off x="548640" y="411480"/>
            <a:ext cx="11064240" cy="868680"/>
          </a:xfrm>
          <a:prstGeom prst="rect">
            <a:avLst/>
          </a:prstGeom>
          <a:noFill/>
          <a:ln/>
        </p:spPr>
        <p:txBody>
          <a:bodyPr wrap="square" lIns="0" tIns="0" rIns="0" bIns="0" rtlCol="0" anchor="ctr"/>
          <a:lstStyle/>
          <a:p>
            <a:pPr algn="l" indent="0" marL="0">
              <a:buNone/>
            </a:pPr>
            <a:r>
              <a:rPr lang="en-US" sz="3000" b="1" dirty="0">
                <a:solidFill>
                  <a:srgbClr val="0F172A"/>
                </a:solidFill>
                <a:latin typeface="Cambria" pitchFamily="34" charset="0"/>
                <a:ea typeface="Cambria" pitchFamily="34" charset="-122"/>
                <a:cs typeface="Cambria" pitchFamily="34" charset="-120"/>
              </a:rPr>
              <a:t>Apache — instalacja i kluczowe pliki</a:t>
            </a:r>
            <a:endParaRPr lang="en-US" sz="3000" dirty="0"/>
          </a:p>
        </p:txBody>
      </p:sp>
      <p:sp>
        <p:nvSpPr>
          <p:cNvPr id="4" name="Text 2"/>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2. Instalacja</a:t>
            </a:r>
            <a:endParaRPr lang="en-US" sz="1000" dirty="0"/>
          </a:p>
        </p:txBody>
      </p:sp>
      <p:sp>
        <p:nvSpPr>
          <p:cNvPr id="5" name="Text 3"/>
          <p:cNvSpPr txBox="1"/>
          <p:nvPr/>
        </p:nvSpPr>
        <p:spPr>
          <a:xfrm>
            <a:off x="11430000" y="6510528"/>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6</a:t>
            </a:r>
            <a:endParaRPr lang="en-US" sz="1000" dirty="0"/>
          </a:p>
        </p:txBody>
      </p:sp>
      <p:sp>
        <p:nvSpPr>
          <p:cNvPr id="6" name="Shape 4"/>
          <p:cNvSpPr/>
          <p:nvPr/>
        </p:nvSpPr>
        <p:spPr>
          <a:xfrm>
            <a:off x="548640" y="1691640"/>
            <a:ext cx="11109960" cy="2286000"/>
          </a:xfrm>
          <a:prstGeom prst="roundRect">
            <a:avLst>
              <a:gd name="adj" fmla="val 3200"/>
            </a:avLst>
          </a:prstGeom>
          <a:solidFill>
            <a:srgbClr val="0B1220"/>
          </a:solidFill>
          <a:ln w="12700">
            <a:solidFill>
              <a:srgbClr val="1E293B"/>
            </a:solidFill>
            <a:prstDash val="solid"/>
          </a:ln>
          <a:effectLst>
            <a:outerShdw sx="100000" sy="100000" kx="0" ky="0" algn="bl" rotWithShape="0" blurRad="101600" dist="38100" dir="5400000">
              <a:srgbClr val="000000">
                <a:alpha val="25000"/>
              </a:srgbClr>
            </a:outerShdw>
          </a:effectLst>
        </p:spPr>
      </p:sp>
      <p:sp>
        <p:nvSpPr>
          <p:cNvPr id="7" name="Text 5"/>
          <p:cNvSpPr txBox="1"/>
          <p:nvPr/>
        </p:nvSpPr>
        <p:spPr>
          <a:xfrm>
            <a:off x="777240" y="1874520"/>
            <a:ext cx="10652760" cy="1920240"/>
          </a:xfrm>
          <a:prstGeom prst="rect">
            <a:avLst/>
          </a:prstGeom>
          <a:noFill/>
          <a:ln/>
        </p:spPr>
        <p:txBody>
          <a:bodyPr wrap="square" lIns="0" tIns="0" rIns="0" bIns="0" rtlCol="0" anchor="t"/>
          <a:lstStyle/>
          <a:p>
            <a:pPr indent="0" marL="0">
              <a:spcAft>
                <a:spcPts val="200"/>
              </a:spcAft>
              <a:buNone/>
            </a:pPr>
            <a:r>
              <a:rPr lang="en-US" sz="1400" dirty="0">
                <a:solidFill>
                  <a:srgbClr val="64748B"/>
                </a:solidFill>
                <a:latin typeface="Consolas" pitchFamily="34" charset="0"/>
                <a:ea typeface="Consolas" pitchFamily="34" charset="-122"/>
                <a:cs typeface="Consolas" pitchFamily="34" charset="-120"/>
              </a:rPr>
              <a:t># Debian/Ubuntu</a:t>
            </a:r>
            <a:endParaRPr lang="en-US" sz="1400" dirty="0"/>
          </a:p>
          <a:p>
            <a:pPr indent="0" marL="0">
              <a:spcAft>
                <a:spcPts val="200"/>
              </a:spcAft>
              <a:buNone/>
            </a:pPr>
            <a:r>
              <a:rPr lang="en-US" sz="1400" dirty="0">
                <a:solidFill>
                  <a:srgbClr val="34D399"/>
                </a:solidFill>
                <a:latin typeface="Consolas" pitchFamily="34" charset="0"/>
                <a:ea typeface="Consolas" pitchFamily="34" charset="-122"/>
                <a:cs typeface="Consolas" pitchFamily="34" charset="-120"/>
              </a:rPr>
              <a:t>$ apt update &amp;&amp; apt install apache2</a:t>
            </a:r>
            <a:endParaRPr lang="en-US" sz="1400" dirty="0"/>
          </a:p>
          <a:p>
            <a:pPr indent="0" marL="0">
              <a:spcAft>
                <a:spcPts val="200"/>
              </a:spcAft>
              <a:buNone/>
            </a:pPr>
            <a:endParaRPr lang="en-US" sz="1400" dirty="0"/>
          </a:p>
          <a:p>
            <a:pPr indent="0" marL="0">
              <a:spcAft>
                <a:spcPts val="200"/>
              </a:spcAft>
              <a:buNone/>
            </a:pPr>
            <a:r>
              <a:rPr lang="en-US" sz="1400" dirty="0">
                <a:solidFill>
                  <a:srgbClr val="64748B"/>
                </a:solidFill>
                <a:latin typeface="Consolas" pitchFamily="34" charset="0"/>
                <a:ea typeface="Consolas" pitchFamily="34" charset="-122"/>
                <a:cs typeface="Consolas" pitchFamily="34" charset="-120"/>
              </a:rPr>
              <a:t># RHEL/Fedora/Rocky</a:t>
            </a:r>
            <a:endParaRPr lang="en-US" sz="1400" dirty="0"/>
          </a:p>
          <a:p>
            <a:pPr indent="0" marL="0">
              <a:spcAft>
                <a:spcPts val="200"/>
              </a:spcAft>
              <a:buNone/>
            </a:pPr>
            <a:r>
              <a:rPr lang="en-US" sz="1400" dirty="0">
                <a:solidFill>
                  <a:srgbClr val="7DD3FC"/>
                </a:solidFill>
                <a:latin typeface="Consolas" pitchFamily="34" charset="0"/>
                <a:ea typeface="Consolas" pitchFamily="34" charset="-122"/>
                <a:cs typeface="Consolas" pitchFamily="34" charset="-120"/>
              </a:rPr>
              <a:t>$ dnf install httpd</a:t>
            </a:r>
            <a:endParaRPr lang="en-US" sz="1400" dirty="0"/>
          </a:p>
          <a:p>
            <a:pPr indent="0" marL="0">
              <a:spcAft>
                <a:spcPts val="200"/>
              </a:spcAft>
              <a:buNone/>
            </a:pPr>
            <a:endParaRPr lang="en-US" sz="1400" dirty="0"/>
          </a:p>
          <a:p>
            <a:pPr indent="0" marL="0">
              <a:spcAft>
                <a:spcPts val="200"/>
              </a:spcAft>
              <a:buNone/>
            </a:pPr>
            <a:r>
              <a:rPr lang="en-US" sz="1400" dirty="0">
                <a:solidFill>
                  <a:srgbClr val="FBBF24"/>
                </a:solidFill>
                <a:latin typeface="Consolas" pitchFamily="34" charset="0"/>
                <a:ea typeface="Consolas" pitchFamily="34" charset="-122"/>
                <a:cs typeface="Consolas" pitchFamily="34" charset="-120"/>
              </a:rPr>
              <a:t>$ systemctl enable --now apache2   # Debian/Ubuntu</a:t>
            </a:r>
            <a:endParaRPr lang="en-US" sz="1400" dirty="0"/>
          </a:p>
          <a:p>
            <a:pPr indent="0" marL="0">
              <a:spcAft>
                <a:spcPts val="200"/>
              </a:spcAft>
              <a:buNone/>
            </a:pPr>
            <a:r>
              <a:rPr lang="en-US" sz="1400" dirty="0">
                <a:solidFill>
                  <a:srgbClr val="FBBF24"/>
                </a:solidFill>
                <a:latin typeface="Consolas" pitchFamily="34" charset="0"/>
                <a:ea typeface="Consolas" pitchFamily="34" charset="-122"/>
                <a:cs typeface="Consolas" pitchFamily="34" charset="-120"/>
              </a:rPr>
              <a:t>$ systemctl enable --now httpd     # RHEL/Fedora</a:t>
            </a:r>
            <a:endParaRPr lang="en-US" sz="1400" dirty="0"/>
          </a:p>
        </p:txBody>
      </p:sp>
      <p:sp>
        <p:nvSpPr>
          <p:cNvPr id="8" name="Text 6"/>
          <p:cNvSpPr txBox="1"/>
          <p:nvPr/>
        </p:nvSpPr>
        <p:spPr>
          <a:xfrm>
            <a:off x="548640" y="4206240"/>
            <a:ext cx="11109960" cy="1828800"/>
          </a:xfrm>
          <a:prstGeom prst="rect">
            <a:avLst/>
          </a:prstGeom>
          <a:noFill/>
          <a:ln/>
        </p:spPr>
        <p:txBody>
          <a:bodyPr wrap="square" lIns="0" tIns="0" rIns="0" bIns="0" rtlCol="0" anchor="t"/>
          <a:lstStyle/>
          <a:p>
            <a:pPr marL="342900" indent="-342900">
              <a:lnSpc>
                <a:spcPct val="108000"/>
              </a:lnSpc>
              <a:spcAft>
                <a:spcPts val="600"/>
              </a:spcAft>
              <a:buSzPct val="100000"/>
              <a:buChar char="▸"/>
            </a:pPr>
            <a:r>
              <a:rPr lang="en-US" sz="1400" dirty="0">
                <a:solidFill>
                  <a:srgbClr val="0F172A"/>
                </a:solidFill>
                <a:latin typeface="Calibri" pitchFamily="34" charset="0"/>
                <a:ea typeface="Calibri" pitchFamily="34" charset="-122"/>
                <a:cs typeface="Calibri" pitchFamily="34" charset="-120"/>
              </a:rPr>
              <a:t>/etc/apache2/apache2.conf — główny plik konfiguracyjny (Debian)</a:t>
            </a:r>
            <a:endParaRPr lang="en-US" sz="1400" dirty="0"/>
          </a:p>
          <a:p>
            <a:pPr marL="342900" indent="-342900">
              <a:lnSpc>
                <a:spcPct val="108000"/>
              </a:lnSpc>
              <a:spcAft>
                <a:spcPts val="600"/>
              </a:spcAft>
              <a:buSzPct val="100000"/>
              <a:buChar char="▸"/>
            </a:pPr>
            <a:r>
              <a:rPr lang="en-US" sz="1400" dirty="0">
                <a:solidFill>
                  <a:srgbClr val="0F172A"/>
                </a:solidFill>
                <a:latin typeface="Calibri" pitchFamily="34" charset="0"/>
                <a:ea typeface="Calibri" pitchFamily="34" charset="-122"/>
                <a:cs typeface="Calibri" pitchFamily="34" charset="-120"/>
              </a:rPr>
              <a:t>/etc/apache2/sites-available/ — definicje VirtualHost (nieaktywne)</a:t>
            </a:r>
            <a:endParaRPr lang="en-US" sz="1400" dirty="0"/>
          </a:p>
          <a:p>
            <a:pPr marL="342900" indent="-342900">
              <a:lnSpc>
                <a:spcPct val="108000"/>
              </a:lnSpc>
              <a:spcAft>
                <a:spcPts val="600"/>
              </a:spcAft>
              <a:buSzPct val="100000"/>
              <a:buChar char="▸"/>
            </a:pPr>
            <a:r>
              <a:rPr lang="en-US" sz="1400" dirty="0">
                <a:solidFill>
                  <a:srgbClr val="0F172A"/>
                </a:solidFill>
                <a:latin typeface="Calibri" pitchFamily="34" charset="0"/>
                <a:ea typeface="Calibri" pitchFamily="34" charset="-122"/>
                <a:cs typeface="Calibri" pitchFamily="34" charset="-120"/>
              </a:rPr>
              <a:t>/etc/apache2/sites-enabled/ — aktywne, dowiązania symboliczne</a:t>
            </a:r>
            <a:endParaRPr lang="en-US" sz="1400" dirty="0"/>
          </a:p>
          <a:p>
            <a:pPr marL="342900" indent="-342900">
              <a:lnSpc>
                <a:spcPct val="108000"/>
              </a:lnSpc>
              <a:spcAft>
                <a:spcPts val="600"/>
              </a:spcAft>
              <a:buSzPct val="100000"/>
              <a:buChar char="▸"/>
            </a:pPr>
            <a:r>
              <a:rPr lang="en-US" sz="1400" dirty="0">
                <a:solidFill>
                  <a:srgbClr val="0F172A"/>
                </a:solidFill>
                <a:latin typeface="Calibri" pitchFamily="34" charset="0"/>
                <a:ea typeface="Calibri" pitchFamily="34" charset="-122"/>
                <a:cs typeface="Calibri" pitchFamily="34" charset="-120"/>
              </a:rPr>
              <a:t>/etc/apache2/mods-enabled/ — aktywne moduły</a:t>
            </a:r>
            <a:endParaRPr lang="en-US" sz="1400" dirty="0"/>
          </a:p>
          <a:p>
            <a:pPr marL="342900" indent="-342900">
              <a:lnSpc>
                <a:spcPct val="108000"/>
              </a:lnSpc>
              <a:spcAft>
                <a:spcPts val="600"/>
              </a:spcAft>
              <a:buSzPct val="100000"/>
              <a:buChar char="▸"/>
            </a:pPr>
            <a:r>
              <a:rPr lang="en-US" sz="1400" dirty="0">
                <a:solidFill>
                  <a:srgbClr val="0F172A"/>
                </a:solidFill>
                <a:latin typeface="Calibri" pitchFamily="34" charset="0"/>
                <a:ea typeface="Calibri" pitchFamily="34" charset="-122"/>
                <a:cs typeface="Calibri" pitchFamily="34" charset="-120"/>
              </a:rPr>
              <a:t>/var/www/html/ — domyślny katalog dokumentów</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indent="0" marL="0">
              <a:buNone/>
            </a:pPr>
            <a:r>
              <a:rPr lang="en-US" sz="1200" b="1" spc="200" kern="0" dirty="0">
                <a:solidFill>
                  <a:srgbClr val="34D399"/>
                </a:solidFill>
                <a:latin typeface="Calibri" pitchFamily="34" charset="0"/>
                <a:ea typeface="Calibri" pitchFamily="34" charset="-122"/>
                <a:cs typeface="Calibri" pitchFamily="34" charset="-120"/>
              </a:rPr>
              <a:t>2. Instalacja</a:t>
            </a:r>
            <a:endParaRPr lang="en-US" sz="1200" dirty="0"/>
          </a:p>
        </p:txBody>
      </p:sp>
      <p:sp>
        <p:nvSpPr>
          <p:cNvPr id="3" name="Text 1"/>
          <p:cNvSpPr txBox="1"/>
          <p:nvPr/>
        </p:nvSpPr>
        <p:spPr>
          <a:xfrm>
            <a:off x="548640" y="411480"/>
            <a:ext cx="11064240" cy="868680"/>
          </a:xfrm>
          <a:prstGeom prst="rect">
            <a:avLst/>
          </a:prstGeom>
          <a:noFill/>
          <a:ln/>
        </p:spPr>
        <p:txBody>
          <a:bodyPr wrap="square" lIns="0" tIns="0" rIns="0" bIns="0" rtlCol="0" anchor="ctr"/>
          <a:lstStyle/>
          <a:p>
            <a:pPr algn="l" indent="0" marL="0">
              <a:buNone/>
            </a:pPr>
            <a:r>
              <a:rPr lang="en-US" sz="3000" b="1" dirty="0">
                <a:solidFill>
                  <a:srgbClr val="0F172A"/>
                </a:solidFill>
                <a:latin typeface="Cambria" pitchFamily="34" charset="0"/>
                <a:ea typeface="Cambria" pitchFamily="34" charset="-122"/>
                <a:cs typeface="Cambria" pitchFamily="34" charset="-120"/>
              </a:rPr>
              <a:t>Nginx — instalacja i kluczowe pliki</a:t>
            </a:r>
            <a:endParaRPr lang="en-US" sz="3000" dirty="0"/>
          </a:p>
        </p:txBody>
      </p:sp>
      <p:sp>
        <p:nvSpPr>
          <p:cNvPr id="4" name="Text 2"/>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2. Instalacja</a:t>
            </a:r>
            <a:endParaRPr lang="en-US" sz="1000" dirty="0"/>
          </a:p>
        </p:txBody>
      </p:sp>
      <p:sp>
        <p:nvSpPr>
          <p:cNvPr id="5" name="Text 3"/>
          <p:cNvSpPr txBox="1"/>
          <p:nvPr/>
        </p:nvSpPr>
        <p:spPr>
          <a:xfrm>
            <a:off x="11430000" y="6510528"/>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7</a:t>
            </a:r>
            <a:endParaRPr lang="en-US" sz="1000" dirty="0"/>
          </a:p>
        </p:txBody>
      </p:sp>
      <p:sp>
        <p:nvSpPr>
          <p:cNvPr id="6" name="Shape 4"/>
          <p:cNvSpPr/>
          <p:nvPr/>
        </p:nvSpPr>
        <p:spPr>
          <a:xfrm>
            <a:off x="548640" y="1691640"/>
            <a:ext cx="11109960" cy="1463040"/>
          </a:xfrm>
          <a:prstGeom prst="roundRect">
            <a:avLst>
              <a:gd name="adj" fmla="val 5000"/>
            </a:avLst>
          </a:prstGeom>
          <a:solidFill>
            <a:srgbClr val="0B1220"/>
          </a:solidFill>
          <a:ln w="12700">
            <a:solidFill>
              <a:srgbClr val="1E293B"/>
            </a:solidFill>
            <a:prstDash val="solid"/>
          </a:ln>
          <a:effectLst>
            <a:outerShdw sx="100000" sy="100000" kx="0" ky="0" algn="bl" rotWithShape="0" blurRad="101600" dist="38100" dir="5400000">
              <a:srgbClr val="000000">
                <a:alpha val="25000"/>
              </a:srgbClr>
            </a:outerShdw>
          </a:effectLst>
        </p:spPr>
      </p:sp>
      <p:sp>
        <p:nvSpPr>
          <p:cNvPr id="7" name="Text 5"/>
          <p:cNvSpPr txBox="1"/>
          <p:nvPr/>
        </p:nvSpPr>
        <p:spPr>
          <a:xfrm>
            <a:off x="777240" y="1874520"/>
            <a:ext cx="10652760" cy="1097280"/>
          </a:xfrm>
          <a:prstGeom prst="rect">
            <a:avLst/>
          </a:prstGeom>
          <a:noFill/>
          <a:ln/>
        </p:spPr>
        <p:txBody>
          <a:bodyPr wrap="square" lIns="0" tIns="0" rIns="0" bIns="0" rtlCol="0" anchor="t"/>
          <a:lstStyle/>
          <a:p>
            <a:pPr indent="0" marL="0">
              <a:spcAft>
                <a:spcPts val="200"/>
              </a:spcAft>
              <a:buNone/>
            </a:pPr>
            <a:r>
              <a:rPr lang="en-US" sz="1400" dirty="0">
                <a:solidFill>
                  <a:srgbClr val="34D399"/>
                </a:solidFill>
                <a:latin typeface="Consolas" pitchFamily="34" charset="0"/>
                <a:ea typeface="Consolas" pitchFamily="34" charset="-122"/>
                <a:cs typeface="Consolas" pitchFamily="34" charset="-120"/>
              </a:rPr>
              <a:t>$ apt install nginx        # Debian/Ubuntu</a:t>
            </a:r>
            <a:endParaRPr lang="en-US" sz="1400" dirty="0"/>
          </a:p>
          <a:p>
            <a:pPr indent="0" marL="0">
              <a:spcAft>
                <a:spcPts val="200"/>
              </a:spcAft>
              <a:buNone/>
            </a:pPr>
            <a:r>
              <a:rPr lang="en-US" sz="1400" dirty="0">
                <a:solidFill>
                  <a:srgbClr val="7DD3FC"/>
                </a:solidFill>
                <a:latin typeface="Consolas" pitchFamily="34" charset="0"/>
                <a:ea typeface="Consolas" pitchFamily="34" charset="-122"/>
                <a:cs typeface="Consolas" pitchFamily="34" charset="-120"/>
              </a:rPr>
              <a:t>$ dnf install nginx        # RHEL/Fedora</a:t>
            </a:r>
            <a:endParaRPr lang="en-US" sz="1400" dirty="0"/>
          </a:p>
          <a:p>
            <a:pPr indent="0" marL="0">
              <a:spcAft>
                <a:spcPts val="200"/>
              </a:spcAft>
              <a:buNone/>
            </a:pPr>
            <a:endParaRPr lang="en-US" sz="1400" dirty="0"/>
          </a:p>
          <a:p>
            <a:pPr indent="0" marL="0">
              <a:spcAft>
                <a:spcPts val="200"/>
              </a:spcAft>
              <a:buNone/>
            </a:pPr>
            <a:r>
              <a:rPr lang="en-US" sz="1400" dirty="0">
                <a:solidFill>
                  <a:srgbClr val="FBBF24"/>
                </a:solidFill>
                <a:latin typeface="Consolas" pitchFamily="34" charset="0"/>
                <a:ea typeface="Consolas" pitchFamily="34" charset="-122"/>
                <a:cs typeface="Consolas" pitchFamily="34" charset="-120"/>
              </a:rPr>
              <a:t>$ systemctl enable --now nginx</a:t>
            </a:r>
            <a:endParaRPr lang="en-US" sz="1400" dirty="0"/>
          </a:p>
        </p:txBody>
      </p:sp>
      <p:sp>
        <p:nvSpPr>
          <p:cNvPr id="8" name="Text 6"/>
          <p:cNvSpPr txBox="1"/>
          <p:nvPr/>
        </p:nvSpPr>
        <p:spPr>
          <a:xfrm>
            <a:off x="548640" y="3337560"/>
            <a:ext cx="11109960" cy="2103120"/>
          </a:xfrm>
          <a:prstGeom prst="rect">
            <a:avLst/>
          </a:prstGeom>
          <a:noFill/>
          <a:ln/>
        </p:spPr>
        <p:txBody>
          <a:bodyPr wrap="square" lIns="0" tIns="0" rIns="0" bIns="0" rtlCol="0" anchor="t"/>
          <a:lstStyle/>
          <a:p>
            <a:pPr marL="342900" indent="-342900">
              <a:lnSpc>
                <a:spcPct val="108000"/>
              </a:lnSpc>
              <a:spcAft>
                <a:spcPts val="600"/>
              </a:spcAft>
              <a:buSzPct val="100000"/>
              <a:buChar char="▸"/>
            </a:pPr>
            <a:r>
              <a:rPr lang="en-US" sz="1400" dirty="0">
                <a:solidFill>
                  <a:srgbClr val="0F172A"/>
                </a:solidFill>
                <a:latin typeface="Calibri" pitchFamily="34" charset="0"/>
                <a:ea typeface="Calibri" pitchFamily="34" charset="-122"/>
                <a:cs typeface="Calibri" pitchFamily="34" charset="-120"/>
              </a:rPr>
              <a:t>/etc/nginx/nginx.conf — główny plik konfiguracyjny</a:t>
            </a:r>
            <a:endParaRPr lang="en-US" sz="1400" dirty="0"/>
          </a:p>
          <a:p>
            <a:pPr marL="342900" indent="-342900">
              <a:lnSpc>
                <a:spcPct val="108000"/>
              </a:lnSpc>
              <a:spcAft>
                <a:spcPts val="600"/>
              </a:spcAft>
              <a:buSzPct val="100000"/>
              <a:buChar char="▸"/>
            </a:pPr>
            <a:r>
              <a:rPr lang="en-US" sz="1400" dirty="0">
                <a:solidFill>
                  <a:srgbClr val="0F172A"/>
                </a:solidFill>
                <a:latin typeface="Calibri" pitchFamily="34" charset="0"/>
                <a:ea typeface="Calibri" pitchFamily="34" charset="-122"/>
                <a:cs typeface="Calibri" pitchFamily="34" charset="-120"/>
              </a:rPr>
              <a:t>/etc/nginx/sites-available/ — definicje Server Block (konwencja Debian)</a:t>
            </a:r>
            <a:endParaRPr lang="en-US" sz="1400" dirty="0"/>
          </a:p>
          <a:p>
            <a:pPr marL="342900" indent="-342900">
              <a:lnSpc>
                <a:spcPct val="108000"/>
              </a:lnSpc>
              <a:spcAft>
                <a:spcPts val="600"/>
              </a:spcAft>
              <a:buSzPct val="100000"/>
              <a:buChar char="▸"/>
            </a:pPr>
            <a:r>
              <a:rPr lang="en-US" sz="1400" dirty="0">
                <a:solidFill>
                  <a:srgbClr val="0F172A"/>
                </a:solidFill>
                <a:latin typeface="Calibri" pitchFamily="34" charset="0"/>
                <a:ea typeface="Calibri" pitchFamily="34" charset="-122"/>
                <a:cs typeface="Calibri" pitchFamily="34" charset="-120"/>
              </a:rPr>
              <a:t>/etc/nginx/sites-enabled/ — aktywne, dowiązania symboliczne</a:t>
            </a:r>
            <a:endParaRPr lang="en-US" sz="1400" dirty="0"/>
          </a:p>
          <a:p>
            <a:pPr marL="342900" indent="-342900">
              <a:lnSpc>
                <a:spcPct val="108000"/>
              </a:lnSpc>
              <a:spcAft>
                <a:spcPts val="600"/>
              </a:spcAft>
              <a:buSzPct val="100000"/>
              <a:buChar char="▸"/>
            </a:pPr>
            <a:r>
              <a:rPr lang="en-US" sz="1400" dirty="0">
                <a:solidFill>
                  <a:srgbClr val="0F172A"/>
                </a:solidFill>
                <a:latin typeface="Calibri" pitchFamily="34" charset="0"/>
                <a:ea typeface="Calibri" pitchFamily="34" charset="-122"/>
                <a:cs typeface="Calibri" pitchFamily="34" charset="-120"/>
              </a:rPr>
              <a:t>/etc/nginx/conf.d/ — alternatywna lokalizacja (RHEL — ładowane bezpośrednio)</a:t>
            </a:r>
            <a:endParaRPr lang="en-US" sz="1400" dirty="0"/>
          </a:p>
          <a:p>
            <a:pPr marL="342900" indent="-342900">
              <a:lnSpc>
                <a:spcPct val="108000"/>
              </a:lnSpc>
              <a:spcAft>
                <a:spcPts val="600"/>
              </a:spcAft>
              <a:buSzPct val="100000"/>
              <a:buChar char="▸"/>
            </a:pPr>
            <a:r>
              <a:rPr lang="en-US" sz="1400" dirty="0">
                <a:solidFill>
                  <a:srgbClr val="0F172A"/>
                </a:solidFill>
                <a:latin typeface="Calibri" pitchFamily="34" charset="0"/>
                <a:ea typeface="Calibri" pitchFamily="34" charset="-122"/>
                <a:cs typeface="Calibri" pitchFamily="34" charset="-120"/>
              </a:rPr>
              <a:t>/usr/share/nginx/html/ — domyślny katalog dokumentów</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indent="0" marL="0">
              <a:buNone/>
            </a:pPr>
            <a:r>
              <a:rPr lang="en-US" sz="1200" b="1" spc="200" kern="0" dirty="0">
                <a:solidFill>
                  <a:srgbClr val="FBBF24"/>
                </a:solidFill>
                <a:latin typeface="Calibri" pitchFamily="34" charset="0"/>
                <a:ea typeface="Calibri" pitchFamily="34" charset="-122"/>
                <a:cs typeface="Calibri" pitchFamily="34" charset="-120"/>
              </a:rPr>
              <a:t>2. Instalacja</a:t>
            </a:r>
            <a:endParaRPr lang="en-US" sz="1200" dirty="0"/>
          </a:p>
        </p:txBody>
      </p:sp>
      <p:sp>
        <p:nvSpPr>
          <p:cNvPr id="3" name="Text 1"/>
          <p:cNvSpPr txBox="1"/>
          <p:nvPr/>
        </p:nvSpPr>
        <p:spPr>
          <a:xfrm>
            <a:off x="548640" y="411480"/>
            <a:ext cx="11064240" cy="868680"/>
          </a:xfrm>
          <a:prstGeom prst="rect">
            <a:avLst/>
          </a:prstGeom>
          <a:noFill/>
          <a:ln/>
        </p:spPr>
        <p:txBody>
          <a:bodyPr wrap="square" lIns="0" tIns="0" rIns="0" bIns="0" rtlCol="0" anchor="ctr"/>
          <a:lstStyle/>
          <a:p>
            <a:pPr algn="l" indent="0" marL="0">
              <a:buNone/>
            </a:pPr>
            <a:r>
              <a:rPr lang="en-US" sz="3000" b="1" dirty="0">
                <a:solidFill>
                  <a:srgbClr val="0F172A"/>
                </a:solidFill>
                <a:latin typeface="Cambria" pitchFamily="34" charset="0"/>
                <a:ea typeface="Cambria" pitchFamily="34" charset="-122"/>
                <a:cs typeface="Cambria" pitchFamily="34" charset="-120"/>
              </a:rPr>
              <a:t>Weryfikacja składni przed przeładowaniem</a:t>
            </a:r>
            <a:endParaRPr lang="en-US" sz="3000" dirty="0"/>
          </a:p>
        </p:txBody>
      </p:sp>
      <p:sp>
        <p:nvSpPr>
          <p:cNvPr id="4" name="Text 2"/>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2. Instalacja</a:t>
            </a:r>
            <a:endParaRPr lang="en-US" sz="1000" dirty="0"/>
          </a:p>
        </p:txBody>
      </p:sp>
      <p:sp>
        <p:nvSpPr>
          <p:cNvPr id="5" name="Text 3"/>
          <p:cNvSpPr txBox="1"/>
          <p:nvPr/>
        </p:nvSpPr>
        <p:spPr>
          <a:xfrm>
            <a:off x="11430000" y="6510528"/>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8</a:t>
            </a:r>
            <a:endParaRPr lang="en-US" sz="1000" dirty="0"/>
          </a:p>
        </p:txBody>
      </p:sp>
      <p:sp>
        <p:nvSpPr>
          <p:cNvPr id="6" name="Shape 4"/>
          <p:cNvSpPr/>
          <p:nvPr/>
        </p:nvSpPr>
        <p:spPr>
          <a:xfrm>
            <a:off x="1371600" y="1828800"/>
            <a:ext cx="9326880" cy="1920240"/>
          </a:xfrm>
          <a:prstGeom prst="roundRect">
            <a:avLst>
              <a:gd name="adj" fmla="val 3810"/>
            </a:avLst>
          </a:prstGeom>
          <a:solidFill>
            <a:srgbClr val="0B1220"/>
          </a:solidFill>
          <a:ln w="12700">
            <a:solidFill>
              <a:srgbClr val="1E293B"/>
            </a:solidFill>
            <a:prstDash val="solid"/>
          </a:ln>
          <a:effectLst>
            <a:outerShdw sx="100000" sy="100000" kx="0" ky="0" algn="bl" rotWithShape="0" blurRad="101600" dist="38100" dir="5400000">
              <a:srgbClr val="000000">
                <a:alpha val="25000"/>
              </a:srgbClr>
            </a:outerShdw>
          </a:effectLst>
        </p:spPr>
      </p:sp>
      <p:sp>
        <p:nvSpPr>
          <p:cNvPr id="7" name="Text 5"/>
          <p:cNvSpPr txBox="1"/>
          <p:nvPr/>
        </p:nvSpPr>
        <p:spPr>
          <a:xfrm>
            <a:off x="1600200" y="2011680"/>
            <a:ext cx="8869680" cy="1554480"/>
          </a:xfrm>
          <a:prstGeom prst="rect">
            <a:avLst/>
          </a:prstGeom>
          <a:noFill/>
          <a:ln/>
        </p:spPr>
        <p:txBody>
          <a:bodyPr wrap="square" lIns="0" tIns="0" rIns="0" bIns="0" rtlCol="0" anchor="t"/>
          <a:lstStyle/>
          <a:p>
            <a:pPr indent="0" marL="0">
              <a:spcAft>
                <a:spcPts val="200"/>
              </a:spcAft>
              <a:buNone/>
            </a:pPr>
            <a:r>
              <a:rPr lang="en-US" sz="1600" dirty="0">
                <a:solidFill>
                  <a:srgbClr val="7DD3FC"/>
                </a:solidFill>
                <a:latin typeface="Consolas" pitchFamily="34" charset="0"/>
                <a:ea typeface="Consolas" pitchFamily="34" charset="-122"/>
                <a:cs typeface="Consolas" pitchFamily="34" charset="-120"/>
              </a:rPr>
              <a:t>$ apache2ctl configtest      # lub: httpd -t</a:t>
            </a:r>
            <a:endParaRPr lang="en-US" sz="1600" dirty="0"/>
          </a:p>
          <a:p>
            <a:pPr indent="0" marL="0">
              <a:spcAft>
                <a:spcPts val="200"/>
              </a:spcAft>
              <a:buNone/>
            </a:pPr>
            <a:r>
              <a:rPr lang="en-US" sz="1600" dirty="0">
                <a:solidFill>
                  <a:srgbClr val="34D399"/>
                </a:solidFill>
                <a:latin typeface="Consolas" pitchFamily="34" charset="0"/>
                <a:ea typeface="Consolas" pitchFamily="34" charset="-122"/>
                <a:cs typeface="Consolas" pitchFamily="34" charset="-120"/>
              </a:rPr>
              <a:t>$ nginx -t</a:t>
            </a:r>
            <a:endParaRPr lang="en-US" sz="1600" dirty="0"/>
          </a:p>
          <a:p>
            <a:pPr indent="0" marL="0">
              <a:spcAft>
                <a:spcPts val="200"/>
              </a:spcAft>
              <a:buNone/>
            </a:pPr>
            <a:endParaRPr lang="en-US" sz="1600" dirty="0"/>
          </a:p>
          <a:p>
            <a:pPr indent="0" marL="0">
              <a:spcAft>
                <a:spcPts val="200"/>
              </a:spcAft>
              <a:buNone/>
            </a:pPr>
            <a:r>
              <a:rPr lang="en-US" sz="1600" dirty="0">
                <a:solidFill>
                  <a:srgbClr val="FBBF24"/>
                </a:solidFill>
                <a:latin typeface="Consolas" pitchFamily="34" charset="0"/>
                <a:ea typeface="Consolas" pitchFamily="34" charset="-122"/>
                <a:cs typeface="Consolas" pitchFamily="34" charset="-120"/>
              </a:rPr>
              <a:t>$ systemctl reload apache2</a:t>
            </a:r>
            <a:endParaRPr lang="en-US" sz="1600" dirty="0"/>
          </a:p>
          <a:p>
            <a:pPr indent="0" marL="0">
              <a:spcAft>
                <a:spcPts val="200"/>
              </a:spcAft>
              <a:buNone/>
            </a:pPr>
            <a:r>
              <a:rPr lang="en-US" sz="1600" dirty="0">
                <a:solidFill>
                  <a:srgbClr val="FBBF24"/>
                </a:solidFill>
                <a:latin typeface="Consolas" pitchFamily="34" charset="0"/>
                <a:ea typeface="Consolas" pitchFamily="34" charset="-122"/>
                <a:cs typeface="Consolas" pitchFamily="34" charset="-120"/>
              </a:rPr>
              <a:t>$ systemctl reload nginx</a:t>
            </a:r>
            <a:endParaRPr lang="en-US" sz="1600" dirty="0"/>
          </a:p>
        </p:txBody>
      </p:sp>
      <p:sp>
        <p:nvSpPr>
          <p:cNvPr id="8" name="Shape 6"/>
          <p:cNvSpPr/>
          <p:nvPr/>
        </p:nvSpPr>
        <p:spPr>
          <a:xfrm>
            <a:off x="548640" y="4114800"/>
            <a:ext cx="11109960" cy="1371600"/>
          </a:xfrm>
          <a:prstGeom prst="roundRect">
            <a:avLst>
              <a:gd name="adj" fmla="val 5333"/>
            </a:avLst>
          </a:prstGeom>
          <a:solidFill>
            <a:srgbClr val="FEF3C7"/>
          </a:solidFill>
          <a:ln w="12700">
            <a:solidFill>
              <a:srgbClr val="FBBF24"/>
            </a:solidFill>
            <a:prstDash val="solid"/>
          </a:ln>
        </p:spPr>
      </p:sp>
      <p:sp>
        <p:nvSpPr>
          <p:cNvPr id="9" name="Text 7"/>
          <p:cNvSpPr txBox="1"/>
          <p:nvPr/>
        </p:nvSpPr>
        <p:spPr>
          <a:xfrm>
            <a:off x="822960" y="4251960"/>
            <a:ext cx="10515600" cy="365760"/>
          </a:xfrm>
          <a:prstGeom prst="rect">
            <a:avLst/>
          </a:prstGeom>
          <a:noFill/>
          <a:ln/>
        </p:spPr>
        <p:txBody>
          <a:bodyPr wrap="square" lIns="0" tIns="0" rIns="0" bIns="0" rtlCol="0" anchor="ctr"/>
          <a:lstStyle/>
          <a:p>
            <a:pPr indent="0" marL="0">
              <a:buNone/>
            </a:pPr>
            <a:r>
              <a:rPr lang="en-US" sz="1500" b="1" dirty="0">
                <a:solidFill>
                  <a:srgbClr val="92400E"/>
                </a:solidFill>
                <a:latin typeface="Calibri" pitchFamily="34" charset="0"/>
                <a:ea typeface="Calibri" pitchFamily="34" charset="-122"/>
                <a:cs typeface="Calibri" pitchFamily="34" charset="-120"/>
              </a:rPr>
              <a:t>⚠ Dobry nawyk administratora</a:t>
            </a:r>
            <a:endParaRPr lang="en-US" sz="1500" dirty="0"/>
          </a:p>
        </p:txBody>
      </p:sp>
      <p:sp>
        <p:nvSpPr>
          <p:cNvPr id="10" name="Text 8"/>
          <p:cNvSpPr txBox="1"/>
          <p:nvPr/>
        </p:nvSpPr>
        <p:spPr>
          <a:xfrm>
            <a:off x="822960" y="4617720"/>
            <a:ext cx="10515600" cy="777240"/>
          </a:xfrm>
          <a:prstGeom prst="rect">
            <a:avLst/>
          </a:prstGeom>
          <a:noFill/>
          <a:ln/>
        </p:spPr>
        <p:txBody>
          <a:bodyPr wrap="square" lIns="0" tIns="0" rIns="0" bIns="0" rtlCol="0" anchor="ctr"/>
          <a:lstStyle/>
          <a:p>
            <a:pPr indent="0" marL="0">
              <a:buNone/>
            </a:pPr>
            <a:r>
              <a:rPr lang="en-US" sz="1400" dirty="0">
                <a:solidFill>
                  <a:srgbClr val="78350F"/>
                </a:solidFill>
                <a:latin typeface="Calibri" pitchFamily="34" charset="0"/>
                <a:ea typeface="Calibri" pitchFamily="34" charset="-122"/>
                <a:cs typeface="Calibri" pitchFamily="34" charset="-120"/>
              </a:rPr>
              <a:t>Weryfikacja składni przed przeładowaniem to nawyk, który oszczędza niejeden przestój produkcyjny — błędna dyrektywa nie powinna nigdy trafić na żywą usługę bez testu.</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731520" y="2331720"/>
            <a:ext cx="5486400" cy="457200"/>
          </a:xfrm>
          <a:prstGeom prst="rect">
            <a:avLst/>
          </a:prstGeom>
          <a:noFill/>
          <a:ln/>
        </p:spPr>
        <p:txBody>
          <a:bodyPr wrap="square" lIns="0" tIns="0" rIns="0" bIns="0" rtlCol="0" anchor="ctr"/>
          <a:lstStyle/>
          <a:p>
            <a:pPr indent="0" marL="0">
              <a:buNone/>
            </a:pPr>
            <a:r>
              <a:rPr lang="en-US" sz="1600" b="1" spc="300" kern="0" dirty="0">
                <a:solidFill>
                  <a:srgbClr val="38BDF8"/>
                </a:solidFill>
                <a:latin typeface="Calibri" pitchFamily="34" charset="0"/>
                <a:ea typeface="Calibri" pitchFamily="34" charset="-122"/>
                <a:cs typeface="Calibri" pitchFamily="34" charset="-120"/>
              </a:rPr>
              <a:t>CZĘŚĆ 3</a:t>
            </a:r>
            <a:endParaRPr lang="en-US" sz="1600" dirty="0"/>
          </a:p>
        </p:txBody>
      </p:sp>
      <p:sp>
        <p:nvSpPr>
          <p:cNvPr id="3" name="Text 1"/>
          <p:cNvSpPr txBox="1"/>
          <p:nvPr/>
        </p:nvSpPr>
        <p:spPr>
          <a:xfrm>
            <a:off x="731520" y="2743200"/>
            <a:ext cx="10515600" cy="146304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Wirtualne hosty i Server Blocks</a:t>
            </a:r>
            <a:endParaRPr lang="en-US" sz="4200" dirty="0"/>
          </a:p>
        </p:txBody>
      </p:sp>
      <p:sp>
        <p:nvSpPr>
          <p:cNvPr id="4" name="Text 2"/>
          <p:cNvSpPr txBox="1"/>
          <p:nvPr/>
        </p:nvSpPr>
        <p:spPr>
          <a:xfrm>
            <a:off x="731520" y="4114800"/>
            <a:ext cx="9875520" cy="822960"/>
          </a:xfrm>
          <a:prstGeom prst="rect">
            <a:avLst/>
          </a:prstGeom>
          <a:noFill/>
          <a:ln/>
        </p:spPr>
        <p:txBody>
          <a:bodyPr wrap="square" lIns="0" tIns="0" rIns="0" bIns="0" rtlCol="0" anchor="ctr"/>
          <a:lstStyle/>
          <a:p>
            <a:pPr indent="0" marL="0">
              <a:buNone/>
            </a:pPr>
            <a:r>
              <a:rPr lang="en-US" sz="1800" dirty="0">
                <a:solidFill>
                  <a:srgbClr val="94A3B8"/>
                </a:solidFill>
                <a:latin typeface="Calibri" pitchFamily="34" charset="0"/>
                <a:ea typeface="Calibri" pitchFamily="34" charset="-122"/>
                <a:cs typeface="Calibri" pitchFamily="34" charset="-120"/>
              </a:rPr>
              <a:t>Jeden serwer, wiele niezależnych domen</a:t>
            </a:r>
            <a:endParaRPr lang="en-US" sz="1800" dirty="0"/>
          </a:p>
        </p:txBody>
      </p:sp>
      <p:sp>
        <p:nvSpPr>
          <p:cNvPr id="5" name="Shape 3"/>
          <p:cNvSpPr/>
          <p:nvPr/>
        </p:nvSpPr>
        <p:spPr>
          <a:xfrm>
            <a:off x="10332720" y="1097280"/>
            <a:ext cx="1463040" cy="1463040"/>
          </a:xfrm>
          <a:prstGeom prst="ellipse">
            <a:avLst/>
          </a:prstGeom>
          <a:solidFill>
            <a:srgbClr val="38BDF8">
              <a:alpha val="15000"/>
            </a:srgbClr>
          </a:solidFill>
          <a:ln w="19050">
            <a:solidFill>
              <a:srgbClr val="38BDF8"/>
            </a:solidFill>
            <a:prstDash val="solid"/>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indent="0" marL="0">
              <a:buNone/>
            </a:pPr>
            <a:r>
              <a:rPr lang="en-US" sz="1200" b="1" spc="200" kern="0" dirty="0">
                <a:solidFill>
                  <a:srgbClr val="38BDF8"/>
                </a:solidFill>
                <a:latin typeface="Calibri" pitchFamily="34" charset="0"/>
                <a:ea typeface="Calibri" pitchFamily="34" charset="-122"/>
                <a:cs typeface="Calibri" pitchFamily="34" charset="-120"/>
              </a:rPr>
              <a:t>3. Wirtualne hosty</a:t>
            </a:r>
            <a:endParaRPr lang="en-US" sz="1200" dirty="0"/>
          </a:p>
        </p:txBody>
      </p:sp>
      <p:sp>
        <p:nvSpPr>
          <p:cNvPr id="3" name="Text 1"/>
          <p:cNvSpPr txBox="1"/>
          <p:nvPr/>
        </p:nvSpPr>
        <p:spPr>
          <a:xfrm>
            <a:off x="548640" y="411480"/>
            <a:ext cx="11064240" cy="868680"/>
          </a:xfrm>
          <a:prstGeom prst="rect">
            <a:avLst/>
          </a:prstGeom>
          <a:noFill/>
          <a:ln/>
        </p:spPr>
        <p:txBody>
          <a:bodyPr wrap="square" lIns="0" tIns="0" rIns="0" bIns="0" rtlCol="0" anchor="ctr"/>
          <a:lstStyle/>
          <a:p>
            <a:pPr algn="l" indent="0" marL="0">
              <a:buNone/>
            </a:pPr>
            <a:r>
              <a:rPr lang="en-US" sz="3000" b="1" dirty="0">
                <a:solidFill>
                  <a:srgbClr val="0F172A"/>
                </a:solidFill>
                <a:latin typeface="Cambria" pitchFamily="34" charset="0"/>
                <a:ea typeface="Cambria" pitchFamily="34" charset="-122"/>
                <a:cs typeface="Cambria" pitchFamily="34" charset="-120"/>
              </a:rPr>
              <a:t>Apache — dyrektywa VirtualHost</a:t>
            </a:r>
            <a:endParaRPr lang="en-US" sz="3000" dirty="0"/>
          </a:p>
        </p:txBody>
      </p:sp>
      <p:sp>
        <p:nvSpPr>
          <p:cNvPr id="4" name="Text 2"/>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3. Wirtualne hosty</a:t>
            </a:r>
            <a:endParaRPr lang="en-US" sz="1000" dirty="0"/>
          </a:p>
        </p:txBody>
      </p:sp>
      <p:sp>
        <p:nvSpPr>
          <p:cNvPr id="5" name="Text 3"/>
          <p:cNvSpPr txBox="1"/>
          <p:nvPr/>
        </p:nvSpPr>
        <p:spPr>
          <a:xfrm>
            <a:off x="11430000" y="6510528"/>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10</a:t>
            </a:r>
            <a:endParaRPr lang="en-US" sz="1000" dirty="0"/>
          </a:p>
        </p:txBody>
      </p:sp>
      <p:sp>
        <p:nvSpPr>
          <p:cNvPr id="6" name="Shape 4"/>
          <p:cNvSpPr/>
          <p:nvPr/>
        </p:nvSpPr>
        <p:spPr>
          <a:xfrm>
            <a:off x="548640" y="1645920"/>
            <a:ext cx="6583680" cy="2880360"/>
          </a:xfrm>
          <a:prstGeom prst="roundRect">
            <a:avLst>
              <a:gd name="adj" fmla="val 2540"/>
            </a:avLst>
          </a:prstGeom>
          <a:solidFill>
            <a:srgbClr val="0B1220"/>
          </a:solidFill>
          <a:ln w="12700">
            <a:solidFill>
              <a:srgbClr val="1E293B"/>
            </a:solidFill>
            <a:prstDash val="solid"/>
          </a:ln>
          <a:effectLst>
            <a:outerShdw sx="100000" sy="100000" kx="0" ky="0" algn="bl" rotWithShape="0" blurRad="101600" dist="38100" dir="5400000">
              <a:srgbClr val="000000">
                <a:alpha val="25000"/>
              </a:srgbClr>
            </a:outerShdw>
          </a:effectLst>
        </p:spPr>
      </p:sp>
      <p:sp>
        <p:nvSpPr>
          <p:cNvPr id="7" name="Text 5"/>
          <p:cNvSpPr txBox="1"/>
          <p:nvPr/>
        </p:nvSpPr>
        <p:spPr>
          <a:xfrm>
            <a:off x="777240" y="1828800"/>
            <a:ext cx="6126480" cy="2514600"/>
          </a:xfrm>
          <a:prstGeom prst="rect">
            <a:avLst/>
          </a:prstGeom>
          <a:noFill/>
          <a:ln/>
        </p:spPr>
        <p:txBody>
          <a:bodyPr wrap="square" lIns="0" tIns="0" rIns="0" bIns="0" rtlCol="0" anchor="t"/>
          <a:lstStyle/>
          <a:p>
            <a:pPr indent="0" marL="0">
              <a:spcAft>
                <a:spcPts val="200"/>
              </a:spcAft>
              <a:buNone/>
            </a:pPr>
            <a:r>
              <a:rPr lang="en-US" sz="1250" dirty="0">
                <a:solidFill>
                  <a:srgbClr val="64748B"/>
                </a:solidFill>
                <a:latin typeface="Consolas" pitchFamily="34" charset="0"/>
                <a:ea typeface="Consolas" pitchFamily="34" charset="-122"/>
                <a:cs typeface="Consolas" pitchFamily="34" charset="-120"/>
              </a:rPr>
              <a:t># /etc/apache2/sites-available/sklep.przyklad.pl.conf</a:t>
            </a:r>
            <a:endParaRPr lang="en-US" sz="1250" dirty="0"/>
          </a:p>
          <a:p>
            <a:pPr indent="0" marL="0">
              <a:spcAft>
                <a:spcPts val="200"/>
              </a:spcAft>
              <a:buNone/>
            </a:pPr>
            <a:r>
              <a:rPr lang="en-US" sz="1250" dirty="0">
                <a:solidFill>
                  <a:srgbClr val="7DD3FC"/>
                </a:solidFill>
                <a:latin typeface="Consolas" pitchFamily="34" charset="0"/>
                <a:ea typeface="Consolas" pitchFamily="34" charset="-122"/>
                <a:cs typeface="Consolas" pitchFamily="34" charset="-120"/>
              </a:rPr>
              <a:t>&lt;VirtualHost *:80&gt;</a:t>
            </a:r>
            <a:endParaRPr lang="en-US" sz="1250" dirty="0"/>
          </a:p>
          <a:p>
            <a:pPr indent="0" marL="0">
              <a:spcAft>
                <a:spcPts val="200"/>
              </a:spcAft>
              <a:buNone/>
            </a:pPr>
            <a:r>
              <a:rPr lang="en-US" sz="1250" dirty="0">
                <a:solidFill>
                  <a:srgbClr val="E2E8F0"/>
                </a:solidFill>
                <a:latin typeface="Consolas" pitchFamily="34" charset="0"/>
                <a:ea typeface="Consolas" pitchFamily="34" charset="-122"/>
                <a:cs typeface="Consolas" pitchFamily="34" charset="-120"/>
              </a:rPr>
              <a:t>    ServerName sklep.przyklad.pl</a:t>
            </a:r>
            <a:endParaRPr lang="en-US" sz="1250" dirty="0"/>
          </a:p>
          <a:p>
            <a:pPr indent="0" marL="0">
              <a:spcAft>
                <a:spcPts val="200"/>
              </a:spcAft>
              <a:buNone/>
            </a:pPr>
            <a:r>
              <a:rPr lang="en-US" sz="1250" dirty="0">
                <a:solidFill>
                  <a:srgbClr val="E2E8F0"/>
                </a:solidFill>
                <a:latin typeface="Consolas" pitchFamily="34" charset="0"/>
                <a:ea typeface="Consolas" pitchFamily="34" charset="-122"/>
                <a:cs typeface="Consolas" pitchFamily="34" charset="-120"/>
              </a:rPr>
              <a:t>    ServerAlias www.sklep.przyklad.pl</a:t>
            </a:r>
            <a:endParaRPr lang="en-US" sz="1250" dirty="0"/>
          </a:p>
          <a:p>
            <a:pPr indent="0" marL="0">
              <a:spcAft>
                <a:spcPts val="200"/>
              </a:spcAft>
              <a:buNone/>
            </a:pPr>
            <a:r>
              <a:rPr lang="en-US" sz="1250" dirty="0">
                <a:solidFill>
                  <a:srgbClr val="E2E8F0"/>
                </a:solidFill>
                <a:latin typeface="Consolas" pitchFamily="34" charset="0"/>
                <a:ea typeface="Consolas" pitchFamily="34" charset="-122"/>
                <a:cs typeface="Consolas" pitchFamily="34" charset="-120"/>
              </a:rPr>
              <a:t>    DocumentRoot /var/www/sklep</a:t>
            </a:r>
            <a:endParaRPr lang="en-US" sz="1250" dirty="0"/>
          </a:p>
          <a:p>
            <a:pPr indent="0" marL="0">
              <a:spcAft>
                <a:spcPts val="200"/>
              </a:spcAft>
              <a:buNone/>
            </a:pPr>
            <a:endParaRPr lang="en-US" sz="1250" dirty="0"/>
          </a:p>
          <a:p>
            <a:pPr indent="0" marL="0">
              <a:spcAft>
                <a:spcPts val="200"/>
              </a:spcAft>
              <a:buNone/>
            </a:pPr>
            <a:r>
              <a:rPr lang="en-US" sz="1250" dirty="0">
                <a:solidFill>
                  <a:srgbClr val="FBBF24"/>
                </a:solidFill>
                <a:latin typeface="Consolas" pitchFamily="34" charset="0"/>
                <a:ea typeface="Consolas" pitchFamily="34" charset="-122"/>
                <a:cs typeface="Consolas" pitchFamily="34" charset="-120"/>
              </a:rPr>
              <a:t>    ErrorLog ${APACHE_LOG_DIR}/sklep_error.log</a:t>
            </a:r>
            <a:endParaRPr lang="en-US" sz="1250" dirty="0"/>
          </a:p>
          <a:p>
            <a:pPr indent="0" marL="0">
              <a:spcAft>
                <a:spcPts val="200"/>
              </a:spcAft>
              <a:buNone/>
            </a:pPr>
            <a:r>
              <a:rPr lang="en-US" sz="1250" dirty="0">
                <a:solidFill>
                  <a:srgbClr val="FBBF24"/>
                </a:solidFill>
                <a:latin typeface="Consolas" pitchFamily="34" charset="0"/>
                <a:ea typeface="Consolas" pitchFamily="34" charset="-122"/>
                <a:cs typeface="Consolas" pitchFamily="34" charset="-120"/>
              </a:rPr>
              <a:t>    CustomLog ${APACHE_LOG_DIR}/sklep_access.log combined</a:t>
            </a:r>
            <a:endParaRPr lang="en-US" sz="1250" dirty="0"/>
          </a:p>
          <a:p>
            <a:pPr indent="0" marL="0">
              <a:spcAft>
                <a:spcPts val="200"/>
              </a:spcAft>
              <a:buNone/>
            </a:pPr>
            <a:r>
              <a:rPr lang="en-US" sz="1250" dirty="0">
                <a:solidFill>
                  <a:srgbClr val="7DD3FC"/>
                </a:solidFill>
                <a:latin typeface="Consolas" pitchFamily="34" charset="0"/>
                <a:ea typeface="Consolas" pitchFamily="34" charset="-122"/>
                <a:cs typeface="Consolas" pitchFamily="34" charset="-120"/>
              </a:rPr>
              <a:t>&lt;/VirtualHost&gt;</a:t>
            </a:r>
            <a:endParaRPr lang="en-US" sz="1250" dirty="0"/>
          </a:p>
        </p:txBody>
      </p:sp>
      <p:sp>
        <p:nvSpPr>
          <p:cNvPr id="8" name="Shape 6"/>
          <p:cNvSpPr/>
          <p:nvPr/>
        </p:nvSpPr>
        <p:spPr>
          <a:xfrm>
            <a:off x="7269480" y="1645920"/>
            <a:ext cx="4389120" cy="2880360"/>
          </a:xfrm>
          <a:prstGeom prst="roundRect">
            <a:avLst>
              <a:gd name="adj" fmla="val 2540"/>
            </a:avLst>
          </a:prstGeom>
          <a:solidFill>
            <a:srgbClr val="0B1220"/>
          </a:solidFill>
          <a:ln w="12700">
            <a:solidFill>
              <a:srgbClr val="1E293B"/>
            </a:solidFill>
            <a:prstDash val="solid"/>
          </a:ln>
          <a:effectLst>
            <a:outerShdw sx="100000" sy="100000" kx="0" ky="0" algn="bl" rotWithShape="0" blurRad="101600" dist="38100" dir="5400000">
              <a:srgbClr val="000000">
                <a:alpha val="25000"/>
              </a:srgbClr>
            </a:outerShdw>
          </a:effectLst>
        </p:spPr>
      </p:sp>
      <p:sp>
        <p:nvSpPr>
          <p:cNvPr id="9" name="Text 7"/>
          <p:cNvSpPr txBox="1"/>
          <p:nvPr/>
        </p:nvSpPr>
        <p:spPr>
          <a:xfrm>
            <a:off x="7498080" y="1828800"/>
            <a:ext cx="3931920" cy="2514600"/>
          </a:xfrm>
          <a:prstGeom prst="rect">
            <a:avLst/>
          </a:prstGeom>
          <a:noFill/>
          <a:ln/>
        </p:spPr>
        <p:txBody>
          <a:bodyPr wrap="square" lIns="0" tIns="0" rIns="0" bIns="0" rtlCol="0" anchor="t"/>
          <a:lstStyle/>
          <a:p>
            <a:pPr indent="0" marL="0">
              <a:spcAft>
                <a:spcPts val="200"/>
              </a:spcAft>
              <a:buNone/>
            </a:pPr>
            <a:r>
              <a:rPr lang="en-US" sz="1250" dirty="0">
                <a:solidFill>
                  <a:srgbClr val="34D399"/>
                </a:solidFill>
                <a:latin typeface="Consolas" pitchFamily="34" charset="0"/>
                <a:ea typeface="Consolas" pitchFamily="34" charset="-122"/>
                <a:cs typeface="Consolas" pitchFamily="34" charset="-120"/>
              </a:rPr>
              <a:t>$ a2ensite sklep.przyklad.pl.conf</a:t>
            </a:r>
            <a:endParaRPr lang="en-US" sz="1250" dirty="0"/>
          </a:p>
          <a:p>
            <a:pPr indent="0" marL="0">
              <a:spcAft>
                <a:spcPts val="200"/>
              </a:spcAft>
              <a:buNone/>
            </a:pPr>
            <a:r>
              <a:rPr lang="en-US" sz="1250" dirty="0">
                <a:solidFill>
                  <a:srgbClr val="64748B"/>
                </a:solidFill>
                <a:latin typeface="Consolas" pitchFamily="34" charset="0"/>
                <a:ea typeface="Consolas" pitchFamily="34" charset="-122"/>
                <a:cs typeface="Consolas" pitchFamily="34" charset="-120"/>
              </a:rPr>
              <a:t># aktywacja (dowiazanie w sites-enabled)</a:t>
            </a:r>
            <a:endParaRPr lang="en-US" sz="1250" dirty="0"/>
          </a:p>
          <a:p>
            <a:pPr indent="0" marL="0">
              <a:spcAft>
                <a:spcPts val="200"/>
              </a:spcAft>
              <a:buNone/>
            </a:pPr>
            <a:endParaRPr lang="en-US" sz="1250" dirty="0"/>
          </a:p>
          <a:p>
            <a:pPr indent="0" marL="0">
              <a:spcAft>
                <a:spcPts val="200"/>
              </a:spcAft>
              <a:buNone/>
            </a:pPr>
            <a:r>
              <a:rPr lang="en-US" sz="1250" dirty="0">
                <a:solidFill>
                  <a:srgbClr val="F87171"/>
                </a:solidFill>
                <a:latin typeface="Consolas" pitchFamily="34" charset="0"/>
                <a:ea typeface="Consolas" pitchFamily="34" charset="-122"/>
                <a:cs typeface="Consolas" pitchFamily="34" charset="-120"/>
              </a:rPr>
              <a:t>$ a2dissite domyslna-strona.conf</a:t>
            </a:r>
            <a:endParaRPr lang="en-US" sz="1250" dirty="0"/>
          </a:p>
          <a:p>
            <a:pPr indent="0" marL="0">
              <a:spcAft>
                <a:spcPts val="200"/>
              </a:spcAft>
              <a:buNone/>
            </a:pPr>
            <a:r>
              <a:rPr lang="en-US" sz="1250" dirty="0">
                <a:solidFill>
                  <a:srgbClr val="64748B"/>
                </a:solidFill>
                <a:latin typeface="Consolas" pitchFamily="34" charset="0"/>
                <a:ea typeface="Consolas" pitchFamily="34" charset="-122"/>
                <a:cs typeface="Consolas" pitchFamily="34" charset="-120"/>
              </a:rPr>
              <a:t># dezaktywacja</a:t>
            </a:r>
            <a:endParaRPr lang="en-US" sz="1250" dirty="0"/>
          </a:p>
          <a:p>
            <a:pPr indent="0" marL="0">
              <a:spcAft>
                <a:spcPts val="200"/>
              </a:spcAft>
              <a:buNone/>
            </a:pPr>
            <a:endParaRPr lang="en-US" sz="1250" dirty="0"/>
          </a:p>
          <a:p>
            <a:pPr indent="0" marL="0">
              <a:spcAft>
                <a:spcPts val="200"/>
              </a:spcAft>
              <a:buNone/>
            </a:pPr>
            <a:r>
              <a:rPr lang="en-US" sz="1250" dirty="0">
                <a:solidFill>
                  <a:srgbClr val="FBBF24"/>
                </a:solidFill>
                <a:latin typeface="Consolas" pitchFamily="34" charset="0"/>
                <a:ea typeface="Consolas" pitchFamily="34" charset="-122"/>
                <a:cs typeface="Consolas" pitchFamily="34" charset="-120"/>
              </a:rPr>
              <a:t>$ systemctl reload apache2</a:t>
            </a:r>
            <a:endParaRPr lang="en-US" sz="1250" dirty="0"/>
          </a:p>
        </p:txBody>
      </p:sp>
      <p:sp>
        <p:nvSpPr>
          <p:cNvPr id="10" name="Text 8"/>
          <p:cNvSpPr txBox="1"/>
          <p:nvPr/>
        </p:nvSpPr>
        <p:spPr>
          <a:xfrm>
            <a:off x="548640" y="4709160"/>
            <a:ext cx="11109960" cy="548640"/>
          </a:xfrm>
          <a:prstGeom prst="rect">
            <a:avLst/>
          </a:prstGeom>
          <a:noFill/>
          <a:ln/>
        </p:spPr>
        <p:txBody>
          <a:bodyPr wrap="square" lIns="0" tIns="0" rIns="0" bIns="0" rtlCol="0" anchor="ctr"/>
          <a:lstStyle/>
          <a:p>
            <a:pPr indent="0" marL="0">
              <a:buNone/>
            </a:pPr>
            <a:r>
              <a:rPr lang="en-US" sz="1300" i="1" dirty="0">
                <a:solidFill>
                  <a:srgbClr val="475569"/>
                </a:solidFill>
                <a:latin typeface="Calibri" pitchFamily="34" charset="0"/>
                <a:ea typeface="Calibri" pitchFamily="34" charset="-122"/>
                <a:cs typeface="Calibri" pitchFamily="34" charset="-120"/>
              </a:rPr>
              <a:t>Options -Indexes +FollowSymLinks  •  AllowOverride All  •  Require all granted — typowe dyrektywy w bloku &lt;Directory&gt;</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indent="0" marL="0">
              <a:buNone/>
            </a:pPr>
            <a:r>
              <a:rPr lang="en-US" sz="1200" b="1" spc="200" kern="0" dirty="0">
                <a:solidFill>
                  <a:srgbClr val="34D399"/>
                </a:solidFill>
                <a:latin typeface="Calibri" pitchFamily="34" charset="0"/>
                <a:ea typeface="Calibri" pitchFamily="34" charset="-122"/>
                <a:cs typeface="Calibri" pitchFamily="34" charset="-120"/>
              </a:rPr>
              <a:t>3. Wirtualne hosty</a:t>
            </a:r>
            <a:endParaRPr lang="en-US" sz="1200" dirty="0"/>
          </a:p>
        </p:txBody>
      </p:sp>
      <p:sp>
        <p:nvSpPr>
          <p:cNvPr id="3" name="Text 1"/>
          <p:cNvSpPr txBox="1"/>
          <p:nvPr/>
        </p:nvSpPr>
        <p:spPr>
          <a:xfrm>
            <a:off x="548640" y="411480"/>
            <a:ext cx="11064240" cy="868680"/>
          </a:xfrm>
          <a:prstGeom prst="rect">
            <a:avLst/>
          </a:prstGeom>
          <a:noFill/>
          <a:ln/>
        </p:spPr>
        <p:txBody>
          <a:bodyPr wrap="square" lIns="0" tIns="0" rIns="0" bIns="0" rtlCol="0" anchor="ctr"/>
          <a:lstStyle/>
          <a:p>
            <a:pPr algn="l" indent="0" marL="0">
              <a:buNone/>
            </a:pPr>
            <a:r>
              <a:rPr lang="en-US" sz="3000" b="1" dirty="0">
                <a:solidFill>
                  <a:srgbClr val="0F172A"/>
                </a:solidFill>
                <a:latin typeface="Cambria" pitchFamily="34" charset="0"/>
                <a:ea typeface="Cambria" pitchFamily="34" charset="-122"/>
                <a:cs typeface="Cambria" pitchFamily="34" charset="-120"/>
              </a:rPr>
              <a:t>Nginx — blok server { }</a:t>
            </a:r>
            <a:endParaRPr lang="en-US" sz="3000" dirty="0"/>
          </a:p>
        </p:txBody>
      </p:sp>
      <p:sp>
        <p:nvSpPr>
          <p:cNvPr id="4" name="Text 2"/>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3. Wirtualne hosty</a:t>
            </a:r>
            <a:endParaRPr lang="en-US" sz="1000" dirty="0"/>
          </a:p>
        </p:txBody>
      </p:sp>
      <p:sp>
        <p:nvSpPr>
          <p:cNvPr id="5" name="Text 3"/>
          <p:cNvSpPr txBox="1"/>
          <p:nvPr/>
        </p:nvSpPr>
        <p:spPr>
          <a:xfrm>
            <a:off x="11430000" y="6510528"/>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11</a:t>
            </a:r>
            <a:endParaRPr lang="en-US" sz="1000" dirty="0"/>
          </a:p>
        </p:txBody>
      </p:sp>
      <p:sp>
        <p:nvSpPr>
          <p:cNvPr id="6" name="Shape 4"/>
          <p:cNvSpPr/>
          <p:nvPr/>
        </p:nvSpPr>
        <p:spPr>
          <a:xfrm>
            <a:off x="548640" y="1645920"/>
            <a:ext cx="6858000" cy="3657600"/>
          </a:xfrm>
          <a:prstGeom prst="roundRect">
            <a:avLst>
              <a:gd name="adj" fmla="val 2000"/>
            </a:avLst>
          </a:prstGeom>
          <a:solidFill>
            <a:srgbClr val="0B1220"/>
          </a:solidFill>
          <a:ln w="12700">
            <a:solidFill>
              <a:srgbClr val="1E293B"/>
            </a:solidFill>
            <a:prstDash val="solid"/>
          </a:ln>
          <a:effectLst>
            <a:outerShdw sx="100000" sy="100000" kx="0" ky="0" algn="bl" rotWithShape="0" blurRad="101600" dist="38100" dir="5400000">
              <a:srgbClr val="000000">
                <a:alpha val="25000"/>
              </a:srgbClr>
            </a:outerShdw>
          </a:effectLst>
        </p:spPr>
      </p:sp>
      <p:sp>
        <p:nvSpPr>
          <p:cNvPr id="7" name="Text 5"/>
          <p:cNvSpPr txBox="1"/>
          <p:nvPr/>
        </p:nvSpPr>
        <p:spPr>
          <a:xfrm>
            <a:off x="777240" y="1828800"/>
            <a:ext cx="6400800" cy="3291840"/>
          </a:xfrm>
          <a:prstGeom prst="rect">
            <a:avLst/>
          </a:prstGeom>
          <a:noFill/>
          <a:ln/>
        </p:spPr>
        <p:txBody>
          <a:bodyPr wrap="square" lIns="0" tIns="0" rIns="0" bIns="0" rtlCol="0" anchor="t"/>
          <a:lstStyle/>
          <a:p>
            <a:pPr indent="0" marL="0">
              <a:spcAft>
                <a:spcPts val="200"/>
              </a:spcAft>
              <a:buNone/>
            </a:pPr>
            <a:r>
              <a:rPr lang="en-US" sz="1150" dirty="0">
                <a:solidFill>
                  <a:srgbClr val="64748B"/>
                </a:solidFill>
                <a:latin typeface="Consolas" pitchFamily="34" charset="0"/>
                <a:ea typeface="Consolas" pitchFamily="34" charset="-122"/>
                <a:cs typeface="Consolas" pitchFamily="34" charset="-120"/>
              </a:rPr>
              <a:t># /etc/nginx/sites-available/sklep.przyklad.pl</a:t>
            </a:r>
            <a:endParaRPr lang="en-US" sz="1150" dirty="0"/>
          </a:p>
          <a:p>
            <a:pPr indent="0" marL="0">
              <a:spcAft>
                <a:spcPts val="200"/>
              </a:spcAft>
              <a:buNone/>
            </a:pPr>
            <a:r>
              <a:rPr lang="en-US" sz="1150" dirty="0">
                <a:solidFill>
                  <a:srgbClr val="34D399"/>
                </a:solidFill>
                <a:latin typeface="Consolas" pitchFamily="34" charset="0"/>
                <a:ea typeface="Consolas" pitchFamily="34" charset="-122"/>
                <a:cs typeface="Consolas" pitchFamily="34" charset="-120"/>
              </a:rPr>
              <a:t>server {</a:t>
            </a:r>
            <a:endParaRPr lang="en-US" sz="1150" dirty="0"/>
          </a:p>
          <a:p>
            <a:pPr indent="0" marL="0">
              <a:spcAft>
                <a:spcPts val="200"/>
              </a:spcAft>
              <a:buNone/>
            </a:pPr>
            <a:r>
              <a:rPr lang="en-US" sz="1150" dirty="0">
                <a:solidFill>
                  <a:srgbClr val="E2E8F0"/>
                </a:solidFill>
                <a:latin typeface="Consolas" pitchFamily="34" charset="0"/>
                <a:ea typeface="Consolas" pitchFamily="34" charset="-122"/>
                <a:cs typeface="Consolas" pitchFamily="34" charset="-120"/>
              </a:rPr>
              <a:t>    listen 80;</a:t>
            </a:r>
            <a:endParaRPr lang="en-US" sz="1150" dirty="0"/>
          </a:p>
          <a:p>
            <a:pPr indent="0" marL="0">
              <a:spcAft>
                <a:spcPts val="200"/>
              </a:spcAft>
              <a:buNone/>
            </a:pPr>
            <a:r>
              <a:rPr lang="en-US" sz="1150" dirty="0">
                <a:solidFill>
                  <a:srgbClr val="E2E8F0"/>
                </a:solidFill>
                <a:latin typeface="Consolas" pitchFamily="34" charset="0"/>
                <a:ea typeface="Consolas" pitchFamily="34" charset="-122"/>
                <a:cs typeface="Consolas" pitchFamily="34" charset="-120"/>
              </a:rPr>
              <a:t>    server_name sklep.przyklad.pl www.sklep.przyklad.pl;</a:t>
            </a:r>
            <a:endParaRPr lang="en-US" sz="1150" dirty="0"/>
          </a:p>
          <a:p>
            <a:pPr indent="0" marL="0">
              <a:spcAft>
                <a:spcPts val="200"/>
              </a:spcAft>
              <a:buNone/>
            </a:pPr>
            <a:r>
              <a:rPr lang="en-US" sz="1150" dirty="0">
                <a:solidFill>
                  <a:srgbClr val="E2E8F0"/>
                </a:solidFill>
                <a:latin typeface="Consolas" pitchFamily="34" charset="0"/>
                <a:ea typeface="Consolas" pitchFamily="34" charset="-122"/>
                <a:cs typeface="Consolas" pitchFamily="34" charset="-120"/>
              </a:rPr>
              <a:t>    root /var/www/sklep;</a:t>
            </a:r>
            <a:endParaRPr lang="en-US" sz="1150" dirty="0"/>
          </a:p>
          <a:p>
            <a:pPr indent="0" marL="0">
              <a:spcAft>
                <a:spcPts val="200"/>
              </a:spcAft>
              <a:buNone/>
            </a:pPr>
            <a:r>
              <a:rPr lang="en-US" sz="1150" dirty="0">
                <a:solidFill>
                  <a:srgbClr val="E2E8F0"/>
                </a:solidFill>
                <a:latin typeface="Consolas" pitchFamily="34" charset="0"/>
                <a:ea typeface="Consolas" pitchFamily="34" charset="-122"/>
                <a:cs typeface="Consolas" pitchFamily="34" charset="-120"/>
              </a:rPr>
              <a:t>    index index.html index.php;</a:t>
            </a:r>
            <a:endParaRPr lang="en-US" sz="1150" dirty="0"/>
          </a:p>
          <a:p>
            <a:pPr indent="0" marL="0">
              <a:spcAft>
                <a:spcPts val="200"/>
              </a:spcAft>
              <a:buNone/>
            </a:pPr>
            <a:endParaRPr lang="en-US" sz="1150" dirty="0"/>
          </a:p>
          <a:p>
            <a:pPr indent="0" marL="0">
              <a:spcAft>
                <a:spcPts val="200"/>
              </a:spcAft>
              <a:buNone/>
            </a:pPr>
            <a:r>
              <a:rPr lang="en-US" sz="1150" dirty="0">
                <a:solidFill>
                  <a:srgbClr val="FBBF24"/>
                </a:solidFill>
                <a:latin typeface="Consolas" pitchFamily="34" charset="0"/>
                <a:ea typeface="Consolas" pitchFamily="34" charset="-122"/>
                <a:cs typeface="Consolas" pitchFamily="34" charset="-120"/>
              </a:rPr>
              <a:t>    access_log /var/log/nginx/sklep_access.log;</a:t>
            </a:r>
            <a:endParaRPr lang="en-US" sz="1150" dirty="0"/>
          </a:p>
          <a:p>
            <a:pPr indent="0" marL="0">
              <a:spcAft>
                <a:spcPts val="200"/>
              </a:spcAft>
              <a:buNone/>
            </a:pPr>
            <a:r>
              <a:rPr lang="en-US" sz="1150" dirty="0">
                <a:solidFill>
                  <a:srgbClr val="FBBF24"/>
                </a:solidFill>
                <a:latin typeface="Consolas" pitchFamily="34" charset="0"/>
                <a:ea typeface="Consolas" pitchFamily="34" charset="-122"/>
                <a:cs typeface="Consolas" pitchFamily="34" charset="-120"/>
              </a:rPr>
              <a:t>    error_log  /var/log/nginx/sklep_error.log;</a:t>
            </a:r>
            <a:endParaRPr lang="en-US" sz="1150" dirty="0"/>
          </a:p>
          <a:p>
            <a:pPr indent="0" marL="0">
              <a:spcAft>
                <a:spcPts val="200"/>
              </a:spcAft>
              <a:buNone/>
            </a:pPr>
            <a:endParaRPr lang="en-US" sz="1150" dirty="0"/>
          </a:p>
          <a:p>
            <a:pPr indent="0" marL="0">
              <a:spcAft>
                <a:spcPts val="200"/>
              </a:spcAft>
              <a:buNone/>
            </a:pPr>
            <a:r>
              <a:rPr lang="en-US" sz="1150" dirty="0">
                <a:solidFill>
                  <a:srgbClr val="7DD3FC"/>
                </a:solidFill>
                <a:latin typeface="Consolas" pitchFamily="34" charset="0"/>
                <a:ea typeface="Consolas" pitchFamily="34" charset="-122"/>
                <a:cs typeface="Consolas" pitchFamily="34" charset="-120"/>
              </a:rPr>
              <a:t>    location / {</a:t>
            </a:r>
            <a:endParaRPr lang="en-US" sz="1150" dirty="0"/>
          </a:p>
          <a:p>
            <a:pPr indent="0" marL="0">
              <a:spcAft>
                <a:spcPts val="200"/>
              </a:spcAft>
              <a:buNone/>
            </a:pPr>
            <a:r>
              <a:rPr lang="en-US" sz="1150" dirty="0">
                <a:solidFill>
                  <a:srgbClr val="7DD3FC"/>
                </a:solidFill>
                <a:latin typeface="Consolas" pitchFamily="34" charset="0"/>
                <a:ea typeface="Consolas" pitchFamily="34" charset="-122"/>
                <a:cs typeface="Consolas" pitchFamily="34" charset="-120"/>
              </a:rPr>
              <a:t>        try_files $uri $uri/ =404;</a:t>
            </a:r>
            <a:endParaRPr lang="en-US" sz="1150" dirty="0"/>
          </a:p>
          <a:p>
            <a:pPr indent="0" marL="0">
              <a:spcAft>
                <a:spcPts val="200"/>
              </a:spcAft>
              <a:buNone/>
            </a:pPr>
            <a:r>
              <a:rPr lang="en-US" sz="1150" dirty="0">
                <a:solidFill>
                  <a:srgbClr val="7DD3FC"/>
                </a:solidFill>
                <a:latin typeface="Consolas" pitchFamily="34" charset="0"/>
                <a:ea typeface="Consolas" pitchFamily="34" charset="-122"/>
                <a:cs typeface="Consolas" pitchFamily="34" charset="-120"/>
              </a:rPr>
              <a:t>    }</a:t>
            </a:r>
            <a:endParaRPr lang="en-US" sz="1150" dirty="0"/>
          </a:p>
          <a:p>
            <a:pPr indent="0" marL="0">
              <a:spcAft>
                <a:spcPts val="200"/>
              </a:spcAft>
              <a:buNone/>
            </a:pPr>
            <a:r>
              <a:rPr lang="en-US" sz="1150" dirty="0">
                <a:solidFill>
                  <a:srgbClr val="34D399"/>
                </a:solidFill>
                <a:latin typeface="Consolas" pitchFamily="34" charset="0"/>
                <a:ea typeface="Consolas" pitchFamily="34" charset="-122"/>
                <a:cs typeface="Consolas" pitchFamily="34" charset="-120"/>
              </a:rPr>
              <a:t>}</a:t>
            </a:r>
            <a:endParaRPr lang="en-US" sz="1150" dirty="0"/>
          </a:p>
        </p:txBody>
      </p:sp>
      <p:sp>
        <p:nvSpPr>
          <p:cNvPr id="8" name="Shape 6"/>
          <p:cNvSpPr/>
          <p:nvPr/>
        </p:nvSpPr>
        <p:spPr>
          <a:xfrm>
            <a:off x="7543800" y="1645920"/>
            <a:ext cx="4114800" cy="1645920"/>
          </a:xfrm>
          <a:prstGeom prst="roundRect">
            <a:avLst>
              <a:gd name="adj" fmla="val 4444"/>
            </a:avLst>
          </a:prstGeom>
          <a:solidFill>
            <a:srgbClr val="0B1220"/>
          </a:solidFill>
          <a:ln w="12700">
            <a:solidFill>
              <a:srgbClr val="1E293B"/>
            </a:solidFill>
            <a:prstDash val="solid"/>
          </a:ln>
          <a:effectLst>
            <a:outerShdw sx="100000" sy="100000" kx="0" ky="0" algn="bl" rotWithShape="0" blurRad="101600" dist="38100" dir="5400000">
              <a:srgbClr val="000000">
                <a:alpha val="25000"/>
              </a:srgbClr>
            </a:outerShdw>
          </a:effectLst>
        </p:spPr>
      </p:sp>
      <p:sp>
        <p:nvSpPr>
          <p:cNvPr id="9" name="Text 7"/>
          <p:cNvSpPr txBox="1"/>
          <p:nvPr/>
        </p:nvSpPr>
        <p:spPr>
          <a:xfrm>
            <a:off x="7772400" y="1828800"/>
            <a:ext cx="3657600" cy="1280160"/>
          </a:xfrm>
          <a:prstGeom prst="rect">
            <a:avLst/>
          </a:prstGeom>
          <a:noFill/>
          <a:ln/>
        </p:spPr>
        <p:txBody>
          <a:bodyPr wrap="square" lIns="0" tIns="0" rIns="0" bIns="0" rtlCol="0" anchor="t"/>
          <a:lstStyle/>
          <a:p>
            <a:pPr indent="0" marL="0">
              <a:spcAft>
                <a:spcPts val="200"/>
              </a:spcAft>
              <a:buNone/>
            </a:pPr>
            <a:r>
              <a:rPr lang="en-US" sz="1200" dirty="0">
                <a:solidFill>
                  <a:srgbClr val="7DD3FC"/>
                </a:solidFill>
                <a:latin typeface="Consolas" pitchFamily="34" charset="0"/>
                <a:ea typeface="Consolas" pitchFamily="34" charset="-122"/>
                <a:cs typeface="Consolas" pitchFamily="34" charset="-120"/>
              </a:rPr>
              <a:t>$ ln -s /etc/nginx/sites-available/</a:t>
            </a:r>
            <a:endParaRPr lang="en-US" sz="1200" dirty="0"/>
          </a:p>
          <a:p>
            <a:pPr indent="0" marL="0">
              <a:spcAft>
                <a:spcPts val="200"/>
              </a:spcAft>
              <a:buNone/>
            </a:pPr>
            <a:r>
              <a:rPr lang="en-US" sz="1200" dirty="0">
                <a:solidFill>
                  <a:srgbClr val="7DD3FC"/>
                </a:solidFill>
                <a:latin typeface="Consolas" pitchFamily="34" charset="0"/>
                <a:ea typeface="Consolas" pitchFamily="34" charset="-122"/>
                <a:cs typeface="Consolas" pitchFamily="34" charset="-120"/>
              </a:rPr>
              <a:t>  sklep.przyklad.pl \</a:t>
            </a:r>
            <a:endParaRPr lang="en-US" sz="1200" dirty="0"/>
          </a:p>
          <a:p>
            <a:pPr indent="0" marL="0">
              <a:spcAft>
                <a:spcPts val="200"/>
              </a:spcAft>
              <a:buNone/>
            </a:pPr>
            <a:r>
              <a:rPr lang="en-US" sz="1200" dirty="0">
                <a:solidFill>
                  <a:srgbClr val="7DD3FC"/>
                </a:solidFill>
                <a:latin typeface="Consolas" pitchFamily="34" charset="0"/>
                <a:ea typeface="Consolas" pitchFamily="34" charset="-122"/>
                <a:cs typeface="Consolas" pitchFamily="34" charset="-120"/>
              </a:rPr>
              <a:t>  /etc/nginx/sites-enabled/</a:t>
            </a:r>
            <a:endParaRPr lang="en-US" sz="1200" dirty="0"/>
          </a:p>
          <a:p>
            <a:pPr indent="0" marL="0">
              <a:spcAft>
                <a:spcPts val="200"/>
              </a:spcAft>
              <a:buNone/>
            </a:pPr>
            <a:endParaRPr lang="en-US" sz="1200" dirty="0"/>
          </a:p>
          <a:p>
            <a:pPr indent="0" marL="0">
              <a:spcAft>
                <a:spcPts val="200"/>
              </a:spcAft>
              <a:buNone/>
            </a:pPr>
            <a:r>
              <a:rPr lang="en-US" sz="1200" dirty="0">
                <a:solidFill>
                  <a:srgbClr val="34D399"/>
                </a:solidFill>
                <a:latin typeface="Consolas" pitchFamily="34" charset="0"/>
                <a:ea typeface="Consolas" pitchFamily="34" charset="-122"/>
                <a:cs typeface="Consolas" pitchFamily="34" charset="-120"/>
              </a:rPr>
              <a:t>$ nginx -t &amp;&amp; systemctl reload nginx</a:t>
            </a:r>
            <a:endParaRPr lang="en-US" sz="1200" dirty="0"/>
          </a:p>
        </p:txBody>
      </p:sp>
      <p:sp>
        <p:nvSpPr>
          <p:cNvPr id="10" name="Shape 8"/>
          <p:cNvSpPr/>
          <p:nvPr/>
        </p:nvSpPr>
        <p:spPr>
          <a:xfrm>
            <a:off x="7543800" y="3474720"/>
            <a:ext cx="4114800" cy="1783080"/>
          </a:xfrm>
          <a:prstGeom prst="roundRect">
            <a:avLst>
              <a:gd name="adj" fmla="val 4103"/>
            </a:avLst>
          </a:prstGeom>
          <a:solidFill>
            <a:srgbClr val="DBEAFE"/>
          </a:solidFill>
          <a:ln/>
        </p:spPr>
      </p:sp>
      <p:sp>
        <p:nvSpPr>
          <p:cNvPr id="11" name="Text 9"/>
          <p:cNvSpPr txBox="1"/>
          <p:nvPr/>
        </p:nvSpPr>
        <p:spPr>
          <a:xfrm>
            <a:off x="7772400" y="3611880"/>
            <a:ext cx="3657600" cy="320040"/>
          </a:xfrm>
          <a:prstGeom prst="rect">
            <a:avLst/>
          </a:prstGeom>
          <a:noFill/>
          <a:ln/>
        </p:spPr>
        <p:txBody>
          <a:bodyPr wrap="square" lIns="0" tIns="0" rIns="0" bIns="0" rtlCol="0" anchor="ctr"/>
          <a:lstStyle/>
          <a:p>
            <a:pPr indent="0" marL="0">
              <a:buNone/>
            </a:pPr>
            <a:r>
              <a:rPr lang="en-US" sz="1300" b="1" dirty="0">
                <a:solidFill>
                  <a:srgbClr val="1E40AF"/>
                </a:solidFill>
                <a:latin typeface="Calibri" pitchFamily="34" charset="0"/>
                <a:ea typeface="Calibri" pitchFamily="34" charset="-122"/>
                <a:cs typeface="Calibri" pitchFamily="34" charset="-120"/>
              </a:rPr>
              <a:t>Dobra praktyka</a:t>
            </a:r>
            <a:endParaRPr lang="en-US" sz="1300" dirty="0"/>
          </a:p>
        </p:txBody>
      </p:sp>
      <p:sp>
        <p:nvSpPr>
          <p:cNvPr id="12" name="Text 10"/>
          <p:cNvSpPr txBox="1"/>
          <p:nvPr/>
        </p:nvSpPr>
        <p:spPr>
          <a:xfrm>
            <a:off x="7772400" y="3931920"/>
            <a:ext cx="3657600" cy="1280160"/>
          </a:xfrm>
          <a:prstGeom prst="rect">
            <a:avLst/>
          </a:prstGeom>
          <a:noFill/>
          <a:ln/>
        </p:spPr>
        <p:txBody>
          <a:bodyPr wrap="square" lIns="0" tIns="0" rIns="0" bIns="0" rtlCol="0" anchor="ctr"/>
          <a:lstStyle/>
          <a:p>
            <a:pPr indent="0" marL="0">
              <a:buNone/>
            </a:pPr>
            <a:r>
              <a:rPr lang="en-US" sz="1150" dirty="0">
                <a:solidFill>
                  <a:srgbClr val="1E3A8A"/>
                </a:solidFill>
                <a:latin typeface="Calibri" pitchFamily="34" charset="0"/>
                <a:ea typeface="Calibri" pitchFamily="34" charset="-122"/>
                <a:cs typeface="Calibri" pitchFamily="34" charset="-120"/>
              </a:rPr>
              <a:t>Każdą domenę trzymaj w osobnym pliku — ułatwia audyt, automatyzację (Ansible/Puppet) i szybkie wyłączenie jednej witryny bez ryzyka dla pozostałych.</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731520" y="2331720"/>
            <a:ext cx="5486400" cy="457200"/>
          </a:xfrm>
          <a:prstGeom prst="rect">
            <a:avLst/>
          </a:prstGeom>
          <a:noFill/>
          <a:ln/>
        </p:spPr>
        <p:txBody>
          <a:bodyPr wrap="square" lIns="0" tIns="0" rIns="0" bIns="0" rtlCol="0" anchor="ctr"/>
          <a:lstStyle/>
          <a:p>
            <a:pPr indent="0" marL="0">
              <a:buNone/>
            </a:pPr>
            <a:r>
              <a:rPr lang="en-US" sz="1600" b="1" spc="300" kern="0" dirty="0">
                <a:solidFill>
                  <a:srgbClr val="A78BFA"/>
                </a:solidFill>
                <a:latin typeface="Calibri" pitchFamily="34" charset="0"/>
                <a:ea typeface="Calibri" pitchFamily="34" charset="-122"/>
                <a:cs typeface="Calibri" pitchFamily="34" charset="-120"/>
              </a:rPr>
              <a:t>CZĘŚĆ 4</a:t>
            </a:r>
            <a:endParaRPr lang="en-US" sz="1600" dirty="0"/>
          </a:p>
        </p:txBody>
      </p:sp>
      <p:sp>
        <p:nvSpPr>
          <p:cNvPr id="3" name="Text 1"/>
          <p:cNvSpPr txBox="1"/>
          <p:nvPr/>
        </p:nvSpPr>
        <p:spPr>
          <a:xfrm>
            <a:off x="731520" y="2743200"/>
            <a:ext cx="10515600" cy="146304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Certyfikaty SSL/TLS i OpenSSL</a:t>
            </a:r>
            <a:endParaRPr lang="en-US" sz="4200" dirty="0"/>
          </a:p>
        </p:txBody>
      </p:sp>
      <p:sp>
        <p:nvSpPr>
          <p:cNvPr id="4" name="Text 2"/>
          <p:cNvSpPr txBox="1"/>
          <p:nvPr/>
        </p:nvSpPr>
        <p:spPr>
          <a:xfrm>
            <a:off x="731520" y="4114800"/>
            <a:ext cx="9875520" cy="822960"/>
          </a:xfrm>
          <a:prstGeom prst="rect">
            <a:avLst/>
          </a:prstGeom>
          <a:noFill/>
          <a:ln/>
        </p:spPr>
        <p:txBody>
          <a:bodyPr wrap="square" lIns="0" tIns="0" rIns="0" bIns="0" rtlCol="0" anchor="ctr"/>
          <a:lstStyle/>
          <a:p>
            <a:pPr indent="0" marL="0">
              <a:buNone/>
            </a:pPr>
            <a:r>
              <a:rPr lang="en-US" sz="1800" dirty="0">
                <a:solidFill>
                  <a:srgbClr val="94A3B8"/>
                </a:solidFill>
                <a:latin typeface="Calibri" pitchFamily="34" charset="0"/>
                <a:ea typeface="Calibri" pitchFamily="34" charset="-122"/>
                <a:cs typeface="Calibri" pitchFamily="34" charset="-120"/>
              </a:rPr>
              <a:t>Szyfrowanie transmisji — od klucza prywatnego do zaufanego certyfikatu</a:t>
            </a:r>
            <a:endParaRPr lang="en-US" sz="1800" dirty="0"/>
          </a:p>
        </p:txBody>
      </p:sp>
      <p:sp>
        <p:nvSpPr>
          <p:cNvPr id="5" name="Shape 3"/>
          <p:cNvSpPr/>
          <p:nvPr/>
        </p:nvSpPr>
        <p:spPr>
          <a:xfrm>
            <a:off x="10332720" y="1097280"/>
            <a:ext cx="1463040" cy="1463040"/>
          </a:xfrm>
          <a:prstGeom prst="ellipse">
            <a:avLst/>
          </a:prstGeom>
          <a:solidFill>
            <a:srgbClr val="A78BFA">
              <a:alpha val="15000"/>
            </a:srgbClr>
          </a:solidFill>
          <a:ln w="19050">
            <a:solidFill>
              <a:srgbClr val="A78BFA"/>
            </a:solidFill>
            <a:prstDash val="solid"/>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indent="0" marL="0">
              <a:buNone/>
            </a:pPr>
            <a:r>
              <a:rPr lang="en-US" sz="1200" b="1" spc="200" kern="0" dirty="0">
                <a:solidFill>
                  <a:srgbClr val="A78BFA"/>
                </a:solidFill>
                <a:latin typeface="Calibri" pitchFamily="34" charset="0"/>
                <a:ea typeface="Calibri" pitchFamily="34" charset="-122"/>
                <a:cs typeface="Calibri" pitchFamily="34" charset="-120"/>
              </a:rPr>
              <a:t>4. SSL/TLS</a:t>
            </a:r>
            <a:endParaRPr lang="en-US" sz="1200" dirty="0"/>
          </a:p>
        </p:txBody>
      </p:sp>
      <p:sp>
        <p:nvSpPr>
          <p:cNvPr id="3" name="Text 1"/>
          <p:cNvSpPr txBox="1"/>
          <p:nvPr/>
        </p:nvSpPr>
        <p:spPr>
          <a:xfrm>
            <a:off x="548640" y="411480"/>
            <a:ext cx="11064240" cy="868680"/>
          </a:xfrm>
          <a:prstGeom prst="rect">
            <a:avLst/>
          </a:prstGeom>
          <a:noFill/>
          <a:ln/>
        </p:spPr>
        <p:txBody>
          <a:bodyPr wrap="square" lIns="0" tIns="0" rIns="0" bIns="0" rtlCol="0" anchor="ctr"/>
          <a:lstStyle/>
          <a:p>
            <a:pPr algn="l" indent="0" marL="0">
              <a:buNone/>
            </a:pPr>
            <a:r>
              <a:rPr lang="en-US" sz="3000" b="1" dirty="0">
                <a:solidFill>
                  <a:srgbClr val="0F172A"/>
                </a:solidFill>
                <a:latin typeface="Cambria" pitchFamily="34" charset="0"/>
                <a:ea typeface="Cambria" pitchFamily="34" charset="-122"/>
                <a:cs typeface="Cambria" pitchFamily="34" charset="-120"/>
              </a:rPr>
              <a:t>Cykl życia certyfikatu</a:t>
            </a:r>
            <a:endParaRPr lang="en-US" sz="3000" dirty="0"/>
          </a:p>
        </p:txBody>
      </p:sp>
      <p:sp>
        <p:nvSpPr>
          <p:cNvPr id="4" name="Text 2"/>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4. SSL/TLS</a:t>
            </a:r>
            <a:endParaRPr lang="en-US" sz="1000" dirty="0"/>
          </a:p>
        </p:txBody>
      </p:sp>
      <p:sp>
        <p:nvSpPr>
          <p:cNvPr id="5" name="Text 3"/>
          <p:cNvSpPr txBox="1"/>
          <p:nvPr/>
        </p:nvSpPr>
        <p:spPr>
          <a:xfrm>
            <a:off x="11430000" y="6510528"/>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13</a:t>
            </a:r>
            <a:endParaRPr lang="en-US" sz="1000" dirty="0"/>
          </a:p>
        </p:txBody>
      </p:sp>
      <p:sp>
        <p:nvSpPr>
          <p:cNvPr id="6" name="Shape 4"/>
          <p:cNvSpPr/>
          <p:nvPr/>
        </p:nvSpPr>
        <p:spPr>
          <a:xfrm>
            <a:off x="640080" y="1920240"/>
            <a:ext cx="2468880" cy="1371600"/>
          </a:xfrm>
          <a:prstGeom prst="roundRect">
            <a:avLst>
              <a:gd name="adj" fmla="val 6667"/>
            </a:avLst>
          </a:prstGeom>
          <a:solidFill>
            <a:srgbClr val="F1F5F9"/>
          </a:solidFill>
          <a:ln w="19050">
            <a:solidFill>
              <a:srgbClr val="38BDF8"/>
            </a:solidFill>
            <a:prstDash val="solid"/>
          </a:ln>
        </p:spPr>
      </p:sp>
      <p:sp>
        <p:nvSpPr>
          <p:cNvPr id="7" name="Text 5"/>
          <p:cNvSpPr txBox="1"/>
          <p:nvPr/>
        </p:nvSpPr>
        <p:spPr>
          <a:xfrm>
            <a:off x="640080" y="2103120"/>
            <a:ext cx="2468880" cy="457200"/>
          </a:xfrm>
          <a:prstGeom prst="rect">
            <a:avLst/>
          </a:prstGeom>
          <a:noFill/>
          <a:ln/>
        </p:spPr>
        <p:txBody>
          <a:bodyPr wrap="square" lIns="0" tIns="0" rIns="0" bIns="0" rtlCol="0" anchor="ctr"/>
          <a:lstStyle/>
          <a:p>
            <a:pPr algn="ctr" indent="0" marL="0">
              <a:buNone/>
            </a:pPr>
            <a:r>
              <a:rPr lang="en-US" sz="1450" b="1" dirty="0">
                <a:solidFill>
                  <a:srgbClr val="0F172A"/>
                </a:solidFill>
                <a:latin typeface="Calibri" pitchFamily="34" charset="0"/>
                <a:ea typeface="Calibri" pitchFamily="34" charset="-122"/>
                <a:cs typeface="Calibri" pitchFamily="34" charset="-120"/>
              </a:rPr>
              <a:t>Klucz prywatny</a:t>
            </a:r>
            <a:endParaRPr lang="en-US" sz="1450" dirty="0"/>
          </a:p>
        </p:txBody>
      </p:sp>
      <p:sp>
        <p:nvSpPr>
          <p:cNvPr id="8" name="Text 6"/>
          <p:cNvSpPr txBox="1"/>
          <p:nvPr/>
        </p:nvSpPr>
        <p:spPr>
          <a:xfrm>
            <a:off x="731520" y="2606040"/>
            <a:ext cx="2286000" cy="548640"/>
          </a:xfrm>
          <a:prstGeom prst="rect">
            <a:avLst/>
          </a:prstGeom>
          <a:noFill/>
          <a:ln/>
        </p:spPr>
        <p:txBody>
          <a:bodyPr wrap="square" lIns="0" tIns="0" rIns="0" bIns="0" rtlCol="0" anchor="ctr"/>
          <a:lstStyle/>
          <a:p>
            <a:pPr algn="ctr" indent="0" marL="0">
              <a:buNone/>
            </a:pPr>
            <a:r>
              <a:rPr lang="en-US" sz="1150" dirty="0">
                <a:solidFill>
                  <a:srgbClr val="475569"/>
                </a:solidFill>
                <a:latin typeface="Calibri" pitchFamily="34" charset="0"/>
                <a:ea typeface="Calibri" pitchFamily="34" charset="-122"/>
                <a:cs typeface="Calibri" pitchFamily="34" charset="-120"/>
              </a:rPr>
              <a:t>openssl genrsa</a:t>
            </a:r>
            <a:endParaRPr lang="en-US" sz="1150" dirty="0"/>
          </a:p>
        </p:txBody>
      </p:sp>
      <p:sp>
        <p:nvSpPr>
          <p:cNvPr id="9" name="Shape 7"/>
          <p:cNvSpPr/>
          <p:nvPr/>
        </p:nvSpPr>
        <p:spPr>
          <a:xfrm>
            <a:off x="3154680" y="2606040"/>
            <a:ext cx="320040" cy="0"/>
          </a:xfrm>
          <a:prstGeom prst="line">
            <a:avLst/>
          </a:prstGeom>
          <a:noFill/>
          <a:ln w="31750">
            <a:solidFill>
              <a:srgbClr val="A78BFA"/>
            </a:solidFill>
            <a:prstDash val="solid"/>
            <a:tailEnd type="triangle"/>
          </a:ln>
        </p:spPr>
      </p:sp>
      <p:sp>
        <p:nvSpPr>
          <p:cNvPr id="10" name="Shape 8"/>
          <p:cNvSpPr/>
          <p:nvPr/>
        </p:nvSpPr>
        <p:spPr>
          <a:xfrm>
            <a:off x="3474720" y="1920240"/>
            <a:ext cx="2468880" cy="1371600"/>
          </a:xfrm>
          <a:prstGeom prst="roundRect">
            <a:avLst>
              <a:gd name="adj" fmla="val 6667"/>
            </a:avLst>
          </a:prstGeom>
          <a:solidFill>
            <a:srgbClr val="F1F5F9"/>
          </a:solidFill>
          <a:ln w="19050">
            <a:solidFill>
              <a:srgbClr val="FBBF24"/>
            </a:solidFill>
            <a:prstDash val="solid"/>
          </a:ln>
        </p:spPr>
      </p:sp>
      <p:sp>
        <p:nvSpPr>
          <p:cNvPr id="11" name="Text 9"/>
          <p:cNvSpPr txBox="1"/>
          <p:nvPr/>
        </p:nvSpPr>
        <p:spPr>
          <a:xfrm>
            <a:off x="3474720" y="2103120"/>
            <a:ext cx="2468880" cy="457200"/>
          </a:xfrm>
          <a:prstGeom prst="rect">
            <a:avLst/>
          </a:prstGeom>
          <a:noFill/>
          <a:ln/>
        </p:spPr>
        <p:txBody>
          <a:bodyPr wrap="square" lIns="0" tIns="0" rIns="0" bIns="0" rtlCol="0" anchor="ctr"/>
          <a:lstStyle/>
          <a:p>
            <a:pPr algn="ctr" indent="0" marL="0">
              <a:buNone/>
            </a:pPr>
            <a:r>
              <a:rPr lang="en-US" sz="1450" b="1" dirty="0">
                <a:solidFill>
                  <a:srgbClr val="0F172A"/>
                </a:solidFill>
                <a:latin typeface="Calibri" pitchFamily="34" charset="0"/>
                <a:ea typeface="Calibri" pitchFamily="34" charset="-122"/>
                <a:cs typeface="Calibri" pitchFamily="34" charset="-120"/>
              </a:rPr>
              <a:t>CSR</a:t>
            </a:r>
            <a:endParaRPr lang="en-US" sz="1450" dirty="0"/>
          </a:p>
        </p:txBody>
      </p:sp>
      <p:sp>
        <p:nvSpPr>
          <p:cNvPr id="12" name="Text 10"/>
          <p:cNvSpPr txBox="1"/>
          <p:nvPr/>
        </p:nvSpPr>
        <p:spPr>
          <a:xfrm>
            <a:off x="3566160" y="2606040"/>
            <a:ext cx="2286000" cy="548640"/>
          </a:xfrm>
          <a:prstGeom prst="rect">
            <a:avLst/>
          </a:prstGeom>
          <a:noFill/>
          <a:ln/>
        </p:spPr>
        <p:txBody>
          <a:bodyPr wrap="square" lIns="0" tIns="0" rIns="0" bIns="0" rtlCol="0" anchor="ctr"/>
          <a:lstStyle/>
          <a:p>
            <a:pPr algn="ctr" indent="0" marL="0">
              <a:buNone/>
            </a:pPr>
            <a:r>
              <a:rPr lang="en-US" sz="1150" dirty="0">
                <a:solidFill>
                  <a:srgbClr val="475569"/>
                </a:solidFill>
                <a:latin typeface="Calibri" pitchFamily="34" charset="0"/>
                <a:ea typeface="Calibri" pitchFamily="34" charset="-122"/>
                <a:cs typeface="Calibri" pitchFamily="34" charset="-120"/>
              </a:rPr>
              <a:t>żądanie podpisania</a:t>
            </a:r>
            <a:endParaRPr lang="en-US" sz="1150" dirty="0"/>
          </a:p>
        </p:txBody>
      </p:sp>
      <p:sp>
        <p:nvSpPr>
          <p:cNvPr id="13" name="Shape 11"/>
          <p:cNvSpPr/>
          <p:nvPr/>
        </p:nvSpPr>
        <p:spPr>
          <a:xfrm>
            <a:off x="5989320" y="2606040"/>
            <a:ext cx="320040" cy="0"/>
          </a:xfrm>
          <a:prstGeom prst="line">
            <a:avLst/>
          </a:prstGeom>
          <a:noFill/>
          <a:ln w="31750">
            <a:solidFill>
              <a:srgbClr val="A78BFA"/>
            </a:solidFill>
            <a:prstDash val="solid"/>
            <a:tailEnd type="triangle"/>
          </a:ln>
        </p:spPr>
      </p:sp>
      <p:sp>
        <p:nvSpPr>
          <p:cNvPr id="14" name="Shape 12"/>
          <p:cNvSpPr/>
          <p:nvPr/>
        </p:nvSpPr>
        <p:spPr>
          <a:xfrm>
            <a:off x="6309360" y="1920240"/>
            <a:ext cx="2468880" cy="1371600"/>
          </a:xfrm>
          <a:prstGeom prst="roundRect">
            <a:avLst>
              <a:gd name="adj" fmla="val 6667"/>
            </a:avLst>
          </a:prstGeom>
          <a:solidFill>
            <a:srgbClr val="F1F5F9"/>
          </a:solidFill>
          <a:ln w="19050">
            <a:solidFill>
              <a:srgbClr val="A78BFA"/>
            </a:solidFill>
            <a:prstDash val="solid"/>
          </a:ln>
        </p:spPr>
      </p:sp>
      <p:sp>
        <p:nvSpPr>
          <p:cNvPr id="15" name="Text 13"/>
          <p:cNvSpPr txBox="1"/>
          <p:nvPr/>
        </p:nvSpPr>
        <p:spPr>
          <a:xfrm>
            <a:off x="6309360" y="2103120"/>
            <a:ext cx="2468880" cy="457200"/>
          </a:xfrm>
          <a:prstGeom prst="rect">
            <a:avLst/>
          </a:prstGeom>
          <a:noFill/>
          <a:ln/>
        </p:spPr>
        <p:txBody>
          <a:bodyPr wrap="square" lIns="0" tIns="0" rIns="0" bIns="0" rtlCol="0" anchor="ctr"/>
          <a:lstStyle/>
          <a:p>
            <a:pPr algn="ctr" indent="0" marL="0">
              <a:buNone/>
            </a:pPr>
            <a:r>
              <a:rPr lang="en-US" sz="1450" b="1" dirty="0">
                <a:solidFill>
                  <a:srgbClr val="0F172A"/>
                </a:solidFill>
                <a:latin typeface="Calibri" pitchFamily="34" charset="0"/>
                <a:ea typeface="Calibri" pitchFamily="34" charset="-122"/>
                <a:cs typeface="Calibri" pitchFamily="34" charset="-120"/>
              </a:rPr>
              <a:t>Urząd CA</a:t>
            </a:r>
            <a:endParaRPr lang="en-US" sz="1450" dirty="0"/>
          </a:p>
        </p:txBody>
      </p:sp>
      <p:sp>
        <p:nvSpPr>
          <p:cNvPr id="16" name="Text 14"/>
          <p:cNvSpPr txBox="1"/>
          <p:nvPr/>
        </p:nvSpPr>
        <p:spPr>
          <a:xfrm>
            <a:off x="6400800" y="2606040"/>
            <a:ext cx="2286000" cy="548640"/>
          </a:xfrm>
          <a:prstGeom prst="rect">
            <a:avLst/>
          </a:prstGeom>
          <a:noFill/>
          <a:ln/>
        </p:spPr>
        <p:txBody>
          <a:bodyPr wrap="square" lIns="0" tIns="0" rIns="0" bIns="0" rtlCol="0" anchor="ctr"/>
          <a:lstStyle/>
          <a:p>
            <a:pPr algn="ctr" indent="0" marL="0">
              <a:buNone/>
            </a:pPr>
            <a:r>
              <a:rPr lang="en-US" sz="1150" dirty="0">
                <a:solidFill>
                  <a:srgbClr val="475569"/>
                </a:solidFill>
                <a:latin typeface="Calibri" pitchFamily="34" charset="0"/>
                <a:ea typeface="Calibri" pitchFamily="34" charset="-122"/>
                <a:cs typeface="Calibri" pitchFamily="34" charset="-120"/>
              </a:rPr>
              <a:t>Let's Encrypt / komercyjny</a:t>
            </a:r>
            <a:endParaRPr lang="en-US" sz="1150" dirty="0"/>
          </a:p>
        </p:txBody>
      </p:sp>
      <p:sp>
        <p:nvSpPr>
          <p:cNvPr id="17" name="Shape 15"/>
          <p:cNvSpPr/>
          <p:nvPr/>
        </p:nvSpPr>
        <p:spPr>
          <a:xfrm>
            <a:off x="8823960" y="2606040"/>
            <a:ext cx="320040" cy="0"/>
          </a:xfrm>
          <a:prstGeom prst="line">
            <a:avLst/>
          </a:prstGeom>
          <a:noFill/>
          <a:ln w="31750">
            <a:solidFill>
              <a:srgbClr val="A78BFA"/>
            </a:solidFill>
            <a:prstDash val="solid"/>
            <a:tailEnd type="triangle"/>
          </a:ln>
        </p:spPr>
      </p:sp>
      <p:sp>
        <p:nvSpPr>
          <p:cNvPr id="18" name="Shape 16"/>
          <p:cNvSpPr/>
          <p:nvPr/>
        </p:nvSpPr>
        <p:spPr>
          <a:xfrm>
            <a:off x="9144000" y="1920240"/>
            <a:ext cx="2468880" cy="1371600"/>
          </a:xfrm>
          <a:prstGeom prst="roundRect">
            <a:avLst>
              <a:gd name="adj" fmla="val 6667"/>
            </a:avLst>
          </a:prstGeom>
          <a:solidFill>
            <a:srgbClr val="F1F5F9"/>
          </a:solidFill>
          <a:ln w="19050">
            <a:solidFill>
              <a:srgbClr val="34D399"/>
            </a:solidFill>
            <a:prstDash val="solid"/>
          </a:ln>
        </p:spPr>
      </p:sp>
      <p:sp>
        <p:nvSpPr>
          <p:cNvPr id="19" name="Text 17"/>
          <p:cNvSpPr txBox="1"/>
          <p:nvPr/>
        </p:nvSpPr>
        <p:spPr>
          <a:xfrm>
            <a:off x="9144000" y="2103120"/>
            <a:ext cx="2468880" cy="457200"/>
          </a:xfrm>
          <a:prstGeom prst="rect">
            <a:avLst/>
          </a:prstGeom>
          <a:noFill/>
          <a:ln/>
        </p:spPr>
        <p:txBody>
          <a:bodyPr wrap="square" lIns="0" tIns="0" rIns="0" bIns="0" rtlCol="0" anchor="ctr"/>
          <a:lstStyle/>
          <a:p>
            <a:pPr algn="ctr" indent="0" marL="0">
              <a:buNone/>
            </a:pPr>
            <a:r>
              <a:rPr lang="en-US" sz="1450" b="1" dirty="0">
                <a:solidFill>
                  <a:srgbClr val="0F172A"/>
                </a:solidFill>
                <a:latin typeface="Calibri" pitchFamily="34" charset="0"/>
                <a:ea typeface="Calibri" pitchFamily="34" charset="-122"/>
                <a:cs typeface="Calibri" pitchFamily="34" charset="-120"/>
              </a:rPr>
              <a:t>Certyfikat</a:t>
            </a:r>
            <a:endParaRPr lang="en-US" sz="1450" dirty="0"/>
          </a:p>
        </p:txBody>
      </p:sp>
      <p:sp>
        <p:nvSpPr>
          <p:cNvPr id="20" name="Text 18"/>
          <p:cNvSpPr txBox="1"/>
          <p:nvPr/>
        </p:nvSpPr>
        <p:spPr>
          <a:xfrm>
            <a:off x="9235440" y="2606040"/>
            <a:ext cx="2286000" cy="548640"/>
          </a:xfrm>
          <a:prstGeom prst="rect">
            <a:avLst/>
          </a:prstGeom>
          <a:noFill/>
          <a:ln/>
        </p:spPr>
        <p:txBody>
          <a:bodyPr wrap="square" lIns="0" tIns="0" rIns="0" bIns="0" rtlCol="0" anchor="ctr"/>
          <a:lstStyle/>
          <a:p>
            <a:pPr algn="ctr" indent="0" marL="0">
              <a:buNone/>
            </a:pPr>
            <a:r>
              <a:rPr lang="en-US" sz="1150" dirty="0">
                <a:solidFill>
                  <a:srgbClr val="475569"/>
                </a:solidFill>
                <a:latin typeface="Calibri" pitchFamily="34" charset="0"/>
                <a:ea typeface="Calibri" pitchFamily="34" charset="-122"/>
                <a:cs typeface="Calibri" pitchFamily="34" charset="-120"/>
              </a:rPr>
              <a:t>podpisany, zaufany</a:t>
            </a:r>
            <a:endParaRPr lang="en-US" sz="1150" dirty="0"/>
          </a:p>
        </p:txBody>
      </p:sp>
      <p:sp>
        <p:nvSpPr>
          <p:cNvPr id="21" name="Text 19"/>
          <p:cNvSpPr txBox="1"/>
          <p:nvPr/>
        </p:nvSpPr>
        <p:spPr>
          <a:xfrm>
            <a:off x="640080" y="3749040"/>
            <a:ext cx="10881360" cy="1188720"/>
          </a:xfrm>
          <a:prstGeom prst="rect">
            <a:avLst/>
          </a:prstGeom>
          <a:noFill/>
          <a:ln/>
        </p:spPr>
        <p:txBody>
          <a:bodyPr wrap="square" lIns="0" tIns="0" rIns="0" bIns="0" rtlCol="0" anchor="ctr"/>
          <a:lstStyle/>
          <a:p>
            <a:pPr indent="0" marL="0">
              <a:lnSpc>
                <a:spcPct val="120000"/>
              </a:lnSpc>
              <a:buNone/>
            </a:pPr>
            <a:r>
              <a:rPr lang="en-US" sz="1500" dirty="0">
                <a:solidFill>
                  <a:srgbClr val="0F172A"/>
                </a:solidFill>
                <a:latin typeface="Calibri" pitchFamily="34" charset="0"/>
                <a:ea typeface="Calibri" pitchFamily="34" charset="-122"/>
                <a:cs typeface="Calibri" pitchFamily="34" charset="-120"/>
              </a:rPr>
              <a:t>Standardowa ścieżka do certyfikatu zaufanego przez przeglądarki: generujemy klucz prywatny, na jego podstawie tworzymy CSR (Certificate Signing Request), który przekazujemy do urzędu certyfikacji (CA) — komercyjnego lub darmowego, jak Let's Encrypt — a ten w zamian wystawia podpisany certyfikat.</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indent="0" marL="0">
              <a:buNone/>
            </a:pPr>
            <a:r>
              <a:rPr lang="en-US" sz="1200" b="1" spc="200" kern="0" dirty="0">
                <a:solidFill>
                  <a:srgbClr val="A78BFA"/>
                </a:solidFill>
                <a:latin typeface="Calibri" pitchFamily="34" charset="0"/>
                <a:ea typeface="Calibri" pitchFamily="34" charset="-122"/>
                <a:cs typeface="Calibri" pitchFamily="34" charset="-120"/>
              </a:rPr>
              <a:t>4. SSL/TLS</a:t>
            </a:r>
            <a:endParaRPr lang="en-US" sz="1200" dirty="0"/>
          </a:p>
        </p:txBody>
      </p:sp>
      <p:sp>
        <p:nvSpPr>
          <p:cNvPr id="3" name="Text 1"/>
          <p:cNvSpPr txBox="1"/>
          <p:nvPr/>
        </p:nvSpPr>
        <p:spPr>
          <a:xfrm>
            <a:off x="548640" y="411480"/>
            <a:ext cx="11064240" cy="868680"/>
          </a:xfrm>
          <a:prstGeom prst="rect">
            <a:avLst/>
          </a:prstGeom>
          <a:noFill/>
          <a:ln/>
        </p:spPr>
        <p:txBody>
          <a:bodyPr wrap="square" lIns="0" tIns="0" rIns="0" bIns="0" rtlCol="0" anchor="ctr"/>
          <a:lstStyle/>
          <a:p>
            <a:pPr algn="l" indent="0" marL="0">
              <a:buNone/>
            </a:pPr>
            <a:r>
              <a:rPr lang="en-US" sz="3000" b="1" dirty="0">
                <a:solidFill>
                  <a:srgbClr val="0F172A"/>
                </a:solidFill>
                <a:latin typeface="Cambria" pitchFamily="34" charset="0"/>
                <a:ea typeface="Cambria" pitchFamily="34" charset="-122"/>
                <a:cs typeface="Cambria" pitchFamily="34" charset="-120"/>
              </a:rPr>
              <a:t>Certyfikat self-signed (środowiska testowe)</a:t>
            </a:r>
            <a:endParaRPr lang="en-US" sz="3000" dirty="0"/>
          </a:p>
        </p:txBody>
      </p:sp>
      <p:sp>
        <p:nvSpPr>
          <p:cNvPr id="4" name="Text 2"/>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4. SSL/TLS</a:t>
            </a:r>
            <a:endParaRPr lang="en-US" sz="1000" dirty="0"/>
          </a:p>
        </p:txBody>
      </p:sp>
      <p:sp>
        <p:nvSpPr>
          <p:cNvPr id="5" name="Text 3"/>
          <p:cNvSpPr txBox="1"/>
          <p:nvPr/>
        </p:nvSpPr>
        <p:spPr>
          <a:xfrm>
            <a:off x="11430000" y="6510528"/>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14</a:t>
            </a:r>
            <a:endParaRPr lang="en-US" sz="1000" dirty="0"/>
          </a:p>
        </p:txBody>
      </p:sp>
      <p:sp>
        <p:nvSpPr>
          <p:cNvPr id="6" name="Shape 4"/>
          <p:cNvSpPr/>
          <p:nvPr/>
        </p:nvSpPr>
        <p:spPr>
          <a:xfrm>
            <a:off x="548640" y="1691640"/>
            <a:ext cx="11109960" cy="2103120"/>
          </a:xfrm>
          <a:prstGeom prst="roundRect">
            <a:avLst>
              <a:gd name="adj" fmla="val 3478"/>
            </a:avLst>
          </a:prstGeom>
          <a:solidFill>
            <a:srgbClr val="0B1220"/>
          </a:solidFill>
          <a:ln w="12700">
            <a:solidFill>
              <a:srgbClr val="1E293B"/>
            </a:solidFill>
            <a:prstDash val="solid"/>
          </a:ln>
          <a:effectLst>
            <a:outerShdw sx="100000" sy="100000" kx="0" ky="0" algn="bl" rotWithShape="0" blurRad="101600" dist="38100" dir="5400000">
              <a:srgbClr val="000000">
                <a:alpha val="25000"/>
              </a:srgbClr>
            </a:outerShdw>
          </a:effectLst>
        </p:spPr>
      </p:sp>
      <p:sp>
        <p:nvSpPr>
          <p:cNvPr id="7" name="Text 5"/>
          <p:cNvSpPr txBox="1"/>
          <p:nvPr/>
        </p:nvSpPr>
        <p:spPr>
          <a:xfrm>
            <a:off x="777240" y="1874520"/>
            <a:ext cx="10652760" cy="1737360"/>
          </a:xfrm>
          <a:prstGeom prst="rect">
            <a:avLst/>
          </a:prstGeom>
          <a:noFill/>
          <a:ln/>
        </p:spPr>
        <p:txBody>
          <a:bodyPr wrap="square" lIns="0" tIns="0" rIns="0" bIns="0" rtlCol="0" anchor="t"/>
          <a:lstStyle/>
          <a:p>
            <a:pPr indent="0" marL="0">
              <a:spcAft>
                <a:spcPts val="200"/>
              </a:spcAft>
              <a:buNone/>
            </a:pPr>
            <a:r>
              <a:rPr lang="en-US" sz="1400" dirty="0">
                <a:solidFill>
                  <a:srgbClr val="7DD3FC"/>
                </a:solidFill>
                <a:latin typeface="Consolas" pitchFamily="34" charset="0"/>
                <a:ea typeface="Consolas" pitchFamily="34" charset="-122"/>
                <a:cs typeface="Consolas" pitchFamily="34" charset="-120"/>
              </a:rPr>
              <a:t>$ openssl req -x509 -newkey rsa:4096 \</a:t>
            </a:r>
            <a:endParaRPr lang="en-US" sz="1400" dirty="0"/>
          </a:p>
          <a:p>
            <a:pPr indent="0" marL="0">
              <a:spcAft>
                <a:spcPts val="200"/>
              </a:spcAft>
              <a:buNone/>
            </a:pPr>
            <a:r>
              <a:rPr lang="en-US" sz="1400" dirty="0">
                <a:solidFill>
                  <a:srgbClr val="E2E8F0"/>
                </a:solidFill>
                <a:latin typeface="Consolas" pitchFamily="34" charset="0"/>
                <a:ea typeface="Consolas" pitchFamily="34" charset="-122"/>
                <a:cs typeface="Consolas" pitchFamily="34" charset="-120"/>
              </a:rPr>
              <a:t>  -keyout /etc/ssl/private/domena.key \</a:t>
            </a:r>
            <a:endParaRPr lang="en-US" sz="1400" dirty="0"/>
          </a:p>
          <a:p>
            <a:pPr indent="0" marL="0">
              <a:spcAft>
                <a:spcPts val="200"/>
              </a:spcAft>
              <a:buNone/>
            </a:pPr>
            <a:r>
              <a:rPr lang="en-US" sz="1400" dirty="0">
                <a:solidFill>
                  <a:srgbClr val="E2E8F0"/>
                </a:solidFill>
                <a:latin typeface="Consolas" pitchFamily="34" charset="0"/>
                <a:ea typeface="Consolas" pitchFamily="34" charset="-122"/>
                <a:cs typeface="Consolas" pitchFamily="34" charset="-120"/>
              </a:rPr>
              <a:t>  -out /etc/ssl/certs/domena.crt \</a:t>
            </a:r>
            <a:endParaRPr lang="en-US" sz="1400" dirty="0"/>
          </a:p>
          <a:p>
            <a:pPr indent="0" marL="0">
              <a:spcAft>
                <a:spcPts val="200"/>
              </a:spcAft>
              <a:buNone/>
            </a:pPr>
            <a:r>
              <a:rPr lang="en-US" sz="1400" dirty="0">
                <a:solidFill>
                  <a:srgbClr val="E2E8F0"/>
                </a:solidFill>
                <a:latin typeface="Consolas" pitchFamily="34" charset="0"/>
                <a:ea typeface="Consolas" pitchFamily="34" charset="-122"/>
                <a:cs typeface="Consolas" pitchFamily="34" charset="-120"/>
              </a:rPr>
              <a:t>  -days 365 -nodes \</a:t>
            </a:r>
            <a:endParaRPr lang="en-US" sz="1400" dirty="0"/>
          </a:p>
          <a:p>
            <a:pPr indent="0" marL="0">
              <a:spcAft>
                <a:spcPts val="200"/>
              </a:spcAft>
              <a:buNone/>
            </a:pPr>
            <a:r>
              <a:rPr lang="en-US" sz="1400" dirty="0">
                <a:solidFill>
                  <a:srgbClr val="FBBF24"/>
                </a:solidFill>
                <a:latin typeface="Consolas" pitchFamily="34" charset="0"/>
                <a:ea typeface="Consolas" pitchFamily="34" charset="-122"/>
                <a:cs typeface="Consolas" pitchFamily="34" charset="-120"/>
              </a:rPr>
              <a:t>  -subj "/C=PL/ST=Mazowieckie/L=Warszawa/\</a:t>
            </a:r>
            <a:endParaRPr lang="en-US" sz="1400" dirty="0"/>
          </a:p>
          <a:p>
            <a:pPr indent="0" marL="0">
              <a:spcAft>
                <a:spcPts val="200"/>
              </a:spcAft>
              <a:buNone/>
            </a:pPr>
            <a:r>
              <a:rPr lang="en-US" sz="1400" dirty="0">
                <a:solidFill>
                  <a:srgbClr val="FBBF24"/>
                </a:solidFill>
                <a:latin typeface="Consolas" pitchFamily="34" charset="0"/>
                <a:ea typeface="Consolas" pitchFamily="34" charset="-122"/>
                <a:cs typeface="Consolas" pitchFamily="34" charset="-120"/>
              </a:rPr>
              <a:t>O=MojaFirma/CN=domena.przyklad.pl"</a:t>
            </a:r>
            <a:endParaRPr lang="en-US" sz="1400" dirty="0"/>
          </a:p>
        </p:txBody>
      </p:sp>
      <p:sp>
        <p:nvSpPr>
          <p:cNvPr id="8" name="Shape 6"/>
          <p:cNvSpPr/>
          <p:nvPr/>
        </p:nvSpPr>
        <p:spPr>
          <a:xfrm>
            <a:off x="548640" y="3977640"/>
            <a:ext cx="11109960" cy="1371600"/>
          </a:xfrm>
          <a:prstGeom prst="roundRect">
            <a:avLst>
              <a:gd name="adj" fmla="val 5333"/>
            </a:avLst>
          </a:prstGeom>
          <a:solidFill>
            <a:srgbClr val="FEE2E2"/>
          </a:solidFill>
          <a:ln w="12700">
            <a:solidFill>
              <a:srgbClr val="F87171"/>
            </a:solidFill>
            <a:prstDash val="solid"/>
          </a:ln>
        </p:spPr>
      </p:sp>
      <p:sp>
        <p:nvSpPr>
          <p:cNvPr id="9" name="Text 7"/>
          <p:cNvSpPr txBox="1"/>
          <p:nvPr/>
        </p:nvSpPr>
        <p:spPr>
          <a:xfrm>
            <a:off x="822960" y="4114800"/>
            <a:ext cx="10515600" cy="365760"/>
          </a:xfrm>
          <a:prstGeom prst="rect">
            <a:avLst/>
          </a:prstGeom>
          <a:noFill/>
          <a:ln/>
        </p:spPr>
        <p:txBody>
          <a:bodyPr wrap="square" lIns="0" tIns="0" rIns="0" bIns="0" rtlCol="0" anchor="ctr"/>
          <a:lstStyle/>
          <a:p>
            <a:pPr indent="0" marL="0">
              <a:buNone/>
            </a:pPr>
            <a:r>
              <a:rPr lang="en-US" sz="1500" b="1" dirty="0">
                <a:solidFill>
                  <a:srgbClr val="991B1B"/>
                </a:solidFill>
                <a:latin typeface="Calibri" pitchFamily="34" charset="0"/>
                <a:ea typeface="Calibri" pitchFamily="34" charset="-122"/>
                <a:cs typeface="Calibri" pitchFamily="34" charset="-120"/>
              </a:rPr>
              <a:t>⚠ Brak zaufania przeglądarek</a:t>
            </a:r>
            <a:endParaRPr lang="en-US" sz="1500" dirty="0"/>
          </a:p>
        </p:txBody>
      </p:sp>
      <p:sp>
        <p:nvSpPr>
          <p:cNvPr id="10" name="Text 8"/>
          <p:cNvSpPr txBox="1"/>
          <p:nvPr/>
        </p:nvSpPr>
        <p:spPr>
          <a:xfrm>
            <a:off x="822960" y="4480560"/>
            <a:ext cx="10515600" cy="822960"/>
          </a:xfrm>
          <a:prstGeom prst="rect">
            <a:avLst/>
          </a:prstGeom>
          <a:noFill/>
          <a:ln/>
        </p:spPr>
        <p:txBody>
          <a:bodyPr wrap="square" lIns="0" tIns="0" rIns="0" bIns="0" rtlCol="0" anchor="ctr"/>
          <a:lstStyle/>
          <a:p>
            <a:pPr indent="0" marL="0">
              <a:buNone/>
            </a:pPr>
            <a:r>
              <a:rPr lang="en-US" sz="1350" dirty="0">
                <a:solidFill>
                  <a:srgbClr val="7F1D1D"/>
                </a:solidFill>
                <a:latin typeface="Calibri" pitchFamily="34" charset="0"/>
                <a:ea typeface="Calibri" pitchFamily="34" charset="-122"/>
                <a:cs typeface="Calibri" pitchFamily="34" charset="-120"/>
              </a:rPr>
              <a:t>Certyfikat self-signed nie jest zaufany przez przeglądarki — przeglądarka wyświetli ostrzeżenie, ponieważ nie istnieje łańcuch zaufania do znanego urzędu CA. Nadaje się do środowisk deweloperskich, wewnętrznych API czy testów.</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indent="0" marL="0">
              <a:buNone/>
            </a:pPr>
            <a:r>
              <a:rPr lang="en-US" sz="1200" b="1" spc="200" kern="0" dirty="0">
                <a:solidFill>
                  <a:srgbClr val="A78BFA"/>
                </a:solidFill>
                <a:latin typeface="Calibri" pitchFamily="34" charset="0"/>
                <a:ea typeface="Calibri" pitchFamily="34" charset="-122"/>
                <a:cs typeface="Calibri" pitchFamily="34" charset="-120"/>
              </a:rPr>
              <a:t>4. SSL/TLS</a:t>
            </a:r>
            <a:endParaRPr lang="en-US" sz="1200" dirty="0"/>
          </a:p>
        </p:txBody>
      </p:sp>
      <p:sp>
        <p:nvSpPr>
          <p:cNvPr id="3" name="Text 1"/>
          <p:cNvSpPr txBox="1"/>
          <p:nvPr/>
        </p:nvSpPr>
        <p:spPr>
          <a:xfrm>
            <a:off x="548640" y="411480"/>
            <a:ext cx="11064240" cy="868680"/>
          </a:xfrm>
          <a:prstGeom prst="rect">
            <a:avLst/>
          </a:prstGeom>
          <a:noFill/>
          <a:ln/>
        </p:spPr>
        <p:txBody>
          <a:bodyPr wrap="square" lIns="0" tIns="0" rIns="0" bIns="0" rtlCol="0" anchor="ctr"/>
          <a:lstStyle/>
          <a:p>
            <a:pPr algn="l" indent="0" marL="0">
              <a:buNone/>
            </a:pPr>
            <a:r>
              <a:rPr lang="en-US" sz="3000" b="1" dirty="0">
                <a:solidFill>
                  <a:srgbClr val="0F172A"/>
                </a:solidFill>
                <a:latin typeface="Cambria" pitchFamily="34" charset="0"/>
                <a:ea typeface="Cambria" pitchFamily="34" charset="-122"/>
                <a:cs typeface="Cambria" pitchFamily="34" charset="-120"/>
              </a:rPr>
              <a:t>CSR i automatyzacja przez Certbot</a:t>
            </a:r>
            <a:endParaRPr lang="en-US" sz="3000" dirty="0"/>
          </a:p>
        </p:txBody>
      </p:sp>
      <p:sp>
        <p:nvSpPr>
          <p:cNvPr id="4" name="Text 2"/>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4. SSL/TLS</a:t>
            </a:r>
            <a:endParaRPr lang="en-US" sz="1000" dirty="0"/>
          </a:p>
        </p:txBody>
      </p:sp>
      <p:sp>
        <p:nvSpPr>
          <p:cNvPr id="5" name="Text 3"/>
          <p:cNvSpPr txBox="1"/>
          <p:nvPr/>
        </p:nvSpPr>
        <p:spPr>
          <a:xfrm>
            <a:off x="11430000" y="6510528"/>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15</a:t>
            </a:r>
            <a:endParaRPr lang="en-US" sz="1000" dirty="0"/>
          </a:p>
        </p:txBody>
      </p:sp>
      <p:sp>
        <p:nvSpPr>
          <p:cNvPr id="6" name="Shape 4"/>
          <p:cNvSpPr/>
          <p:nvPr/>
        </p:nvSpPr>
        <p:spPr>
          <a:xfrm>
            <a:off x="548640" y="1645920"/>
            <a:ext cx="5577840" cy="1783080"/>
          </a:xfrm>
          <a:prstGeom prst="roundRect">
            <a:avLst>
              <a:gd name="adj" fmla="val 4103"/>
            </a:avLst>
          </a:prstGeom>
          <a:solidFill>
            <a:srgbClr val="0B1220"/>
          </a:solidFill>
          <a:ln w="12700">
            <a:solidFill>
              <a:srgbClr val="1E293B"/>
            </a:solidFill>
            <a:prstDash val="solid"/>
          </a:ln>
          <a:effectLst>
            <a:outerShdw sx="100000" sy="100000" kx="0" ky="0" algn="bl" rotWithShape="0" blurRad="101600" dist="38100" dir="5400000">
              <a:srgbClr val="000000">
                <a:alpha val="25000"/>
              </a:srgbClr>
            </a:outerShdw>
          </a:effectLst>
        </p:spPr>
      </p:sp>
      <p:sp>
        <p:nvSpPr>
          <p:cNvPr id="7" name="Text 5"/>
          <p:cNvSpPr txBox="1"/>
          <p:nvPr/>
        </p:nvSpPr>
        <p:spPr>
          <a:xfrm>
            <a:off x="777240" y="1828800"/>
            <a:ext cx="5120640" cy="1417320"/>
          </a:xfrm>
          <a:prstGeom prst="rect">
            <a:avLst/>
          </a:prstGeom>
          <a:noFill/>
          <a:ln/>
        </p:spPr>
        <p:txBody>
          <a:bodyPr wrap="square" lIns="0" tIns="0" rIns="0" bIns="0" rtlCol="0" anchor="t"/>
          <a:lstStyle/>
          <a:p>
            <a:pPr indent="0" marL="0">
              <a:spcAft>
                <a:spcPts val="200"/>
              </a:spcAft>
              <a:buNone/>
            </a:pPr>
            <a:r>
              <a:rPr lang="en-US" sz="1250" dirty="0">
                <a:solidFill>
                  <a:srgbClr val="64748B"/>
                </a:solidFill>
                <a:latin typeface="Consolas" pitchFamily="34" charset="0"/>
                <a:ea typeface="Consolas" pitchFamily="34" charset="-122"/>
                <a:cs typeface="Consolas" pitchFamily="34" charset="-120"/>
              </a:rPr>
              <a:t># Klucz prywatny + CSR</a:t>
            </a:r>
            <a:endParaRPr lang="en-US" sz="1250" dirty="0"/>
          </a:p>
          <a:p>
            <a:pPr indent="0" marL="0">
              <a:spcAft>
                <a:spcPts val="200"/>
              </a:spcAft>
              <a:buNone/>
            </a:pPr>
            <a:r>
              <a:rPr lang="en-US" sz="1250" dirty="0">
                <a:solidFill>
                  <a:srgbClr val="7DD3FC"/>
                </a:solidFill>
                <a:latin typeface="Consolas" pitchFamily="34" charset="0"/>
                <a:ea typeface="Consolas" pitchFamily="34" charset="-122"/>
                <a:cs typeface="Consolas" pitchFamily="34" charset="-120"/>
              </a:rPr>
              <a:t>$ openssl genrsa -out domena.key 4096</a:t>
            </a:r>
            <a:endParaRPr lang="en-US" sz="1250" dirty="0"/>
          </a:p>
          <a:p>
            <a:pPr indent="0" marL="0">
              <a:spcAft>
                <a:spcPts val="200"/>
              </a:spcAft>
              <a:buNone/>
            </a:pPr>
            <a:r>
              <a:rPr lang="en-US" sz="1250" dirty="0">
                <a:solidFill>
                  <a:srgbClr val="7DD3FC"/>
                </a:solidFill>
                <a:latin typeface="Consolas" pitchFamily="34" charset="0"/>
                <a:ea typeface="Consolas" pitchFamily="34" charset="-122"/>
                <a:cs typeface="Consolas" pitchFamily="34" charset="-120"/>
              </a:rPr>
              <a:t>$ openssl req -new -key domena.key \</a:t>
            </a:r>
            <a:endParaRPr lang="en-US" sz="1250" dirty="0"/>
          </a:p>
          <a:p>
            <a:pPr indent="0" marL="0">
              <a:spcAft>
                <a:spcPts val="200"/>
              </a:spcAft>
              <a:buNone/>
            </a:pPr>
            <a:r>
              <a:rPr lang="en-US" sz="1250" dirty="0">
                <a:solidFill>
                  <a:srgbClr val="7DD3FC"/>
                </a:solidFill>
                <a:latin typeface="Consolas" pitchFamily="34" charset="0"/>
                <a:ea typeface="Consolas" pitchFamily="34" charset="-122"/>
                <a:cs typeface="Consolas" pitchFamily="34" charset="-120"/>
              </a:rPr>
              <a:t>  -out domena.csr -subj "/C=PL/CN=domena.pl"</a:t>
            </a:r>
            <a:endParaRPr lang="en-US" sz="1250" dirty="0"/>
          </a:p>
        </p:txBody>
      </p:sp>
      <p:sp>
        <p:nvSpPr>
          <p:cNvPr id="8" name="Shape 6"/>
          <p:cNvSpPr/>
          <p:nvPr/>
        </p:nvSpPr>
        <p:spPr>
          <a:xfrm>
            <a:off x="6309360" y="1645920"/>
            <a:ext cx="5349240" cy="1783080"/>
          </a:xfrm>
          <a:prstGeom prst="roundRect">
            <a:avLst>
              <a:gd name="adj" fmla="val 4103"/>
            </a:avLst>
          </a:prstGeom>
          <a:solidFill>
            <a:srgbClr val="0B1220"/>
          </a:solidFill>
          <a:ln w="12700">
            <a:solidFill>
              <a:srgbClr val="1E293B"/>
            </a:solidFill>
            <a:prstDash val="solid"/>
          </a:ln>
          <a:effectLst>
            <a:outerShdw sx="100000" sy="100000" kx="0" ky="0" algn="bl" rotWithShape="0" blurRad="101600" dist="38100" dir="5400000">
              <a:srgbClr val="000000">
                <a:alpha val="25000"/>
              </a:srgbClr>
            </a:outerShdw>
          </a:effectLst>
        </p:spPr>
      </p:sp>
      <p:sp>
        <p:nvSpPr>
          <p:cNvPr id="9" name="Text 7"/>
          <p:cNvSpPr txBox="1"/>
          <p:nvPr/>
        </p:nvSpPr>
        <p:spPr>
          <a:xfrm>
            <a:off x="6537960" y="1828800"/>
            <a:ext cx="4892040" cy="1417320"/>
          </a:xfrm>
          <a:prstGeom prst="rect">
            <a:avLst/>
          </a:prstGeom>
          <a:noFill/>
          <a:ln/>
        </p:spPr>
        <p:txBody>
          <a:bodyPr wrap="square" lIns="0" tIns="0" rIns="0" bIns="0" rtlCol="0" anchor="t"/>
          <a:lstStyle/>
          <a:p>
            <a:pPr indent="0" marL="0">
              <a:spcAft>
                <a:spcPts val="200"/>
              </a:spcAft>
              <a:buNone/>
            </a:pPr>
            <a:r>
              <a:rPr lang="en-US" sz="1250" dirty="0">
                <a:solidFill>
                  <a:srgbClr val="34D399"/>
                </a:solidFill>
                <a:latin typeface="Consolas" pitchFamily="34" charset="0"/>
                <a:ea typeface="Consolas" pitchFamily="34" charset="-122"/>
                <a:cs typeface="Consolas" pitchFamily="34" charset="-120"/>
              </a:rPr>
              <a:t>$ apt install certbot \</a:t>
            </a:r>
            <a:endParaRPr lang="en-US" sz="1250" dirty="0"/>
          </a:p>
          <a:p>
            <a:pPr indent="0" marL="0">
              <a:spcAft>
                <a:spcPts val="200"/>
              </a:spcAft>
              <a:buNone/>
            </a:pPr>
            <a:r>
              <a:rPr lang="en-US" sz="1250" dirty="0">
                <a:solidFill>
                  <a:srgbClr val="34D399"/>
                </a:solidFill>
                <a:latin typeface="Consolas" pitchFamily="34" charset="0"/>
                <a:ea typeface="Consolas" pitchFamily="34" charset="-122"/>
                <a:cs typeface="Consolas" pitchFamily="34" charset="-120"/>
              </a:rPr>
              <a:t>  python3-certbot-apache</a:t>
            </a:r>
            <a:endParaRPr lang="en-US" sz="1250" dirty="0"/>
          </a:p>
          <a:p>
            <a:pPr indent="0" marL="0">
              <a:spcAft>
                <a:spcPts val="200"/>
              </a:spcAft>
              <a:buNone/>
            </a:pPr>
            <a:r>
              <a:rPr lang="en-US" sz="1250" dirty="0">
                <a:solidFill>
                  <a:srgbClr val="34D399"/>
                </a:solidFill>
                <a:latin typeface="Consolas" pitchFamily="34" charset="0"/>
                <a:ea typeface="Consolas" pitchFamily="34" charset="-122"/>
                <a:cs typeface="Consolas" pitchFamily="34" charset="-120"/>
              </a:rPr>
              <a:t>$ apt install certbot \</a:t>
            </a:r>
            <a:endParaRPr lang="en-US" sz="1250" dirty="0"/>
          </a:p>
          <a:p>
            <a:pPr indent="0" marL="0">
              <a:spcAft>
                <a:spcPts val="200"/>
              </a:spcAft>
              <a:buNone/>
            </a:pPr>
            <a:r>
              <a:rPr lang="en-US" sz="1250" dirty="0">
                <a:solidFill>
                  <a:srgbClr val="34D399"/>
                </a:solidFill>
                <a:latin typeface="Consolas" pitchFamily="34" charset="0"/>
                <a:ea typeface="Consolas" pitchFamily="34" charset="-122"/>
                <a:cs typeface="Consolas" pitchFamily="34" charset="-120"/>
              </a:rPr>
              <a:t>  python3-certbot-nginx</a:t>
            </a:r>
            <a:endParaRPr lang="en-US" sz="1250" dirty="0"/>
          </a:p>
        </p:txBody>
      </p:sp>
      <p:sp>
        <p:nvSpPr>
          <p:cNvPr id="10" name="Shape 8"/>
          <p:cNvSpPr/>
          <p:nvPr/>
        </p:nvSpPr>
        <p:spPr>
          <a:xfrm>
            <a:off x="548640" y="3611880"/>
            <a:ext cx="11109960" cy="1783080"/>
          </a:xfrm>
          <a:prstGeom prst="roundRect">
            <a:avLst>
              <a:gd name="adj" fmla="val 4103"/>
            </a:avLst>
          </a:prstGeom>
          <a:solidFill>
            <a:srgbClr val="0B1220"/>
          </a:solidFill>
          <a:ln w="12700">
            <a:solidFill>
              <a:srgbClr val="1E293B"/>
            </a:solidFill>
            <a:prstDash val="solid"/>
          </a:ln>
          <a:effectLst>
            <a:outerShdw sx="100000" sy="100000" kx="0" ky="0" algn="bl" rotWithShape="0" blurRad="101600" dist="38100" dir="5400000">
              <a:srgbClr val="000000">
                <a:alpha val="25000"/>
              </a:srgbClr>
            </a:outerShdw>
          </a:effectLst>
        </p:spPr>
      </p:sp>
      <p:sp>
        <p:nvSpPr>
          <p:cNvPr id="11" name="Text 9"/>
          <p:cNvSpPr txBox="1"/>
          <p:nvPr/>
        </p:nvSpPr>
        <p:spPr>
          <a:xfrm>
            <a:off x="777240" y="3794760"/>
            <a:ext cx="10652760" cy="1417320"/>
          </a:xfrm>
          <a:prstGeom prst="rect">
            <a:avLst/>
          </a:prstGeom>
          <a:noFill/>
          <a:ln/>
        </p:spPr>
        <p:txBody>
          <a:bodyPr wrap="square" lIns="0" tIns="0" rIns="0" bIns="0" rtlCol="0" anchor="t"/>
          <a:lstStyle/>
          <a:p>
            <a:pPr indent="0" marL="0">
              <a:spcAft>
                <a:spcPts val="200"/>
              </a:spcAft>
              <a:buNone/>
            </a:pPr>
            <a:r>
              <a:rPr lang="en-US" sz="1350" dirty="0">
                <a:solidFill>
                  <a:srgbClr val="FBBF24"/>
                </a:solidFill>
                <a:latin typeface="Consolas" pitchFamily="34" charset="0"/>
                <a:ea typeface="Consolas" pitchFamily="34" charset="-122"/>
                <a:cs typeface="Consolas" pitchFamily="34" charset="-120"/>
              </a:rPr>
              <a:t>$ certbot --apache -d domena.pl -d www.domena.pl</a:t>
            </a:r>
            <a:endParaRPr lang="en-US" sz="1350" dirty="0"/>
          </a:p>
          <a:p>
            <a:pPr indent="0" marL="0">
              <a:spcAft>
                <a:spcPts val="200"/>
              </a:spcAft>
              <a:buNone/>
            </a:pPr>
            <a:r>
              <a:rPr lang="en-US" sz="1350" dirty="0">
                <a:solidFill>
                  <a:srgbClr val="FBBF24"/>
                </a:solidFill>
                <a:latin typeface="Consolas" pitchFamily="34" charset="0"/>
                <a:ea typeface="Consolas" pitchFamily="34" charset="-122"/>
                <a:cs typeface="Consolas" pitchFamily="34" charset="-120"/>
              </a:rPr>
              <a:t>$ certbot --nginx  -d domena.pl -d www.domena.pl</a:t>
            </a:r>
            <a:endParaRPr lang="en-US" sz="1350" dirty="0"/>
          </a:p>
          <a:p>
            <a:pPr indent="0" marL="0">
              <a:spcAft>
                <a:spcPts val="200"/>
              </a:spcAft>
              <a:buNone/>
            </a:pPr>
            <a:endParaRPr lang="en-US" sz="1350" dirty="0"/>
          </a:p>
          <a:p>
            <a:pPr indent="0" marL="0">
              <a:spcAft>
                <a:spcPts val="200"/>
              </a:spcAft>
              <a:buNone/>
            </a:pPr>
            <a:r>
              <a:rPr lang="en-US" sz="1350" dirty="0">
                <a:solidFill>
                  <a:srgbClr val="64748B"/>
                </a:solidFill>
                <a:latin typeface="Consolas" pitchFamily="34" charset="0"/>
                <a:ea typeface="Consolas" pitchFamily="34" charset="-122"/>
                <a:cs typeface="Consolas" pitchFamily="34" charset="-120"/>
              </a:rPr>
              <a:t># Test automatycznego odnowienia (90 dni)</a:t>
            </a:r>
            <a:endParaRPr lang="en-US" sz="1350" dirty="0"/>
          </a:p>
          <a:p>
            <a:pPr indent="0" marL="0">
              <a:spcAft>
                <a:spcPts val="200"/>
              </a:spcAft>
              <a:buNone/>
            </a:pPr>
            <a:r>
              <a:rPr lang="en-US" sz="1350" dirty="0">
                <a:solidFill>
                  <a:srgbClr val="F87171"/>
                </a:solidFill>
                <a:latin typeface="Consolas" pitchFamily="34" charset="0"/>
                <a:ea typeface="Consolas" pitchFamily="34" charset="-122"/>
                <a:cs typeface="Consolas" pitchFamily="34" charset="-120"/>
              </a:rPr>
              <a:t>$ certbot renew --dry-run</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indent="0" marL="0">
              <a:buNone/>
            </a:pPr>
            <a:r>
              <a:rPr lang="en-US" sz="1200" b="1" spc="200" kern="0" dirty="0">
                <a:solidFill>
                  <a:srgbClr val="38BDF8"/>
                </a:solidFill>
                <a:latin typeface="Calibri" pitchFamily="34" charset="0"/>
                <a:ea typeface="Calibri" pitchFamily="34" charset="-122"/>
                <a:cs typeface="Calibri" pitchFamily="34" charset="-120"/>
              </a:rPr>
              <a:t>4. SSL/TLS</a:t>
            </a:r>
            <a:endParaRPr lang="en-US" sz="1200" dirty="0"/>
          </a:p>
        </p:txBody>
      </p:sp>
      <p:sp>
        <p:nvSpPr>
          <p:cNvPr id="3" name="Text 1"/>
          <p:cNvSpPr txBox="1"/>
          <p:nvPr/>
        </p:nvSpPr>
        <p:spPr>
          <a:xfrm>
            <a:off x="548640" y="411480"/>
            <a:ext cx="11064240" cy="868680"/>
          </a:xfrm>
          <a:prstGeom prst="rect">
            <a:avLst/>
          </a:prstGeom>
          <a:noFill/>
          <a:ln/>
        </p:spPr>
        <p:txBody>
          <a:bodyPr wrap="square" lIns="0" tIns="0" rIns="0" bIns="0" rtlCol="0" anchor="ctr"/>
          <a:lstStyle/>
          <a:p>
            <a:pPr algn="l" indent="0" marL="0">
              <a:buNone/>
            </a:pPr>
            <a:r>
              <a:rPr lang="en-US" sz="3000" b="1" dirty="0">
                <a:solidFill>
                  <a:srgbClr val="0F172A"/>
                </a:solidFill>
                <a:latin typeface="Cambria" pitchFamily="34" charset="0"/>
                <a:ea typeface="Cambria" pitchFamily="34" charset="-122"/>
                <a:cs typeface="Cambria" pitchFamily="34" charset="-120"/>
              </a:rPr>
              <a:t>Konfiguracja HTTPS w Apache</a:t>
            </a:r>
            <a:endParaRPr lang="en-US" sz="3000" dirty="0"/>
          </a:p>
        </p:txBody>
      </p:sp>
      <p:sp>
        <p:nvSpPr>
          <p:cNvPr id="4" name="Text 2"/>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4. SSL/TLS</a:t>
            </a:r>
            <a:endParaRPr lang="en-US" sz="1000" dirty="0"/>
          </a:p>
        </p:txBody>
      </p:sp>
      <p:sp>
        <p:nvSpPr>
          <p:cNvPr id="5" name="Text 3"/>
          <p:cNvSpPr txBox="1"/>
          <p:nvPr/>
        </p:nvSpPr>
        <p:spPr>
          <a:xfrm>
            <a:off x="11430000" y="6510528"/>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16</a:t>
            </a:r>
            <a:endParaRPr lang="en-US" sz="1000" dirty="0"/>
          </a:p>
        </p:txBody>
      </p:sp>
      <p:sp>
        <p:nvSpPr>
          <p:cNvPr id="6" name="Shape 4"/>
          <p:cNvSpPr/>
          <p:nvPr/>
        </p:nvSpPr>
        <p:spPr>
          <a:xfrm>
            <a:off x="548640" y="1645920"/>
            <a:ext cx="7315200" cy="4572000"/>
          </a:xfrm>
          <a:prstGeom prst="roundRect">
            <a:avLst>
              <a:gd name="adj" fmla="val 1600"/>
            </a:avLst>
          </a:prstGeom>
          <a:solidFill>
            <a:srgbClr val="0B1220"/>
          </a:solidFill>
          <a:ln w="12700">
            <a:solidFill>
              <a:srgbClr val="1E293B"/>
            </a:solidFill>
            <a:prstDash val="solid"/>
          </a:ln>
          <a:effectLst>
            <a:outerShdw sx="100000" sy="100000" kx="0" ky="0" algn="bl" rotWithShape="0" blurRad="101600" dist="38100" dir="5400000">
              <a:srgbClr val="000000">
                <a:alpha val="25000"/>
              </a:srgbClr>
            </a:outerShdw>
          </a:effectLst>
        </p:spPr>
      </p:sp>
      <p:sp>
        <p:nvSpPr>
          <p:cNvPr id="7" name="Text 5"/>
          <p:cNvSpPr txBox="1"/>
          <p:nvPr/>
        </p:nvSpPr>
        <p:spPr>
          <a:xfrm>
            <a:off x="777240" y="1828800"/>
            <a:ext cx="6858000" cy="4206240"/>
          </a:xfrm>
          <a:prstGeom prst="rect">
            <a:avLst/>
          </a:prstGeom>
          <a:noFill/>
          <a:ln/>
        </p:spPr>
        <p:txBody>
          <a:bodyPr wrap="square" lIns="0" tIns="0" rIns="0" bIns="0" rtlCol="0" anchor="t"/>
          <a:lstStyle/>
          <a:p>
            <a:pPr indent="0" marL="0">
              <a:spcAft>
                <a:spcPts val="200"/>
              </a:spcAft>
              <a:buNone/>
            </a:pPr>
            <a:r>
              <a:rPr lang="en-US" sz="1150" dirty="0">
                <a:solidFill>
                  <a:srgbClr val="7DD3FC"/>
                </a:solidFill>
                <a:latin typeface="Consolas" pitchFamily="34" charset="0"/>
                <a:ea typeface="Consolas" pitchFamily="34" charset="-122"/>
                <a:cs typeface="Consolas" pitchFamily="34" charset="-120"/>
              </a:rPr>
              <a:t>&lt;VirtualHost *:443&gt;</a:t>
            </a:r>
            <a:endParaRPr lang="en-US" sz="1150" dirty="0"/>
          </a:p>
          <a:p>
            <a:pPr indent="0" marL="0">
              <a:spcAft>
                <a:spcPts val="200"/>
              </a:spcAft>
              <a:buNone/>
            </a:pPr>
            <a:r>
              <a:rPr lang="en-US" sz="1150" dirty="0">
                <a:solidFill>
                  <a:srgbClr val="E2E8F0"/>
                </a:solidFill>
                <a:latin typeface="Consolas" pitchFamily="34" charset="0"/>
                <a:ea typeface="Consolas" pitchFamily="34" charset="-122"/>
                <a:cs typeface="Consolas" pitchFamily="34" charset="-120"/>
              </a:rPr>
              <a:t>    ServerName sklep.przyklad.pl</a:t>
            </a:r>
            <a:endParaRPr lang="en-US" sz="1150" dirty="0"/>
          </a:p>
          <a:p>
            <a:pPr indent="0" marL="0">
              <a:spcAft>
                <a:spcPts val="200"/>
              </a:spcAft>
              <a:buNone/>
            </a:pPr>
            <a:r>
              <a:rPr lang="en-US" sz="1150" dirty="0">
                <a:solidFill>
                  <a:srgbClr val="E2E8F0"/>
                </a:solidFill>
                <a:latin typeface="Consolas" pitchFamily="34" charset="0"/>
                <a:ea typeface="Consolas" pitchFamily="34" charset="-122"/>
                <a:cs typeface="Consolas" pitchFamily="34" charset="-120"/>
              </a:rPr>
              <a:t>    DocumentRoot /var/www/sklep</a:t>
            </a:r>
            <a:endParaRPr lang="en-US" sz="1150" dirty="0"/>
          </a:p>
          <a:p>
            <a:pPr indent="0" marL="0">
              <a:spcAft>
                <a:spcPts val="200"/>
              </a:spcAft>
              <a:buNone/>
            </a:pPr>
            <a:endParaRPr lang="en-US" sz="1150" dirty="0"/>
          </a:p>
          <a:p>
            <a:pPr indent="0" marL="0">
              <a:spcAft>
                <a:spcPts val="200"/>
              </a:spcAft>
              <a:buNone/>
            </a:pPr>
            <a:r>
              <a:rPr lang="en-US" sz="1150" dirty="0">
                <a:solidFill>
                  <a:srgbClr val="34D399"/>
                </a:solidFill>
                <a:latin typeface="Consolas" pitchFamily="34" charset="0"/>
                <a:ea typeface="Consolas" pitchFamily="34" charset="-122"/>
                <a:cs typeface="Consolas" pitchFamily="34" charset="-120"/>
              </a:rPr>
              <a:t>    SSLEngine on</a:t>
            </a:r>
            <a:endParaRPr lang="en-US" sz="1150" dirty="0"/>
          </a:p>
          <a:p>
            <a:pPr indent="0" marL="0">
              <a:spcAft>
                <a:spcPts val="200"/>
              </a:spcAft>
              <a:buNone/>
            </a:pPr>
            <a:r>
              <a:rPr lang="en-US" sz="1150" dirty="0">
                <a:solidFill>
                  <a:srgbClr val="34D399"/>
                </a:solidFill>
                <a:latin typeface="Consolas" pitchFamily="34" charset="0"/>
                <a:ea typeface="Consolas" pitchFamily="34" charset="-122"/>
                <a:cs typeface="Consolas" pitchFamily="34" charset="-120"/>
              </a:rPr>
              <a:t>    SSLCertificateFile      /etc/ssl/certs/domena.crt</a:t>
            </a:r>
            <a:endParaRPr lang="en-US" sz="1150" dirty="0"/>
          </a:p>
          <a:p>
            <a:pPr indent="0" marL="0">
              <a:spcAft>
                <a:spcPts val="200"/>
              </a:spcAft>
              <a:buNone/>
            </a:pPr>
            <a:r>
              <a:rPr lang="en-US" sz="1150" dirty="0">
                <a:solidFill>
                  <a:srgbClr val="34D399"/>
                </a:solidFill>
                <a:latin typeface="Consolas" pitchFamily="34" charset="0"/>
                <a:ea typeface="Consolas" pitchFamily="34" charset="-122"/>
                <a:cs typeface="Consolas" pitchFamily="34" charset="-120"/>
              </a:rPr>
              <a:t>    SSLCertificateKeyFile   /etc/ssl/private/domena.key</a:t>
            </a:r>
            <a:endParaRPr lang="en-US" sz="1150" dirty="0"/>
          </a:p>
          <a:p>
            <a:pPr indent="0" marL="0">
              <a:spcAft>
                <a:spcPts val="200"/>
              </a:spcAft>
              <a:buNone/>
            </a:pPr>
            <a:r>
              <a:rPr lang="en-US" sz="1150" dirty="0">
                <a:solidFill>
                  <a:srgbClr val="34D399"/>
                </a:solidFill>
                <a:latin typeface="Consolas" pitchFamily="34" charset="0"/>
                <a:ea typeface="Consolas" pitchFamily="34" charset="-122"/>
                <a:cs typeface="Consolas" pitchFamily="34" charset="-120"/>
              </a:rPr>
              <a:t>    SSLCertificateChainFile /etc/ssl/certs/chain.pem</a:t>
            </a:r>
            <a:endParaRPr lang="en-US" sz="1150" dirty="0"/>
          </a:p>
          <a:p>
            <a:pPr indent="0" marL="0">
              <a:spcAft>
                <a:spcPts val="200"/>
              </a:spcAft>
              <a:buNone/>
            </a:pPr>
            <a:endParaRPr lang="en-US" sz="1150" dirty="0"/>
          </a:p>
          <a:p>
            <a:pPr indent="0" marL="0">
              <a:spcAft>
                <a:spcPts val="200"/>
              </a:spcAft>
              <a:buNone/>
            </a:pPr>
            <a:r>
              <a:rPr lang="en-US" sz="1150" dirty="0">
                <a:solidFill>
                  <a:srgbClr val="FBBF24"/>
                </a:solidFill>
                <a:latin typeface="Consolas" pitchFamily="34" charset="0"/>
                <a:ea typeface="Consolas" pitchFamily="34" charset="-122"/>
                <a:cs typeface="Consolas" pitchFamily="34" charset="-120"/>
              </a:rPr>
              <a:t>    SSLProtocol    all -SSLv3 -TLSv1 -TLSv1.1</a:t>
            </a:r>
            <a:endParaRPr lang="en-US" sz="1150" dirty="0"/>
          </a:p>
          <a:p>
            <a:pPr indent="0" marL="0">
              <a:spcAft>
                <a:spcPts val="200"/>
              </a:spcAft>
              <a:buNone/>
            </a:pPr>
            <a:r>
              <a:rPr lang="en-US" sz="1150" dirty="0">
                <a:solidFill>
                  <a:srgbClr val="FBBF24"/>
                </a:solidFill>
                <a:latin typeface="Consolas" pitchFamily="34" charset="0"/>
                <a:ea typeface="Consolas" pitchFamily="34" charset="-122"/>
                <a:cs typeface="Consolas" pitchFamily="34" charset="-120"/>
              </a:rPr>
              <a:t>    SSLCipherSuite HIGH:!aNULL:!MD5</a:t>
            </a:r>
            <a:endParaRPr lang="en-US" sz="1150" dirty="0"/>
          </a:p>
          <a:p>
            <a:pPr indent="0" marL="0">
              <a:spcAft>
                <a:spcPts val="200"/>
              </a:spcAft>
              <a:buNone/>
            </a:pPr>
            <a:r>
              <a:rPr lang="en-US" sz="1150" dirty="0">
                <a:solidFill>
                  <a:srgbClr val="C4B5FD"/>
                </a:solidFill>
                <a:latin typeface="Consolas" pitchFamily="34" charset="0"/>
                <a:ea typeface="Consolas" pitchFamily="34" charset="-122"/>
                <a:cs typeface="Consolas" pitchFamily="34" charset="-120"/>
              </a:rPr>
              <a:t>    Header always set Strict-Transport-Security \</a:t>
            </a:r>
            <a:endParaRPr lang="en-US" sz="1150" dirty="0"/>
          </a:p>
          <a:p>
            <a:pPr indent="0" marL="0">
              <a:spcAft>
                <a:spcPts val="200"/>
              </a:spcAft>
              <a:buNone/>
            </a:pPr>
            <a:r>
              <a:rPr lang="en-US" sz="1150" dirty="0">
                <a:solidFill>
                  <a:srgbClr val="C4B5FD"/>
                </a:solidFill>
                <a:latin typeface="Consolas" pitchFamily="34" charset="0"/>
                <a:ea typeface="Consolas" pitchFamily="34" charset="-122"/>
                <a:cs typeface="Consolas" pitchFamily="34" charset="-120"/>
              </a:rPr>
              <a:t>      "max-age=63072000; includeSubDomains"</a:t>
            </a:r>
            <a:endParaRPr lang="en-US" sz="1150" dirty="0"/>
          </a:p>
          <a:p>
            <a:pPr indent="0" marL="0">
              <a:spcAft>
                <a:spcPts val="200"/>
              </a:spcAft>
              <a:buNone/>
            </a:pPr>
            <a:r>
              <a:rPr lang="en-US" sz="1150" dirty="0">
                <a:solidFill>
                  <a:srgbClr val="7DD3FC"/>
                </a:solidFill>
                <a:latin typeface="Consolas" pitchFamily="34" charset="0"/>
                <a:ea typeface="Consolas" pitchFamily="34" charset="-122"/>
                <a:cs typeface="Consolas" pitchFamily="34" charset="-120"/>
              </a:rPr>
              <a:t>&lt;/VirtualHost&gt;</a:t>
            </a:r>
            <a:endParaRPr lang="en-US" sz="1150" dirty="0"/>
          </a:p>
          <a:p>
            <a:pPr indent="0" marL="0">
              <a:spcAft>
                <a:spcPts val="200"/>
              </a:spcAft>
              <a:buNone/>
            </a:pPr>
            <a:endParaRPr lang="en-US" sz="1150" dirty="0"/>
          </a:p>
          <a:p>
            <a:pPr indent="0" marL="0">
              <a:spcAft>
                <a:spcPts val="200"/>
              </a:spcAft>
              <a:buNone/>
            </a:pPr>
            <a:r>
              <a:rPr lang="en-US" sz="1150" dirty="0">
                <a:solidFill>
                  <a:srgbClr val="64748B"/>
                </a:solidFill>
                <a:latin typeface="Consolas" pitchFamily="34" charset="0"/>
                <a:ea typeface="Consolas" pitchFamily="34" charset="-122"/>
                <a:cs typeface="Consolas" pitchFamily="34" charset="-120"/>
              </a:rPr>
              <a:t># Przekierowanie HTTP -&gt; HTTPS</a:t>
            </a:r>
            <a:endParaRPr lang="en-US" sz="1150" dirty="0"/>
          </a:p>
          <a:p>
            <a:pPr indent="0" marL="0">
              <a:spcAft>
                <a:spcPts val="200"/>
              </a:spcAft>
              <a:buNone/>
            </a:pPr>
            <a:r>
              <a:rPr lang="en-US" sz="1150" dirty="0">
                <a:solidFill>
                  <a:srgbClr val="7DD3FC"/>
                </a:solidFill>
                <a:latin typeface="Consolas" pitchFamily="34" charset="0"/>
                <a:ea typeface="Consolas" pitchFamily="34" charset="-122"/>
                <a:cs typeface="Consolas" pitchFamily="34" charset="-120"/>
              </a:rPr>
              <a:t>&lt;VirtualHost *:80&gt;</a:t>
            </a:r>
            <a:endParaRPr lang="en-US" sz="1150" dirty="0"/>
          </a:p>
          <a:p>
            <a:pPr indent="0" marL="0">
              <a:spcAft>
                <a:spcPts val="200"/>
              </a:spcAft>
              <a:buNone/>
            </a:pPr>
            <a:r>
              <a:rPr lang="en-US" sz="1150" dirty="0">
                <a:solidFill>
                  <a:srgbClr val="F87171"/>
                </a:solidFill>
                <a:latin typeface="Consolas" pitchFamily="34" charset="0"/>
                <a:ea typeface="Consolas" pitchFamily="34" charset="-122"/>
                <a:cs typeface="Consolas" pitchFamily="34" charset="-120"/>
              </a:rPr>
              <a:t>    Redirect permanent / https://sklep.przyklad.pl/</a:t>
            </a:r>
            <a:endParaRPr lang="en-US" sz="1150" dirty="0"/>
          </a:p>
          <a:p>
            <a:pPr indent="0" marL="0">
              <a:spcAft>
                <a:spcPts val="200"/>
              </a:spcAft>
              <a:buNone/>
            </a:pPr>
            <a:r>
              <a:rPr lang="en-US" sz="1150" dirty="0">
                <a:solidFill>
                  <a:srgbClr val="7DD3FC"/>
                </a:solidFill>
                <a:latin typeface="Consolas" pitchFamily="34" charset="0"/>
                <a:ea typeface="Consolas" pitchFamily="34" charset="-122"/>
                <a:cs typeface="Consolas" pitchFamily="34" charset="-120"/>
              </a:rPr>
              <a:t>&lt;/VirtualHost&gt;</a:t>
            </a:r>
            <a:endParaRPr lang="en-US" sz="1150" dirty="0"/>
          </a:p>
        </p:txBody>
      </p:sp>
      <p:sp>
        <p:nvSpPr>
          <p:cNvPr id="8" name="Text 6"/>
          <p:cNvSpPr txBox="1"/>
          <p:nvPr/>
        </p:nvSpPr>
        <p:spPr>
          <a:xfrm>
            <a:off x="8138160" y="1783080"/>
            <a:ext cx="3520440" cy="3200400"/>
          </a:xfrm>
          <a:prstGeom prst="rect">
            <a:avLst/>
          </a:prstGeom>
          <a:noFill/>
          <a:ln/>
        </p:spPr>
        <p:txBody>
          <a:bodyPr wrap="square" lIns="0" tIns="0" rIns="0" bIns="0" rtlCol="0" anchor="t"/>
          <a:lstStyle/>
          <a:p>
            <a:pPr marL="342900" indent="-342900">
              <a:lnSpc>
                <a:spcPct val="108000"/>
              </a:lnSpc>
              <a:spcAft>
                <a:spcPts val="1400"/>
              </a:spcAft>
              <a:buSzPct val="100000"/>
              <a:buChar char="▸"/>
            </a:pPr>
            <a:r>
              <a:rPr lang="en-US" sz="1350" dirty="0">
                <a:solidFill>
                  <a:srgbClr val="0F172A"/>
                </a:solidFill>
                <a:latin typeface="Calibri" pitchFamily="34" charset="0"/>
                <a:ea typeface="Calibri" pitchFamily="34" charset="-122"/>
                <a:cs typeface="Calibri" pitchFamily="34" charset="-120"/>
              </a:rPr>
              <a:t>a2enmod ssl headers — włącz moduły</a:t>
            </a:r>
            <a:endParaRPr lang="en-US" sz="1350" dirty="0"/>
          </a:p>
          <a:p>
            <a:pPr marL="342900" indent="-342900">
              <a:lnSpc>
                <a:spcPct val="108000"/>
              </a:lnSpc>
              <a:spcAft>
                <a:spcPts val="1400"/>
              </a:spcAft>
              <a:buSzPct val="100000"/>
              <a:buChar char="▸"/>
            </a:pPr>
            <a:r>
              <a:rPr lang="en-US" sz="1350" dirty="0">
                <a:solidFill>
                  <a:srgbClr val="0F172A"/>
                </a:solidFill>
                <a:latin typeface="Calibri" pitchFamily="34" charset="0"/>
                <a:ea typeface="Calibri" pitchFamily="34" charset="-122"/>
                <a:cs typeface="Calibri" pitchFamily="34" charset="-120"/>
              </a:rPr>
              <a:t>systemctl reload apache2</a:t>
            </a:r>
            <a:endParaRPr lang="en-US" sz="1350" dirty="0"/>
          </a:p>
          <a:p>
            <a:pPr marL="342900" indent="-342900">
              <a:lnSpc>
                <a:spcPct val="108000"/>
              </a:lnSpc>
              <a:spcAft>
                <a:spcPts val="1400"/>
              </a:spcAft>
              <a:buSzPct val="100000"/>
              <a:buChar char="▸"/>
            </a:pPr>
            <a:r>
              <a:rPr lang="en-US" sz="1350" dirty="0">
                <a:solidFill>
                  <a:srgbClr val="0F172A"/>
                </a:solidFill>
                <a:latin typeface="Calibri" pitchFamily="34" charset="0"/>
                <a:ea typeface="Calibri" pitchFamily="34" charset="-122"/>
                <a:cs typeface="Calibri" pitchFamily="34" charset="-120"/>
              </a:rPr>
              <a:t>SSLProtocol wyłącza stare, podatne wersje TLS</a:t>
            </a:r>
            <a:endParaRPr lang="en-US" sz="1350" dirty="0"/>
          </a:p>
          <a:p>
            <a:pPr marL="342900" indent="-342900">
              <a:lnSpc>
                <a:spcPct val="108000"/>
              </a:lnSpc>
              <a:spcAft>
                <a:spcPts val="1400"/>
              </a:spcAft>
              <a:buSzPct val="100000"/>
              <a:buChar char="▸"/>
            </a:pPr>
            <a:r>
              <a:rPr lang="en-US" sz="1350" dirty="0">
                <a:solidFill>
                  <a:srgbClr val="0F172A"/>
                </a:solidFill>
                <a:latin typeface="Calibri" pitchFamily="34" charset="0"/>
                <a:ea typeface="Calibri" pitchFamily="34" charset="-122"/>
                <a:cs typeface="Calibri" pitchFamily="34" charset="-120"/>
              </a:rPr>
              <a:t>HSTS wymusza HTTPS w przyszłych wizytach</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indent="0" marL="0">
              <a:buNone/>
            </a:pPr>
            <a:r>
              <a:rPr lang="en-US" sz="1200" b="1" spc="200" kern="0" dirty="0">
                <a:solidFill>
                  <a:srgbClr val="34D399"/>
                </a:solidFill>
                <a:latin typeface="Calibri" pitchFamily="34" charset="0"/>
                <a:ea typeface="Calibri" pitchFamily="34" charset="-122"/>
                <a:cs typeface="Calibri" pitchFamily="34" charset="-120"/>
              </a:rPr>
              <a:t>4. SSL/TLS</a:t>
            </a:r>
            <a:endParaRPr lang="en-US" sz="1200" dirty="0"/>
          </a:p>
        </p:txBody>
      </p:sp>
      <p:sp>
        <p:nvSpPr>
          <p:cNvPr id="3" name="Text 1"/>
          <p:cNvSpPr txBox="1"/>
          <p:nvPr/>
        </p:nvSpPr>
        <p:spPr>
          <a:xfrm>
            <a:off x="548640" y="411480"/>
            <a:ext cx="11064240" cy="868680"/>
          </a:xfrm>
          <a:prstGeom prst="rect">
            <a:avLst/>
          </a:prstGeom>
          <a:noFill/>
          <a:ln/>
        </p:spPr>
        <p:txBody>
          <a:bodyPr wrap="square" lIns="0" tIns="0" rIns="0" bIns="0" rtlCol="0" anchor="ctr"/>
          <a:lstStyle/>
          <a:p>
            <a:pPr algn="l" indent="0" marL="0">
              <a:buNone/>
            </a:pPr>
            <a:r>
              <a:rPr lang="en-US" sz="3000" b="1" dirty="0">
                <a:solidFill>
                  <a:srgbClr val="0F172A"/>
                </a:solidFill>
                <a:latin typeface="Cambria" pitchFamily="34" charset="0"/>
                <a:ea typeface="Cambria" pitchFamily="34" charset="-122"/>
                <a:cs typeface="Cambria" pitchFamily="34" charset="-120"/>
              </a:rPr>
              <a:t>Konfiguracja HTTPS w Nginx + HSTS</a:t>
            </a:r>
            <a:endParaRPr lang="en-US" sz="3000" dirty="0"/>
          </a:p>
        </p:txBody>
      </p:sp>
      <p:sp>
        <p:nvSpPr>
          <p:cNvPr id="4" name="Text 2"/>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4. SSL/TLS</a:t>
            </a:r>
            <a:endParaRPr lang="en-US" sz="1000" dirty="0"/>
          </a:p>
        </p:txBody>
      </p:sp>
      <p:sp>
        <p:nvSpPr>
          <p:cNvPr id="5" name="Text 3"/>
          <p:cNvSpPr txBox="1"/>
          <p:nvPr/>
        </p:nvSpPr>
        <p:spPr>
          <a:xfrm>
            <a:off x="11430000" y="6510528"/>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17</a:t>
            </a:r>
            <a:endParaRPr lang="en-US" sz="1000" dirty="0"/>
          </a:p>
        </p:txBody>
      </p:sp>
      <p:sp>
        <p:nvSpPr>
          <p:cNvPr id="6" name="Shape 4"/>
          <p:cNvSpPr/>
          <p:nvPr/>
        </p:nvSpPr>
        <p:spPr>
          <a:xfrm>
            <a:off x="548640" y="1645920"/>
            <a:ext cx="7132320" cy="4663440"/>
          </a:xfrm>
          <a:prstGeom prst="roundRect">
            <a:avLst>
              <a:gd name="adj" fmla="val 1569"/>
            </a:avLst>
          </a:prstGeom>
          <a:solidFill>
            <a:srgbClr val="0B1220"/>
          </a:solidFill>
          <a:ln w="12700">
            <a:solidFill>
              <a:srgbClr val="1E293B"/>
            </a:solidFill>
            <a:prstDash val="solid"/>
          </a:ln>
          <a:effectLst>
            <a:outerShdw sx="100000" sy="100000" kx="0" ky="0" algn="bl" rotWithShape="0" blurRad="101600" dist="38100" dir="5400000">
              <a:srgbClr val="000000">
                <a:alpha val="25000"/>
              </a:srgbClr>
            </a:outerShdw>
          </a:effectLst>
        </p:spPr>
      </p:sp>
      <p:sp>
        <p:nvSpPr>
          <p:cNvPr id="7" name="Text 5"/>
          <p:cNvSpPr txBox="1"/>
          <p:nvPr/>
        </p:nvSpPr>
        <p:spPr>
          <a:xfrm>
            <a:off x="777240" y="1828800"/>
            <a:ext cx="6675120" cy="4297680"/>
          </a:xfrm>
          <a:prstGeom prst="rect">
            <a:avLst/>
          </a:prstGeom>
          <a:noFill/>
          <a:ln/>
        </p:spPr>
        <p:txBody>
          <a:bodyPr wrap="square" lIns="0" tIns="0" rIns="0" bIns="0" rtlCol="0" anchor="t"/>
          <a:lstStyle/>
          <a:p>
            <a:pPr indent="0" marL="0">
              <a:spcAft>
                <a:spcPts val="200"/>
              </a:spcAft>
              <a:buNone/>
            </a:pPr>
            <a:r>
              <a:rPr lang="en-US" sz="1100" dirty="0">
                <a:solidFill>
                  <a:srgbClr val="34D399"/>
                </a:solidFill>
                <a:latin typeface="Consolas" pitchFamily="34" charset="0"/>
                <a:ea typeface="Consolas" pitchFamily="34" charset="-122"/>
                <a:cs typeface="Consolas" pitchFamily="34" charset="-120"/>
              </a:rPr>
              <a:t>server {</a:t>
            </a:r>
            <a:endParaRPr lang="en-US" sz="1100" dirty="0"/>
          </a:p>
          <a:p>
            <a:pPr indent="0" marL="0">
              <a:spcAft>
                <a:spcPts val="200"/>
              </a:spcAft>
              <a:buNone/>
            </a:pPr>
            <a:r>
              <a:rPr lang="en-US" sz="1100" dirty="0">
                <a:solidFill>
                  <a:srgbClr val="E2E8F0"/>
                </a:solidFill>
                <a:latin typeface="Consolas" pitchFamily="34" charset="0"/>
                <a:ea typeface="Consolas" pitchFamily="34" charset="-122"/>
                <a:cs typeface="Consolas" pitchFamily="34" charset="-120"/>
              </a:rPr>
              <a:t>    listen 443 ssl http2;</a:t>
            </a:r>
            <a:endParaRPr lang="en-US" sz="1100" dirty="0"/>
          </a:p>
          <a:p>
            <a:pPr indent="0" marL="0">
              <a:spcAft>
                <a:spcPts val="200"/>
              </a:spcAft>
              <a:buNone/>
            </a:pPr>
            <a:r>
              <a:rPr lang="en-US" sz="1100" dirty="0">
                <a:solidFill>
                  <a:srgbClr val="E2E8F0"/>
                </a:solidFill>
                <a:latin typeface="Consolas" pitchFamily="34" charset="0"/>
                <a:ea typeface="Consolas" pitchFamily="34" charset="-122"/>
                <a:cs typeface="Consolas" pitchFamily="34" charset="-120"/>
              </a:rPr>
              <a:t>    server_name sklep.przyklad.pl;</a:t>
            </a:r>
            <a:endParaRPr lang="en-US" sz="1100" dirty="0"/>
          </a:p>
          <a:p>
            <a:pPr indent="0" marL="0">
              <a:spcAft>
                <a:spcPts val="200"/>
              </a:spcAft>
              <a:buNone/>
            </a:pPr>
            <a:r>
              <a:rPr lang="en-US" sz="1100" dirty="0">
                <a:solidFill>
                  <a:srgbClr val="E2E8F0"/>
                </a:solidFill>
                <a:latin typeface="Consolas" pitchFamily="34" charset="0"/>
                <a:ea typeface="Consolas" pitchFamily="34" charset="-122"/>
                <a:cs typeface="Consolas" pitchFamily="34" charset="-120"/>
              </a:rPr>
              <a:t>    root /var/www/sklep;</a:t>
            </a:r>
            <a:endParaRPr lang="en-US" sz="1100" dirty="0"/>
          </a:p>
          <a:p>
            <a:pPr indent="0" marL="0">
              <a:spcAft>
                <a:spcPts val="200"/>
              </a:spcAft>
              <a:buNone/>
            </a:pPr>
            <a:endParaRPr lang="en-US" sz="1100" dirty="0"/>
          </a:p>
          <a:p>
            <a:pPr indent="0" marL="0">
              <a:spcAft>
                <a:spcPts val="200"/>
              </a:spcAft>
              <a:buNone/>
            </a:pPr>
            <a:r>
              <a:rPr lang="en-US" sz="1100" dirty="0">
                <a:solidFill>
                  <a:srgbClr val="7DD3FC"/>
                </a:solidFill>
                <a:latin typeface="Consolas" pitchFamily="34" charset="0"/>
                <a:ea typeface="Consolas" pitchFamily="34" charset="-122"/>
                <a:cs typeface="Consolas" pitchFamily="34" charset="-120"/>
              </a:rPr>
              <a:t>    ssl_certificate     /etc/ssl/certs/domena.crt;</a:t>
            </a:r>
            <a:endParaRPr lang="en-US" sz="1100" dirty="0"/>
          </a:p>
          <a:p>
            <a:pPr indent="0" marL="0">
              <a:spcAft>
                <a:spcPts val="200"/>
              </a:spcAft>
              <a:buNone/>
            </a:pPr>
            <a:r>
              <a:rPr lang="en-US" sz="1100" dirty="0">
                <a:solidFill>
                  <a:srgbClr val="7DD3FC"/>
                </a:solidFill>
                <a:latin typeface="Consolas" pitchFamily="34" charset="0"/>
                <a:ea typeface="Consolas" pitchFamily="34" charset="-122"/>
                <a:cs typeface="Consolas" pitchFamily="34" charset="-120"/>
              </a:rPr>
              <a:t>    ssl_certificate_key /etc/ssl/private/domena.key;</a:t>
            </a:r>
            <a:endParaRPr lang="en-US" sz="1100" dirty="0"/>
          </a:p>
          <a:p>
            <a:pPr indent="0" marL="0">
              <a:spcAft>
                <a:spcPts val="200"/>
              </a:spcAft>
              <a:buNone/>
            </a:pPr>
            <a:endParaRPr lang="en-US" sz="1100" dirty="0"/>
          </a:p>
          <a:p>
            <a:pPr indent="0" marL="0">
              <a:spcAft>
                <a:spcPts val="200"/>
              </a:spcAft>
              <a:buNone/>
            </a:pPr>
            <a:r>
              <a:rPr lang="en-US" sz="1100" dirty="0">
                <a:solidFill>
                  <a:srgbClr val="FBBF24"/>
                </a:solidFill>
                <a:latin typeface="Consolas" pitchFamily="34" charset="0"/>
                <a:ea typeface="Consolas" pitchFamily="34" charset="-122"/>
                <a:cs typeface="Consolas" pitchFamily="34" charset="-120"/>
              </a:rPr>
              <a:t>    ssl_protocols TLSv1.2 TLSv1.3;</a:t>
            </a:r>
            <a:endParaRPr lang="en-US" sz="1100" dirty="0"/>
          </a:p>
          <a:p>
            <a:pPr indent="0" marL="0">
              <a:spcAft>
                <a:spcPts val="200"/>
              </a:spcAft>
              <a:buNone/>
            </a:pPr>
            <a:r>
              <a:rPr lang="en-US" sz="1100" dirty="0">
                <a:solidFill>
                  <a:srgbClr val="FBBF24"/>
                </a:solidFill>
                <a:latin typeface="Consolas" pitchFamily="34" charset="0"/>
                <a:ea typeface="Consolas" pitchFamily="34" charset="-122"/>
                <a:cs typeface="Consolas" pitchFamily="34" charset="-120"/>
              </a:rPr>
              <a:t>    ssl_ciphers   HIGH:!aNULL:!MD5;</a:t>
            </a:r>
            <a:endParaRPr lang="en-US" sz="1100" dirty="0"/>
          </a:p>
          <a:p>
            <a:pPr indent="0" marL="0">
              <a:spcAft>
                <a:spcPts val="200"/>
              </a:spcAft>
              <a:buNone/>
            </a:pPr>
            <a:r>
              <a:rPr lang="en-US" sz="1100" dirty="0">
                <a:solidFill>
                  <a:srgbClr val="FBBF24"/>
                </a:solidFill>
                <a:latin typeface="Consolas" pitchFamily="34" charset="0"/>
                <a:ea typeface="Consolas" pitchFamily="34" charset="-122"/>
                <a:cs typeface="Consolas" pitchFamily="34" charset="-120"/>
              </a:rPr>
              <a:t>    ssl_prefer_server_ciphers on;</a:t>
            </a:r>
            <a:endParaRPr lang="en-US" sz="1100" dirty="0"/>
          </a:p>
          <a:p>
            <a:pPr indent="0" marL="0">
              <a:spcAft>
                <a:spcPts val="200"/>
              </a:spcAft>
              <a:buNone/>
            </a:pPr>
            <a:endParaRPr lang="en-US" sz="1100" dirty="0"/>
          </a:p>
          <a:p>
            <a:pPr indent="0" marL="0">
              <a:spcAft>
                <a:spcPts val="200"/>
              </a:spcAft>
              <a:buNone/>
            </a:pPr>
            <a:r>
              <a:rPr lang="en-US" sz="1100" dirty="0">
                <a:solidFill>
                  <a:srgbClr val="C4B5FD"/>
                </a:solidFill>
                <a:latin typeface="Consolas" pitchFamily="34" charset="0"/>
                <a:ea typeface="Consolas" pitchFamily="34" charset="-122"/>
                <a:cs typeface="Consolas" pitchFamily="34" charset="-120"/>
              </a:rPr>
              <a:t>    add_header Strict-Transport-Security \</a:t>
            </a:r>
            <a:endParaRPr lang="en-US" sz="1100" dirty="0"/>
          </a:p>
          <a:p>
            <a:pPr indent="0" marL="0">
              <a:spcAft>
                <a:spcPts val="200"/>
              </a:spcAft>
              <a:buNone/>
            </a:pPr>
            <a:r>
              <a:rPr lang="en-US" sz="1100" dirty="0">
                <a:solidFill>
                  <a:srgbClr val="C4B5FD"/>
                </a:solidFill>
                <a:latin typeface="Consolas" pitchFamily="34" charset="0"/>
                <a:ea typeface="Consolas" pitchFamily="34" charset="-122"/>
                <a:cs typeface="Consolas" pitchFamily="34" charset="-120"/>
              </a:rPr>
              <a:t>      "max-age=63072000; includeSubDomains" always;</a:t>
            </a:r>
            <a:endParaRPr lang="en-US" sz="1100" dirty="0"/>
          </a:p>
          <a:p>
            <a:pPr indent="0" marL="0">
              <a:spcAft>
                <a:spcPts val="200"/>
              </a:spcAft>
              <a:buNone/>
            </a:pPr>
            <a:r>
              <a:rPr lang="en-US" sz="1100" dirty="0">
                <a:solidFill>
                  <a:srgbClr val="34D399"/>
                </a:solidFill>
                <a:latin typeface="Consolas" pitchFamily="34" charset="0"/>
                <a:ea typeface="Consolas" pitchFamily="34" charset="-122"/>
                <a:cs typeface="Consolas" pitchFamily="34" charset="-120"/>
              </a:rPr>
              <a:t>}</a:t>
            </a:r>
            <a:endParaRPr lang="en-US" sz="1100" dirty="0"/>
          </a:p>
          <a:p>
            <a:pPr indent="0" marL="0">
              <a:spcAft>
                <a:spcPts val="200"/>
              </a:spcAft>
              <a:buNone/>
            </a:pPr>
            <a:endParaRPr lang="en-US" sz="1100" dirty="0"/>
          </a:p>
          <a:p>
            <a:pPr indent="0" marL="0">
              <a:spcAft>
                <a:spcPts val="200"/>
              </a:spcAft>
              <a:buNone/>
            </a:pPr>
            <a:r>
              <a:rPr lang="en-US" sz="1100" dirty="0">
                <a:solidFill>
                  <a:srgbClr val="34D399"/>
                </a:solidFill>
                <a:latin typeface="Consolas" pitchFamily="34" charset="0"/>
                <a:ea typeface="Consolas" pitchFamily="34" charset="-122"/>
                <a:cs typeface="Consolas" pitchFamily="34" charset="-120"/>
              </a:rPr>
              <a:t>server {</a:t>
            </a:r>
            <a:endParaRPr lang="en-US" sz="1100" dirty="0"/>
          </a:p>
          <a:p>
            <a:pPr indent="0" marL="0">
              <a:spcAft>
                <a:spcPts val="200"/>
              </a:spcAft>
              <a:buNone/>
            </a:pPr>
            <a:r>
              <a:rPr lang="en-US" sz="1100" dirty="0">
                <a:solidFill>
                  <a:srgbClr val="F87171"/>
                </a:solidFill>
                <a:latin typeface="Consolas" pitchFamily="34" charset="0"/>
                <a:ea typeface="Consolas" pitchFamily="34" charset="-122"/>
                <a:cs typeface="Consolas" pitchFamily="34" charset="-120"/>
              </a:rPr>
              <a:t>    listen 80;</a:t>
            </a:r>
            <a:endParaRPr lang="en-US" sz="1100" dirty="0"/>
          </a:p>
          <a:p>
            <a:pPr indent="0" marL="0">
              <a:spcAft>
                <a:spcPts val="200"/>
              </a:spcAft>
              <a:buNone/>
            </a:pPr>
            <a:r>
              <a:rPr lang="en-US" sz="1100" dirty="0">
                <a:solidFill>
                  <a:srgbClr val="F87171"/>
                </a:solidFill>
                <a:latin typeface="Consolas" pitchFamily="34" charset="0"/>
                <a:ea typeface="Consolas" pitchFamily="34" charset="-122"/>
                <a:cs typeface="Consolas" pitchFamily="34" charset="-120"/>
              </a:rPr>
              <a:t>    return 301 https://$host$request_uri;</a:t>
            </a:r>
            <a:endParaRPr lang="en-US" sz="1100" dirty="0"/>
          </a:p>
          <a:p>
            <a:pPr indent="0" marL="0">
              <a:spcAft>
                <a:spcPts val="200"/>
              </a:spcAft>
              <a:buNone/>
            </a:pPr>
            <a:r>
              <a:rPr lang="en-US" sz="1100" dirty="0">
                <a:solidFill>
                  <a:srgbClr val="34D399"/>
                </a:solidFill>
                <a:latin typeface="Consolas" pitchFamily="34" charset="0"/>
                <a:ea typeface="Consolas" pitchFamily="34" charset="-122"/>
                <a:cs typeface="Consolas" pitchFamily="34" charset="-120"/>
              </a:rPr>
              <a:t>}</a:t>
            </a:r>
            <a:endParaRPr lang="en-US" sz="1100" dirty="0"/>
          </a:p>
        </p:txBody>
      </p:sp>
      <p:sp>
        <p:nvSpPr>
          <p:cNvPr id="8" name="Shape 6"/>
          <p:cNvSpPr/>
          <p:nvPr/>
        </p:nvSpPr>
        <p:spPr>
          <a:xfrm>
            <a:off x="7909560" y="1645920"/>
            <a:ext cx="3749040" cy="4663440"/>
          </a:xfrm>
          <a:prstGeom prst="roundRect">
            <a:avLst>
              <a:gd name="adj" fmla="val 2439"/>
            </a:avLst>
          </a:prstGeom>
          <a:solidFill>
            <a:srgbClr val="ECFDF5"/>
          </a:solidFill>
          <a:ln w="12700">
            <a:solidFill>
              <a:srgbClr val="34D399"/>
            </a:solidFill>
            <a:prstDash val="solid"/>
          </a:ln>
        </p:spPr>
      </p:sp>
      <p:sp>
        <p:nvSpPr>
          <p:cNvPr id="9" name="Text 7"/>
          <p:cNvSpPr txBox="1"/>
          <p:nvPr/>
        </p:nvSpPr>
        <p:spPr>
          <a:xfrm>
            <a:off x="8138160" y="1828800"/>
            <a:ext cx="3291840" cy="365760"/>
          </a:xfrm>
          <a:prstGeom prst="rect">
            <a:avLst/>
          </a:prstGeom>
          <a:noFill/>
          <a:ln/>
        </p:spPr>
        <p:txBody>
          <a:bodyPr wrap="square" lIns="0" tIns="0" rIns="0" bIns="0" rtlCol="0" anchor="ctr"/>
          <a:lstStyle/>
          <a:p>
            <a:pPr indent="0" marL="0">
              <a:buNone/>
            </a:pPr>
            <a:r>
              <a:rPr lang="en-US" sz="1500" b="1" dirty="0">
                <a:solidFill>
                  <a:srgbClr val="065F46"/>
                </a:solidFill>
                <a:latin typeface="Calibri" pitchFamily="34" charset="0"/>
                <a:ea typeface="Calibri" pitchFamily="34" charset="-122"/>
                <a:cs typeface="Calibri" pitchFamily="34" charset="-120"/>
              </a:rPr>
              <a:t>Co robi HSTS?</a:t>
            </a:r>
            <a:endParaRPr lang="en-US" sz="1500" dirty="0"/>
          </a:p>
        </p:txBody>
      </p:sp>
      <p:sp>
        <p:nvSpPr>
          <p:cNvPr id="10" name="Text 8"/>
          <p:cNvSpPr txBox="1"/>
          <p:nvPr/>
        </p:nvSpPr>
        <p:spPr>
          <a:xfrm>
            <a:off x="8138160" y="2240280"/>
            <a:ext cx="3291840" cy="1188720"/>
          </a:xfrm>
          <a:prstGeom prst="rect">
            <a:avLst/>
          </a:prstGeom>
          <a:noFill/>
          <a:ln/>
        </p:spPr>
        <p:txBody>
          <a:bodyPr wrap="square" lIns="0" tIns="0" rIns="0" bIns="0" rtlCol="0" anchor="ctr"/>
          <a:lstStyle/>
          <a:p>
            <a:pPr indent="0" marL="0">
              <a:buNone/>
            </a:pPr>
            <a:r>
              <a:rPr lang="en-US" sz="1300" dirty="0">
                <a:solidFill>
                  <a:srgbClr val="065F46"/>
                </a:solidFill>
                <a:latin typeface="Calibri" pitchFamily="34" charset="0"/>
                <a:ea typeface="Calibri" pitchFamily="34" charset="-122"/>
                <a:cs typeface="Calibri" pitchFamily="34" charset="-120"/>
              </a:rPr>
              <a:t>Strict-Transport-Security informuje przeglądarkę, by przez zadeklarowany czas nigdy nie próbowała łączyć się przez zwykłe HTTP.</a:t>
            </a:r>
            <a:endParaRPr lang="en-US" sz="1300" dirty="0"/>
          </a:p>
        </p:txBody>
      </p:sp>
      <p:sp>
        <p:nvSpPr>
          <p:cNvPr id="11" name="Text 9"/>
          <p:cNvSpPr txBox="1"/>
          <p:nvPr/>
        </p:nvSpPr>
        <p:spPr>
          <a:xfrm>
            <a:off x="8138160" y="3566160"/>
            <a:ext cx="3291840" cy="1188720"/>
          </a:xfrm>
          <a:prstGeom prst="rect">
            <a:avLst/>
          </a:prstGeom>
          <a:noFill/>
          <a:ln/>
        </p:spPr>
        <p:txBody>
          <a:bodyPr wrap="square" lIns="0" tIns="0" rIns="0" bIns="0" rtlCol="0" anchor="ctr"/>
          <a:lstStyle/>
          <a:p>
            <a:pPr indent="0" marL="0">
              <a:buNone/>
            </a:pPr>
            <a:r>
              <a:rPr lang="en-US" sz="1300" dirty="0">
                <a:solidFill>
                  <a:srgbClr val="065F46"/>
                </a:solidFill>
                <a:latin typeface="Calibri" pitchFamily="34" charset="0"/>
                <a:ea typeface="Calibri" pitchFamily="34" charset="-122"/>
                <a:cs typeface="Calibri" pitchFamily="34" charset="-120"/>
              </a:rPr>
              <a:t>Eliminuje to okno podatności na atak typu SSL stripping przy pierwszym przekierowaniu HTTP→HTTPS.</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indent="0" marL="0">
              <a:buNone/>
            </a:pPr>
            <a:r>
              <a:rPr lang="en-US" sz="1200" b="1" spc="200" kern="0" dirty="0">
                <a:solidFill>
                  <a:srgbClr val="A78BFA"/>
                </a:solidFill>
                <a:latin typeface="Calibri" pitchFamily="34" charset="0"/>
                <a:ea typeface="Calibri" pitchFamily="34" charset="-122"/>
                <a:cs typeface="Calibri" pitchFamily="34" charset="-120"/>
              </a:rPr>
              <a:t>4. SSL/TLS</a:t>
            </a:r>
            <a:endParaRPr lang="en-US" sz="1200" dirty="0"/>
          </a:p>
        </p:txBody>
      </p:sp>
      <p:sp>
        <p:nvSpPr>
          <p:cNvPr id="3" name="Text 1"/>
          <p:cNvSpPr txBox="1"/>
          <p:nvPr/>
        </p:nvSpPr>
        <p:spPr>
          <a:xfrm>
            <a:off x="548640" y="411480"/>
            <a:ext cx="11064240" cy="868680"/>
          </a:xfrm>
          <a:prstGeom prst="rect">
            <a:avLst/>
          </a:prstGeom>
          <a:noFill/>
          <a:ln/>
        </p:spPr>
        <p:txBody>
          <a:bodyPr wrap="square" lIns="0" tIns="0" rIns="0" bIns="0" rtlCol="0" anchor="ctr"/>
          <a:lstStyle/>
          <a:p>
            <a:pPr algn="l" indent="0" marL="0">
              <a:buNone/>
            </a:pPr>
            <a:r>
              <a:rPr lang="en-US" sz="3000" b="1" dirty="0">
                <a:solidFill>
                  <a:srgbClr val="0F172A"/>
                </a:solidFill>
                <a:latin typeface="Cambria" pitchFamily="34" charset="0"/>
                <a:ea typeface="Cambria" pitchFamily="34" charset="-122"/>
                <a:cs typeface="Cambria" pitchFamily="34" charset="-120"/>
              </a:rPr>
              <a:t>Weryfikacja poprawności wdrożenia</a:t>
            </a:r>
            <a:endParaRPr lang="en-US" sz="3000" dirty="0"/>
          </a:p>
        </p:txBody>
      </p:sp>
      <p:sp>
        <p:nvSpPr>
          <p:cNvPr id="4" name="Text 2"/>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4. SSL/TLS</a:t>
            </a:r>
            <a:endParaRPr lang="en-US" sz="1000" dirty="0"/>
          </a:p>
        </p:txBody>
      </p:sp>
      <p:sp>
        <p:nvSpPr>
          <p:cNvPr id="5" name="Text 3"/>
          <p:cNvSpPr txBox="1"/>
          <p:nvPr/>
        </p:nvSpPr>
        <p:spPr>
          <a:xfrm>
            <a:off x="11430000" y="6510528"/>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18</a:t>
            </a:r>
            <a:endParaRPr lang="en-US" sz="1000" dirty="0"/>
          </a:p>
        </p:txBody>
      </p:sp>
      <p:sp>
        <p:nvSpPr>
          <p:cNvPr id="6" name="Shape 4"/>
          <p:cNvSpPr/>
          <p:nvPr/>
        </p:nvSpPr>
        <p:spPr>
          <a:xfrm>
            <a:off x="1097280" y="2103120"/>
            <a:ext cx="9966960" cy="1828800"/>
          </a:xfrm>
          <a:prstGeom prst="roundRect">
            <a:avLst>
              <a:gd name="adj" fmla="val 4000"/>
            </a:avLst>
          </a:prstGeom>
          <a:solidFill>
            <a:srgbClr val="0B1220"/>
          </a:solidFill>
          <a:ln w="12700">
            <a:solidFill>
              <a:srgbClr val="1E293B"/>
            </a:solidFill>
            <a:prstDash val="solid"/>
          </a:ln>
          <a:effectLst>
            <a:outerShdw sx="100000" sy="100000" kx="0" ky="0" algn="bl" rotWithShape="0" blurRad="101600" dist="38100" dir="5400000">
              <a:srgbClr val="000000">
                <a:alpha val="25000"/>
              </a:srgbClr>
            </a:outerShdw>
          </a:effectLst>
        </p:spPr>
      </p:sp>
      <p:sp>
        <p:nvSpPr>
          <p:cNvPr id="7" name="Text 5"/>
          <p:cNvSpPr txBox="1"/>
          <p:nvPr/>
        </p:nvSpPr>
        <p:spPr>
          <a:xfrm>
            <a:off x="1325880" y="2286000"/>
            <a:ext cx="9509760" cy="1463040"/>
          </a:xfrm>
          <a:prstGeom prst="rect">
            <a:avLst/>
          </a:prstGeom>
          <a:noFill/>
          <a:ln/>
        </p:spPr>
        <p:txBody>
          <a:bodyPr wrap="square" lIns="0" tIns="0" rIns="0" bIns="0" rtlCol="0" anchor="t"/>
          <a:lstStyle/>
          <a:p>
            <a:pPr indent="0" marL="0">
              <a:spcAft>
                <a:spcPts val="200"/>
              </a:spcAft>
              <a:buNone/>
            </a:pPr>
            <a:r>
              <a:rPr lang="en-US" sz="1500" dirty="0">
                <a:solidFill>
                  <a:srgbClr val="7DD3FC"/>
                </a:solidFill>
                <a:latin typeface="Consolas" pitchFamily="34" charset="0"/>
                <a:ea typeface="Consolas" pitchFamily="34" charset="-122"/>
                <a:cs typeface="Consolas" pitchFamily="34" charset="-120"/>
              </a:rPr>
              <a:t>$ openssl s_client -connect domena.przyklad.pl:443 \</a:t>
            </a:r>
            <a:endParaRPr lang="en-US" sz="1500" dirty="0"/>
          </a:p>
          <a:p>
            <a:pPr indent="0" marL="0">
              <a:spcAft>
                <a:spcPts val="200"/>
              </a:spcAft>
              <a:buNone/>
            </a:pPr>
            <a:r>
              <a:rPr lang="en-US" sz="1500" dirty="0">
                <a:solidFill>
                  <a:srgbClr val="7DD3FC"/>
                </a:solidFill>
                <a:latin typeface="Consolas" pitchFamily="34" charset="0"/>
                <a:ea typeface="Consolas" pitchFamily="34" charset="-122"/>
                <a:cs typeface="Consolas" pitchFamily="34" charset="-120"/>
              </a:rPr>
              <a:t>    -servername domena.przyklad.pl</a:t>
            </a:r>
            <a:endParaRPr lang="en-US" sz="1500" dirty="0"/>
          </a:p>
          <a:p>
            <a:pPr indent="0" marL="0">
              <a:spcAft>
                <a:spcPts val="200"/>
              </a:spcAft>
              <a:buNone/>
            </a:pPr>
            <a:endParaRPr lang="en-US" sz="1500" dirty="0"/>
          </a:p>
          <a:p>
            <a:pPr indent="0" marL="0">
              <a:spcAft>
                <a:spcPts val="200"/>
              </a:spcAft>
              <a:buNone/>
            </a:pPr>
            <a:r>
              <a:rPr lang="en-US" sz="1500" dirty="0">
                <a:solidFill>
                  <a:srgbClr val="64748B"/>
                </a:solidFill>
                <a:latin typeface="Consolas" pitchFamily="34" charset="0"/>
                <a:ea typeface="Consolas" pitchFamily="34" charset="-122"/>
                <a:cs typeface="Consolas" pitchFamily="34" charset="-120"/>
              </a:rPr>
              <a:t># Sprawdzenie daty waznosci certyfikatu</a:t>
            </a:r>
            <a:endParaRPr lang="en-US" sz="1500" dirty="0"/>
          </a:p>
          <a:p>
            <a:pPr indent="0" marL="0">
              <a:spcAft>
                <a:spcPts val="200"/>
              </a:spcAft>
              <a:buNone/>
            </a:pPr>
            <a:r>
              <a:rPr lang="en-US" sz="1500" dirty="0">
                <a:solidFill>
                  <a:srgbClr val="34D399"/>
                </a:solidFill>
                <a:latin typeface="Consolas" pitchFamily="34" charset="0"/>
                <a:ea typeface="Consolas" pitchFamily="34" charset="-122"/>
                <a:cs typeface="Consolas" pitchFamily="34" charset="-120"/>
              </a:rPr>
              <a:t>$ openssl x509 -in domena.crt -noout -dates</a:t>
            </a:r>
            <a:endParaRPr lang="en-US" sz="1500" dirty="0"/>
          </a:p>
        </p:txBody>
      </p:sp>
      <p:sp>
        <p:nvSpPr>
          <p:cNvPr id="8" name="Text 6"/>
          <p:cNvSpPr txBox="1"/>
          <p:nvPr/>
        </p:nvSpPr>
        <p:spPr>
          <a:xfrm>
            <a:off x="1097280" y="4206240"/>
            <a:ext cx="9966960" cy="914400"/>
          </a:xfrm>
          <a:prstGeom prst="rect">
            <a:avLst/>
          </a:prstGeom>
          <a:noFill/>
          <a:ln/>
        </p:spPr>
        <p:txBody>
          <a:bodyPr wrap="square" lIns="0" tIns="0" rIns="0" bIns="0" rtlCol="0" anchor="ctr"/>
          <a:lstStyle/>
          <a:p>
            <a:pPr indent="0" marL="0">
              <a:buNone/>
            </a:pPr>
            <a:r>
              <a:rPr lang="en-US" sz="1500" i="1" dirty="0">
                <a:solidFill>
                  <a:srgbClr val="475569"/>
                </a:solidFill>
                <a:latin typeface="Calibri" pitchFamily="34" charset="0"/>
                <a:ea typeface="Calibri" pitchFamily="34" charset="-122"/>
                <a:cs typeface="Calibri" pitchFamily="34" charset="-120"/>
              </a:rPr>
              <a:t>Po każdym wdrożeniu lub odnowieniu certyfikatu warto bezpośrednio zweryfikować przebieg negocjacji TLS oraz sprawdzić, że certyfikat prezentowany klientowi jest aktualny i nie wygasa w najbliższym czasie.</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731520" y="2331720"/>
            <a:ext cx="5486400" cy="457200"/>
          </a:xfrm>
          <a:prstGeom prst="rect">
            <a:avLst/>
          </a:prstGeom>
          <a:noFill/>
          <a:ln/>
        </p:spPr>
        <p:txBody>
          <a:bodyPr wrap="square" lIns="0" tIns="0" rIns="0" bIns="0" rtlCol="0" anchor="ctr"/>
          <a:lstStyle/>
          <a:p>
            <a:pPr indent="0" marL="0">
              <a:buNone/>
            </a:pPr>
            <a:r>
              <a:rPr lang="en-US" sz="1600" b="1" spc="300" kern="0" dirty="0">
                <a:solidFill>
                  <a:srgbClr val="2DD4BF"/>
                </a:solidFill>
                <a:latin typeface="Calibri" pitchFamily="34" charset="0"/>
                <a:ea typeface="Calibri" pitchFamily="34" charset="-122"/>
                <a:cs typeface="Calibri" pitchFamily="34" charset="-120"/>
              </a:rPr>
              <a:t>CZĘŚĆ 5</a:t>
            </a:r>
            <a:endParaRPr lang="en-US" sz="1600" dirty="0"/>
          </a:p>
        </p:txBody>
      </p:sp>
      <p:sp>
        <p:nvSpPr>
          <p:cNvPr id="3" name="Text 1"/>
          <p:cNvSpPr txBox="1"/>
          <p:nvPr/>
        </p:nvSpPr>
        <p:spPr>
          <a:xfrm>
            <a:off x="731520" y="2743200"/>
            <a:ext cx="10515600" cy="146304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FTP, FTPS i SFTP</a:t>
            </a:r>
            <a:endParaRPr lang="en-US" sz="4200" dirty="0"/>
          </a:p>
        </p:txBody>
      </p:sp>
      <p:sp>
        <p:nvSpPr>
          <p:cNvPr id="4" name="Text 2"/>
          <p:cNvSpPr txBox="1"/>
          <p:nvPr/>
        </p:nvSpPr>
        <p:spPr>
          <a:xfrm>
            <a:off x="731520" y="4114800"/>
            <a:ext cx="9875520" cy="822960"/>
          </a:xfrm>
          <a:prstGeom prst="rect">
            <a:avLst/>
          </a:prstGeom>
          <a:noFill/>
          <a:ln/>
        </p:spPr>
        <p:txBody>
          <a:bodyPr wrap="square" lIns="0" tIns="0" rIns="0" bIns="0" rtlCol="0" anchor="ctr"/>
          <a:lstStyle/>
          <a:p>
            <a:pPr indent="0" marL="0">
              <a:buNone/>
            </a:pPr>
            <a:r>
              <a:rPr lang="en-US" sz="1800" dirty="0">
                <a:solidFill>
                  <a:srgbClr val="94A3B8"/>
                </a:solidFill>
                <a:latin typeface="Calibri" pitchFamily="34" charset="0"/>
                <a:ea typeface="Calibri" pitchFamily="34" charset="-122"/>
                <a:cs typeface="Calibri" pitchFamily="34" charset="-120"/>
              </a:rPr>
              <a:t>Bezpieczny transfer plików — od vsftpd po SSH</a:t>
            </a:r>
            <a:endParaRPr lang="en-US" sz="1800" dirty="0"/>
          </a:p>
        </p:txBody>
      </p:sp>
      <p:sp>
        <p:nvSpPr>
          <p:cNvPr id="5" name="Shape 3"/>
          <p:cNvSpPr/>
          <p:nvPr/>
        </p:nvSpPr>
        <p:spPr>
          <a:xfrm>
            <a:off x="10332720" y="1097280"/>
            <a:ext cx="1463040" cy="1463040"/>
          </a:xfrm>
          <a:prstGeom prst="ellipse">
            <a:avLst/>
          </a:prstGeom>
          <a:solidFill>
            <a:srgbClr val="2DD4BF">
              <a:alpha val="15000"/>
            </a:srgbClr>
          </a:solidFill>
          <a:ln w="19050">
            <a:solidFill>
              <a:srgbClr val="2DD4BF"/>
            </a:solidFill>
            <a:prstDash val="solid"/>
          </a:ln>
        </p:spPr>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indent="0" marL="0">
              <a:buNone/>
            </a:pPr>
            <a:r>
              <a:rPr lang="en-US" sz="1200" b="1" spc="200" kern="0" dirty="0">
                <a:solidFill>
                  <a:srgbClr val="2DD4BF"/>
                </a:solidFill>
                <a:latin typeface="Calibri" pitchFamily="34" charset="0"/>
                <a:ea typeface="Calibri" pitchFamily="34" charset="-122"/>
                <a:cs typeface="Calibri" pitchFamily="34" charset="-120"/>
              </a:rPr>
              <a:t>5. FTP/SFTP</a:t>
            </a:r>
            <a:endParaRPr lang="en-US" sz="1200" dirty="0"/>
          </a:p>
        </p:txBody>
      </p:sp>
      <p:sp>
        <p:nvSpPr>
          <p:cNvPr id="3" name="Text 1"/>
          <p:cNvSpPr txBox="1"/>
          <p:nvPr/>
        </p:nvSpPr>
        <p:spPr>
          <a:xfrm>
            <a:off x="548640" y="411480"/>
            <a:ext cx="11064240" cy="868680"/>
          </a:xfrm>
          <a:prstGeom prst="rect">
            <a:avLst/>
          </a:prstGeom>
          <a:noFill/>
          <a:ln/>
        </p:spPr>
        <p:txBody>
          <a:bodyPr wrap="square" lIns="0" tIns="0" rIns="0" bIns="0" rtlCol="0" anchor="ctr"/>
          <a:lstStyle/>
          <a:p>
            <a:pPr algn="l" indent="0" marL="0">
              <a:buNone/>
            </a:pPr>
            <a:r>
              <a:rPr lang="en-US" sz="3000" b="1" dirty="0">
                <a:solidFill>
                  <a:srgbClr val="0F172A"/>
                </a:solidFill>
                <a:latin typeface="Cambria" pitchFamily="34" charset="0"/>
                <a:ea typeface="Cambria" pitchFamily="34" charset="-122"/>
                <a:cs typeface="Cambria" pitchFamily="34" charset="-120"/>
              </a:rPr>
              <a:t>Serwer FTP — vsftpd</a:t>
            </a:r>
            <a:endParaRPr lang="en-US" sz="3000" dirty="0"/>
          </a:p>
        </p:txBody>
      </p:sp>
      <p:sp>
        <p:nvSpPr>
          <p:cNvPr id="4" name="Text 2"/>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5. FTP/SFTP</a:t>
            </a:r>
            <a:endParaRPr lang="en-US" sz="1000" dirty="0"/>
          </a:p>
        </p:txBody>
      </p:sp>
      <p:sp>
        <p:nvSpPr>
          <p:cNvPr id="5" name="Text 3"/>
          <p:cNvSpPr txBox="1"/>
          <p:nvPr/>
        </p:nvSpPr>
        <p:spPr>
          <a:xfrm>
            <a:off x="11430000" y="6510528"/>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20</a:t>
            </a:r>
            <a:endParaRPr lang="en-US" sz="1000" dirty="0"/>
          </a:p>
        </p:txBody>
      </p:sp>
      <p:sp>
        <p:nvSpPr>
          <p:cNvPr id="6" name="Shape 4"/>
          <p:cNvSpPr/>
          <p:nvPr/>
        </p:nvSpPr>
        <p:spPr>
          <a:xfrm>
            <a:off x="548640" y="1600200"/>
            <a:ext cx="11109960" cy="1188720"/>
          </a:xfrm>
          <a:prstGeom prst="roundRect">
            <a:avLst>
              <a:gd name="adj" fmla="val 6154"/>
            </a:avLst>
          </a:prstGeom>
          <a:solidFill>
            <a:srgbClr val="0B1220"/>
          </a:solidFill>
          <a:ln w="12700">
            <a:solidFill>
              <a:srgbClr val="1E293B"/>
            </a:solidFill>
            <a:prstDash val="solid"/>
          </a:ln>
          <a:effectLst>
            <a:outerShdw sx="100000" sy="100000" kx="0" ky="0" algn="bl" rotWithShape="0" blurRad="101600" dist="38100" dir="5400000">
              <a:srgbClr val="000000">
                <a:alpha val="25000"/>
              </a:srgbClr>
            </a:outerShdw>
          </a:effectLst>
        </p:spPr>
      </p:sp>
      <p:sp>
        <p:nvSpPr>
          <p:cNvPr id="7" name="Text 5"/>
          <p:cNvSpPr txBox="1"/>
          <p:nvPr/>
        </p:nvSpPr>
        <p:spPr>
          <a:xfrm>
            <a:off x="777240" y="1783080"/>
            <a:ext cx="10652760" cy="822960"/>
          </a:xfrm>
          <a:prstGeom prst="rect">
            <a:avLst/>
          </a:prstGeom>
          <a:noFill/>
          <a:ln/>
        </p:spPr>
        <p:txBody>
          <a:bodyPr wrap="square" lIns="0" tIns="0" rIns="0" bIns="0" rtlCol="0" anchor="t"/>
          <a:lstStyle/>
          <a:p>
            <a:pPr indent="0" marL="0">
              <a:spcAft>
                <a:spcPts val="200"/>
              </a:spcAft>
              <a:buNone/>
            </a:pPr>
            <a:r>
              <a:rPr lang="en-US" sz="1350" dirty="0">
                <a:solidFill>
                  <a:srgbClr val="34D399"/>
                </a:solidFill>
                <a:latin typeface="Consolas" pitchFamily="34" charset="0"/>
                <a:ea typeface="Consolas" pitchFamily="34" charset="-122"/>
                <a:cs typeface="Consolas" pitchFamily="34" charset="-120"/>
              </a:rPr>
              <a:t>$ apt install vsftpd      # Debian/Ubuntu</a:t>
            </a:r>
            <a:endParaRPr lang="en-US" sz="1350" dirty="0"/>
          </a:p>
          <a:p>
            <a:pPr indent="0" marL="0">
              <a:spcAft>
                <a:spcPts val="200"/>
              </a:spcAft>
              <a:buNone/>
            </a:pPr>
            <a:r>
              <a:rPr lang="en-US" sz="1350" dirty="0">
                <a:solidFill>
                  <a:srgbClr val="7DD3FC"/>
                </a:solidFill>
                <a:latin typeface="Consolas" pitchFamily="34" charset="0"/>
                <a:ea typeface="Consolas" pitchFamily="34" charset="-122"/>
                <a:cs typeface="Consolas" pitchFamily="34" charset="-120"/>
              </a:rPr>
              <a:t>$ dnf install vsftpd      # RHEL/Fedora</a:t>
            </a:r>
            <a:endParaRPr lang="en-US" sz="1350" dirty="0"/>
          </a:p>
          <a:p>
            <a:pPr indent="0" marL="0">
              <a:spcAft>
                <a:spcPts val="200"/>
              </a:spcAft>
              <a:buNone/>
            </a:pPr>
            <a:r>
              <a:rPr lang="en-US" sz="1350" dirty="0">
                <a:solidFill>
                  <a:srgbClr val="FBBF24"/>
                </a:solidFill>
                <a:latin typeface="Consolas" pitchFamily="34" charset="0"/>
                <a:ea typeface="Consolas" pitchFamily="34" charset="-122"/>
                <a:cs typeface="Consolas" pitchFamily="34" charset="-120"/>
              </a:rPr>
              <a:t>$ systemctl enable --now vsftpd</a:t>
            </a:r>
            <a:endParaRPr lang="en-US" sz="1350" dirty="0"/>
          </a:p>
        </p:txBody>
      </p:sp>
      <p:sp>
        <p:nvSpPr>
          <p:cNvPr id="8" name="Shape 6"/>
          <p:cNvSpPr/>
          <p:nvPr/>
        </p:nvSpPr>
        <p:spPr>
          <a:xfrm>
            <a:off x="548640" y="2926080"/>
            <a:ext cx="11109960" cy="3246120"/>
          </a:xfrm>
          <a:prstGeom prst="roundRect">
            <a:avLst>
              <a:gd name="adj" fmla="val 2254"/>
            </a:avLst>
          </a:prstGeom>
          <a:solidFill>
            <a:srgbClr val="0B1220"/>
          </a:solidFill>
          <a:ln w="12700">
            <a:solidFill>
              <a:srgbClr val="1E293B"/>
            </a:solidFill>
            <a:prstDash val="solid"/>
          </a:ln>
          <a:effectLst>
            <a:outerShdw sx="100000" sy="100000" kx="0" ky="0" algn="bl" rotWithShape="0" blurRad="101600" dist="38100" dir="5400000">
              <a:srgbClr val="000000">
                <a:alpha val="25000"/>
              </a:srgbClr>
            </a:outerShdw>
          </a:effectLst>
        </p:spPr>
      </p:sp>
      <p:sp>
        <p:nvSpPr>
          <p:cNvPr id="9" name="Text 7"/>
          <p:cNvSpPr txBox="1"/>
          <p:nvPr/>
        </p:nvSpPr>
        <p:spPr>
          <a:xfrm>
            <a:off x="777240" y="3108960"/>
            <a:ext cx="10652760" cy="2880360"/>
          </a:xfrm>
          <a:prstGeom prst="rect">
            <a:avLst/>
          </a:prstGeom>
          <a:noFill/>
          <a:ln/>
        </p:spPr>
        <p:txBody>
          <a:bodyPr wrap="square" lIns="0" tIns="0" rIns="0" bIns="0" rtlCol="0" anchor="t"/>
          <a:lstStyle/>
          <a:p>
            <a:pPr indent="0" marL="0">
              <a:spcAft>
                <a:spcPts val="200"/>
              </a:spcAft>
              <a:buNone/>
            </a:pPr>
            <a:r>
              <a:rPr lang="en-US" sz="1200" dirty="0">
                <a:solidFill>
                  <a:srgbClr val="64748B"/>
                </a:solidFill>
                <a:latin typeface="Consolas" pitchFamily="34" charset="0"/>
                <a:ea typeface="Consolas" pitchFamily="34" charset="-122"/>
                <a:cs typeface="Consolas" pitchFamily="34" charset="-120"/>
              </a:rPr>
              <a:t># /etc/vsftpd.conf — istotne dyrektywy</a:t>
            </a:r>
            <a:endParaRPr lang="en-US" sz="1200" dirty="0"/>
          </a:p>
          <a:p>
            <a:pPr indent="0" marL="0">
              <a:spcAft>
                <a:spcPts val="200"/>
              </a:spcAft>
              <a:buNone/>
            </a:pPr>
            <a:r>
              <a:rPr lang="en-US" sz="1200" dirty="0">
                <a:solidFill>
                  <a:srgbClr val="F87171"/>
                </a:solidFill>
                <a:latin typeface="Consolas" pitchFamily="34" charset="0"/>
                <a:ea typeface="Consolas" pitchFamily="34" charset="-122"/>
                <a:cs typeface="Consolas" pitchFamily="34" charset="-120"/>
              </a:rPr>
              <a:t>anonymous_enable=NO</a:t>
            </a:r>
            <a:endParaRPr lang="en-US" sz="1200" dirty="0"/>
          </a:p>
          <a:p>
            <a:pPr indent="0" marL="0">
              <a:spcAft>
                <a:spcPts val="200"/>
              </a:spcAft>
              <a:buNone/>
            </a:pPr>
            <a:r>
              <a:rPr lang="en-US" sz="1200" dirty="0">
                <a:solidFill>
                  <a:srgbClr val="E2E8F0"/>
                </a:solidFill>
                <a:latin typeface="Consolas" pitchFamily="34" charset="0"/>
                <a:ea typeface="Consolas" pitchFamily="34" charset="-122"/>
                <a:cs typeface="Consolas" pitchFamily="34" charset="-120"/>
              </a:rPr>
              <a:t>local_enable=YES</a:t>
            </a:r>
            <a:endParaRPr lang="en-US" sz="1200" dirty="0"/>
          </a:p>
          <a:p>
            <a:pPr indent="0" marL="0">
              <a:spcAft>
                <a:spcPts val="200"/>
              </a:spcAft>
              <a:buNone/>
            </a:pPr>
            <a:r>
              <a:rPr lang="en-US" sz="1200" dirty="0">
                <a:solidFill>
                  <a:srgbClr val="E2E8F0"/>
                </a:solidFill>
                <a:latin typeface="Consolas" pitchFamily="34" charset="0"/>
                <a:ea typeface="Consolas" pitchFamily="34" charset="-122"/>
                <a:cs typeface="Consolas" pitchFamily="34" charset="-120"/>
              </a:rPr>
              <a:t>write_enable=YES</a:t>
            </a:r>
            <a:endParaRPr lang="en-US" sz="1200" dirty="0"/>
          </a:p>
          <a:p>
            <a:pPr indent="0" marL="0">
              <a:spcAft>
                <a:spcPts val="200"/>
              </a:spcAft>
              <a:buNone/>
            </a:pPr>
            <a:r>
              <a:rPr lang="en-US" sz="1200" dirty="0">
                <a:solidFill>
                  <a:srgbClr val="34D399"/>
                </a:solidFill>
                <a:latin typeface="Consolas" pitchFamily="34" charset="0"/>
                <a:ea typeface="Consolas" pitchFamily="34" charset="-122"/>
                <a:cs typeface="Consolas" pitchFamily="34" charset="-120"/>
              </a:rPr>
              <a:t>chroot_local_user=YES</a:t>
            </a:r>
            <a:endParaRPr lang="en-US" sz="1200" dirty="0"/>
          </a:p>
          <a:p>
            <a:pPr indent="0" marL="0">
              <a:spcAft>
                <a:spcPts val="200"/>
              </a:spcAft>
              <a:buNone/>
            </a:pPr>
            <a:r>
              <a:rPr lang="en-US" sz="1200" dirty="0">
                <a:solidFill>
                  <a:srgbClr val="34D399"/>
                </a:solidFill>
                <a:latin typeface="Consolas" pitchFamily="34" charset="0"/>
                <a:ea typeface="Consolas" pitchFamily="34" charset="-122"/>
                <a:cs typeface="Consolas" pitchFamily="34" charset="-120"/>
              </a:rPr>
              <a:t>allow_writeable_chroot=YES</a:t>
            </a:r>
            <a:endParaRPr lang="en-US" sz="1200" dirty="0"/>
          </a:p>
          <a:p>
            <a:pPr indent="0" marL="0">
              <a:spcAft>
                <a:spcPts val="200"/>
              </a:spcAft>
              <a:buNone/>
            </a:pPr>
            <a:endParaRPr lang="en-US" sz="1200" dirty="0"/>
          </a:p>
          <a:p>
            <a:pPr indent="0" marL="0">
              <a:spcAft>
                <a:spcPts val="200"/>
              </a:spcAft>
              <a:buNone/>
            </a:pPr>
            <a:r>
              <a:rPr lang="en-US" sz="1200" dirty="0">
                <a:solidFill>
                  <a:srgbClr val="7DD3FC"/>
                </a:solidFill>
                <a:latin typeface="Consolas" pitchFamily="34" charset="0"/>
                <a:ea typeface="Consolas" pitchFamily="34" charset="-122"/>
                <a:cs typeface="Consolas" pitchFamily="34" charset="-120"/>
              </a:rPr>
              <a:t>pasv_enable=YES</a:t>
            </a:r>
            <a:endParaRPr lang="en-US" sz="1200" dirty="0"/>
          </a:p>
          <a:p>
            <a:pPr indent="0" marL="0">
              <a:spcAft>
                <a:spcPts val="200"/>
              </a:spcAft>
              <a:buNone/>
            </a:pPr>
            <a:r>
              <a:rPr lang="en-US" sz="1200" dirty="0">
                <a:solidFill>
                  <a:srgbClr val="7DD3FC"/>
                </a:solidFill>
                <a:latin typeface="Consolas" pitchFamily="34" charset="0"/>
                <a:ea typeface="Consolas" pitchFamily="34" charset="-122"/>
                <a:cs typeface="Consolas" pitchFamily="34" charset="-120"/>
              </a:rPr>
              <a:t>pasv_min_port=40000</a:t>
            </a:r>
            <a:endParaRPr lang="en-US" sz="1200" dirty="0"/>
          </a:p>
          <a:p>
            <a:pPr indent="0" marL="0">
              <a:spcAft>
                <a:spcPts val="200"/>
              </a:spcAft>
              <a:buNone/>
            </a:pPr>
            <a:r>
              <a:rPr lang="en-US" sz="1200" dirty="0">
                <a:solidFill>
                  <a:srgbClr val="7DD3FC"/>
                </a:solidFill>
                <a:latin typeface="Consolas" pitchFamily="34" charset="0"/>
                <a:ea typeface="Consolas" pitchFamily="34" charset="-122"/>
                <a:cs typeface="Consolas" pitchFamily="34" charset="-120"/>
              </a:rPr>
              <a:t>pasv_max_port=40100</a:t>
            </a:r>
            <a:endParaRPr lang="en-US" sz="1200" dirty="0"/>
          </a:p>
          <a:p>
            <a:pPr indent="0" marL="0">
              <a:spcAft>
                <a:spcPts val="200"/>
              </a:spcAft>
              <a:buNone/>
            </a:pPr>
            <a:endParaRPr lang="en-US" sz="1200" dirty="0"/>
          </a:p>
          <a:p>
            <a:pPr indent="0" marL="0">
              <a:spcAft>
                <a:spcPts val="200"/>
              </a:spcAft>
              <a:buNone/>
            </a:pPr>
            <a:r>
              <a:rPr lang="en-US" sz="1200" dirty="0">
                <a:solidFill>
                  <a:srgbClr val="C4B5FD"/>
                </a:solidFill>
                <a:latin typeface="Consolas" pitchFamily="34" charset="0"/>
                <a:ea typeface="Consolas" pitchFamily="34" charset="-122"/>
                <a:cs typeface="Consolas" pitchFamily="34" charset="-120"/>
              </a:rPr>
              <a:t>ssl_enable=YES</a:t>
            </a:r>
            <a:endParaRPr lang="en-US" sz="1200" dirty="0"/>
          </a:p>
          <a:p>
            <a:pPr indent="0" marL="0">
              <a:spcAft>
                <a:spcPts val="200"/>
              </a:spcAft>
              <a:buNone/>
            </a:pPr>
            <a:r>
              <a:rPr lang="en-US" sz="1200" dirty="0">
                <a:solidFill>
                  <a:srgbClr val="C4B5FD"/>
                </a:solidFill>
                <a:latin typeface="Consolas" pitchFamily="34" charset="0"/>
                <a:ea typeface="Consolas" pitchFamily="34" charset="-122"/>
                <a:cs typeface="Consolas" pitchFamily="34" charset="-120"/>
              </a:rPr>
              <a:t>rsa_cert_file=/etc/ssl/certs/domena.crt</a:t>
            </a:r>
            <a:endParaRPr lang="en-US" sz="1200" dirty="0"/>
          </a:p>
          <a:p>
            <a:pPr indent="0" marL="0">
              <a:spcAft>
                <a:spcPts val="200"/>
              </a:spcAft>
              <a:buNone/>
            </a:pPr>
            <a:r>
              <a:rPr lang="en-US" sz="1200" dirty="0">
                <a:solidFill>
                  <a:srgbClr val="C4B5FD"/>
                </a:solidFill>
                <a:latin typeface="Consolas" pitchFamily="34" charset="0"/>
                <a:ea typeface="Consolas" pitchFamily="34" charset="-122"/>
                <a:cs typeface="Consolas" pitchFamily="34" charset="-120"/>
              </a:rPr>
              <a:t>rsa_private_key_file=/etc/ssl/private/domena.key</a:t>
            </a:r>
            <a:endParaRPr lang="en-US" sz="1200" dirty="0"/>
          </a:p>
          <a:p>
            <a:pPr indent="0" marL="0">
              <a:spcAft>
                <a:spcPts val="200"/>
              </a:spcAft>
              <a:buNone/>
            </a:pPr>
            <a:r>
              <a:rPr lang="en-US" sz="1200" dirty="0">
                <a:solidFill>
                  <a:srgbClr val="C4B5FD"/>
                </a:solidFill>
                <a:latin typeface="Consolas" pitchFamily="34" charset="0"/>
                <a:ea typeface="Consolas" pitchFamily="34" charset="-122"/>
                <a:cs typeface="Consolas" pitchFamily="34" charset="-120"/>
              </a:rPr>
              <a:t>force_local_data_ssl=YES</a:t>
            </a:r>
            <a:endParaRPr lang="en-US" sz="1200" dirty="0"/>
          </a:p>
          <a:p>
            <a:pPr indent="0" marL="0">
              <a:spcAft>
                <a:spcPts val="200"/>
              </a:spcAft>
              <a:buNone/>
            </a:pPr>
            <a:r>
              <a:rPr lang="en-US" sz="1200" dirty="0">
                <a:solidFill>
                  <a:srgbClr val="C4B5FD"/>
                </a:solidFill>
                <a:latin typeface="Consolas" pitchFamily="34" charset="0"/>
                <a:ea typeface="Consolas" pitchFamily="34" charset="-122"/>
                <a:cs typeface="Consolas" pitchFamily="34" charset="-120"/>
              </a:rPr>
              <a:t>force_local_logins_ssl=YES</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indent="0" marL="0">
              <a:buNone/>
            </a:pPr>
            <a:r>
              <a:rPr lang="en-US" sz="1200" b="1" spc="200" kern="0" dirty="0">
                <a:solidFill>
                  <a:srgbClr val="2DD4BF"/>
                </a:solidFill>
                <a:latin typeface="Calibri" pitchFamily="34" charset="0"/>
                <a:ea typeface="Calibri" pitchFamily="34" charset="-122"/>
                <a:cs typeface="Calibri" pitchFamily="34" charset="-120"/>
              </a:rPr>
              <a:t>5. FTP/SFTP</a:t>
            </a:r>
            <a:endParaRPr lang="en-US" sz="1200" dirty="0"/>
          </a:p>
        </p:txBody>
      </p:sp>
      <p:sp>
        <p:nvSpPr>
          <p:cNvPr id="3" name="Text 1"/>
          <p:cNvSpPr txBox="1"/>
          <p:nvPr/>
        </p:nvSpPr>
        <p:spPr>
          <a:xfrm>
            <a:off x="548640" y="411480"/>
            <a:ext cx="11064240" cy="868680"/>
          </a:xfrm>
          <a:prstGeom prst="rect">
            <a:avLst/>
          </a:prstGeom>
          <a:noFill/>
          <a:ln/>
        </p:spPr>
        <p:txBody>
          <a:bodyPr wrap="square" lIns="0" tIns="0" rIns="0" bIns="0" rtlCol="0" anchor="ctr"/>
          <a:lstStyle/>
          <a:p>
            <a:pPr algn="l" indent="0" marL="0">
              <a:buNone/>
            </a:pPr>
            <a:r>
              <a:rPr lang="en-US" sz="3000" b="1" dirty="0">
                <a:solidFill>
                  <a:srgbClr val="0F172A"/>
                </a:solidFill>
                <a:latin typeface="Cambria" pitchFamily="34" charset="0"/>
                <a:ea typeface="Cambria" pitchFamily="34" charset="-122"/>
                <a:cs typeface="Cambria" pitchFamily="34" charset="-120"/>
              </a:rPr>
              <a:t>Tryb aktywny vs pasywny FTP</a:t>
            </a:r>
            <a:endParaRPr lang="en-US" sz="3000" dirty="0"/>
          </a:p>
        </p:txBody>
      </p:sp>
      <p:sp>
        <p:nvSpPr>
          <p:cNvPr id="4" name="Text 2"/>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5. FTP/SFTP</a:t>
            </a:r>
            <a:endParaRPr lang="en-US" sz="1000" dirty="0"/>
          </a:p>
        </p:txBody>
      </p:sp>
      <p:sp>
        <p:nvSpPr>
          <p:cNvPr id="5" name="Text 3"/>
          <p:cNvSpPr txBox="1"/>
          <p:nvPr/>
        </p:nvSpPr>
        <p:spPr>
          <a:xfrm>
            <a:off x="11430000" y="6510528"/>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21</a:t>
            </a:r>
            <a:endParaRPr lang="en-US" sz="1000" dirty="0"/>
          </a:p>
        </p:txBody>
      </p:sp>
      <p:sp>
        <p:nvSpPr>
          <p:cNvPr id="6" name="Text 4"/>
          <p:cNvSpPr txBox="1"/>
          <p:nvPr/>
        </p:nvSpPr>
        <p:spPr>
          <a:xfrm>
            <a:off x="548640" y="1691640"/>
            <a:ext cx="11109960" cy="1920240"/>
          </a:xfrm>
          <a:prstGeom prst="rect">
            <a:avLst/>
          </a:prstGeom>
          <a:noFill/>
          <a:ln/>
        </p:spPr>
        <p:txBody>
          <a:bodyPr wrap="square" lIns="0" tIns="0" rIns="0" bIns="0" rtlCol="0" anchor="t"/>
          <a:lstStyle/>
          <a:p>
            <a:pPr marL="342900" indent="-342900">
              <a:lnSpc>
                <a:spcPct val="108000"/>
              </a:lnSpc>
              <a:spcAft>
                <a:spcPts val="1600"/>
              </a:spcAft>
              <a:buSzPct val="100000"/>
              <a:buChar char="▸"/>
            </a:pPr>
            <a:r>
              <a:rPr lang="en-US" sz="1550" dirty="0">
                <a:solidFill>
                  <a:srgbClr val="0F172A"/>
                </a:solidFill>
                <a:latin typeface="Calibri" pitchFamily="34" charset="0"/>
                <a:ea typeface="Calibri" pitchFamily="34" charset="-122"/>
                <a:cs typeface="Calibri" pitchFamily="34" charset="-120"/>
              </a:rPr>
              <a:t>Tryb aktywny — serwer inicjuje połączenie zwrotne do klienta na kanał danych; problematyczny w obecności NAT/firewalli po stronie klienta.</a:t>
            </a:r>
            <a:endParaRPr lang="en-US" sz="1550" dirty="0"/>
          </a:p>
          <a:p>
            <a:pPr marL="342900" indent="-342900">
              <a:lnSpc>
                <a:spcPct val="108000"/>
              </a:lnSpc>
              <a:spcAft>
                <a:spcPts val="1600"/>
              </a:spcAft>
              <a:buSzPct val="100000"/>
              <a:buChar char="▸"/>
            </a:pPr>
            <a:r>
              <a:rPr lang="en-US" sz="1550" dirty="0">
                <a:solidFill>
                  <a:srgbClr val="0F172A"/>
                </a:solidFill>
                <a:latin typeface="Calibri" pitchFamily="34" charset="0"/>
                <a:ea typeface="Calibri" pitchFamily="34" charset="-122"/>
                <a:cs typeface="Calibri" pitchFamily="34" charset="-120"/>
              </a:rPr>
              <a:t>Tryb pasywny — to klient inicjuje oba połączenia (kontrolne i danych); wymaga otwarcia na serwerze zakresu portów zdefiniowanego w pasv_min_port/pasv_max_port.</a:t>
            </a:r>
            <a:endParaRPr lang="en-US" sz="1550" dirty="0"/>
          </a:p>
        </p:txBody>
      </p:sp>
      <p:sp>
        <p:nvSpPr>
          <p:cNvPr id="7" name="Shape 5"/>
          <p:cNvSpPr/>
          <p:nvPr/>
        </p:nvSpPr>
        <p:spPr>
          <a:xfrm>
            <a:off x="914400" y="3749040"/>
            <a:ext cx="10332720" cy="1463040"/>
          </a:xfrm>
          <a:prstGeom prst="roundRect">
            <a:avLst>
              <a:gd name="adj" fmla="val 5000"/>
            </a:avLst>
          </a:prstGeom>
          <a:solidFill>
            <a:srgbClr val="0B1220"/>
          </a:solidFill>
          <a:ln w="12700">
            <a:solidFill>
              <a:srgbClr val="1E293B"/>
            </a:solidFill>
            <a:prstDash val="solid"/>
          </a:ln>
          <a:effectLst>
            <a:outerShdw sx="100000" sy="100000" kx="0" ky="0" algn="bl" rotWithShape="0" blurRad="101600" dist="38100" dir="5400000">
              <a:srgbClr val="000000">
                <a:alpha val="25000"/>
              </a:srgbClr>
            </a:outerShdw>
          </a:effectLst>
        </p:spPr>
      </p:sp>
      <p:sp>
        <p:nvSpPr>
          <p:cNvPr id="8" name="Text 6"/>
          <p:cNvSpPr txBox="1"/>
          <p:nvPr/>
        </p:nvSpPr>
        <p:spPr>
          <a:xfrm>
            <a:off x="1143000" y="3931920"/>
            <a:ext cx="9875520" cy="1097280"/>
          </a:xfrm>
          <a:prstGeom prst="rect">
            <a:avLst/>
          </a:prstGeom>
          <a:noFill/>
          <a:ln/>
        </p:spPr>
        <p:txBody>
          <a:bodyPr wrap="square" lIns="0" tIns="0" rIns="0" bIns="0" rtlCol="0" anchor="t"/>
          <a:lstStyle/>
          <a:p>
            <a:pPr indent="0" marL="0">
              <a:spcAft>
                <a:spcPts val="200"/>
              </a:spcAft>
              <a:buNone/>
            </a:pPr>
            <a:r>
              <a:rPr lang="en-US" sz="1450" dirty="0">
                <a:solidFill>
                  <a:srgbClr val="64748B"/>
                </a:solidFill>
                <a:latin typeface="Consolas" pitchFamily="34" charset="0"/>
                <a:ea typeface="Consolas" pitchFamily="34" charset="-122"/>
                <a:cs typeface="Consolas" pitchFamily="34" charset="-120"/>
              </a:rPr>
              <a:t># Firewall dla FTP pasywnego</a:t>
            </a:r>
            <a:endParaRPr lang="en-US" sz="1450" dirty="0"/>
          </a:p>
          <a:p>
            <a:pPr indent="0" marL="0">
              <a:spcAft>
                <a:spcPts val="200"/>
              </a:spcAft>
              <a:buNone/>
            </a:pPr>
            <a:r>
              <a:rPr lang="en-US" sz="1450" dirty="0">
                <a:solidFill>
                  <a:srgbClr val="34D399"/>
                </a:solidFill>
                <a:latin typeface="Consolas" pitchFamily="34" charset="0"/>
                <a:ea typeface="Consolas" pitchFamily="34" charset="-122"/>
                <a:cs typeface="Consolas" pitchFamily="34" charset="-120"/>
              </a:rPr>
              <a:t>$ firewall-cmd --permanent --add-port=21/tcp</a:t>
            </a:r>
            <a:endParaRPr lang="en-US" sz="1450" dirty="0"/>
          </a:p>
          <a:p>
            <a:pPr indent="0" marL="0">
              <a:spcAft>
                <a:spcPts val="200"/>
              </a:spcAft>
              <a:buNone/>
            </a:pPr>
            <a:r>
              <a:rPr lang="en-US" sz="1450" dirty="0">
                <a:solidFill>
                  <a:srgbClr val="7DD3FC"/>
                </a:solidFill>
                <a:latin typeface="Consolas" pitchFamily="34" charset="0"/>
                <a:ea typeface="Consolas" pitchFamily="34" charset="-122"/>
                <a:cs typeface="Consolas" pitchFamily="34" charset="-120"/>
              </a:rPr>
              <a:t>$ firewall-cmd --permanent --add-port=40000-40100/tcp</a:t>
            </a:r>
            <a:endParaRPr lang="en-US" sz="1450" dirty="0"/>
          </a:p>
          <a:p>
            <a:pPr indent="0" marL="0">
              <a:spcAft>
                <a:spcPts val="200"/>
              </a:spcAft>
              <a:buNone/>
            </a:pPr>
            <a:r>
              <a:rPr lang="en-US" sz="1450" dirty="0">
                <a:solidFill>
                  <a:srgbClr val="FBBF24"/>
                </a:solidFill>
                <a:latin typeface="Consolas" pitchFamily="34" charset="0"/>
                <a:ea typeface="Consolas" pitchFamily="34" charset="-122"/>
                <a:cs typeface="Consolas" pitchFamily="34" charset="-120"/>
              </a:rPr>
              <a:t>$ firewall-cmd --reload</a:t>
            </a:r>
            <a:endParaRPr lang="en-US" sz="14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indent="0" marL="0">
              <a:buNone/>
            </a:pPr>
            <a:r>
              <a:rPr lang="en-US" sz="1200" b="1" spc="200" kern="0" dirty="0">
                <a:solidFill>
                  <a:srgbClr val="2DD4BF"/>
                </a:solidFill>
                <a:latin typeface="Calibri" pitchFamily="34" charset="0"/>
                <a:ea typeface="Calibri" pitchFamily="34" charset="-122"/>
                <a:cs typeface="Calibri" pitchFamily="34" charset="-120"/>
              </a:rPr>
              <a:t>5. FTP/SFTP</a:t>
            </a:r>
            <a:endParaRPr lang="en-US" sz="1200" dirty="0"/>
          </a:p>
        </p:txBody>
      </p:sp>
      <p:sp>
        <p:nvSpPr>
          <p:cNvPr id="3" name="Text 1"/>
          <p:cNvSpPr txBox="1"/>
          <p:nvPr/>
        </p:nvSpPr>
        <p:spPr>
          <a:xfrm>
            <a:off x="548640" y="411480"/>
            <a:ext cx="11064240" cy="868680"/>
          </a:xfrm>
          <a:prstGeom prst="rect">
            <a:avLst/>
          </a:prstGeom>
          <a:noFill/>
          <a:ln/>
        </p:spPr>
        <p:txBody>
          <a:bodyPr wrap="square" lIns="0" tIns="0" rIns="0" bIns="0" rtlCol="0" anchor="ctr"/>
          <a:lstStyle/>
          <a:p>
            <a:pPr algn="l" indent="0" marL="0">
              <a:buNone/>
            </a:pPr>
            <a:r>
              <a:rPr lang="en-US" sz="3000" b="1" dirty="0">
                <a:solidFill>
                  <a:srgbClr val="0F172A"/>
                </a:solidFill>
                <a:latin typeface="Cambria" pitchFamily="34" charset="0"/>
                <a:ea typeface="Cambria" pitchFamily="34" charset="-122"/>
                <a:cs typeface="Cambria" pitchFamily="34" charset="-120"/>
              </a:rPr>
              <a:t>SFTP przez OpenSSH</a:t>
            </a:r>
            <a:endParaRPr lang="en-US" sz="3000" dirty="0"/>
          </a:p>
        </p:txBody>
      </p:sp>
      <p:sp>
        <p:nvSpPr>
          <p:cNvPr id="4" name="Text 2"/>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5. FTP/SFTP</a:t>
            </a:r>
            <a:endParaRPr lang="en-US" sz="1000" dirty="0"/>
          </a:p>
        </p:txBody>
      </p:sp>
      <p:sp>
        <p:nvSpPr>
          <p:cNvPr id="5" name="Text 3"/>
          <p:cNvSpPr txBox="1"/>
          <p:nvPr/>
        </p:nvSpPr>
        <p:spPr>
          <a:xfrm>
            <a:off x="11430000" y="6510528"/>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22</a:t>
            </a:r>
            <a:endParaRPr lang="en-US" sz="1000" dirty="0"/>
          </a:p>
        </p:txBody>
      </p:sp>
      <p:sp>
        <p:nvSpPr>
          <p:cNvPr id="6" name="Text 4"/>
          <p:cNvSpPr txBox="1"/>
          <p:nvPr/>
        </p:nvSpPr>
        <p:spPr>
          <a:xfrm>
            <a:off x="548640" y="1645920"/>
            <a:ext cx="11109960" cy="914400"/>
          </a:xfrm>
          <a:prstGeom prst="rect">
            <a:avLst/>
          </a:prstGeom>
          <a:noFill/>
          <a:ln/>
        </p:spPr>
        <p:txBody>
          <a:bodyPr wrap="square" lIns="0" tIns="0" rIns="0" bIns="0" rtlCol="0" anchor="ctr"/>
          <a:lstStyle/>
          <a:p>
            <a:pPr indent="0" marL="0">
              <a:lnSpc>
                <a:spcPct val="120000"/>
              </a:lnSpc>
              <a:buNone/>
            </a:pPr>
            <a:r>
              <a:rPr lang="en-US" sz="1500" dirty="0">
                <a:solidFill>
                  <a:srgbClr val="0F172A"/>
                </a:solidFill>
                <a:latin typeface="Calibri" pitchFamily="34" charset="0"/>
                <a:ea typeface="Calibri" pitchFamily="34" charset="-122"/>
                <a:cs typeface="Calibri" pitchFamily="34" charset="-120"/>
              </a:rPr>
              <a:t>SFTP (SSH File Transfer Protocol) nie jest wariantem FTP — to zupełnie inny protokół, działający jako podsystem w ramach istniejącego połączenia SSH. Korzysta z tego samego portu (domyślnie 22), tego samego mechanizmu uwierzytelniania i pełnego szyfrowania end-to-end.</a:t>
            </a:r>
            <a:endParaRPr lang="en-US" sz="1500" dirty="0"/>
          </a:p>
        </p:txBody>
      </p:sp>
      <p:sp>
        <p:nvSpPr>
          <p:cNvPr id="7" name="Shape 5"/>
          <p:cNvSpPr/>
          <p:nvPr/>
        </p:nvSpPr>
        <p:spPr>
          <a:xfrm>
            <a:off x="548640" y="2697480"/>
            <a:ext cx="11109960" cy="868680"/>
          </a:xfrm>
          <a:prstGeom prst="roundRect">
            <a:avLst>
              <a:gd name="adj" fmla="val 8421"/>
            </a:avLst>
          </a:prstGeom>
          <a:solidFill>
            <a:srgbClr val="0B1220"/>
          </a:solidFill>
          <a:ln w="12700">
            <a:solidFill>
              <a:srgbClr val="1E293B"/>
            </a:solidFill>
            <a:prstDash val="solid"/>
          </a:ln>
          <a:effectLst>
            <a:outerShdw sx="100000" sy="100000" kx="0" ky="0" algn="bl" rotWithShape="0" blurRad="101600" dist="38100" dir="5400000">
              <a:srgbClr val="000000">
                <a:alpha val="25000"/>
              </a:srgbClr>
            </a:outerShdw>
          </a:effectLst>
        </p:spPr>
      </p:sp>
      <p:sp>
        <p:nvSpPr>
          <p:cNvPr id="8" name="Text 6"/>
          <p:cNvSpPr txBox="1"/>
          <p:nvPr/>
        </p:nvSpPr>
        <p:spPr>
          <a:xfrm>
            <a:off x="777240" y="2880360"/>
            <a:ext cx="10652760" cy="502920"/>
          </a:xfrm>
          <a:prstGeom prst="rect">
            <a:avLst/>
          </a:prstGeom>
          <a:noFill/>
          <a:ln/>
        </p:spPr>
        <p:txBody>
          <a:bodyPr wrap="square" lIns="0" tIns="0" rIns="0" bIns="0" rtlCol="0" anchor="t"/>
          <a:lstStyle/>
          <a:p>
            <a:pPr indent="0" marL="0">
              <a:spcAft>
                <a:spcPts val="200"/>
              </a:spcAft>
              <a:buNone/>
            </a:pPr>
            <a:r>
              <a:rPr lang="en-US" sz="1350" dirty="0">
                <a:solidFill>
                  <a:srgbClr val="64748B"/>
                </a:solidFill>
                <a:latin typeface="Consolas" pitchFamily="34" charset="0"/>
                <a:ea typeface="Consolas" pitchFamily="34" charset="-122"/>
                <a:cs typeface="Consolas" pitchFamily="34" charset="-120"/>
              </a:rPr>
              <a:t># /etc/ssh/sshd_config</a:t>
            </a:r>
            <a:endParaRPr lang="en-US" sz="1350" dirty="0"/>
          </a:p>
          <a:p>
            <a:pPr indent="0" marL="0">
              <a:spcAft>
                <a:spcPts val="200"/>
              </a:spcAft>
              <a:buNone/>
            </a:pPr>
            <a:r>
              <a:rPr lang="en-US" sz="1350" dirty="0">
                <a:solidFill>
                  <a:srgbClr val="7DD3FC"/>
                </a:solidFill>
                <a:latin typeface="Consolas" pitchFamily="34" charset="0"/>
                <a:ea typeface="Consolas" pitchFamily="34" charset="-122"/>
                <a:cs typeface="Consolas" pitchFamily="34" charset="-120"/>
              </a:rPr>
              <a:t>Subsystem sftp /usr/lib/openssh/sftp-server</a:t>
            </a:r>
            <a:endParaRPr lang="en-US" sz="1350" dirty="0"/>
          </a:p>
        </p:txBody>
      </p:sp>
      <p:sp>
        <p:nvSpPr>
          <p:cNvPr id="9" name="Shape 7"/>
          <p:cNvSpPr/>
          <p:nvPr/>
        </p:nvSpPr>
        <p:spPr>
          <a:xfrm>
            <a:off x="548640" y="3749040"/>
            <a:ext cx="11109960" cy="1783080"/>
          </a:xfrm>
          <a:prstGeom prst="roundRect">
            <a:avLst>
              <a:gd name="adj" fmla="val 4103"/>
            </a:avLst>
          </a:prstGeom>
          <a:solidFill>
            <a:srgbClr val="0B1220"/>
          </a:solidFill>
          <a:ln w="12700">
            <a:solidFill>
              <a:srgbClr val="1E293B"/>
            </a:solidFill>
            <a:prstDash val="solid"/>
          </a:ln>
          <a:effectLst>
            <a:outerShdw sx="100000" sy="100000" kx="0" ky="0" algn="bl" rotWithShape="0" blurRad="101600" dist="38100" dir="5400000">
              <a:srgbClr val="000000">
                <a:alpha val="25000"/>
              </a:srgbClr>
            </a:outerShdw>
          </a:effectLst>
        </p:spPr>
      </p:sp>
      <p:sp>
        <p:nvSpPr>
          <p:cNvPr id="10" name="Text 8"/>
          <p:cNvSpPr txBox="1"/>
          <p:nvPr/>
        </p:nvSpPr>
        <p:spPr>
          <a:xfrm>
            <a:off x="777240" y="3931920"/>
            <a:ext cx="10652760" cy="1417320"/>
          </a:xfrm>
          <a:prstGeom prst="rect">
            <a:avLst/>
          </a:prstGeom>
          <a:noFill/>
          <a:ln/>
        </p:spPr>
        <p:txBody>
          <a:bodyPr wrap="square" lIns="0" tIns="0" rIns="0" bIns="0" rtlCol="0" anchor="t"/>
          <a:lstStyle/>
          <a:p>
            <a:pPr indent="0" marL="0">
              <a:spcAft>
                <a:spcPts val="200"/>
              </a:spcAft>
              <a:buNone/>
            </a:pPr>
            <a:r>
              <a:rPr lang="en-US" sz="1300" dirty="0">
                <a:solidFill>
                  <a:srgbClr val="64748B"/>
                </a:solidFill>
                <a:latin typeface="Consolas" pitchFamily="34" charset="0"/>
                <a:ea typeface="Consolas" pitchFamily="34" charset="-122"/>
                <a:cs typeface="Consolas" pitchFamily="34" charset="-120"/>
              </a:rPr>
              <a:t># Ograniczenie uzytkownika wylacznie do SFTP (chroot)</a:t>
            </a:r>
            <a:endParaRPr lang="en-US" sz="1300" dirty="0"/>
          </a:p>
          <a:p>
            <a:pPr indent="0" marL="0">
              <a:spcAft>
                <a:spcPts val="200"/>
              </a:spcAft>
              <a:buNone/>
            </a:pPr>
            <a:r>
              <a:rPr lang="en-US" sz="1300" dirty="0">
                <a:solidFill>
                  <a:srgbClr val="34D399"/>
                </a:solidFill>
                <a:latin typeface="Consolas" pitchFamily="34" charset="0"/>
                <a:ea typeface="Consolas" pitchFamily="34" charset="-122"/>
                <a:cs typeface="Consolas" pitchFamily="34" charset="-120"/>
              </a:rPr>
              <a:t>Match Group sftpusers</a:t>
            </a:r>
            <a:endParaRPr lang="en-US" sz="1300" dirty="0"/>
          </a:p>
          <a:p>
            <a:pPr indent="0" marL="0">
              <a:spcAft>
                <a:spcPts val="200"/>
              </a:spcAft>
              <a:buNone/>
            </a:pPr>
            <a:r>
              <a:rPr lang="en-US" sz="1300" dirty="0">
                <a:solidFill>
                  <a:srgbClr val="E2E8F0"/>
                </a:solidFill>
                <a:latin typeface="Consolas" pitchFamily="34" charset="0"/>
                <a:ea typeface="Consolas" pitchFamily="34" charset="-122"/>
                <a:cs typeface="Consolas" pitchFamily="34" charset="-120"/>
              </a:rPr>
              <a:t>    ChrootDirectory /srv/sftp/%u</a:t>
            </a:r>
            <a:endParaRPr lang="en-US" sz="1300" dirty="0"/>
          </a:p>
          <a:p>
            <a:pPr indent="0" marL="0">
              <a:spcAft>
                <a:spcPts val="200"/>
              </a:spcAft>
              <a:buNone/>
            </a:pPr>
            <a:r>
              <a:rPr lang="en-US" sz="1300" dirty="0">
                <a:solidFill>
                  <a:srgbClr val="E2E8F0"/>
                </a:solidFill>
                <a:latin typeface="Consolas" pitchFamily="34" charset="0"/>
                <a:ea typeface="Consolas" pitchFamily="34" charset="-122"/>
                <a:cs typeface="Consolas" pitchFamily="34" charset="-120"/>
              </a:rPr>
              <a:t>    ForceCommand internal-sftp</a:t>
            </a:r>
            <a:endParaRPr lang="en-US" sz="1300" dirty="0"/>
          </a:p>
          <a:p>
            <a:pPr indent="0" marL="0">
              <a:spcAft>
                <a:spcPts val="200"/>
              </a:spcAft>
              <a:buNone/>
            </a:pPr>
            <a:r>
              <a:rPr lang="en-US" sz="1300" dirty="0">
                <a:solidFill>
                  <a:srgbClr val="E2E8F0"/>
                </a:solidFill>
                <a:latin typeface="Consolas" pitchFamily="34" charset="0"/>
                <a:ea typeface="Consolas" pitchFamily="34" charset="-122"/>
                <a:cs typeface="Consolas" pitchFamily="34" charset="-120"/>
              </a:rPr>
              <a:t>    AllowTcpForwarding no</a:t>
            </a:r>
            <a:endParaRPr lang="en-US" sz="1300" dirty="0"/>
          </a:p>
          <a:p>
            <a:pPr indent="0" marL="0">
              <a:spcAft>
                <a:spcPts val="200"/>
              </a:spcAft>
              <a:buNone/>
            </a:pPr>
            <a:r>
              <a:rPr lang="en-US" sz="1300" dirty="0">
                <a:solidFill>
                  <a:srgbClr val="E2E8F0"/>
                </a:solidFill>
                <a:latin typeface="Consolas" pitchFamily="34" charset="0"/>
                <a:ea typeface="Consolas" pitchFamily="34" charset="-122"/>
                <a:cs typeface="Consolas" pitchFamily="34" charset="-120"/>
              </a:rPr>
              <a:t>    X11Forwarding no</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indent="0" marL="0">
              <a:buNone/>
            </a:pPr>
            <a:r>
              <a:rPr lang="en-US" sz="1200" b="1" spc="200" kern="0" dirty="0">
                <a:solidFill>
                  <a:srgbClr val="2DD4BF"/>
                </a:solidFill>
                <a:latin typeface="Calibri" pitchFamily="34" charset="0"/>
                <a:ea typeface="Calibri" pitchFamily="34" charset="-122"/>
                <a:cs typeface="Calibri" pitchFamily="34" charset="-120"/>
              </a:rPr>
              <a:t>5. FTP/SFTP</a:t>
            </a:r>
            <a:endParaRPr lang="en-US" sz="1200" dirty="0"/>
          </a:p>
        </p:txBody>
      </p:sp>
      <p:sp>
        <p:nvSpPr>
          <p:cNvPr id="3" name="Text 1"/>
          <p:cNvSpPr txBox="1"/>
          <p:nvPr/>
        </p:nvSpPr>
        <p:spPr>
          <a:xfrm>
            <a:off x="548640" y="411480"/>
            <a:ext cx="11064240" cy="868680"/>
          </a:xfrm>
          <a:prstGeom prst="rect">
            <a:avLst/>
          </a:prstGeom>
          <a:noFill/>
          <a:ln/>
        </p:spPr>
        <p:txBody>
          <a:bodyPr wrap="square" lIns="0" tIns="0" rIns="0" bIns="0" rtlCol="0" anchor="ctr"/>
          <a:lstStyle/>
          <a:p>
            <a:pPr algn="l" indent="0" marL="0">
              <a:buNone/>
            </a:pPr>
            <a:r>
              <a:rPr lang="en-US" sz="3000" b="1" dirty="0">
                <a:solidFill>
                  <a:srgbClr val="0F172A"/>
                </a:solidFill>
                <a:latin typeface="Cambria" pitchFamily="34" charset="0"/>
                <a:ea typeface="Cambria" pitchFamily="34" charset="-122"/>
                <a:cs typeface="Cambria" pitchFamily="34" charset="-120"/>
              </a:rPr>
              <a:t>Konto SFTP, klucze publiczne i porównanie</a:t>
            </a:r>
            <a:endParaRPr lang="en-US" sz="3000" dirty="0"/>
          </a:p>
        </p:txBody>
      </p:sp>
      <p:sp>
        <p:nvSpPr>
          <p:cNvPr id="4" name="Text 2"/>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5. FTP/SFTP</a:t>
            </a:r>
            <a:endParaRPr lang="en-US" sz="1000" dirty="0"/>
          </a:p>
        </p:txBody>
      </p:sp>
      <p:sp>
        <p:nvSpPr>
          <p:cNvPr id="5" name="Text 3"/>
          <p:cNvSpPr txBox="1"/>
          <p:nvPr/>
        </p:nvSpPr>
        <p:spPr>
          <a:xfrm>
            <a:off x="11430000" y="6510528"/>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23</a:t>
            </a:r>
            <a:endParaRPr lang="en-US" sz="1000" dirty="0"/>
          </a:p>
        </p:txBody>
      </p:sp>
      <p:sp>
        <p:nvSpPr>
          <p:cNvPr id="6" name="Shape 4"/>
          <p:cNvSpPr/>
          <p:nvPr/>
        </p:nvSpPr>
        <p:spPr>
          <a:xfrm>
            <a:off x="548640" y="1600200"/>
            <a:ext cx="11109960" cy="1783080"/>
          </a:xfrm>
          <a:prstGeom prst="roundRect">
            <a:avLst>
              <a:gd name="adj" fmla="val 4103"/>
            </a:avLst>
          </a:prstGeom>
          <a:solidFill>
            <a:srgbClr val="0B1220"/>
          </a:solidFill>
          <a:ln w="12700">
            <a:solidFill>
              <a:srgbClr val="1E293B"/>
            </a:solidFill>
            <a:prstDash val="solid"/>
          </a:ln>
          <a:effectLst>
            <a:outerShdw sx="100000" sy="100000" kx="0" ky="0" algn="bl" rotWithShape="0" blurRad="101600" dist="38100" dir="5400000">
              <a:srgbClr val="000000">
                <a:alpha val="25000"/>
              </a:srgbClr>
            </a:outerShdw>
          </a:effectLst>
        </p:spPr>
      </p:sp>
      <p:sp>
        <p:nvSpPr>
          <p:cNvPr id="7" name="Text 5"/>
          <p:cNvSpPr txBox="1"/>
          <p:nvPr/>
        </p:nvSpPr>
        <p:spPr>
          <a:xfrm>
            <a:off x="777240" y="1783080"/>
            <a:ext cx="10652760" cy="1417320"/>
          </a:xfrm>
          <a:prstGeom prst="rect">
            <a:avLst/>
          </a:prstGeom>
          <a:noFill/>
          <a:ln/>
        </p:spPr>
        <p:txBody>
          <a:bodyPr wrap="square" lIns="0" tIns="0" rIns="0" bIns="0" rtlCol="0" anchor="t"/>
          <a:lstStyle/>
          <a:p>
            <a:pPr indent="0" marL="0">
              <a:spcAft>
                <a:spcPts val="200"/>
              </a:spcAft>
              <a:buNone/>
            </a:pPr>
            <a:r>
              <a:rPr lang="en-US" sz="1250" dirty="0">
                <a:solidFill>
                  <a:srgbClr val="34D399"/>
                </a:solidFill>
                <a:latin typeface="Consolas" pitchFamily="34" charset="0"/>
                <a:ea typeface="Consolas" pitchFamily="34" charset="-122"/>
                <a:cs typeface="Consolas" pitchFamily="34" charset="-120"/>
              </a:rPr>
              <a:t>$ groupadd sftpusers</a:t>
            </a:r>
            <a:endParaRPr lang="en-US" sz="1250" dirty="0"/>
          </a:p>
          <a:p>
            <a:pPr indent="0" marL="0">
              <a:spcAft>
                <a:spcPts val="200"/>
              </a:spcAft>
              <a:buNone/>
            </a:pPr>
            <a:r>
              <a:rPr lang="en-US" sz="1250" dirty="0">
                <a:solidFill>
                  <a:srgbClr val="34D399"/>
                </a:solidFill>
                <a:latin typeface="Consolas" pitchFamily="34" charset="0"/>
                <a:ea typeface="Consolas" pitchFamily="34" charset="-122"/>
                <a:cs typeface="Consolas" pitchFamily="34" charset="-120"/>
              </a:rPr>
              <a:t>$ useradd -m -G sftpusers -s /usr/sbin/nologin klient1</a:t>
            </a:r>
            <a:endParaRPr lang="en-US" sz="1250" dirty="0"/>
          </a:p>
          <a:p>
            <a:pPr indent="0" marL="0">
              <a:spcAft>
                <a:spcPts val="200"/>
              </a:spcAft>
              <a:buNone/>
            </a:pPr>
            <a:r>
              <a:rPr lang="en-US" sz="1250" dirty="0">
                <a:solidFill>
                  <a:srgbClr val="F87171"/>
                </a:solidFill>
                <a:latin typeface="Consolas" pitchFamily="34" charset="0"/>
                <a:ea typeface="Consolas" pitchFamily="34" charset="-122"/>
                <a:cs typeface="Consolas" pitchFamily="34" charset="-120"/>
              </a:rPr>
              <a:t>$ chown root:root /srv/sftp/klient1   # wymagane!</a:t>
            </a:r>
            <a:endParaRPr lang="en-US" sz="1250" dirty="0"/>
          </a:p>
          <a:p>
            <a:pPr indent="0" marL="0">
              <a:spcAft>
                <a:spcPts val="200"/>
              </a:spcAft>
              <a:buNone/>
            </a:pPr>
            <a:r>
              <a:rPr lang="en-US" sz="1250" dirty="0">
                <a:solidFill>
                  <a:srgbClr val="F87171"/>
                </a:solidFill>
                <a:latin typeface="Consolas" pitchFamily="34" charset="0"/>
                <a:ea typeface="Consolas" pitchFamily="34" charset="-122"/>
                <a:cs typeface="Consolas" pitchFamily="34" charset="-120"/>
              </a:rPr>
              <a:t>$ chmod 755 /srv/sftp/klient1</a:t>
            </a:r>
            <a:endParaRPr lang="en-US" sz="1250" dirty="0"/>
          </a:p>
          <a:p>
            <a:pPr indent="0" marL="0">
              <a:spcAft>
                <a:spcPts val="200"/>
              </a:spcAft>
              <a:buNone/>
            </a:pPr>
            <a:r>
              <a:rPr lang="en-US" sz="1250" dirty="0">
                <a:solidFill>
                  <a:srgbClr val="7DD3FC"/>
                </a:solidFill>
                <a:latin typeface="Consolas" pitchFamily="34" charset="0"/>
                <a:ea typeface="Consolas" pitchFamily="34" charset="-122"/>
                <a:cs typeface="Consolas" pitchFamily="34" charset="-120"/>
              </a:rPr>
              <a:t>$ mkdir /srv/sftp/klient1/pliki</a:t>
            </a:r>
            <a:endParaRPr lang="en-US" sz="1250" dirty="0"/>
          </a:p>
          <a:p>
            <a:pPr indent="0" marL="0">
              <a:spcAft>
                <a:spcPts val="200"/>
              </a:spcAft>
              <a:buNone/>
            </a:pPr>
            <a:r>
              <a:rPr lang="en-US" sz="1250" dirty="0">
                <a:solidFill>
                  <a:srgbClr val="7DD3FC"/>
                </a:solidFill>
                <a:latin typeface="Consolas" pitchFamily="34" charset="0"/>
                <a:ea typeface="Consolas" pitchFamily="34" charset="-122"/>
                <a:cs typeface="Consolas" pitchFamily="34" charset="-120"/>
              </a:rPr>
              <a:t>$ chown klient1:sftpusers /srv/sftp/klient1/pliki</a:t>
            </a:r>
            <a:endParaRPr lang="en-US" sz="125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3611880"/>
          <a:ext cx="11109960" cy="914400"/>
        </p:xfrm>
        <a:graphic>
          <a:graphicData uri="http://schemas.openxmlformats.org/drawingml/2006/table">
            <a:tbl>
              <a:tblPr/>
              <a:tblGrid>
                <a:gridCol w="2777490"/>
                <a:gridCol w="2777490"/>
                <a:gridCol w="2777490"/>
                <a:gridCol w="2777490"/>
              </a:tblGrid>
              <a:tr h="0">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Cecha</a:t>
                      </a:r>
                      <a:endParaRPr lang="en-US" sz="12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FTP</a:t>
                      </a:r>
                      <a:endParaRPr lang="en-US" sz="12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FTPS</a:t>
                      </a:r>
                      <a:endParaRPr lang="en-US" sz="12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SFTP</a:t>
                      </a:r>
                      <a:endParaRPr lang="en-US" sz="12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r>
              <a:tr h="0">
                <a:tc>
                  <a:txBody>
                    <a:bodyPr/>
                    <a:lstStyle/>
                    <a:p>
                      <a:pPr algn="l" indent="0" marL="0">
                        <a:buNone/>
                      </a:pPr>
                      <a:r>
                        <a:rPr lang="en-US" sz="1200" dirty="0">
                          <a:solidFill>
                            <a:srgbClr val="0F172A"/>
                          </a:solidFill>
                          <a:latin typeface="Calibri" pitchFamily="34" charset="0"/>
                          <a:ea typeface="Calibri" pitchFamily="34" charset="-122"/>
                          <a:cs typeface="Calibri" pitchFamily="34" charset="-120"/>
                        </a:rPr>
                        <a:t>Szyfrowanie</a:t>
                      </a:r>
                      <a:endParaRPr lang="en-US" sz="12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0F172A"/>
                          </a:solidFill>
                          <a:latin typeface="Calibri" pitchFamily="34" charset="0"/>
                          <a:ea typeface="Calibri" pitchFamily="34" charset="-122"/>
                          <a:cs typeface="Calibri" pitchFamily="34" charset="-120"/>
                        </a:rPr>
                        <a:t>brak</a:t>
                      </a:r>
                      <a:endParaRPr lang="en-US" sz="12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0F172A"/>
                          </a:solidFill>
                          <a:latin typeface="Calibri" pitchFamily="34" charset="0"/>
                          <a:ea typeface="Calibri" pitchFamily="34" charset="-122"/>
                          <a:cs typeface="Calibri" pitchFamily="34" charset="-120"/>
                        </a:rPr>
                        <a:t>TLS</a:t>
                      </a:r>
                      <a:endParaRPr lang="en-US" sz="12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0F172A"/>
                          </a:solidFill>
                          <a:latin typeface="Calibri" pitchFamily="34" charset="0"/>
                          <a:ea typeface="Calibri" pitchFamily="34" charset="-122"/>
                          <a:cs typeface="Calibri" pitchFamily="34" charset="-120"/>
                        </a:rPr>
                        <a:t>pełne (SSH)</a:t>
                      </a:r>
                      <a:endParaRPr lang="en-US" sz="12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0">
                <a:tc>
                  <a:txBody>
                    <a:bodyPr/>
                    <a:lstStyle/>
                    <a:p>
                      <a:pPr algn="l" indent="0" marL="0">
                        <a:buNone/>
                      </a:pPr>
                      <a:r>
                        <a:rPr lang="en-US" sz="1200" dirty="0">
                          <a:solidFill>
                            <a:srgbClr val="0F172A"/>
                          </a:solidFill>
                          <a:latin typeface="Calibri" pitchFamily="34" charset="0"/>
                          <a:ea typeface="Calibri" pitchFamily="34" charset="-122"/>
                          <a:cs typeface="Calibri" pitchFamily="34" charset="-120"/>
                        </a:rPr>
                        <a:t>Liczba portów</a:t>
                      </a:r>
                      <a:endParaRPr lang="en-US" sz="12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c>
                  <a:txBody>
                    <a:bodyPr/>
                    <a:lstStyle/>
                    <a:p>
                      <a:pPr algn="l" indent="0" marL="0">
                        <a:buNone/>
                      </a:pPr>
                      <a:r>
                        <a:rPr lang="en-US" sz="1200" dirty="0">
                          <a:solidFill>
                            <a:srgbClr val="0F172A"/>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c>
                  <a:txBody>
                    <a:bodyPr/>
                    <a:lstStyle/>
                    <a:p>
                      <a:pPr algn="l" indent="0" marL="0">
                        <a:buNone/>
                      </a:pPr>
                      <a:r>
                        <a:rPr lang="en-US" sz="1200" dirty="0">
                          <a:solidFill>
                            <a:srgbClr val="0F172A"/>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c>
                  <a:txBody>
                    <a:bodyPr/>
                    <a:lstStyle/>
                    <a:p>
                      <a:pPr algn="l" indent="0" marL="0">
                        <a:buNone/>
                      </a:pPr>
                      <a:r>
                        <a:rPr lang="en-US" sz="1200" dirty="0">
                          <a:solidFill>
                            <a:srgbClr val="0F172A"/>
                          </a:solidFill>
                          <a:latin typeface="Calibri" pitchFamily="34" charset="0"/>
                          <a:ea typeface="Calibri" pitchFamily="34" charset="-122"/>
                          <a:cs typeface="Calibri" pitchFamily="34" charset="-120"/>
                        </a:rPr>
                        <a:t>1 (port 22)</a:t>
                      </a:r>
                      <a:endParaRPr lang="en-US" sz="12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r>
              <a:tr h="0">
                <a:tc>
                  <a:txBody>
                    <a:bodyPr/>
                    <a:lstStyle/>
                    <a:p>
                      <a:pPr algn="l" indent="0" marL="0">
                        <a:buNone/>
                      </a:pPr>
                      <a:r>
                        <a:rPr lang="en-US" sz="1200" dirty="0">
                          <a:solidFill>
                            <a:srgbClr val="0F172A"/>
                          </a:solidFill>
                          <a:latin typeface="Calibri" pitchFamily="34" charset="0"/>
                          <a:ea typeface="Calibri" pitchFamily="34" charset="-122"/>
                          <a:cs typeface="Calibri" pitchFamily="34" charset="-120"/>
                        </a:rPr>
                        <a:t>Uwierzytelnianie</a:t>
                      </a:r>
                      <a:endParaRPr lang="en-US" sz="12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0F172A"/>
                          </a:solidFill>
                          <a:latin typeface="Calibri" pitchFamily="34" charset="0"/>
                          <a:ea typeface="Calibri" pitchFamily="34" charset="-122"/>
                          <a:cs typeface="Calibri" pitchFamily="34" charset="-120"/>
                        </a:rPr>
                        <a:t>login/hasło jawnie</a:t>
                      </a:r>
                      <a:endParaRPr lang="en-US" sz="12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0F172A"/>
                          </a:solidFill>
                          <a:latin typeface="Calibri" pitchFamily="34" charset="0"/>
                          <a:ea typeface="Calibri" pitchFamily="34" charset="-122"/>
                          <a:cs typeface="Calibri" pitchFamily="34" charset="-120"/>
                        </a:rPr>
                        <a:t>login/hasło przez TLS</a:t>
                      </a:r>
                      <a:endParaRPr lang="en-US" sz="12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0F172A"/>
                          </a:solidFill>
                          <a:latin typeface="Calibri" pitchFamily="34" charset="0"/>
                          <a:ea typeface="Calibri" pitchFamily="34" charset="-122"/>
                          <a:cs typeface="Calibri" pitchFamily="34" charset="-120"/>
                        </a:rPr>
                        <a:t>hasło lub klucz</a:t>
                      </a:r>
                      <a:endParaRPr lang="en-US" sz="12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0">
                <a:tc>
                  <a:txBody>
                    <a:bodyPr/>
                    <a:lstStyle/>
                    <a:p>
                      <a:pPr algn="l" indent="0" marL="0">
                        <a:buNone/>
                      </a:pPr>
                      <a:r>
                        <a:rPr lang="en-US" sz="1200" dirty="0">
                          <a:solidFill>
                            <a:srgbClr val="0F172A"/>
                          </a:solidFill>
                          <a:latin typeface="Calibri" pitchFamily="34" charset="0"/>
                          <a:ea typeface="Calibri" pitchFamily="34" charset="-122"/>
                          <a:cs typeface="Calibri" pitchFamily="34" charset="-120"/>
                        </a:rPr>
                        <a:t>NAT/firewall</a:t>
                      </a:r>
                      <a:endParaRPr lang="en-US" sz="12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c>
                  <a:txBody>
                    <a:bodyPr/>
                    <a:lstStyle/>
                    <a:p>
                      <a:pPr algn="l" indent="0" marL="0">
                        <a:buNone/>
                      </a:pPr>
                      <a:r>
                        <a:rPr lang="en-US" sz="1200" dirty="0">
                          <a:solidFill>
                            <a:srgbClr val="0F172A"/>
                          </a:solidFill>
                          <a:latin typeface="Calibri" pitchFamily="34" charset="0"/>
                          <a:ea typeface="Calibri" pitchFamily="34" charset="-122"/>
                          <a:cs typeface="Calibri" pitchFamily="34" charset="-120"/>
                        </a:rPr>
                        <a:t>problematyczne</a:t>
                      </a:r>
                      <a:endParaRPr lang="en-US" sz="12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c>
                  <a:txBody>
                    <a:bodyPr/>
                    <a:lstStyle/>
                    <a:p>
                      <a:pPr algn="l" indent="0" marL="0">
                        <a:buNone/>
                      </a:pPr>
                      <a:r>
                        <a:rPr lang="en-US" sz="1200" dirty="0">
                          <a:solidFill>
                            <a:srgbClr val="0F172A"/>
                          </a:solidFill>
                          <a:latin typeface="Calibri" pitchFamily="34" charset="0"/>
                          <a:ea typeface="Calibri" pitchFamily="34" charset="-122"/>
                          <a:cs typeface="Calibri" pitchFamily="34" charset="-120"/>
                        </a:rPr>
                        <a:t>problematyczne</a:t>
                      </a:r>
                      <a:endParaRPr lang="en-US" sz="12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c>
                  <a:txBody>
                    <a:bodyPr/>
                    <a:lstStyle/>
                    <a:p>
                      <a:pPr algn="l" indent="0" marL="0">
                        <a:buNone/>
                      </a:pPr>
                      <a:r>
                        <a:rPr lang="en-US" sz="1200" dirty="0">
                          <a:solidFill>
                            <a:srgbClr val="0F172A"/>
                          </a:solidFill>
                          <a:latin typeface="Calibri" pitchFamily="34" charset="0"/>
                          <a:ea typeface="Calibri" pitchFamily="34" charset="-122"/>
                          <a:cs typeface="Calibri" pitchFamily="34" charset="-120"/>
                        </a:rPr>
                        <a:t>bardzo dobre</a:t>
                      </a:r>
                      <a:endParaRPr lang="en-US" sz="12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indent="0" marL="0">
              <a:buNone/>
            </a:pPr>
            <a:r>
              <a:rPr lang="en-US" sz="1200" b="1" spc="200" kern="0" dirty="0">
                <a:solidFill>
                  <a:srgbClr val="F87171"/>
                </a:solidFill>
                <a:latin typeface="Calibri" pitchFamily="34" charset="0"/>
                <a:ea typeface="Calibri" pitchFamily="34" charset="-122"/>
                <a:cs typeface="Calibri" pitchFamily="34" charset="-120"/>
              </a:rPr>
              <a:t>Bezpieczeństwo</a:t>
            </a:r>
            <a:endParaRPr lang="en-US" sz="1200" dirty="0"/>
          </a:p>
        </p:txBody>
      </p:sp>
      <p:sp>
        <p:nvSpPr>
          <p:cNvPr id="3" name="Text 1"/>
          <p:cNvSpPr txBox="1"/>
          <p:nvPr/>
        </p:nvSpPr>
        <p:spPr>
          <a:xfrm>
            <a:off x="548640" y="411480"/>
            <a:ext cx="11064240" cy="868680"/>
          </a:xfrm>
          <a:prstGeom prst="rect">
            <a:avLst/>
          </a:prstGeom>
          <a:noFill/>
          <a:ln/>
        </p:spPr>
        <p:txBody>
          <a:bodyPr wrap="square" lIns="0" tIns="0" rIns="0" bIns="0" rtlCol="0" anchor="ctr"/>
          <a:lstStyle/>
          <a:p>
            <a:pPr algn="l" indent="0" marL="0">
              <a:buNone/>
            </a:pPr>
            <a:r>
              <a:rPr lang="en-US" sz="3000" b="1" dirty="0">
                <a:solidFill>
                  <a:srgbClr val="0F172A"/>
                </a:solidFill>
                <a:latin typeface="Cambria" pitchFamily="34" charset="0"/>
                <a:ea typeface="Cambria" pitchFamily="34" charset="-122"/>
                <a:cs typeface="Cambria" pitchFamily="34" charset="-120"/>
              </a:rPr>
              <a:t>Utwardzanie konfiguracji</a:t>
            </a:r>
            <a:endParaRPr lang="en-US" sz="3000" dirty="0"/>
          </a:p>
        </p:txBody>
      </p:sp>
      <p:sp>
        <p:nvSpPr>
          <p:cNvPr id="4" name="Text 2"/>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Bezpieczeństwo</a:t>
            </a:r>
            <a:endParaRPr lang="en-US" sz="1000" dirty="0"/>
          </a:p>
        </p:txBody>
      </p:sp>
      <p:sp>
        <p:nvSpPr>
          <p:cNvPr id="5" name="Text 3"/>
          <p:cNvSpPr txBox="1"/>
          <p:nvPr/>
        </p:nvSpPr>
        <p:spPr>
          <a:xfrm>
            <a:off x="11430000" y="6510528"/>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24</a:t>
            </a:r>
            <a:endParaRPr lang="en-US" sz="1000" dirty="0"/>
          </a:p>
        </p:txBody>
      </p:sp>
      <p:sp>
        <p:nvSpPr>
          <p:cNvPr id="6" name="Shape 4"/>
          <p:cNvSpPr/>
          <p:nvPr/>
        </p:nvSpPr>
        <p:spPr>
          <a:xfrm>
            <a:off x="548640" y="1691640"/>
            <a:ext cx="5440680" cy="1325880"/>
          </a:xfrm>
          <a:prstGeom prst="roundRect">
            <a:avLst>
              <a:gd name="adj" fmla="val 5517"/>
            </a:avLst>
          </a:prstGeom>
          <a:solidFill>
            <a:srgbClr val="F1F5F9"/>
          </a:solidFill>
          <a:ln/>
        </p:spPr>
      </p:sp>
      <p:sp>
        <p:nvSpPr>
          <p:cNvPr id="7" name="Shape 5"/>
          <p:cNvSpPr/>
          <p:nvPr/>
        </p:nvSpPr>
        <p:spPr>
          <a:xfrm>
            <a:off x="777240" y="1920240"/>
            <a:ext cx="457200" cy="457200"/>
          </a:xfrm>
          <a:prstGeom prst="ellipse">
            <a:avLst/>
          </a:prstGeom>
          <a:solidFill>
            <a:srgbClr val="F87171"/>
          </a:solidFill>
          <a:ln/>
        </p:spPr>
      </p:sp>
      <p:sp>
        <p:nvSpPr>
          <p:cNvPr id="8" name="Text 6"/>
          <p:cNvSpPr txBox="1"/>
          <p:nvPr/>
        </p:nvSpPr>
        <p:spPr>
          <a:xfrm>
            <a:off x="777240" y="19202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9" name="Text 7"/>
          <p:cNvSpPr txBox="1"/>
          <p:nvPr/>
        </p:nvSpPr>
        <p:spPr>
          <a:xfrm>
            <a:off x="1463040" y="1828800"/>
            <a:ext cx="4343400" cy="1051560"/>
          </a:xfrm>
          <a:prstGeom prst="rect">
            <a:avLst/>
          </a:prstGeom>
          <a:noFill/>
          <a:ln/>
        </p:spPr>
        <p:txBody>
          <a:bodyPr wrap="square" lIns="0" tIns="0" rIns="0" bIns="0" rtlCol="0" anchor="ctr"/>
          <a:lstStyle/>
          <a:p>
            <a:pPr indent="0" marL="0">
              <a:buNone/>
            </a:pPr>
            <a:r>
              <a:rPr lang="en-US" sz="1250" dirty="0">
                <a:solidFill>
                  <a:srgbClr val="0F172A"/>
                </a:solidFill>
                <a:latin typeface="Calibri" pitchFamily="34" charset="0"/>
                <a:ea typeface="Calibri" pitchFamily="34" charset="-122"/>
                <a:cs typeface="Calibri" pitchFamily="34" charset="-120"/>
              </a:rPr>
              <a:t>HTTPS wszędzie — przekierowuj cały ruch HTTP na HTTPS i stosuj HSTS</a:t>
            </a:r>
            <a:endParaRPr lang="en-US" sz="1250" dirty="0"/>
          </a:p>
        </p:txBody>
      </p:sp>
      <p:sp>
        <p:nvSpPr>
          <p:cNvPr id="10" name="Shape 8"/>
          <p:cNvSpPr/>
          <p:nvPr/>
        </p:nvSpPr>
        <p:spPr>
          <a:xfrm>
            <a:off x="6309360" y="1691640"/>
            <a:ext cx="5440680" cy="1325880"/>
          </a:xfrm>
          <a:prstGeom prst="roundRect">
            <a:avLst>
              <a:gd name="adj" fmla="val 5517"/>
            </a:avLst>
          </a:prstGeom>
          <a:solidFill>
            <a:srgbClr val="F1F5F9"/>
          </a:solidFill>
          <a:ln/>
        </p:spPr>
      </p:sp>
      <p:sp>
        <p:nvSpPr>
          <p:cNvPr id="11" name="Shape 9"/>
          <p:cNvSpPr/>
          <p:nvPr/>
        </p:nvSpPr>
        <p:spPr>
          <a:xfrm>
            <a:off x="6537960" y="1920240"/>
            <a:ext cx="457200" cy="457200"/>
          </a:xfrm>
          <a:prstGeom prst="ellipse">
            <a:avLst/>
          </a:prstGeom>
          <a:solidFill>
            <a:srgbClr val="F87171"/>
          </a:solidFill>
          <a:ln/>
        </p:spPr>
      </p:sp>
      <p:sp>
        <p:nvSpPr>
          <p:cNvPr id="12" name="Text 10"/>
          <p:cNvSpPr txBox="1"/>
          <p:nvPr/>
        </p:nvSpPr>
        <p:spPr>
          <a:xfrm>
            <a:off x="6537960" y="19202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3" name="Text 11"/>
          <p:cNvSpPr txBox="1"/>
          <p:nvPr/>
        </p:nvSpPr>
        <p:spPr>
          <a:xfrm>
            <a:off x="7223760" y="1828800"/>
            <a:ext cx="4343400" cy="1051560"/>
          </a:xfrm>
          <a:prstGeom prst="rect">
            <a:avLst/>
          </a:prstGeom>
          <a:noFill/>
          <a:ln/>
        </p:spPr>
        <p:txBody>
          <a:bodyPr wrap="square" lIns="0" tIns="0" rIns="0" bIns="0" rtlCol="0" anchor="ctr"/>
          <a:lstStyle/>
          <a:p>
            <a:pPr indent="0" marL="0">
              <a:buNone/>
            </a:pPr>
            <a:r>
              <a:rPr lang="en-US" sz="1250" dirty="0">
                <a:solidFill>
                  <a:srgbClr val="0F172A"/>
                </a:solidFill>
                <a:latin typeface="Calibri" pitchFamily="34" charset="0"/>
                <a:ea typeface="Calibri" pitchFamily="34" charset="-122"/>
                <a:cs typeface="Calibri" pitchFamily="34" charset="-120"/>
              </a:rPr>
              <a:t>Automatyczne odnawianie certyfikatów — certbot renew w cronie/timerze systemd</a:t>
            </a:r>
            <a:endParaRPr lang="en-US" sz="1250" dirty="0"/>
          </a:p>
        </p:txBody>
      </p:sp>
      <p:sp>
        <p:nvSpPr>
          <p:cNvPr id="14" name="Shape 12"/>
          <p:cNvSpPr/>
          <p:nvPr/>
        </p:nvSpPr>
        <p:spPr>
          <a:xfrm>
            <a:off x="548640" y="3227832"/>
            <a:ext cx="5440680" cy="1325880"/>
          </a:xfrm>
          <a:prstGeom prst="roundRect">
            <a:avLst>
              <a:gd name="adj" fmla="val 5517"/>
            </a:avLst>
          </a:prstGeom>
          <a:solidFill>
            <a:srgbClr val="F1F5F9"/>
          </a:solidFill>
          <a:ln/>
        </p:spPr>
      </p:sp>
      <p:sp>
        <p:nvSpPr>
          <p:cNvPr id="15" name="Shape 13"/>
          <p:cNvSpPr/>
          <p:nvPr/>
        </p:nvSpPr>
        <p:spPr>
          <a:xfrm>
            <a:off x="777240" y="3456432"/>
            <a:ext cx="457200" cy="457200"/>
          </a:xfrm>
          <a:prstGeom prst="ellipse">
            <a:avLst/>
          </a:prstGeom>
          <a:solidFill>
            <a:srgbClr val="F87171"/>
          </a:solidFill>
          <a:ln/>
        </p:spPr>
      </p:sp>
      <p:sp>
        <p:nvSpPr>
          <p:cNvPr id="16" name="Text 14"/>
          <p:cNvSpPr txBox="1"/>
          <p:nvPr/>
        </p:nvSpPr>
        <p:spPr>
          <a:xfrm>
            <a:off x="777240" y="345643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7" name="Text 15"/>
          <p:cNvSpPr txBox="1"/>
          <p:nvPr/>
        </p:nvSpPr>
        <p:spPr>
          <a:xfrm>
            <a:off x="1463040" y="3364992"/>
            <a:ext cx="4343400" cy="1051560"/>
          </a:xfrm>
          <a:prstGeom prst="rect">
            <a:avLst/>
          </a:prstGeom>
          <a:noFill/>
          <a:ln/>
        </p:spPr>
        <p:txBody>
          <a:bodyPr wrap="square" lIns="0" tIns="0" rIns="0" bIns="0" rtlCol="0" anchor="ctr"/>
          <a:lstStyle/>
          <a:p>
            <a:pPr indent="0" marL="0">
              <a:buNone/>
            </a:pPr>
            <a:r>
              <a:rPr lang="en-US" sz="1250" dirty="0">
                <a:solidFill>
                  <a:srgbClr val="0F172A"/>
                </a:solidFill>
                <a:latin typeface="Calibri" pitchFamily="34" charset="0"/>
                <a:ea typeface="Calibri" pitchFamily="34" charset="-122"/>
                <a:cs typeface="Calibri" pitchFamily="34" charset="-120"/>
              </a:rPr>
              <a:t>Wyłącz stare protokoły TLS (SSLv3, TLS 1.0/1.1) i słabe zestawy szyfrów</a:t>
            </a:r>
            <a:endParaRPr lang="en-US" sz="1250" dirty="0"/>
          </a:p>
        </p:txBody>
      </p:sp>
      <p:sp>
        <p:nvSpPr>
          <p:cNvPr id="18" name="Shape 16"/>
          <p:cNvSpPr/>
          <p:nvPr/>
        </p:nvSpPr>
        <p:spPr>
          <a:xfrm>
            <a:off x="6309360" y="3227832"/>
            <a:ext cx="5440680" cy="1325880"/>
          </a:xfrm>
          <a:prstGeom prst="roundRect">
            <a:avLst>
              <a:gd name="adj" fmla="val 5517"/>
            </a:avLst>
          </a:prstGeom>
          <a:solidFill>
            <a:srgbClr val="F1F5F9"/>
          </a:solidFill>
          <a:ln/>
        </p:spPr>
      </p:sp>
      <p:sp>
        <p:nvSpPr>
          <p:cNvPr id="19" name="Shape 17"/>
          <p:cNvSpPr/>
          <p:nvPr/>
        </p:nvSpPr>
        <p:spPr>
          <a:xfrm>
            <a:off x="6537960" y="3456432"/>
            <a:ext cx="457200" cy="457200"/>
          </a:xfrm>
          <a:prstGeom prst="ellipse">
            <a:avLst/>
          </a:prstGeom>
          <a:solidFill>
            <a:srgbClr val="F87171"/>
          </a:solidFill>
          <a:ln/>
        </p:spPr>
      </p:sp>
      <p:sp>
        <p:nvSpPr>
          <p:cNvPr id="20" name="Text 18"/>
          <p:cNvSpPr txBox="1"/>
          <p:nvPr/>
        </p:nvSpPr>
        <p:spPr>
          <a:xfrm>
            <a:off x="6537960" y="345643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21" name="Text 19"/>
          <p:cNvSpPr txBox="1"/>
          <p:nvPr/>
        </p:nvSpPr>
        <p:spPr>
          <a:xfrm>
            <a:off x="7223760" y="3364992"/>
            <a:ext cx="4343400" cy="1051560"/>
          </a:xfrm>
          <a:prstGeom prst="rect">
            <a:avLst/>
          </a:prstGeom>
          <a:noFill/>
          <a:ln/>
        </p:spPr>
        <p:txBody>
          <a:bodyPr wrap="square" lIns="0" tIns="0" rIns="0" bIns="0" rtlCol="0" anchor="ctr"/>
          <a:lstStyle/>
          <a:p>
            <a:pPr indent="0" marL="0">
              <a:buNone/>
            </a:pPr>
            <a:r>
              <a:rPr lang="en-US" sz="1250" dirty="0">
                <a:solidFill>
                  <a:srgbClr val="0F172A"/>
                </a:solidFill>
                <a:latin typeface="Calibri" pitchFamily="34" charset="0"/>
                <a:ea typeface="Calibri" pitchFamily="34" charset="-122"/>
                <a:cs typeface="Calibri" pitchFamily="34" charset="-120"/>
              </a:rPr>
              <a:t>Ogranicz nagłówki serwera (ServerTokens Prod / server_tokens off;)</a:t>
            </a:r>
            <a:endParaRPr lang="en-US" sz="1250" dirty="0"/>
          </a:p>
        </p:txBody>
      </p:sp>
      <p:sp>
        <p:nvSpPr>
          <p:cNvPr id="22" name="Shape 20"/>
          <p:cNvSpPr/>
          <p:nvPr/>
        </p:nvSpPr>
        <p:spPr>
          <a:xfrm>
            <a:off x="548640" y="4764024"/>
            <a:ext cx="5440680" cy="1325880"/>
          </a:xfrm>
          <a:prstGeom prst="roundRect">
            <a:avLst>
              <a:gd name="adj" fmla="val 5517"/>
            </a:avLst>
          </a:prstGeom>
          <a:solidFill>
            <a:srgbClr val="F1F5F9"/>
          </a:solidFill>
          <a:ln/>
        </p:spPr>
      </p:sp>
      <p:sp>
        <p:nvSpPr>
          <p:cNvPr id="23" name="Shape 21"/>
          <p:cNvSpPr/>
          <p:nvPr/>
        </p:nvSpPr>
        <p:spPr>
          <a:xfrm>
            <a:off x="777240" y="4992624"/>
            <a:ext cx="457200" cy="457200"/>
          </a:xfrm>
          <a:prstGeom prst="ellipse">
            <a:avLst/>
          </a:prstGeom>
          <a:solidFill>
            <a:srgbClr val="F87171"/>
          </a:solidFill>
          <a:ln/>
        </p:spPr>
      </p:sp>
      <p:sp>
        <p:nvSpPr>
          <p:cNvPr id="24" name="Text 22"/>
          <p:cNvSpPr txBox="1"/>
          <p:nvPr/>
        </p:nvSpPr>
        <p:spPr>
          <a:xfrm>
            <a:off x="777240" y="499262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25" name="Text 23"/>
          <p:cNvSpPr txBox="1"/>
          <p:nvPr/>
        </p:nvSpPr>
        <p:spPr>
          <a:xfrm>
            <a:off x="1463040" y="4901184"/>
            <a:ext cx="4343400" cy="1051560"/>
          </a:xfrm>
          <a:prstGeom prst="rect">
            <a:avLst/>
          </a:prstGeom>
          <a:noFill/>
          <a:ln/>
        </p:spPr>
        <p:txBody>
          <a:bodyPr wrap="square" lIns="0" tIns="0" rIns="0" bIns="0" rtlCol="0" anchor="ctr"/>
          <a:lstStyle/>
          <a:p>
            <a:pPr indent="0" marL="0">
              <a:buNone/>
            </a:pPr>
            <a:r>
              <a:rPr lang="en-US" sz="1250" dirty="0">
                <a:solidFill>
                  <a:srgbClr val="0F172A"/>
                </a:solidFill>
                <a:latin typeface="Calibri" pitchFamily="34" charset="0"/>
                <a:ea typeface="Calibri" pitchFamily="34" charset="-122"/>
                <a:cs typeface="Calibri" pitchFamily="34" charset="-120"/>
              </a:rPr>
              <a:t>fail2ban dla vsftpd i sshd — blokada IP po serii nieudanych logowań</a:t>
            </a:r>
            <a:endParaRPr lang="en-US" sz="1250" dirty="0"/>
          </a:p>
        </p:txBody>
      </p:sp>
      <p:sp>
        <p:nvSpPr>
          <p:cNvPr id="26" name="Shape 24"/>
          <p:cNvSpPr/>
          <p:nvPr/>
        </p:nvSpPr>
        <p:spPr>
          <a:xfrm>
            <a:off x="6309360" y="4764024"/>
            <a:ext cx="5440680" cy="1325880"/>
          </a:xfrm>
          <a:prstGeom prst="roundRect">
            <a:avLst>
              <a:gd name="adj" fmla="val 5517"/>
            </a:avLst>
          </a:prstGeom>
          <a:solidFill>
            <a:srgbClr val="F1F5F9"/>
          </a:solidFill>
          <a:ln/>
        </p:spPr>
      </p:sp>
      <p:sp>
        <p:nvSpPr>
          <p:cNvPr id="27" name="Shape 25"/>
          <p:cNvSpPr/>
          <p:nvPr/>
        </p:nvSpPr>
        <p:spPr>
          <a:xfrm>
            <a:off x="6537960" y="4992624"/>
            <a:ext cx="457200" cy="457200"/>
          </a:xfrm>
          <a:prstGeom prst="ellipse">
            <a:avLst/>
          </a:prstGeom>
          <a:solidFill>
            <a:srgbClr val="F87171"/>
          </a:solidFill>
          <a:ln/>
        </p:spPr>
      </p:sp>
      <p:sp>
        <p:nvSpPr>
          <p:cNvPr id="28" name="Text 26"/>
          <p:cNvSpPr txBox="1"/>
          <p:nvPr/>
        </p:nvSpPr>
        <p:spPr>
          <a:xfrm>
            <a:off x="6537960" y="499262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29" name="Text 27"/>
          <p:cNvSpPr txBox="1"/>
          <p:nvPr/>
        </p:nvSpPr>
        <p:spPr>
          <a:xfrm>
            <a:off x="7223760" y="4901184"/>
            <a:ext cx="4343400" cy="1051560"/>
          </a:xfrm>
          <a:prstGeom prst="rect">
            <a:avLst/>
          </a:prstGeom>
          <a:noFill/>
          <a:ln/>
        </p:spPr>
        <p:txBody>
          <a:bodyPr wrap="square" lIns="0" tIns="0" rIns="0" bIns="0" rtlCol="0" anchor="ctr"/>
          <a:lstStyle/>
          <a:p>
            <a:pPr indent="0" marL="0">
              <a:buNone/>
            </a:pPr>
            <a:r>
              <a:rPr lang="en-US" sz="1250" dirty="0">
                <a:solidFill>
                  <a:srgbClr val="0F172A"/>
                </a:solidFill>
                <a:latin typeface="Calibri" pitchFamily="34" charset="0"/>
                <a:ea typeface="Calibri" pitchFamily="34" charset="-122"/>
                <a:cs typeface="Calibri" pitchFamily="34" charset="-120"/>
              </a:rPr>
              <a:t>Preferuj SFTP nad FTP/FTPS dla nowych wdrożeń</a:t>
            </a:r>
            <a:endParaRPr lang="en-US" sz="12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indent="0" marL="0">
              <a:buNone/>
            </a:pPr>
            <a:r>
              <a:rPr lang="en-US" sz="1200" b="1" spc="200" kern="0" dirty="0">
                <a:solidFill>
                  <a:srgbClr val="FBBF24"/>
                </a:solidFill>
                <a:latin typeface="Calibri" pitchFamily="34" charset="0"/>
                <a:ea typeface="Calibri" pitchFamily="34" charset="-122"/>
                <a:cs typeface="Calibri" pitchFamily="34" charset="-120"/>
              </a:rPr>
              <a:t>Diagnostyka i podsumowanie</a:t>
            </a:r>
            <a:endParaRPr lang="en-US" sz="1200" dirty="0"/>
          </a:p>
        </p:txBody>
      </p:sp>
      <p:sp>
        <p:nvSpPr>
          <p:cNvPr id="3" name="Text 1"/>
          <p:cNvSpPr txBox="1"/>
          <p:nvPr/>
        </p:nvSpPr>
        <p:spPr>
          <a:xfrm>
            <a:off x="548640" y="411480"/>
            <a:ext cx="11064240" cy="868680"/>
          </a:xfrm>
          <a:prstGeom prst="rect">
            <a:avLst/>
          </a:prstGeom>
          <a:noFill/>
          <a:ln/>
        </p:spPr>
        <p:txBody>
          <a:bodyPr wrap="square" lIns="0" tIns="0" rIns="0" bIns="0" rtlCol="0" anchor="ctr"/>
          <a:lstStyle/>
          <a:p>
            <a:pPr algn="l" indent="0" marL="0">
              <a:buNone/>
            </a:pPr>
            <a:r>
              <a:rPr lang="en-US" sz="3000" b="1" dirty="0">
                <a:solidFill>
                  <a:srgbClr val="0F172A"/>
                </a:solidFill>
                <a:latin typeface="Cambria" pitchFamily="34" charset="0"/>
                <a:ea typeface="Cambria" pitchFamily="34" charset="-122"/>
                <a:cs typeface="Cambria" pitchFamily="34" charset="-120"/>
              </a:rPr>
              <a:t>Narzędzia diagnostyczne oraz wnioski końcowe</a:t>
            </a:r>
            <a:endParaRPr lang="en-US" sz="3000" dirty="0"/>
          </a:p>
        </p:txBody>
      </p:sp>
      <p:sp>
        <p:nvSpPr>
          <p:cNvPr id="4" name="Text 2"/>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Diagnostyka i podsumowanie</a:t>
            </a:r>
            <a:endParaRPr lang="en-US" sz="1000" dirty="0"/>
          </a:p>
        </p:txBody>
      </p:sp>
      <p:sp>
        <p:nvSpPr>
          <p:cNvPr id="5" name="Text 3"/>
          <p:cNvSpPr txBox="1"/>
          <p:nvPr/>
        </p:nvSpPr>
        <p:spPr>
          <a:xfrm>
            <a:off x="11430000" y="6510528"/>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25</a:t>
            </a:r>
            <a:endParaRPr lang="en-US" sz="1000" dirty="0"/>
          </a:p>
        </p:txBody>
      </p:sp>
      <p:sp>
        <p:nvSpPr>
          <p:cNvPr id="6" name="Shape 4"/>
          <p:cNvSpPr/>
          <p:nvPr/>
        </p:nvSpPr>
        <p:spPr>
          <a:xfrm>
            <a:off x="548640" y="1600200"/>
            <a:ext cx="11109960" cy="2606040"/>
          </a:xfrm>
          <a:prstGeom prst="roundRect">
            <a:avLst>
              <a:gd name="adj" fmla="val 2807"/>
            </a:avLst>
          </a:prstGeom>
          <a:solidFill>
            <a:srgbClr val="0B1220"/>
          </a:solidFill>
          <a:ln w="12700">
            <a:solidFill>
              <a:srgbClr val="1E293B"/>
            </a:solidFill>
            <a:prstDash val="solid"/>
          </a:ln>
          <a:effectLst>
            <a:outerShdw sx="100000" sy="100000" kx="0" ky="0" algn="bl" rotWithShape="0" blurRad="101600" dist="38100" dir="5400000">
              <a:srgbClr val="000000">
                <a:alpha val="25000"/>
              </a:srgbClr>
            </a:outerShdw>
          </a:effectLst>
        </p:spPr>
      </p:sp>
      <p:sp>
        <p:nvSpPr>
          <p:cNvPr id="7" name="Text 5"/>
          <p:cNvSpPr txBox="1"/>
          <p:nvPr/>
        </p:nvSpPr>
        <p:spPr>
          <a:xfrm>
            <a:off x="777240" y="1783080"/>
            <a:ext cx="10652760" cy="2240280"/>
          </a:xfrm>
          <a:prstGeom prst="rect">
            <a:avLst/>
          </a:prstGeom>
          <a:noFill/>
          <a:ln/>
        </p:spPr>
        <p:txBody>
          <a:bodyPr wrap="square" lIns="0" tIns="0" rIns="0" bIns="0" rtlCol="0" anchor="t"/>
          <a:lstStyle/>
          <a:p>
            <a:pPr indent="0" marL="0">
              <a:spcAft>
                <a:spcPts val="200"/>
              </a:spcAft>
              <a:buNone/>
            </a:pPr>
            <a:r>
              <a:rPr lang="en-US" sz="1300" dirty="0">
                <a:solidFill>
                  <a:srgbClr val="7DD3FC"/>
                </a:solidFill>
                <a:latin typeface="Consolas" pitchFamily="34" charset="0"/>
                <a:ea typeface="Consolas" pitchFamily="34" charset="-122"/>
                <a:cs typeface="Consolas" pitchFamily="34" charset="-120"/>
              </a:rPr>
              <a:t>apache2ctl -S / nginx -T   # pelna konfiguracja vhostow</a:t>
            </a:r>
            <a:endParaRPr lang="en-US" sz="1300" dirty="0"/>
          </a:p>
          <a:p>
            <a:pPr indent="0" marL="0">
              <a:spcAft>
                <a:spcPts val="200"/>
              </a:spcAft>
              <a:buNone/>
            </a:pPr>
            <a:r>
              <a:rPr lang="en-US" sz="1300" dirty="0">
                <a:solidFill>
                  <a:srgbClr val="34D399"/>
                </a:solidFill>
                <a:latin typeface="Consolas" pitchFamily="34" charset="0"/>
                <a:ea typeface="Consolas" pitchFamily="34" charset="-122"/>
                <a:cs typeface="Consolas" pitchFamily="34" charset="-120"/>
              </a:rPr>
              <a:t>curl -I https://domena.pl  # naglowki i kod statusu</a:t>
            </a:r>
            <a:endParaRPr lang="en-US" sz="1300" dirty="0"/>
          </a:p>
          <a:p>
            <a:pPr indent="0" marL="0">
              <a:spcAft>
                <a:spcPts val="200"/>
              </a:spcAft>
              <a:buNone/>
            </a:pPr>
            <a:r>
              <a:rPr lang="en-US" sz="1300" dirty="0">
                <a:solidFill>
                  <a:srgbClr val="FBBF24"/>
                </a:solidFill>
                <a:latin typeface="Consolas" pitchFamily="34" charset="0"/>
                <a:ea typeface="Consolas" pitchFamily="34" charset="-122"/>
                <a:cs typeface="Consolas" pitchFamily="34" charset="-120"/>
              </a:rPr>
              <a:t>openssl s_client -connect host:443  # inspekcja TLS</a:t>
            </a:r>
            <a:endParaRPr lang="en-US" sz="1300" dirty="0"/>
          </a:p>
          <a:p>
            <a:pPr indent="0" marL="0">
              <a:spcAft>
                <a:spcPts val="200"/>
              </a:spcAft>
              <a:buNone/>
            </a:pPr>
            <a:r>
              <a:rPr lang="en-US" sz="1300" dirty="0">
                <a:solidFill>
                  <a:srgbClr val="E2E8F0"/>
                </a:solidFill>
                <a:latin typeface="Consolas" pitchFamily="34" charset="0"/>
                <a:ea typeface="Consolas" pitchFamily="34" charset="-122"/>
                <a:cs typeface="Consolas" pitchFamily="34" charset="-120"/>
              </a:rPr>
              <a:t>tail -f /var/log/nginx/error.log    # logi na zywo</a:t>
            </a:r>
            <a:endParaRPr lang="en-US" sz="1300" dirty="0"/>
          </a:p>
          <a:p>
            <a:pPr indent="0" marL="0">
              <a:spcAft>
                <a:spcPts val="200"/>
              </a:spcAft>
              <a:buNone/>
            </a:pPr>
            <a:r>
              <a:rPr lang="en-US" sz="1300" dirty="0">
                <a:solidFill>
                  <a:srgbClr val="C4B5FD"/>
                </a:solidFill>
                <a:latin typeface="Consolas" pitchFamily="34" charset="0"/>
                <a:ea typeface="Consolas" pitchFamily="34" charset="-122"/>
                <a:cs typeface="Consolas" pitchFamily="34" charset="-120"/>
              </a:rPr>
              <a:t>journalctl -u vsftpd -f    # logi uslugi FTP</a:t>
            </a:r>
            <a:endParaRPr lang="en-US" sz="1300" dirty="0"/>
          </a:p>
          <a:p>
            <a:pPr indent="0" marL="0">
              <a:spcAft>
                <a:spcPts val="200"/>
              </a:spcAft>
              <a:buNone/>
            </a:pPr>
            <a:r>
              <a:rPr lang="en-US" sz="1300" dirty="0">
                <a:solidFill>
                  <a:srgbClr val="F87171"/>
                </a:solidFill>
                <a:latin typeface="Consolas" pitchFamily="34" charset="0"/>
                <a:ea typeface="Consolas" pitchFamily="34" charset="-122"/>
                <a:cs typeface="Consolas" pitchFamily="34" charset="-120"/>
              </a:rPr>
              <a:t>ss -tulpn | grep :22       # czy uslugа nasluchuje</a:t>
            </a:r>
            <a:endParaRPr lang="en-US" sz="1300" dirty="0"/>
          </a:p>
          <a:p>
            <a:pPr indent="0" marL="0">
              <a:spcAft>
                <a:spcPts val="200"/>
              </a:spcAft>
              <a:buNone/>
            </a:pPr>
            <a:r>
              <a:rPr lang="en-US" sz="1300" dirty="0">
                <a:solidFill>
                  <a:srgbClr val="7DD3FC"/>
                </a:solidFill>
                <a:latin typeface="Consolas" pitchFamily="34" charset="0"/>
                <a:ea typeface="Consolas" pitchFamily="34" charset="-122"/>
                <a:cs typeface="Consolas" pitchFamily="34" charset="-120"/>
              </a:rPr>
              <a:t>sshd -T                    # efektywna konfiguracja sshd</a:t>
            </a:r>
            <a:endParaRPr lang="en-US" sz="1300" dirty="0"/>
          </a:p>
        </p:txBody>
      </p:sp>
      <p:sp>
        <p:nvSpPr>
          <p:cNvPr id="8" name="Shape 6"/>
          <p:cNvSpPr/>
          <p:nvPr/>
        </p:nvSpPr>
        <p:spPr>
          <a:xfrm>
            <a:off x="548640" y="4434840"/>
            <a:ext cx="11109960" cy="1691640"/>
          </a:xfrm>
          <a:prstGeom prst="roundRect">
            <a:avLst>
              <a:gd name="adj" fmla="val 4324"/>
            </a:avLst>
          </a:prstGeom>
          <a:solidFill>
            <a:srgbClr val="DBEAFE"/>
          </a:solidFill>
          <a:ln/>
        </p:spPr>
      </p:sp>
      <p:sp>
        <p:nvSpPr>
          <p:cNvPr id="9" name="Text 7"/>
          <p:cNvSpPr txBox="1"/>
          <p:nvPr/>
        </p:nvSpPr>
        <p:spPr>
          <a:xfrm>
            <a:off x="822960" y="4553712"/>
            <a:ext cx="10561320" cy="1463040"/>
          </a:xfrm>
          <a:prstGeom prst="rect">
            <a:avLst/>
          </a:prstGeom>
          <a:noFill/>
          <a:ln/>
        </p:spPr>
        <p:txBody>
          <a:bodyPr wrap="square" lIns="0" tIns="0" rIns="0" bIns="0" rtlCol="0" anchor="ctr"/>
          <a:lstStyle/>
          <a:p>
            <a:pPr indent="0" marL="0">
              <a:lnSpc>
                <a:spcPct val="115000"/>
              </a:lnSpc>
              <a:buNone/>
            </a:pPr>
            <a:r>
              <a:rPr lang="en-US" sz="1300" dirty="0">
                <a:solidFill>
                  <a:srgbClr val="1E3A8A"/>
                </a:solidFill>
                <a:latin typeface="Calibri" pitchFamily="34" charset="0"/>
                <a:ea typeface="Calibri" pitchFamily="34" charset="-122"/>
                <a:cs typeface="Calibri" pitchFamily="34" charset="-120"/>
              </a:rPr>
              <a:t>Bezpieczne i poprawnie zaprojektowane wdrożenie serwera WWW opiera się na trzech filarach: elastycznej obsłudze wielu domen przez wirtualne hosty / server blocks, pełnym szyfrowaniu transmisji przez SSL/TLS zarządzane OpenSSL (najlepiej zautomatyzowane Certbotem), oraz bezpiecznym kanałem transferu plików — gdzie SFTP zdecydowanie wypiera klasyczny FTP. Każdy z tych elementów wymaga świadomego zarządzania cyklem życia — jednorazowe wdrożenie bez planu utrzymania to najczęstsza przyczyna incydentów bezpieczeństwa.</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Technik informatyk - INF.02</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Serwer WWW i bezpieczny transfer plikow</dc:title>
  <dc:subject>PptxGenJS Presentation</dc:subject>
  <dc:creator>Administracja systemami uniksowymi</dc:creator>
  <cp:lastModifiedBy>Administracja systemami uniksowymi</cp:lastModifiedBy>
  <cp:revision>1</cp:revision>
  <dcterms:created xsi:type="dcterms:W3CDTF">2026-10-16T06:05:00Z</dcterms:created>
  <dcterms:modified xsi:type="dcterms:W3CDTF">2026-10-16T06:05:00Z</dcterms:modified>
</cp:coreProperties>
</file>